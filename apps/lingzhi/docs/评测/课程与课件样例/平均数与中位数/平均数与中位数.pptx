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使用虚构的收入数据展开讨论，不把示例当作实际收入调查。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先让学生观察：四个数接近，一个数明显偏高。此时不要急于给出平均数。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让学生先计算总量，再除以人数。强调10是均摊值，并不意味着多数人的收入是10。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本页处理奇数个数据。补充：偶数个数据时，取中间两个数的平均数。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通过共同维度比较，不把中位数简单说成比平均数更好。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让学生计算或口头预测。其余四个值固定为4、5、5、6，只有最高值变化。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先让学生独立选择并说明原因，再核对解释。若学生选择10，追问他回答的是典型位置还是总量均摊问题。</a:t>
            </a:r>
          </a:p>
          <a:p/>
          <a:p>
            <a:r>
              <a:t>先让学生独立选择并说明原因，再核对解释。若学生选择10，追问他回答的是典型位置还是总量均摊问题。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先让学生独立选择并说明原因，再核对解释。若学生选择10，追问他回答的是典型位置还是总量均摊问题。</a:t>
            </a:r>
          </a:p>
          <a:p/>
          <a:p>
            <a:r>
              <a:t>先让学生独立选择并说明原因，再核对解释。若学生选择10，追问他回答的是典型位置还是总量均摊问题。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example-source-v1</a:t>
            </a:r>
          </a:p>
          <a:p/>
          <a:p>
            <a:r>
              <a:t>teaching_unit_id: cpu_a8d14c66cb09f87f95dafeda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让学生用自己的语言说明两个指标各自回答什么问题，并提醒不能只报一个数字而省略分布。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平均数与中位数。以下月收入数据为教学示例，不代表真实调查。五人的月收入分别为甲 4、乙 5、丙 5、丁 6、戊 30，单位为千元/月。同一组数据可以有不同的典型值。先观察分布，再选择概括方式。</a:t>
            </a:r>
          </a:p>
          <a:p>
            <a:r>
              <a:t>算术平均数是全部数值之和除以数据个数。平均数 = (4 + 5 + 5 + 6 + 30) ÷ 5 = 10。平均数为10千元。它表示总收入均摊后的数值，不表示多数人都收入10千元。</a:t>
            </a:r>
          </a:p>
          <a:p>
            <a:r>
              <a:t>求中位数时，先从小到大排序，再找到中间位置，读出对应数值；这里共有5个数，中间位置是第3个，对应5。中位数为5千元。偶数个数据时，中位数是中间两个数的平均数。</a:t>
            </a:r>
          </a:p>
          <a:p>
            <a:r>
              <a:t>平均数参与计算的是全部数值，中位数依据的是排序位置。异常高值会拉高平均数；中位数通常受异常高值影响较小。同样的数据，指标服务于不同的问题。</a:t>
            </a:r>
          </a:p>
          <a:p>
            <a:r>
              <a:t>把最高收入从30改为80，其余4、5、5、6保持不变。最高值增加50，平均数从10变为20；中位数仍是5。平均数受每一个观测值影响；中位数由中间位置决定。这种稳定性并不意味着中位数能反映全部差异。</a:t>
            </a:r>
          </a:p>
          <a:p>
            <a:r>
              <a:t>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</a:t>
            </a:r>
          </a:p>
          <a:p>
            <a:r>
              <a:t>小结：关心总量均摊时选平均数，因为每个数值都参与计算；关心中间位置时看中位数，同时说明分布与异常值，避免用单一数字掩盖差异。</a:t>
            </a:r>
          </a:p>
          <a:p>
            <a:r>
              <a:t>source_payload: {"markdown": "平均数与中位数。以下月收入数据为教学示例，不代表真实调查。五人的月收入分别为甲 4、乙 5、丙 5、丁 6、戊 30，单位为千元/月。同一组数据可以有不同的典型值。先观察分布，再选择概括方式。\n算术平均数是全部数值之和除以数据个数。平均数 = (4 + 5 + 5 + 6 + 30) ÷ 5 = 10。平均数为10千元。它表示总收入均摊后的数值，不表示多数人都收入10千元。\n求中位数时，先从小到大排序，再找到中间位置，读出对应数值；这里共有5个数，中间位置是第3个，对应5。中位数为5千元。偶数个数据时，中位数是中间两个数的平均数。\n平均数参与计算的是全部数值，中位数依据的是排序位置。异常高值会拉高平均数；中位数通常受异常高值影响较小。同样的数据，指标服务于不同的问题。\n把最高收入从30改为80，其余4、5、5、6保持不变。最高值增加50，平均数从10变为20；中位数仍是5。平均数受每一个观测值影响；中位数由中间位置决定。这种稳定性并不意味着中位数能反映全部差异。\n课堂任务：回到原始数据4、5、5、6、30。向一位新同学描述这五人的典型收入，你选10还是5？请说明原因。参考解释：在这组明显偏斜的数据中，5更接近中间位置，10受最高收入拉高。若问题是把总收入平均分配，则10有明确意义。没有脱离问题的最佳指标。\n小结：关心总量均摊时选平均数，因为每个数值都参与计算；关心中间位置时看中位数，同时说明分布与异常值，避免用单一数字掩盖差异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8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914400" y="2209800"/>
            <a:ext cx="10261600" cy="1879600"/>
          </a:xfrm>
          <a:prstGeom prst="rect">
            <a:avLst/>
          </a:prstGeom>
          <a:solidFill>
            <a:srgbClr val="2B5876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平均数与中位数</a:t>
            </a:r>
          </a:p>
        </p:txBody>
      </p:sp>
      <p:sp>
        <p:nvSpPr>
          <p:cNvPr id="3" name="teaching:subtitle"/>
          <p:cNvSpPr/>
          <p:nvPr/>
        </p:nvSpPr>
        <p:spPr>
          <a:xfrm>
            <a:off x="965200" y="4318000"/>
            <a:ext cx="10210800" cy="1143000"/>
          </a:xfrm>
          <a:prstGeom prst="rect">
            <a:avLst/>
          </a:prstGeom>
          <a:solidFill>
            <a:srgbClr val="2B5876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F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同一组数据，为什么会有两种典型值？</a:t>
            </a:r>
          </a:p>
        </p:txBody>
      </p:sp>
      <p:sp>
        <p:nvSpPr>
          <p:cNvPr id="4" name="teaching:cover-rail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aching:cover-rule"/>
          <p:cNvSpPr/>
          <p:nvPr/>
        </p:nvSpPr>
        <p:spPr>
          <a:xfrm>
            <a:off x="1016000" y="1600200"/>
            <a:ext cx="914400" cy="63500"/>
          </a:xfrm>
          <a:prstGeom prst="rect">
            <a:avLst/>
          </a:prstGeom>
          <a:solidFill>
            <a:srgbClr val="AEB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2B5876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F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一组月收入数据（教学示例）</a:t>
            </a:r>
          </a:p>
        </p:txBody>
      </p:sp>
      <p:sp>
        <p:nvSpPr>
          <p:cNvPr id="3" name="teaching:unit"/>
          <p:cNvSpPr/>
          <p:nvPr/>
        </p:nvSpPr>
        <p:spPr>
          <a:xfrm>
            <a:off x="812800" y="1651000"/>
            <a:ext cx="105664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7718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千元/月</a:t>
            </a:r>
          </a:p>
        </p:txBody>
      </p:sp>
      <p:sp>
        <p:nvSpPr>
          <p:cNvPr id="4" name="teaching:label-0"/>
          <p:cNvSpPr/>
          <p:nvPr/>
        </p:nvSpPr>
        <p:spPr>
          <a:xfrm>
            <a:off x="812800" y="2336800"/>
            <a:ext cx="223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甲</a:t>
            </a:r>
          </a:p>
        </p:txBody>
      </p:sp>
      <p:sp>
        <p:nvSpPr>
          <p:cNvPr id="5" name="teaching:value-0"/>
          <p:cNvSpPr/>
          <p:nvPr/>
        </p:nvSpPr>
        <p:spPr>
          <a:xfrm>
            <a:off x="10414000" y="2336800"/>
            <a:ext cx="96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4</a:t>
            </a:r>
          </a:p>
        </p:txBody>
      </p:sp>
      <p:sp>
        <p:nvSpPr>
          <p:cNvPr id="6" name="teaching:label-1"/>
          <p:cNvSpPr/>
          <p:nvPr/>
        </p:nvSpPr>
        <p:spPr>
          <a:xfrm>
            <a:off x="812800" y="3073400"/>
            <a:ext cx="223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乙</a:t>
            </a:r>
          </a:p>
        </p:txBody>
      </p:sp>
      <p:sp>
        <p:nvSpPr>
          <p:cNvPr id="7" name="teaching:value-1"/>
          <p:cNvSpPr/>
          <p:nvPr/>
        </p:nvSpPr>
        <p:spPr>
          <a:xfrm>
            <a:off x="10414000" y="3073400"/>
            <a:ext cx="96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5</a:t>
            </a:r>
          </a:p>
        </p:txBody>
      </p:sp>
      <p:sp>
        <p:nvSpPr>
          <p:cNvPr id="8" name="teaching:label-2"/>
          <p:cNvSpPr/>
          <p:nvPr/>
        </p:nvSpPr>
        <p:spPr>
          <a:xfrm>
            <a:off x="812800" y="3810000"/>
            <a:ext cx="223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丙</a:t>
            </a:r>
          </a:p>
        </p:txBody>
      </p:sp>
      <p:sp>
        <p:nvSpPr>
          <p:cNvPr id="9" name="teaching:value-2"/>
          <p:cNvSpPr/>
          <p:nvPr/>
        </p:nvSpPr>
        <p:spPr>
          <a:xfrm>
            <a:off x="10414000" y="3810000"/>
            <a:ext cx="96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5</a:t>
            </a:r>
          </a:p>
        </p:txBody>
      </p:sp>
      <p:sp>
        <p:nvSpPr>
          <p:cNvPr id="10" name="teaching:label-3"/>
          <p:cNvSpPr/>
          <p:nvPr/>
        </p:nvSpPr>
        <p:spPr>
          <a:xfrm>
            <a:off x="812800" y="4546600"/>
            <a:ext cx="223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丁</a:t>
            </a:r>
          </a:p>
        </p:txBody>
      </p:sp>
      <p:sp>
        <p:nvSpPr>
          <p:cNvPr id="11" name="teaching:value-3"/>
          <p:cNvSpPr/>
          <p:nvPr/>
        </p:nvSpPr>
        <p:spPr>
          <a:xfrm>
            <a:off x="10414000" y="4546600"/>
            <a:ext cx="96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6</a:t>
            </a:r>
          </a:p>
        </p:txBody>
      </p:sp>
      <p:sp>
        <p:nvSpPr>
          <p:cNvPr id="12" name="teaching:label-4"/>
          <p:cNvSpPr/>
          <p:nvPr/>
        </p:nvSpPr>
        <p:spPr>
          <a:xfrm>
            <a:off x="812800" y="5283200"/>
            <a:ext cx="223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戊</a:t>
            </a:r>
          </a:p>
        </p:txBody>
      </p:sp>
      <p:sp>
        <p:nvSpPr>
          <p:cNvPr id="13" name="teaching:value-4"/>
          <p:cNvSpPr/>
          <p:nvPr/>
        </p:nvSpPr>
        <p:spPr>
          <a:xfrm>
            <a:off x="10414000" y="5283200"/>
            <a:ext cx="96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30</a:t>
            </a:r>
          </a:p>
        </p:txBody>
      </p:sp>
      <p:sp>
        <p:nvSpPr>
          <p:cNvPr id="14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02</a:t>
            </a:r>
          </a:p>
        </p:txBody>
      </p:sp>
      <p:sp>
        <p:nvSpPr>
          <p:cNvPr id="17" name="teaching:chart-bar-0"/>
          <p:cNvSpPr/>
          <p:nvPr/>
        </p:nvSpPr>
        <p:spPr>
          <a:xfrm>
            <a:off x="3302000" y="2501900"/>
            <a:ext cx="907626" cy="355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aching:chart-bar-1"/>
          <p:cNvSpPr/>
          <p:nvPr/>
        </p:nvSpPr>
        <p:spPr>
          <a:xfrm>
            <a:off x="3302000" y="3238500"/>
            <a:ext cx="1134533" cy="355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aching:chart-bar-2"/>
          <p:cNvSpPr/>
          <p:nvPr/>
        </p:nvSpPr>
        <p:spPr>
          <a:xfrm>
            <a:off x="3302000" y="3975100"/>
            <a:ext cx="1134533" cy="355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aching:chart-bar-3"/>
          <p:cNvSpPr/>
          <p:nvPr/>
        </p:nvSpPr>
        <p:spPr>
          <a:xfrm>
            <a:off x="3302000" y="4711700"/>
            <a:ext cx="1361440" cy="355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aching:chart-bar-4"/>
          <p:cNvSpPr/>
          <p:nvPr/>
        </p:nvSpPr>
        <p:spPr>
          <a:xfrm>
            <a:off x="3302000" y="5448300"/>
            <a:ext cx="6807200" cy="355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aching:chart-baseline"/>
          <p:cNvSpPr/>
          <p:nvPr/>
        </p:nvSpPr>
        <p:spPr>
          <a:xfrm>
            <a:off x="3200400" y="2286000"/>
            <a:ext cx="12700" cy="3759200"/>
          </a:xfrm>
          <a:prstGeom prst="rect">
            <a:avLst/>
          </a:prstGeom>
          <a:solidFill>
            <a:srgbClr val="8A93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aching:chart-zero"/>
          <p:cNvSpPr/>
          <p:nvPr/>
        </p:nvSpPr>
        <p:spPr>
          <a:xfrm>
            <a:off x="3022600" y="6070600"/>
            <a:ext cx="406400" cy="40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77185"/>
                </a:solidFill>
                <a:latin typeface="Noto Sans CJK SC"/>
                <a:ea typeface="Noto Sans CJK SC"/>
                <a:cs typeface="Noto Sans CJK SC"/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平均数怎样计算</a:t>
            </a:r>
          </a:p>
        </p:txBody>
      </p:sp>
      <p:sp>
        <p:nvSpPr>
          <p:cNvPr id="3" name="teaching:formula"/>
          <p:cNvSpPr/>
          <p:nvPr/>
        </p:nvSpPr>
        <p:spPr>
          <a:xfrm>
            <a:off x="812800" y="2057400"/>
            <a:ext cx="10566400" cy="23876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平均数 = (4 + 5 + 5 + 6 + 30) ÷ 5 = 10</a:t>
            </a:r>
          </a:p>
        </p:txBody>
      </p:sp>
      <p:sp>
        <p:nvSpPr>
          <p:cNvPr id="4" name="teaching:explanation"/>
          <p:cNvSpPr/>
          <p:nvPr/>
        </p:nvSpPr>
        <p:spPr>
          <a:xfrm>
            <a:off x="812800" y="4902200"/>
            <a:ext cx="955040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10千元表示总收入均摊后的数值，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并不表示多数人都收入10千元。</a:t>
            </a:r>
          </a:p>
        </p:txBody>
      </p:sp>
      <p:sp>
        <p:nvSpPr>
          <p:cNvPr id="5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求中位数的三个步骤</a:t>
            </a:r>
          </a:p>
        </p:txBody>
      </p:sp>
      <p:sp>
        <p:nvSpPr>
          <p:cNvPr id="3" name="teaching:item-0"/>
          <p:cNvSpPr/>
          <p:nvPr/>
        </p:nvSpPr>
        <p:spPr>
          <a:xfrm>
            <a:off x="812800" y="3276600"/>
            <a:ext cx="3149600" cy="19812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从小到大排序</a:t>
            </a:r>
          </a:p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4、5、5、6、30</a:t>
            </a:r>
          </a:p>
        </p:txBody>
      </p:sp>
      <p:sp>
        <p:nvSpPr>
          <p:cNvPr id="4" name="teaching:item-1"/>
          <p:cNvSpPr/>
          <p:nvPr/>
        </p:nvSpPr>
        <p:spPr>
          <a:xfrm>
            <a:off x="4521200" y="3276600"/>
            <a:ext cx="3149600" cy="19812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找到中间位置</a:t>
            </a:r>
          </a:p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共5个数，取第3个</a:t>
            </a:r>
          </a:p>
        </p:txBody>
      </p:sp>
      <p:sp>
        <p:nvSpPr>
          <p:cNvPr id="5" name="teaching:item-2"/>
          <p:cNvSpPr/>
          <p:nvPr/>
        </p:nvSpPr>
        <p:spPr>
          <a:xfrm>
            <a:off x="8229600" y="3276600"/>
            <a:ext cx="3149600" cy="19812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读出对应数值</a:t>
            </a:r>
          </a:p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中位数为5千元</a:t>
            </a:r>
          </a:p>
        </p:txBody>
      </p:sp>
      <p:sp>
        <p:nvSpPr>
          <p:cNvPr id="6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04</a:t>
            </a:r>
          </a:p>
        </p:txBody>
      </p:sp>
      <p:sp>
        <p:nvSpPr>
          <p:cNvPr id="9" name="teaching:step-number-0"/>
          <p:cNvSpPr/>
          <p:nvPr/>
        </p:nvSpPr>
        <p:spPr>
          <a:xfrm>
            <a:off x="812800" y="2463800"/>
            <a:ext cx="314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01</a:t>
            </a:r>
          </a:p>
        </p:txBody>
      </p:sp>
      <p:sp>
        <p:nvSpPr>
          <p:cNvPr id="10" name="teaching:step-number-1"/>
          <p:cNvSpPr/>
          <p:nvPr/>
        </p:nvSpPr>
        <p:spPr>
          <a:xfrm>
            <a:off x="4521200" y="2463800"/>
            <a:ext cx="314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02</a:t>
            </a:r>
          </a:p>
        </p:txBody>
      </p:sp>
      <p:sp>
        <p:nvSpPr>
          <p:cNvPr id="11" name="teaching:step-number-2"/>
          <p:cNvSpPr/>
          <p:nvPr/>
        </p:nvSpPr>
        <p:spPr>
          <a:xfrm>
            <a:off x="8229600" y="2463800"/>
            <a:ext cx="314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03</a:t>
            </a:r>
          </a:p>
        </p:txBody>
      </p:sp>
      <p:cxnSp>
        <p:nvCxnSpPr>
          <p:cNvPr id="12" name="relation:relation-0"/>
          <p:cNvCxnSpPr>
            <a:stCxn id="3" idx="3"/>
            <a:endCxn id="4" idx="1"/>
          </p:cNvCxnSpPr>
          <p:nvPr/>
        </p:nvCxnSpPr>
        <p:spPr>
          <a:xfrm>
            <a:off x="3962400" y="4267200"/>
            <a:ext cx="558800" cy="0"/>
          </a:xfrm>
          <a:prstGeom prst="line">
            <a:avLst/>
          </a:prstGeom>
          <a:ln w="21590">
            <a:solidFill>
              <a:srgbClr val="4E4376"/>
            </a:solidFill>
            <a:tailEnd type="triangle"/>
          </a:ln>
          <a:effectLst/>
        </p:spPr>
      </p:cxnSp>
      <p:cxnSp>
        <p:nvCxnSpPr>
          <p:cNvPr id="13" name="relation:relation-1"/>
          <p:cNvCxnSpPr>
            <a:stCxn id="4" idx="3"/>
            <a:endCxn id="5" idx="1"/>
          </p:cNvCxnSpPr>
          <p:nvPr/>
        </p:nvCxnSpPr>
        <p:spPr>
          <a:xfrm>
            <a:off x="7670800" y="4267200"/>
            <a:ext cx="558800" cy="0"/>
          </a:xfrm>
          <a:prstGeom prst="line">
            <a:avLst/>
          </a:prstGeom>
          <a:ln w="21590">
            <a:solidFill>
              <a:srgbClr val="4E4376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同一组数据，两种概括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812800" y="1651000"/>
            <a:ext cx="105664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77185"/>
                </a:solidFill>
                <a:latin typeface="Noto Sans CJK SC"/>
                <a:ea typeface="Noto Sans CJK SC"/>
                <a:cs typeface="Noto Sans CJK SC"/>
              </a:defRPr>
            </a:pPr>
            <a:r>
              <a:t>示例数据：4、5、5、6、30（千元）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895600" y="2235200"/>
            <a:ext cx="4140200" cy="6604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平均数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239000" y="2235200"/>
            <a:ext cx="4140200" cy="660400"/>
          </a:xfrm>
          <a:prstGeom prst="rect">
            <a:avLst/>
          </a:prstGeom>
          <a:solidFill>
            <a:srgbClr val="2B5876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中位数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812800" y="3073400"/>
            <a:ext cx="1879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本例数值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812800" y="4089400"/>
            <a:ext cx="1879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计算依据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812800" y="5105400"/>
            <a:ext cx="1879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异常高值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895600" y="3073400"/>
            <a:ext cx="4140200" cy="9144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10千元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7239000" y="3073400"/>
            <a:ext cx="4140200" cy="9144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5千元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2895600" y="4089400"/>
            <a:ext cx="4140200" cy="9144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全部数值之和 ÷ 个数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239000" y="4089400"/>
            <a:ext cx="4140200" cy="9144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排序后的中间位置</a:t>
            </a:r>
          </a:p>
        </p:txBody>
      </p:sp>
      <p:sp>
        <p:nvSpPr>
          <p:cNvPr id="13" name="teaching:cell-4-0"/>
          <p:cNvSpPr/>
          <p:nvPr/>
        </p:nvSpPr>
        <p:spPr>
          <a:xfrm>
            <a:off x="2895600" y="5105400"/>
            <a:ext cx="4140200" cy="9144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会拉高平均数</a:t>
            </a:r>
          </a:p>
        </p:txBody>
      </p:sp>
      <p:sp>
        <p:nvSpPr>
          <p:cNvPr id="14" name="teaching:cell-5-0"/>
          <p:cNvSpPr/>
          <p:nvPr/>
        </p:nvSpPr>
        <p:spPr>
          <a:xfrm>
            <a:off x="7239000" y="5105400"/>
            <a:ext cx="4140200" cy="9144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通常影响较小</a:t>
            </a:r>
          </a:p>
        </p:txBody>
      </p:sp>
      <p:sp>
        <p:nvSpPr>
          <p:cNvPr id="15" name="teaching:conclusion"/>
          <p:cNvSpPr/>
          <p:nvPr/>
        </p:nvSpPr>
        <p:spPr>
          <a:xfrm>
            <a:off x="812800" y="6096000"/>
            <a:ext cx="9499600" cy="482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指标的选择取决于要回答的问题</a:t>
            </a:r>
          </a:p>
        </p:txBody>
      </p:sp>
      <p:sp>
        <p:nvSpPr>
          <p:cNvPr id="16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最高值从30变为80，会怎样？</a:t>
            </a:r>
          </a:p>
        </p:txBody>
      </p:sp>
      <p:sp>
        <p:nvSpPr>
          <p:cNvPr id="3" name="teaching:item-0-heading"/>
          <p:cNvSpPr/>
          <p:nvPr/>
        </p:nvSpPr>
        <p:spPr>
          <a:xfrm>
            <a:off x="1828800" y="1676400"/>
            <a:ext cx="9550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只改变一个数</a:t>
            </a:r>
          </a:p>
        </p:txBody>
      </p:sp>
      <p:sp>
        <p:nvSpPr>
          <p:cNvPr id="4" name="teaching:item-0"/>
          <p:cNvSpPr/>
          <p:nvPr/>
        </p:nvSpPr>
        <p:spPr>
          <a:xfrm>
            <a:off x="1828800" y="2311400"/>
            <a:ext cx="9550400" cy="88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最高值增加50，其余数值保持不变。</a:t>
            </a:r>
          </a:p>
        </p:txBody>
      </p:sp>
      <p:sp>
        <p:nvSpPr>
          <p:cNvPr id="5" name="teaching:item-1-heading"/>
          <p:cNvSpPr/>
          <p:nvPr/>
        </p:nvSpPr>
        <p:spPr>
          <a:xfrm>
            <a:off x="1828800" y="3225800"/>
            <a:ext cx="9550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平均数跟着变化</a:t>
            </a:r>
          </a:p>
        </p:txBody>
      </p:sp>
      <p:sp>
        <p:nvSpPr>
          <p:cNvPr id="6" name="teaching:item-1"/>
          <p:cNvSpPr/>
          <p:nvPr/>
        </p:nvSpPr>
        <p:spPr>
          <a:xfrm>
            <a:off x="1828800" y="3860800"/>
            <a:ext cx="9550400" cy="88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每个观测值都参与计算，平均数从10变为20。</a:t>
            </a:r>
          </a:p>
        </p:txBody>
      </p:sp>
      <p:sp>
        <p:nvSpPr>
          <p:cNvPr id="7" name="teaching:item-2-heading"/>
          <p:cNvSpPr/>
          <p:nvPr/>
        </p:nvSpPr>
        <p:spPr>
          <a:xfrm>
            <a:off x="1828800" y="4775200"/>
            <a:ext cx="9550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中位数保持不变</a:t>
            </a:r>
          </a:p>
        </p:txBody>
      </p:sp>
      <p:sp>
        <p:nvSpPr>
          <p:cNvPr id="8" name="teaching:item-2"/>
          <p:cNvSpPr/>
          <p:nvPr/>
        </p:nvSpPr>
        <p:spPr>
          <a:xfrm>
            <a:off x="1828800" y="5410200"/>
            <a:ext cx="9550400" cy="88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中间位置对应的数没有改变，中位数仍为5。</a:t>
            </a:r>
          </a:p>
        </p:txBody>
      </p:sp>
      <p:sp>
        <p:nvSpPr>
          <p:cNvPr id="9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06</a:t>
            </a:r>
          </a:p>
        </p:txBody>
      </p:sp>
      <p:sp>
        <p:nvSpPr>
          <p:cNvPr id="12" name="teaching:ordinal-0"/>
          <p:cNvSpPr/>
          <p:nvPr/>
        </p:nvSpPr>
        <p:spPr>
          <a:xfrm>
            <a:off x="812800" y="1676400"/>
            <a:ext cx="8128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01</a:t>
            </a:r>
          </a:p>
        </p:txBody>
      </p:sp>
      <p:sp>
        <p:nvSpPr>
          <p:cNvPr id="13" name="teaching:ordinal-1"/>
          <p:cNvSpPr/>
          <p:nvPr/>
        </p:nvSpPr>
        <p:spPr>
          <a:xfrm>
            <a:off x="812800" y="3225800"/>
            <a:ext cx="8128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02</a:t>
            </a:r>
          </a:p>
        </p:txBody>
      </p:sp>
      <p:sp>
        <p:nvSpPr>
          <p:cNvPr id="14" name="teaching:ordinal-2"/>
          <p:cNvSpPr/>
          <p:nvPr/>
        </p:nvSpPr>
        <p:spPr>
          <a:xfrm>
            <a:off x="812800" y="4775200"/>
            <a:ext cx="8128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你会怎样描述典型收入？</a:t>
            </a:r>
          </a:p>
        </p:txBody>
      </p:sp>
      <p:sp>
        <p:nvSpPr>
          <p:cNvPr id="3" name="teaching:question"/>
          <p:cNvSpPr/>
          <p:nvPr/>
        </p:nvSpPr>
        <p:spPr>
          <a:xfrm>
            <a:off x="1219200" y="1981200"/>
            <a:ext cx="10160000" cy="220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回到原始数据：4、5、5、6、30。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描述这五人的典型收入，你会选10还是5？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请说明原因。</a:t>
            </a:r>
          </a:p>
        </p:txBody>
      </p:sp>
      <p:sp>
        <p:nvSpPr>
          <p:cNvPr id="4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07</a:t>
            </a:r>
          </a:p>
        </p:txBody>
      </p:sp>
      <p:sp>
        <p:nvSpPr>
          <p:cNvPr id="7" name="teaching:question-label"/>
          <p:cNvSpPr/>
          <p:nvPr/>
        </p:nvSpPr>
        <p:spPr>
          <a:xfrm>
            <a:off x="711200" y="2032000"/>
            <a:ext cx="5080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你会怎样描述典型收入？</a:t>
            </a:r>
          </a:p>
        </p:txBody>
      </p:sp>
      <p:sp>
        <p:nvSpPr>
          <p:cNvPr id="3" name="teaching:question"/>
          <p:cNvSpPr/>
          <p:nvPr/>
        </p:nvSpPr>
        <p:spPr>
          <a:xfrm>
            <a:off x="1219200" y="1981200"/>
            <a:ext cx="10160000" cy="220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回到原始数据：4、5、5、6、30。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描述这五人的典型收入，你会选10还是5？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请说明原因。</a:t>
            </a:r>
          </a:p>
        </p:txBody>
      </p:sp>
      <p:sp>
        <p:nvSpPr>
          <p:cNvPr id="4" name="teaching:answer"/>
          <p:cNvSpPr/>
          <p:nvPr/>
        </p:nvSpPr>
        <p:spPr>
          <a:xfrm>
            <a:off x="1219200" y="4470400"/>
            <a:ext cx="10160000" cy="1778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txBody>
          <a:bodyPr rtlCol="0" anchor="ctr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5更接近中间位置；10受最高收入拉高。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如果问题是总收入如何均摊，10就有明确意义。</a:t>
            </a:r>
          </a:p>
        </p:txBody>
      </p:sp>
      <p:sp>
        <p:nvSpPr>
          <p:cNvPr id="5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07</a:t>
            </a:r>
          </a:p>
        </p:txBody>
      </p:sp>
      <p:sp>
        <p:nvSpPr>
          <p:cNvPr id="8" name="teaching:question-label"/>
          <p:cNvSpPr/>
          <p:nvPr/>
        </p:nvSpPr>
        <p:spPr>
          <a:xfrm>
            <a:off x="711200" y="2032000"/>
            <a:ext cx="5080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Q</a:t>
            </a:r>
          </a:p>
        </p:txBody>
      </p:sp>
      <p:sp>
        <p:nvSpPr>
          <p:cNvPr id="9" name="teaching:answer-label"/>
          <p:cNvSpPr/>
          <p:nvPr/>
        </p:nvSpPr>
        <p:spPr>
          <a:xfrm>
            <a:off x="711200" y="4572000"/>
            <a:ext cx="5080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812800" y="381000"/>
            <a:ext cx="10769600" cy="121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733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先明确问题，再选择指标</a:t>
            </a:r>
          </a:p>
        </p:txBody>
      </p:sp>
      <p:sp>
        <p:nvSpPr>
          <p:cNvPr id="3" name="teaching:item-0-heading"/>
          <p:cNvSpPr/>
          <p:nvPr/>
        </p:nvSpPr>
        <p:spPr>
          <a:xfrm>
            <a:off x="1828800" y="2032000"/>
            <a:ext cx="9550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关心总量均摊：平均数</a:t>
            </a:r>
          </a:p>
        </p:txBody>
      </p:sp>
      <p:sp>
        <p:nvSpPr>
          <p:cNvPr id="4" name="teaching:item-0"/>
          <p:cNvSpPr/>
          <p:nvPr/>
        </p:nvSpPr>
        <p:spPr>
          <a:xfrm>
            <a:off x="1828800" y="2667000"/>
            <a:ext cx="9550400" cy="134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每个数值都参与计算，适合回答总量如何分配。</a:t>
            </a:r>
          </a:p>
        </p:txBody>
      </p:sp>
      <p:sp>
        <p:nvSpPr>
          <p:cNvPr id="5" name="teaching:item-1-heading"/>
          <p:cNvSpPr/>
          <p:nvPr/>
        </p:nvSpPr>
        <p:spPr>
          <a:xfrm>
            <a:off x="1828800" y="4038600"/>
            <a:ext cx="9550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关心中间位置：中位数</a:t>
            </a:r>
          </a:p>
        </p:txBody>
      </p:sp>
      <p:sp>
        <p:nvSpPr>
          <p:cNvPr id="6" name="teaching:item-1"/>
          <p:cNvSpPr/>
          <p:nvPr/>
        </p:nvSpPr>
        <p:spPr>
          <a:xfrm>
            <a:off x="1828800" y="4673600"/>
            <a:ext cx="9550400" cy="134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B3445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同时说明分布与异常值，避免一个数字掩盖差异。</a:t>
            </a:r>
          </a:p>
        </p:txBody>
      </p:sp>
      <p:sp>
        <p:nvSpPr>
          <p:cNvPr id="7" name="teaching:header-rule"/>
          <p:cNvSpPr/>
          <p:nvPr/>
        </p:nvSpPr>
        <p:spPr>
          <a:xfrm>
            <a:off x="546100" y="508000"/>
            <a:ext cx="101600" cy="609600"/>
          </a:xfrm>
          <a:prstGeom prst="rect">
            <a:avLst/>
          </a:prstGeom>
          <a:solidFill>
            <a:srgbClr val="4E43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aching:footer-rule"/>
          <p:cNvSpPr/>
          <p:nvPr/>
        </p:nvSpPr>
        <p:spPr>
          <a:xfrm>
            <a:off x="812800" y="6604000"/>
            <a:ext cx="9550400" cy="127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aching:page-number"/>
          <p:cNvSpPr/>
          <p:nvPr/>
        </p:nvSpPr>
        <p:spPr>
          <a:xfrm>
            <a:off x="10668000" y="6502400"/>
            <a:ext cx="7112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A93A2"/>
                </a:solidFill>
                <a:latin typeface="Noto Sans CJK SC"/>
                <a:ea typeface="Noto Sans CJK SC"/>
                <a:cs typeface="Noto Sans CJK SC"/>
              </a:defRPr>
            </a:pPr>
            <a:r>
              <a:t>08</a:t>
            </a:r>
          </a:p>
        </p:txBody>
      </p:sp>
      <p:sp>
        <p:nvSpPr>
          <p:cNvPr id="10" name="teaching:ordinal-0"/>
          <p:cNvSpPr/>
          <p:nvPr/>
        </p:nvSpPr>
        <p:spPr>
          <a:xfrm>
            <a:off x="812800" y="2032000"/>
            <a:ext cx="8128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01</a:t>
            </a:r>
          </a:p>
        </p:txBody>
      </p:sp>
      <p:sp>
        <p:nvSpPr>
          <p:cNvPr id="11" name="teaching:ordinal-1"/>
          <p:cNvSpPr/>
          <p:nvPr/>
        </p:nvSpPr>
        <p:spPr>
          <a:xfrm>
            <a:off x="812800" y="4038600"/>
            <a:ext cx="8128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E4376"/>
                </a:solidFill>
                <a:latin typeface="Noto Sans CJK SC"/>
                <a:ea typeface="Noto Sans CJK SC"/>
                <a:cs typeface="Noto Sans CJK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