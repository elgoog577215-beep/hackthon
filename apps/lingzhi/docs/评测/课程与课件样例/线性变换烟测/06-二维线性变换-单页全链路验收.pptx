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cdr_4e979551fd562488e554fe24</a:t>
            </a:r>
          </a:p>
          <a:p/>
          <a:p>
            <a:r>
              <a:t>teaching_unit_id: cpu_3bc1c0b4e8c4a14b305f45e6</a:t>
            </a:r>
          </a:p>
          <a:p/>
          <a:p>
            <a:r>
              <a:t>source_section_ids: []</a:t>
            </a:r>
          </a:p>
          <a:p/>
          <a:p>
            <a:r>
              <a:t>[tsb-1fd9c6a1350f @ cbr_738dd62398b65e4a6c2d19c8]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对二维向量 v=(x,y)，A=diag(2,1/2) 给出 Av=(2x,y/2)。取 v=(1,2)，可得 Av=(2,1)。第一坐标乘 2，对应 x 方向拉伸 2 倍；第二坐标乘 1/2，对应 y 方向压缩为一半。一般地，diag(a,b)(x,y)=(ax,by)，对角元分别就是两个坐标方向的缩放倍率。核对时同时检查矩阵乘法、输出坐标、方向与倍率。</a:t>
            </a:r>
          </a:p>
          <a:p>
            <a:r>
              <a:t>source_payload: {"content_perspective": "neutral", "knowledge_binding_status": null, "markdown": "对二维向量 v=(x,y)，A=diag(2,1/2) 给出 Av=(2x,y/2)。取 v=(1,2)，可得 Av=(2,1)。第一坐标乘 2，对应 x 方向拉伸 2 倍；第二坐标乘 1/2，对应 y 方向压缩为一半。一般地，diag(a,b)(x,y)=(ax,by)，对角元分别就是两个坐标方向的缩放倍率。核对时同时检查矩阵乘法、输出坐标、方向与倍率。", "module_id": "core_explanation", "module_instance_id": "tsb-1fd9c6a1350f", "planned_minutes": 8, "ppt_page_group_id": "L2-1-1:ppt-page-group:1", "summary": "对二维向量 v=(x,y)，A=diag(2,1/2) 给出 Av=(2x,y/2)。取 v=(1,2)，可得 Av=(2,1)。第一坐标乘 2，对应 x 方向拉伸 2 倍；第二坐标乘 1/2，对应 y 方向压缩为一半。一般地，diag(a", "title": "对角元就是坐标方向的缩放倍率"}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" y="9144"/>
            <a:ext cx="12161520" cy="6830568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层叠纸张与学习节点构成的通用内容页背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9144"/>
            <a:ext cx="12161520" cy="6830568"/>
          </a:xfrm>
          <a:prstGeom prst="rect">
            <a:avLst/>
          </a:prstGeom>
        </p:spPr>
      </p:pic>
      <p:sp>
        <p:nvSpPr>
          <p:cNvPr id="4" name="TextBox 3 [v6-title-max-lines=2]"/>
          <p:cNvSpPr txBox="1"/>
          <p:nvPr/>
        </p:nvSpPr>
        <p:spPr>
          <a:xfrm>
            <a:off x="713232" y="640080"/>
            <a:ext cx="10716768" cy="1060704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500" b="1">
                <a:solidFill>
                  <a:srgbClr val="17365D"/>
                </a:solidFill>
                <a:latin typeface="Noto Sans SC"/>
                <a:ea typeface="Microsoft YaHei"/>
              </a:defRPr>
            </a:pPr>
            <a:r>
              <a:t>对角元就是坐标方向的缩放倍率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00784"/>
            <a:ext cx="658368" cy="36576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44752" y="1700784"/>
            <a:ext cx="73152" cy="36576"/>
          </a:xfrm>
          <a:prstGeom prst="rect">
            <a:avLst/>
          </a:prstGeom>
          <a:solidFill>
            <a:srgbClr val="168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01968" y="1755648"/>
            <a:ext cx="4864608" cy="4224528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7315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84248"/>
            <a:ext cx="1005840" cy="256032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D7D91"/>
                </a:solidFill>
                <a:latin typeface="Noto Sans SC"/>
                <a:ea typeface="Microsoft YaHei"/>
              </a:defRPr>
            </a:pPr>
            <a:r>
              <a:t>课程正文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414015"/>
            <a:ext cx="4352544" cy="326440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34465C"/>
                </a:solidFill>
                <a:latin typeface="Noto Sans SC"/>
                <a:ea typeface="Microsoft YaHei"/>
              </a:defRPr>
            </a:pPr>
            <a:r>
              <a:t>对二维向量 v=(x,y)，A=diag(2,1/2) 给出 Av=(2x,y/2)。</a:t>
            </a:r>
            <a:br/>
            <a:r>
              <a:t>第一坐标乘 2，对应 x 方向拉伸 2 倍；</a:t>
            </a:r>
            <a:br/>
            <a:r>
              <a:t>第二坐标乘 1/2，对应 y 方向压缩为一半。</a:t>
            </a:r>
            <a:br/>
            <a:r>
              <a:t>一般地，diag(a,b)(x,y)=(ax,by)，对角元分别就是两个坐标方向的缩放倍率。</a:t>
            </a:r>
            <a:br/>
            <a:r>
              <a:t>核对时同时检查矩阵乘法、输出坐标、方向与倍率。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55648"/>
            <a:ext cx="5440680" cy="4224528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7315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433572" y="2712110"/>
            <a:ext cx="0" cy="669341"/>
          </a:xfrm>
          <a:prstGeom prst="line">
            <a:avLst/>
          </a:prstGeom>
          <a:ln w="16459">
            <a:solidFill>
              <a:srgbClr val="6D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33572" y="3381451"/>
            <a:ext cx="0" cy="669340"/>
          </a:xfrm>
          <a:prstGeom prst="line">
            <a:avLst/>
          </a:prstGeom>
          <a:ln w="16459">
            <a:solidFill>
              <a:srgbClr val="6D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33572" y="4050791"/>
            <a:ext cx="0" cy="669341"/>
          </a:xfrm>
          <a:prstGeom prst="line">
            <a:avLst/>
          </a:prstGeom>
          <a:ln w="16459">
            <a:solidFill>
              <a:srgbClr val="6D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33572" y="4050791"/>
            <a:ext cx="0" cy="1338682"/>
          </a:xfrm>
          <a:prstGeom prst="line">
            <a:avLst/>
          </a:prstGeom>
          <a:ln w="16459">
            <a:solidFill>
              <a:srgbClr val="6D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 descr="diag(2,1/2)"/>
          <p:cNvSpPr/>
          <p:nvPr/>
        </p:nvSpPr>
        <p:spPr>
          <a:xfrm>
            <a:off x="1216152" y="2395728"/>
            <a:ext cx="4434840" cy="632764"/>
          </a:xfrm>
          <a:prstGeom prst="roundRect">
            <a:avLst>
              <a:gd name="adj" fmla="val 8000"/>
            </a:avLst>
          </a:prstGeom>
          <a:solidFill>
            <a:srgbClr val="DCE9FF"/>
          </a:solidFill>
          <a:ln w="7315">
            <a:solidFill>
              <a:srgbClr val="2F6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2478024"/>
            <a:ext cx="4160520" cy="4864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7365D"/>
                </a:solidFill>
                <a:latin typeface="Noto Sans SC"/>
                <a:ea typeface="Microsoft YaHei"/>
              </a:defRPr>
            </a:pPr>
            <a:r>
              <a:t>diag(2,1/2)</a:t>
            </a:r>
          </a:p>
        </p:txBody>
      </p:sp>
      <p:sp>
        <p:nvSpPr>
          <p:cNvPr id="17" name="Rounded Rectangle 16" descr="v=(x,y)"/>
          <p:cNvSpPr/>
          <p:nvPr/>
        </p:nvSpPr>
        <p:spPr>
          <a:xfrm>
            <a:off x="1216152" y="3065068"/>
            <a:ext cx="4434840" cy="632764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7315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3147364"/>
            <a:ext cx="4160520" cy="4864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465C"/>
                </a:solidFill>
                <a:latin typeface="Noto Sans SC"/>
                <a:ea typeface="Microsoft YaHei"/>
              </a:defRPr>
            </a:pPr>
            <a:r>
              <a:t>v=(x,y)</a:t>
            </a:r>
          </a:p>
        </p:txBody>
      </p:sp>
      <p:sp>
        <p:nvSpPr>
          <p:cNvPr id="19" name="Rounded Rectangle 18" descr="Av=(2x,y/2)"/>
          <p:cNvSpPr/>
          <p:nvPr/>
        </p:nvSpPr>
        <p:spPr>
          <a:xfrm>
            <a:off x="1216152" y="3734409"/>
            <a:ext cx="4434840" cy="632764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7315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3816705"/>
            <a:ext cx="4160520" cy="4864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465C"/>
                </a:solidFill>
                <a:latin typeface="Noto Sans SC"/>
                <a:ea typeface="Microsoft YaHei"/>
              </a:defRPr>
            </a:pPr>
            <a:r>
              <a:t>Av=(2x,y/2)</a:t>
            </a:r>
          </a:p>
        </p:txBody>
      </p:sp>
      <p:sp>
        <p:nvSpPr>
          <p:cNvPr id="21" name="Rounded Rectangle 20" descr="x 方向拉伸 2 倍"/>
          <p:cNvSpPr/>
          <p:nvPr/>
        </p:nvSpPr>
        <p:spPr>
          <a:xfrm>
            <a:off x="1216152" y="4403750"/>
            <a:ext cx="4434840" cy="632764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7315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3312" y="4486046"/>
            <a:ext cx="4160520" cy="4864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465C"/>
                </a:solidFill>
                <a:latin typeface="Noto Sans SC"/>
                <a:ea typeface="Microsoft YaHei"/>
              </a:defRPr>
            </a:pPr>
            <a:r>
              <a:t>x 方向拉伸 2 倍</a:t>
            </a:r>
          </a:p>
        </p:txBody>
      </p:sp>
      <p:sp>
        <p:nvSpPr>
          <p:cNvPr id="23" name="Rounded Rectangle 22" descr="y 方向压缩为一半"/>
          <p:cNvSpPr/>
          <p:nvPr/>
        </p:nvSpPr>
        <p:spPr>
          <a:xfrm>
            <a:off x="1216152" y="5073091"/>
            <a:ext cx="4434840" cy="632764"/>
          </a:xfrm>
          <a:prstGeom prst="roundRect">
            <a:avLst>
              <a:gd name="adj" fmla="val 8000"/>
            </a:avLst>
          </a:prstGeom>
          <a:solidFill>
            <a:srgbClr val="FFFDF7"/>
          </a:solidFill>
          <a:ln w="7315">
            <a:solidFill>
              <a:srgbClr val="E6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5155387"/>
            <a:ext cx="4160520" cy="48646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465C"/>
                </a:solidFill>
                <a:latin typeface="Noto Sans SC"/>
                <a:ea typeface="Microsoft YaHei"/>
              </a:defRPr>
            </a:pPr>
            <a:r>
              <a:t>y 方向压缩为一半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7312" y="6492240"/>
            <a:ext cx="932688" cy="18288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D7D91"/>
                </a:solidFill>
                <a:latin typeface="Aptos Mono"/>
                <a:ea typeface="Microsoft YaHei"/>
              </a:defRPr>
            </a:pPr>
            <a:r>
              <a:t>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