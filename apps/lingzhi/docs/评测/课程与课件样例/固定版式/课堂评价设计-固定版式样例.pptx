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demo-source-v1</a:t>
            </a:r>
          </a:p>
          <a:p/>
          <a:p>
            <a:r>
              <a:t>teaching_unit_id: cpu_20ef1c58727b5e17bfcdca04</a:t>
            </a:r>
          </a:p>
          <a:p/>
          <a:p>
            <a:r>
              <a:t>source_section_ids: []</a:t>
            </a:r>
          </a:p>
          <a:p/>
          <a:p>
            <a:r>
              <a:t>讲述提示</a:t>
            </a:r>
          </a:p>
          <a:p>
            <a:r>
              <a:t>教师结合本班实例讲解，完整依据保存在备注。</a:t>
            </a:r>
          </a:p>
          <a:p/>
          <a:p>
            <a:r>
              <a:t>[source @ r1]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课堂评价设计。围绕目标、证据与反馈组织教学。怎样让评价帮助学习？先明确目标，再收集证据，最后给出反馈。学习目标、评价证据、反馈行动共同组成课堂评价。形成性评价与总结性评价具有不同的时点和用途。形成性评价在学习过程中进行，用于调整学习与教学，例如课堂反馈。总结性评价在阶段结束时进行，用于判断阶段达成情况，例如结课评价。同一课程中的两类评价可以相互补充。评价贯穿学习过程。把抽象目标转成可观察表现。根据表现收集能够支持判断的证据。反馈应指出当前差距与下一步行动。反馈不只给出分数。先让学生独立判断，再展示解释。为什么需要过程中的反馈？及时发现差距，帮助学生调整学习。总结：目标决定证据，证据支持判断，反馈推动改进。</a:t>
            </a:r>
          </a:p>
          <a:p>
            <a:r>
              <a:t>source_payload: {"markdown": "课堂评价设计。围绕目标、证据与反馈组织教学。怎样让评价帮助学习？先明确目标，再收集证据，最后给出反馈。学习目标、评价证据、反馈行动共同组成课堂评价。形成性评价与总结性评价具有不同的时点和用途。形成性评价在学习过程中进行，用于调整学习与教学，例如课堂反馈。总结性评价在阶段结束时进行，用于判断阶段达成情况，例如结课评价。同一课程中的两类评价可以相互补充。评价贯穿学习过程。把抽象目标转成可观察表现。根据表现收集能够支持判断的证据。反馈应指出当前差距与下一步行动。反馈不只给出分数。先让学生独立判断，再展示解释。为什么需要过程中的反馈？及时发现差距，帮助学生调整学习。总结：目标决定证据，证据支持判断，反馈推动改进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demo-source-v1</a:t>
            </a:r>
          </a:p>
          <a:p/>
          <a:p>
            <a:r>
              <a:t>teaching_unit_id: cpu_20ef1c58727b5e17bfcdca04</a:t>
            </a:r>
          </a:p>
          <a:p/>
          <a:p>
            <a:r>
              <a:t>source_section_ids: []</a:t>
            </a:r>
          </a:p>
          <a:p/>
          <a:p>
            <a:r>
              <a:t>讲述提示</a:t>
            </a:r>
          </a:p>
          <a:p>
            <a:r>
              <a:t>教师结合本班实例讲解，完整依据保存在备注。</a:t>
            </a:r>
          </a:p>
          <a:p/>
          <a:p>
            <a:r>
              <a:t>[source @ r1]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课堂评价设计。围绕目标、证据与反馈组织教学。怎样让评价帮助学习？先明确目标，再收集证据，最后给出反馈。学习目标、评价证据、反馈行动共同组成课堂评价。形成性评价与总结性评价具有不同的时点和用途。形成性评价在学习过程中进行，用于调整学习与教学，例如课堂反馈。总结性评价在阶段结束时进行，用于判断阶段达成情况，例如结课评价。同一课程中的两类评价可以相互补充。评价贯穿学习过程。把抽象目标转成可观察表现。根据表现收集能够支持判断的证据。反馈应指出当前差距与下一步行动。反馈不只给出分数。先让学生独立判断，再展示解释。为什么需要过程中的反馈？及时发现差距，帮助学生调整学习。总结：目标决定证据，证据支持判断，反馈推动改进。</a:t>
            </a:r>
          </a:p>
          <a:p>
            <a:r>
              <a:t>source_payload: {"markdown": "课堂评价设计。围绕目标、证据与反馈组织教学。怎样让评价帮助学习？先明确目标，再收集证据，最后给出反馈。学习目标、评价证据、反馈行动共同组成课堂评价。形成性评价与总结性评价具有不同的时点和用途。形成性评价在学习过程中进行，用于调整学习与教学，例如课堂反馈。总结性评价在阶段结束时进行，用于判断阶段达成情况，例如结课评价。同一课程中的两类评价可以相互补充。评价贯穿学习过程。把抽象目标转成可观察表现。根据表现收集能够支持判断的证据。反馈应指出当前差距与下一步行动。反馈不只给出分数。先让学生独立判断，再展示解释。为什么需要过程中的反馈？及时发现差距，帮助学生调整学习。总结：目标决定证据，证据支持判断，反馈推动改进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demo-source-v1</a:t>
            </a:r>
          </a:p>
          <a:p/>
          <a:p>
            <a:r>
              <a:t>teaching_unit_id: cpu_20ef1c58727b5e17bfcdca04</a:t>
            </a:r>
          </a:p>
          <a:p/>
          <a:p>
            <a:r>
              <a:t>source_section_ids: []</a:t>
            </a:r>
          </a:p>
          <a:p/>
          <a:p>
            <a:r>
              <a:t>讲述提示</a:t>
            </a:r>
          </a:p>
          <a:p>
            <a:r>
              <a:t>教师结合本班实例讲解，完整依据保存在备注。</a:t>
            </a:r>
          </a:p>
          <a:p/>
          <a:p>
            <a:r>
              <a:t>[source @ r1]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课堂评价设计。围绕目标、证据与反馈组织教学。怎样让评价帮助学习？先明确目标，再收集证据，最后给出反馈。学习目标、评价证据、反馈行动共同组成课堂评价。形成性评价与总结性评价具有不同的时点和用途。形成性评价在学习过程中进行，用于调整学习与教学，例如课堂反馈。总结性评价在阶段结束时进行，用于判断阶段达成情况，例如结课评价。同一课程中的两类评价可以相互补充。评价贯穿学习过程。把抽象目标转成可观察表现。根据表现收集能够支持判断的证据。反馈应指出当前差距与下一步行动。反馈不只给出分数。先让学生独立判断，再展示解释。为什么需要过程中的反馈？及时发现差距，帮助学生调整学习。总结：目标决定证据，证据支持判断，反馈推动改进。</a:t>
            </a:r>
          </a:p>
          <a:p>
            <a:r>
              <a:t>source_payload: {"markdown": "课堂评价设计。围绕目标、证据与反馈组织教学。怎样让评价帮助学习？先明确目标，再收集证据，最后给出反馈。学习目标、评价证据、反馈行动共同组成课堂评价。形成性评价与总结性评价具有不同的时点和用途。形成性评价在学习过程中进行，用于调整学习与教学，例如课堂反馈。总结性评价在阶段结束时进行，用于判断阶段达成情况，例如结课评价。同一课程中的两类评价可以相互补充。评价贯穿学习过程。把抽象目标转成可观察表现。根据表现收集能够支持判断的证据。反馈应指出当前差距与下一步行动。反馈不只给出分数。先让学生独立判断，再展示解释。为什么需要过程中的反馈？及时发现差距，帮助学生调整学习。总结：目标决定证据，证据支持判断，反馈推动改进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demo-source-v1</a:t>
            </a:r>
          </a:p>
          <a:p/>
          <a:p>
            <a:r>
              <a:t>teaching_unit_id: cpu_20ef1c58727b5e17bfcdca04</a:t>
            </a:r>
          </a:p>
          <a:p/>
          <a:p>
            <a:r>
              <a:t>source_section_ids: []</a:t>
            </a:r>
          </a:p>
          <a:p/>
          <a:p>
            <a:r>
              <a:t>讲述提示</a:t>
            </a:r>
          </a:p>
          <a:p>
            <a:r>
              <a:t>教师结合本班实例讲解，完整依据保存在备注。</a:t>
            </a:r>
          </a:p>
          <a:p/>
          <a:p>
            <a:r>
              <a:t>[source @ r1]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课堂评价设计。围绕目标、证据与反馈组织教学。怎样让评价帮助学习？先明确目标，再收集证据，最后给出反馈。学习目标、评价证据、反馈行动共同组成课堂评价。形成性评价与总结性评价具有不同的时点和用途。形成性评价在学习过程中进行，用于调整学习与教学，例如课堂反馈。总结性评价在阶段结束时进行，用于判断阶段达成情况，例如结课评价。同一课程中的两类评价可以相互补充。评价贯穿学习过程。把抽象目标转成可观察表现。根据表现收集能够支持判断的证据。反馈应指出当前差距与下一步行动。反馈不只给出分数。先让学生独立判断，再展示解释。为什么需要过程中的反馈？及时发现差距，帮助学生调整学习。总结：目标决定证据，证据支持判断，反馈推动改进。</a:t>
            </a:r>
          </a:p>
          <a:p>
            <a:r>
              <a:t>source_payload: {"markdown": "课堂评价设计。围绕目标、证据与反馈组织教学。怎样让评价帮助学习？先明确目标，再收集证据，最后给出反馈。学习目标、评价证据、反馈行动共同组成课堂评价。形成性评价与总结性评价具有不同的时点和用途。形成性评价在学习过程中进行，用于调整学习与教学，例如课堂反馈。总结性评价在阶段结束时进行，用于判断阶段达成情况，例如结课评价。同一课程中的两类评价可以相互补充。评价贯穿学习过程。把抽象目标转成可观察表现。根据表现收集能够支持判断的证据。反馈应指出当前差距与下一步行动。反馈不只给出分数。先让学生独立判断，再展示解释。为什么需要过程中的反馈？及时发现差距，帮助学生调整学习。总结：目标决定证据，证据支持判断，反馈推动改进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demo-source-v1</a:t>
            </a:r>
          </a:p>
          <a:p/>
          <a:p>
            <a:r>
              <a:t>teaching_unit_id: cpu_20ef1c58727b5e17bfcdca04</a:t>
            </a:r>
          </a:p>
          <a:p/>
          <a:p>
            <a:r>
              <a:t>source_section_ids: []</a:t>
            </a:r>
          </a:p>
          <a:p/>
          <a:p>
            <a:r>
              <a:t>讲述提示</a:t>
            </a:r>
          </a:p>
          <a:p>
            <a:r>
              <a:t>教师结合本班实例讲解，完整依据保存在备注。</a:t>
            </a:r>
          </a:p>
          <a:p/>
          <a:p>
            <a:r>
              <a:t>[source @ r1]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课堂评价设计。围绕目标、证据与反馈组织教学。怎样让评价帮助学习？先明确目标，再收集证据，最后给出反馈。学习目标、评价证据、反馈行动共同组成课堂评价。形成性评价与总结性评价具有不同的时点和用途。形成性评价在学习过程中进行，用于调整学习与教学，例如课堂反馈。总结性评价在阶段结束时进行，用于判断阶段达成情况，例如结课评价。同一课程中的两类评价可以相互补充。评价贯穿学习过程。把抽象目标转成可观察表现。根据表现收集能够支持判断的证据。反馈应指出当前差距与下一步行动。反馈不只给出分数。先让学生独立判断，再展示解释。为什么需要过程中的反馈？及时发现差距，帮助学生调整学习。总结：目标决定证据，证据支持判断，反馈推动改进。</a:t>
            </a:r>
          </a:p>
          <a:p>
            <a:r>
              <a:t>source_payload: {"markdown": "课堂评价设计。围绕目标、证据与反馈组织教学。怎样让评价帮助学习？先明确目标，再收集证据，最后给出反馈。学习目标、评价证据、反馈行动共同组成课堂评价。形成性评价与总结性评价具有不同的时点和用途。形成性评价在学习过程中进行，用于调整学习与教学，例如课堂反馈。总结性评价在阶段结束时进行，用于判断阶段达成情况，例如结课评价。同一课程中的两类评价可以相互补充。评价贯穿学习过程。把抽象目标转成可观察表现。根据表现收集能够支持判断的证据。反馈应指出当前差距与下一步行动。反馈不只给出分数。先让学生独立判断，再展示解释。为什么需要过程中的反馈？及时发现差距，帮助学生调整学习。总结：目标决定证据，证据支持判断，反馈推动改进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demo-source-v1</a:t>
            </a:r>
          </a:p>
          <a:p/>
          <a:p>
            <a:r>
              <a:t>teaching_unit_id: cpu_20ef1c58727b5e17bfcdca04</a:t>
            </a:r>
          </a:p>
          <a:p/>
          <a:p>
            <a:r>
              <a:t>source_section_ids: []</a:t>
            </a:r>
          </a:p>
          <a:p/>
          <a:p>
            <a:r>
              <a:t>讲述提示</a:t>
            </a:r>
          </a:p>
          <a:p>
            <a:r>
              <a:t>教师结合本班实例讲解，完整依据保存在备注。</a:t>
            </a:r>
          </a:p>
          <a:p/>
          <a:p>
            <a:r>
              <a:t>[source @ r1]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课堂评价设计。围绕目标、证据与反馈组织教学。怎样让评价帮助学习？先明确目标，再收集证据，最后给出反馈。学习目标、评价证据、反馈行动共同组成课堂评价。形成性评价与总结性评价具有不同的时点和用途。形成性评价在学习过程中进行，用于调整学习与教学，例如课堂反馈。总结性评价在阶段结束时进行，用于判断阶段达成情况，例如结课评价。同一课程中的两类评价可以相互补充。评价贯穿学习过程。把抽象目标转成可观察表现。根据表现收集能够支持判断的证据。反馈应指出当前差距与下一步行动。反馈不只给出分数。先让学生独立判断，再展示解释。为什么需要过程中的反馈？及时发现差距，帮助学生调整学习。总结：目标决定证据，证据支持判断，反馈推动改进。</a:t>
            </a:r>
          </a:p>
          <a:p>
            <a:r>
              <a:t>source_payload: {"markdown": "课堂评价设计。围绕目标、证据与反馈组织教学。怎样让评价帮助学习？先明确目标，再收集证据，最后给出反馈。学习目标、评价证据、反馈行动共同组成课堂评价。形成性评价与总结性评价具有不同的时点和用途。形成性评价在学习过程中进行，用于调整学习与教学，例如课堂反馈。总结性评价在阶段结束时进行，用于判断阶段达成情况，例如结课评价。同一课程中的两类评价可以相互补充。评价贯穿学习过程。把抽象目标转成可观察表现。根据表现收集能够支持判断的证据。反馈应指出当前差距与下一步行动。反馈不只给出分数。先让学生独立判断，再展示解释。为什么需要过程中的反馈？及时发现差距，帮助学生调整学习。总结：目标决定证据，证据支持判断，反馈推动改进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demo-source-v1</a:t>
            </a:r>
          </a:p>
          <a:p/>
          <a:p>
            <a:r>
              <a:t>teaching_unit_id: cpu_20ef1c58727b5e17bfcdca04</a:t>
            </a:r>
          </a:p>
          <a:p/>
          <a:p>
            <a:r>
              <a:t>source_section_ids: []</a:t>
            </a:r>
          </a:p>
          <a:p/>
          <a:p>
            <a:r>
              <a:t>讲述提示</a:t>
            </a:r>
          </a:p>
          <a:p>
            <a:r>
              <a:t>教师结合本班实例讲解，完整依据保存在备注。</a:t>
            </a:r>
          </a:p>
          <a:p/>
          <a:p>
            <a:r>
              <a:t>教师结合本班实例讲解，完整依据保存在备注。</a:t>
            </a:r>
          </a:p>
          <a:p/>
          <a:p>
            <a:r>
              <a:t>[source @ r1]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课堂评价设计。围绕目标、证据与反馈组织教学。怎样让评价帮助学习？先明确目标，再收集证据，最后给出反馈。学习目标、评价证据、反馈行动共同组成课堂评价。形成性评价与总结性评价具有不同的时点和用途。形成性评价在学习过程中进行，用于调整学习与教学，例如课堂反馈。总结性评价在阶段结束时进行，用于判断阶段达成情况，例如结课评价。同一课程中的两类评价可以相互补充。评价贯穿学习过程。把抽象目标转成可观察表现。根据表现收集能够支持判断的证据。反馈应指出当前差距与下一步行动。反馈不只给出分数。先让学生独立判断，再展示解释。为什么需要过程中的反馈？及时发现差距，帮助学生调整学习。总结：目标决定证据，证据支持判断，反馈推动改进。</a:t>
            </a:r>
          </a:p>
          <a:p>
            <a:r>
              <a:t>source_payload: {"markdown": "课堂评价设计。围绕目标、证据与反馈组织教学。怎样让评价帮助学习？先明确目标，再收集证据，最后给出反馈。学习目标、评价证据、反馈行动共同组成课堂评价。形成性评价与总结性评价具有不同的时点和用途。形成性评价在学习过程中进行，用于调整学习与教学，例如课堂反馈。总结性评价在阶段结束时进行，用于判断阶段达成情况，例如结课评价。同一课程中的两类评价可以相互补充。评价贯穿学习过程。把抽象目标转成可观察表现。根据表现收集能够支持判断的证据。反馈应指出当前差距与下一步行动。反馈不只给出分数。先让学生独立判断，再展示解释。为什么需要过程中的反馈？及时发现差距，帮助学生调整学习。总结：目标决定证据，证据支持判断，反馈推动改进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demo-source-v1</a:t>
            </a:r>
          </a:p>
          <a:p/>
          <a:p>
            <a:r>
              <a:t>teaching_unit_id: cpu_20ef1c58727b5e17bfcdca04</a:t>
            </a:r>
          </a:p>
          <a:p/>
          <a:p>
            <a:r>
              <a:t>source_section_ids: []</a:t>
            </a:r>
          </a:p>
          <a:p/>
          <a:p>
            <a:r>
              <a:t>讲述提示</a:t>
            </a:r>
          </a:p>
          <a:p>
            <a:r>
              <a:t>教师结合本班实例讲解，完整依据保存在备注。</a:t>
            </a:r>
          </a:p>
          <a:p/>
          <a:p>
            <a:r>
              <a:t>教师结合本班实例讲解，完整依据保存在备注。</a:t>
            </a:r>
          </a:p>
          <a:p/>
          <a:p>
            <a:r>
              <a:t>[source @ r1]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课堂评价设计。围绕目标、证据与反馈组织教学。怎样让评价帮助学习？先明确目标，再收集证据，最后给出反馈。学习目标、评价证据、反馈行动共同组成课堂评价。形成性评价与总结性评价具有不同的时点和用途。形成性评价在学习过程中进行，用于调整学习与教学，例如课堂反馈。总结性评价在阶段结束时进行，用于判断阶段达成情况，例如结课评价。同一课程中的两类评价可以相互补充。评价贯穿学习过程。把抽象目标转成可观察表现。根据表现收集能够支持判断的证据。反馈应指出当前差距与下一步行动。反馈不只给出分数。先让学生独立判断，再展示解释。为什么需要过程中的反馈？及时发现差距，帮助学生调整学习。总结：目标决定证据，证据支持判断，反馈推动改进。</a:t>
            </a:r>
          </a:p>
          <a:p>
            <a:r>
              <a:t>source_payload: {"markdown": "课堂评价设计。围绕目标、证据与反馈组织教学。怎样让评价帮助学习？先明确目标，再收集证据，最后给出反馈。学习目标、评价证据、反馈行动共同组成课堂评价。形成性评价与总结性评价具有不同的时点和用途。形成性评价在学习过程中进行，用于调整学习与教学，例如课堂反馈。总结性评价在阶段结束时进行，用于判断阶段达成情况，例如结课评价。同一课程中的两类评价可以相互补充。评价贯穿学习过程。把抽象目标转成可观察表现。根据表现收集能够支持判断的证据。反馈应指出当前差距与下一步行动。反馈不只给出分数。先让学生独立判断，再展示解释。为什么需要过程中的反馈？及时发现差距，帮助学生调整学习。总结：目标决定证据，证据支持判断，反馈推动改进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demo-source-v1</a:t>
            </a:r>
          </a:p>
          <a:p/>
          <a:p>
            <a:r>
              <a:t>teaching_unit_id: cpu_20ef1c58727b5e17bfcdca04</a:t>
            </a:r>
          </a:p>
          <a:p/>
          <a:p>
            <a:r>
              <a:t>source_section_ids: []</a:t>
            </a:r>
          </a:p>
          <a:p/>
          <a:p>
            <a:r>
              <a:t>讲述提示</a:t>
            </a:r>
          </a:p>
          <a:p>
            <a:r>
              <a:t>教师结合本班实例讲解，完整依据保存在备注。</a:t>
            </a:r>
          </a:p>
          <a:p/>
          <a:p>
            <a:r>
              <a:t>[source @ r1]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课堂评价设计。围绕目标、证据与反馈组织教学。怎样让评价帮助学习？先明确目标，再收集证据，最后给出反馈。学习目标、评价证据、反馈行动共同组成课堂评价。形成性评价与总结性评价具有不同的时点和用途。形成性评价在学习过程中进行，用于调整学习与教学，例如课堂反馈。总结性评价在阶段结束时进行，用于判断阶段达成情况，例如结课评价。同一课程中的两类评价可以相互补充。评价贯穿学习过程。把抽象目标转成可观察表现。根据表现收集能够支持判断的证据。反馈应指出当前差距与下一步行动。反馈不只给出分数。先让学生独立判断，再展示解释。为什么需要过程中的反馈？及时发现差距，帮助学生调整学习。总结：目标决定证据，证据支持判断，反馈推动改进。</a:t>
            </a:r>
          </a:p>
          <a:p>
            <a:r>
              <a:t>source_payload: {"markdown": "课堂评价设计。围绕目标、证据与反馈组织教学。怎样让评价帮助学习？先明确目标，再收集证据，最后给出反馈。学习目标、评价证据、反馈行动共同组成课堂评价。形成性评价与总结性评价具有不同的时点和用途。形成性评价在学习过程中进行，用于调整学习与教学，例如课堂反馈。总结性评价在阶段结束时进行，用于判断阶段达成情况，例如结课评价。同一课程中的两类评价可以相互补充。评价贯穿学习过程。把抽象目标转成可观察表现。根据表现收集能够支持判断的证据。反馈应指出当前差距与下一步行动。反馈不只给出分数。先让学生独立判断，再展示解释。为什么需要过程中的反馈？及时发现差距，帮助学生调整学习。总结：目标决定证据，证据支持判断，反馈推动改进。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762000" y="1778000"/>
            <a:ext cx="10668000" cy="1574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C479C"/>
                </a:solidFill>
                <a:latin typeface="Noto Sans CJK SC"/>
                <a:ea typeface="Noto Sans CJK SC"/>
                <a:cs typeface="Noto Sans CJK SC"/>
              </a:defRPr>
            </a:pPr>
            <a:r>
              <a:t>课堂评价设计</a:t>
            </a:r>
          </a:p>
        </p:txBody>
      </p:sp>
      <p:sp>
        <p:nvSpPr>
          <p:cNvPr id="3" name="teaching:subtitle"/>
          <p:cNvSpPr/>
          <p:nvPr/>
        </p:nvSpPr>
        <p:spPr>
          <a:xfrm>
            <a:off x="863600" y="3619500"/>
            <a:ext cx="10464800" cy="1524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围绕目标、证据与反馈组织教学</a:t>
            </a:r>
          </a:p>
        </p:txBody>
      </p:sp>
      <p:sp>
        <p:nvSpPr>
          <p:cNvPr id="4" name="teaching:header-rule"/>
          <p:cNvSpPr/>
          <p:nvPr/>
        </p:nvSpPr>
        <p:spPr>
          <a:xfrm>
            <a:off x="355600" y="304800"/>
            <a:ext cx="50800" cy="609600"/>
          </a:xfrm>
          <a:prstGeom prst="rect">
            <a:avLst/>
          </a:prstGeom>
          <a:solidFill>
            <a:srgbClr val="4C479C"/>
          </a:solidFill>
          <a:ln>
            <a:solidFill>
              <a:srgbClr val="4C47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609600" y="304800"/>
            <a:ext cx="10972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C479C"/>
                </a:solidFill>
                <a:latin typeface="Noto Sans CJK SC"/>
                <a:ea typeface="Noto Sans CJK SC"/>
                <a:cs typeface="Noto Sans CJK SC"/>
              </a:defRPr>
            </a:pPr>
            <a:r>
              <a:t>怎样让评价帮助学习？</a:t>
            </a:r>
          </a:p>
        </p:txBody>
      </p:sp>
      <p:sp>
        <p:nvSpPr>
          <p:cNvPr id="3" name="teaching:item-0"/>
          <p:cNvSpPr/>
          <p:nvPr/>
        </p:nvSpPr>
        <p:spPr>
          <a:xfrm>
            <a:off x="863600" y="1600200"/>
            <a:ext cx="10464800" cy="952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明确学习目标</a:t>
            </a:r>
          </a:p>
        </p:txBody>
      </p:sp>
      <p:sp>
        <p:nvSpPr>
          <p:cNvPr id="4" name="teaching:item-1"/>
          <p:cNvSpPr/>
          <p:nvPr/>
        </p:nvSpPr>
        <p:spPr>
          <a:xfrm>
            <a:off x="863600" y="2565400"/>
            <a:ext cx="10464800" cy="952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收集评价证据</a:t>
            </a:r>
          </a:p>
        </p:txBody>
      </p:sp>
      <p:sp>
        <p:nvSpPr>
          <p:cNvPr id="5" name="teaching:item-2"/>
          <p:cNvSpPr/>
          <p:nvPr/>
        </p:nvSpPr>
        <p:spPr>
          <a:xfrm>
            <a:off x="863600" y="3530600"/>
            <a:ext cx="10464800" cy="952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形成反馈行动</a:t>
            </a:r>
          </a:p>
        </p:txBody>
      </p:sp>
      <p:sp>
        <p:nvSpPr>
          <p:cNvPr id="6" name="teaching:header-rule"/>
          <p:cNvSpPr/>
          <p:nvPr/>
        </p:nvSpPr>
        <p:spPr>
          <a:xfrm>
            <a:off x="355600" y="304800"/>
            <a:ext cx="50800" cy="609600"/>
          </a:xfrm>
          <a:prstGeom prst="rect">
            <a:avLst/>
          </a:prstGeom>
          <a:solidFill>
            <a:srgbClr val="4C479C"/>
          </a:solidFill>
          <a:ln>
            <a:solidFill>
              <a:srgbClr val="4C47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762000" y="1778000"/>
            <a:ext cx="10668000" cy="1574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C479C"/>
                </a:solidFill>
                <a:latin typeface="Noto Sans CJK SC"/>
                <a:ea typeface="Noto Sans CJK SC"/>
                <a:cs typeface="Noto Sans CJK SC"/>
              </a:defRPr>
            </a:pPr>
            <a:r>
              <a:t>评价贯穿学习过程</a:t>
            </a:r>
          </a:p>
        </p:txBody>
      </p:sp>
      <p:sp>
        <p:nvSpPr>
          <p:cNvPr id="3" name="teaching:subtitle"/>
          <p:cNvSpPr/>
          <p:nvPr/>
        </p:nvSpPr>
        <p:spPr>
          <a:xfrm>
            <a:off x="863600" y="3619500"/>
            <a:ext cx="10464800" cy="1524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形成性评价与总结性评价可以相互补充</a:t>
            </a:r>
          </a:p>
        </p:txBody>
      </p:sp>
      <p:sp>
        <p:nvSpPr>
          <p:cNvPr id="4" name="teaching:header-rule"/>
          <p:cNvSpPr/>
          <p:nvPr/>
        </p:nvSpPr>
        <p:spPr>
          <a:xfrm>
            <a:off x="355600" y="304800"/>
            <a:ext cx="50800" cy="609600"/>
          </a:xfrm>
          <a:prstGeom prst="rect">
            <a:avLst/>
          </a:prstGeom>
          <a:solidFill>
            <a:srgbClr val="4C479C"/>
          </a:solidFill>
          <a:ln>
            <a:solidFill>
              <a:srgbClr val="4C47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609600" y="304800"/>
            <a:ext cx="10972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C479C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反馈不只给出分数</a:t>
            </a:r>
          </a:p>
        </p:txBody>
      </p:sp>
      <p:sp>
        <p:nvSpPr>
          <p:cNvPr id="3" name="teaching:item-0"/>
          <p:cNvSpPr/>
          <p:nvPr/>
        </p:nvSpPr>
        <p:spPr>
          <a:xfrm>
            <a:off x="863600" y="1600200"/>
            <a:ext cx="10464800" cy="952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把抽象目标转成可观察表现</a:t>
            </a:r>
          </a:p>
        </p:txBody>
      </p:sp>
      <p:sp>
        <p:nvSpPr>
          <p:cNvPr id="4" name="teaching:item-1"/>
          <p:cNvSpPr/>
          <p:nvPr/>
        </p:nvSpPr>
        <p:spPr>
          <a:xfrm>
            <a:off x="863600" y="2565400"/>
            <a:ext cx="10464800" cy="952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根据表现收集能够支持判断的证据</a:t>
            </a:r>
          </a:p>
        </p:txBody>
      </p:sp>
      <p:sp>
        <p:nvSpPr>
          <p:cNvPr id="5" name="teaching:item-2"/>
          <p:cNvSpPr/>
          <p:nvPr/>
        </p:nvSpPr>
        <p:spPr>
          <a:xfrm>
            <a:off x="863600" y="3530600"/>
            <a:ext cx="10464800" cy="952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反馈应指出当前差距与下一步行动</a:t>
            </a:r>
          </a:p>
        </p:txBody>
      </p:sp>
      <p:sp>
        <p:nvSpPr>
          <p:cNvPr id="6" name="teaching:header-rule"/>
          <p:cNvSpPr/>
          <p:nvPr/>
        </p:nvSpPr>
        <p:spPr>
          <a:xfrm>
            <a:off x="355600" y="304800"/>
            <a:ext cx="50800" cy="609600"/>
          </a:xfrm>
          <a:prstGeom prst="rect">
            <a:avLst/>
          </a:prstGeom>
          <a:solidFill>
            <a:srgbClr val="4C479C"/>
          </a:solidFill>
          <a:ln>
            <a:solidFill>
              <a:srgbClr val="4C47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609600" y="304800"/>
            <a:ext cx="10972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C479C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两类评价怎样配合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609600" y="1244600"/>
            <a:ext cx="10972800" cy="609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同一课程中的两类评价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3048000" y="1955800"/>
            <a:ext cx="4165600" cy="609600"/>
          </a:xfrm>
          <a:prstGeom prst="rect">
            <a:avLst/>
          </a:prstGeom>
          <a:solidFill>
            <a:srgbClr val="EEF0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形成性评价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366000" y="1955800"/>
            <a:ext cx="4165600" cy="609600"/>
          </a:xfrm>
          <a:prstGeom prst="rect">
            <a:avLst/>
          </a:prstGeom>
          <a:solidFill>
            <a:srgbClr val="EEF0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总结性评价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609600" y="2743200"/>
            <a:ext cx="2286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时点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609600" y="3759200"/>
            <a:ext cx="2286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用途</a:t>
            </a:r>
          </a:p>
        </p:txBody>
      </p:sp>
      <p:sp>
        <p:nvSpPr>
          <p:cNvPr id="8" name="teaching:dimension-2"/>
          <p:cNvSpPr/>
          <p:nvPr/>
        </p:nvSpPr>
        <p:spPr>
          <a:xfrm>
            <a:off x="609600" y="4775200"/>
            <a:ext cx="2286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例子</a:t>
            </a:r>
          </a:p>
        </p:txBody>
      </p:sp>
      <p:sp>
        <p:nvSpPr>
          <p:cNvPr id="9" name="teaching:cell-0-0"/>
          <p:cNvSpPr/>
          <p:nvPr/>
        </p:nvSpPr>
        <p:spPr>
          <a:xfrm>
            <a:off x="3048000" y="2743200"/>
            <a:ext cx="4165600" cy="914400"/>
          </a:xfrm>
          <a:prstGeom prst="rect">
            <a:avLst/>
          </a:prstGeom>
          <a:solidFill>
            <a:srgbClr val="F5F6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学习过程中</a:t>
            </a:r>
          </a:p>
        </p:txBody>
      </p:sp>
      <p:sp>
        <p:nvSpPr>
          <p:cNvPr id="10" name="teaching:cell-1-0"/>
          <p:cNvSpPr/>
          <p:nvPr/>
        </p:nvSpPr>
        <p:spPr>
          <a:xfrm>
            <a:off x="7366000" y="2743200"/>
            <a:ext cx="4165600" cy="914400"/>
          </a:xfrm>
          <a:prstGeom prst="rect">
            <a:avLst/>
          </a:prstGeom>
          <a:solidFill>
            <a:srgbClr val="F5F6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阶段结束时</a:t>
            </a:r>
          </a:p>
        </p:txBody>
      </p:sp>
      <p:sp>
        <p:nvSpPr>
          <p:cNvPr id="11" name="teaching:cell-2-0"/>
          <p:cNvSpPr/>
          <p:nvPr/>
        </p:nvSpPr>
        <p:spPr>
          <a:xfrm>
            <a:off x="3048000" y="3759200"/>
            <a:ext cx="4165600" cy="914400"/>
          </a:xfrm>
          <a:prstGeom prst="rect">
            <a:avLst/>
          </a:prstGeom>
          <a:solidFill>
            <a:srgbClr val="F5F6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调整学习与教学</a:t>
            </a:r>
          </a:p>
        </p:txBody>
      </p:sp>
      <p:sp>
        <p:nvSpPr>
          <p:cNvPr id="12" name="teaching:cell-3-0"/>
          <p:cNvSpPr/>
          <p:nvPr/>
        </p:nvSpPr>
        <p:spPr>
          <a:xfrm>
            <a:off x="7366000" y="3759200"/>
            <a:ext cx="4165600" cy="914400"/>
          </a:xfrm>
          <a:prstGeom prst="rect">
            <a:avLst/>
          </a:prstGeom>
          <a:solidFill>
            <a:srgbClr val="F5F6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判断阶段达成情况</a:t>
            </a:r>
          </a:p>
        </p:txBody>
      </p:sp>
      <p:sp>
        <p:nvSpPr>
          <p:cNvPr id="13" name="teaching:cell-4-0"/>
          <p:cNvSpPr/>
          <p:nvPr/>
        </p:nvSpPr>
        <p:spPr>
          <a:xfrm>
            <a:off x="3048000" y="4775200"/>
            <a:ext cx="4165600" cy="914400"/>
          </a:xfrm>
          <a:prstGeom prst="rect">
            <a:avLst/>
          </a:prstGeom>
          <a:solidFill>
            <a:srgbClr val="F5F6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课堂反馈</a:t>
            </a:r>
          </a:p>
        </p:txBody>
      </p:sp>
      <p:sp>
        <p:nvSpPr>
          <p:cNvPr id="14" name="teaching:cell-5-0"/>
          <p:cNvSpPr/>
          <p:nvPr/>
        </p:nvSpPr>
        <p:spPr>
          <a:xfrm>
            <a:off x="7366000" y="4775200"/>
            <a:ext cx="4165600" cy="914400"/>
          </a:xfrm>
          <a:prstGeom prst="rect">
            <a:avLst/>
          </a:prstGeom>
          <a:solidFill>
            <a:srgbClr val="F5F6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结课评价</a:t>
            </a:r>
          </a:p>
        </p:txBody>
      </p:sp>
      <p:sp>
        <p:nvSpPr>
          <p:cNvPr id="15" name="teaching:conclusion"/>
          <p:cNvSpPr/>
          <p:nvPr/>
        </p:nvSpPr>
        <p:spPr>
          <a:xfrm>
            <a:off x="609600" y="5918200"/>
            <a:ext cx="109728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两类评价可以相互补充</a:t>
            </a:r>
          </a:p>
        </p:txBody>
      </p:sp>
      <p:sp>
        <p:nvSpPr>
          <p:cNvPr id="16" name="teaching:header-rule"/>
          <p:cNvSpPr/>
          <p:nvPr/>
        </p:nvSpPr>
        <p:spPr>
          <a:xfrm>
            <a:off x="355600" y="304800"/>
            <a:ext cx="50800" cy="609600"/>
          </a:xfrm>
          <a:prstGeom prst="rect">
            <a:avLst/>
          </a:prstGeom>
          <a:solidFill>
            <a:srgbClr val="4C479C"/>
          </a:solidFill>
          <a:ln>
            <a:solidFill>
              <a:srgbClr val="4C47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609600" y="304800"/>
            <a:ext cx="10972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C479C"/>
                </a:solidFill>
                <a:latin typeface="Noto Sans CJK SC"/>
                <a:ea typeface="Noto Sans CJK SC"/>
                <a:cs typeface="Noto Sans CJK SC"/>
              </a:defRPr>
            </a:pPr>
            <a:r>
              <a:t>从目标到反馈</a:t>
            </a:r>
          </a:p>
        </p:txBody>
      </p:sp>
      <p:sp>
        <p:nvSpPr>
          <p:cNvPr id="3" name="teaching:item-0"/>
          <p:cNvSpPr/>
          <p:nvPr/>
        </p:nvSpPr>
        <p:spPr>
          <a:xfrm>
            <a:off x="609600" y="2692400"/>
            <a:ext cx="3200400" cy="2108200"/>
          </a:xfrm>
          <a:prstGeom prst="rect">
            <a:avLst/>
          </a:prstGeom>
          <a:solidFill>
            <a:srgbClr val="EEF0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明确目标</a:t>
            </a:r>
          </a:p>
        </p:txBody>
      </p:sp>
      <p:sp>
        <p:nvSpPr>
          <p:cNvPr id="4" name="teaching:item-1"/>
          <p:cNvSpPr/>
          <p:nvPr/>
        </p:nvSpPr>
        <p:spPr>
          <a:xfrm>
            <a:off x="4495800" y="2692400"/>
            <a:ext cx="3200400" cy="2108200"/>
          </a:xfrm>
          <a:prstGeom prst="rect">
            <a:avLst/>
          </a:prstGeom>
          <a:solidFill>
            <a:srgbClr val="EEF0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收集证据</a:t>
            </a:r>
          </a:p>
        </p:txBody>
      </p:sp>
      <p:sp>
        <p:nvSpPr>
          <p:cNvPr id="5" name="teaching:item-2"/>
          <p:cNvSpPr/>
          <p:nvPr/>
        </p:nvSpPr>
        <p:spPr>
          <a:xfrm>
            <a:off x="8382000" y="2692400"/>
            <a:ext cx="3200400" cy="2108200"/>
          </a:xfrm>
          <a:prstGeom prst="rect">
            <a:avLst/>
          </a:prstGeom>
          <a:solidFill>
            <a:srgbClr val="EEF0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给出反馈</a:t>
            </a:r>
          </a:p>
        </p:txBody>
      </p:sp>
      <p:sp>
        <p:nvSpPr>
          <p:cNvPr id="6" name="teaching:header-rule"/>
          <p:cNvSpPr/>
          <p:nvPr/>
        </p:nvSpPr>
        <p:spPr>
          <a:xfrm>
            <a:off x="355600" y="304800"/>
            <a:ext cx="50800" cy="609600"/>
          </a:xfrm>
          <a:prstGeom prst="rect">
            <a:avLst/>
          </a:prstGeom>
          <a:solidFill>
            <a:srgbClr val="4C479C"/>
          </a:solidFill>
          <a:ln>
            <a:solidFill>
              <a:srgbClr val="4C47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relation:relation-0"/>
          <p:cNvCxnSpPr>
            <a:stCxn id="3" idx="3"/>
            <a:endCxn id="4" idx="1"/>
          </p:cNvCxnSpPr>
          <p:nvPr/>
        </p:nvCxnSpPr>
        <p:spPr>
          <a:xfrm>
            <a:off x="3810000" y="3746500"/>
            <a:ext cx="685800" cy="0"/>
          </a:xfrm>
          <a:prstGeom prst="line">
            <a:avLst/>
          </a:prstGeom>
          <a:ln w="21590">
            <a:solidFill>
              <a:srgbClr val="4C479C"/>
            </a:solidFill>
            <a:tailEnd type="triangle"/>
          </a:ln>
          <a:effectLst/>
        </p:spPr>
      </p:cxnSp>
      <p:cxnSp>
        <p:nvCxnSpPr>
          <p:cNvPr id="8" name="relation:relation-1"/>
          <p:cNvCxnSpPr>
            <a:stCxn id="4" idx="3"/>
            <a:endCxn id="5" idx="1"/>
          </p:cNvCxnSpPr>
          <p:nvPr/>
        </p:nvCxnSpPr>
        <p:spPr>
          <a:xfrm>
            <a:off x="7696200" y="3746500"/>
            <a:ext cx="685800" cy="0"/>
          </a:xfrm>
          <a:prstGeom prst="line">
            <a:avLst/>
          </a:prstGeom>
          <a:ln w="21590">
            <a:solidFill>
              <a:srgbClr val="4C479C"/>
            </a:solidFill>
            <a:tailEnd type="triangle"/>
          </a:ln>
          <a:effectLst/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609600" y="304800"/>
            <a:ext cx="10972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C479C"/>
                </a:solidFill>
                <a:latin typeface="Noto Sans CJK SC"/>
                <a:ea typeface="Noto Sans CJK SC"/>
                <a:cs typeface="Noto Sans CJK SC"/>
              </a:defRPr>
            </a:pPr>
            <a:r>
              <a:t>先独立判断，再展示解释</a:t>
            </a:r>
          </a:p>
        </p:txBody>
      </p:sp>
      <p:sp>
        <p:nvSpPr>
          <p:cNvPr id="3" name="teaching:question"/>
          <p:cNvSpPr/>
          <p:nvPr/>
        </p:nvSpPr>
        <p:spPr>
          <a:xfrm>
            <a:off x="609600" y="1600200"/>
            <a:ext cx="10972800" cy="2006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为什么需要过程中的反馈？</a:t>
            </a:r>
          </a:p>
        </p:txBody>
      </p:sp>
      <p:sp>
        <p:nvSpPr>
          <p:cNvPr id="4" name="teaching:header-rule"/>
          <p:cNvSpPr/>
          <p:nvPr/>
        </p:nvSpPr>
        <p:spPr>
          <a:xfrm>
            <a:off x="355600" y="304800"/>
            <a:ext cx="50800" cy="609600"/>
          </a:xfrm>
          <a:prstGeom prst="rect">
            <a:avLst/>
          </a:prstGeom>
          <a:solidFill>
            <a:srgbClr val="4C479C"/>
          </a:solidFill>
          <a:ln>
            <a:solidFill>
              <a:srgbClr val="4C47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609600" y="304800"/>
            <a:ext cx="10972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C479C"/>
                </a:solidFill>
                <a:latin typeface="Noto Sans CJK SC"/>
                <a:ea typeface="Noto Sans CJK SC"/>
                <a:cs typeface="Noto Sans CJK SC"/>
              </a:defRPr>
            </a:pPr>
            <a:r>
              <a:t>先独立判断，再展示解释</a:t>
            </a:r>
          </a:p>
        </p:txBody>
      </p:sp>
      <p:sp>
        <p:nvSpPr>
          <p:cNvPr id="3" name="teaching:question"/>
          <p:cNvSpPr/>
          <p:nvPr/>
        </p:nvSpPr>
        <p:spPr>
          <a:xfrm>
            <a:off x="609600" y="1600200"/>
            <a:ext cx="10972800" cy="2006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为什么需要过程中的反馈？</a:t>
            </a:r>
          </a:p>
        </p:txBody>
      </p:sp>
      <p:sp>
        <p:nvSpPr>
          <p:cNvPr id="4" name="teaching:answer"/>
          <p:cNvSpPr/>
          <p:nvPr/>
        </p:nvSpPr>
        <p:spPr>
          <a:xfrm>
            <a:off x="609600" y="4089400"/>
            <a:ext cx="10972800" cy="2209800"/>
          </a:xfrm>
          <a:prstGeom prst="rect">
            <a:avLst/>
          </a:prstGeom>
          <a:solidFill>
            <a:srgbClr val="F5F6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及时发现差距，帮助学生调整学习</a:t>
            </a:r>
          </a:p>
        </p:txBody>
      </p:sp>
      <p:sp>
        <p:nvSpPr>
          <p:cNvPr id="5" name="teaching:header-rule"/>
          <p:cNvSpPr/>
          <p:nvPr/>
        </p:nvSpPr>
        <p:spPr>
          <a:xfrm>
            <a:off x="355600" y="304800"/>
            <a:ext cx="50800" cy="609600"/>
          </a:xfrm>
          <a:prstGeom prst="rect">
            <a:avLst/>
          </a:prstGeom>
          <a:solidFill>
            <a:srgbClr val="4C479C"/>
          </a:solidFill>
          <a:ln>
            <a:solidFill>
              <a:srgbClr val="4C47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609600" y="304800"/>
            <a:ext cx="10972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C479C"/>
                </a:solidFill>
                <a:latin typeface="Noto Sans CJK SC"/>
                <a:ea typeface="Noto Sans CJK SC"/>
                <a:cs typeface="Noto Sans CJK SC"/>
              </a:defRPr>
            </a:pPr>
            <a:r>
              <a:t>让评价支持学习改进</a:t>
            </a:r>
          </a:p>
        </p:txBody>
      </p:sp>
      <p:sp>
        <p:nvSpPr>
          <p:cNvPr id="3" name="teaching:item-0"/>
          <p:cNvSpPr/>
          <p:nvPr/>
        </p:nvSpPr>
        <p:spPr>
          <a:xfrm>
            <a:off x="863600" y="1600200"/>
            <a:ext cx="10464800" cy="952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目标决定证据</a:t>
            </a:r>
          </a:p>
        </p:txBody>
      </p:sp>
      <p:sp>
        <p:nvSpPr>
          <p:cNvPr id="4" name="teaching:item-1"/>
          <p:cNvSpPr/>
          <p:nvPr/>
        </p:nvSpPr>
        <p:spPr>
          <a:xfrm>
            <a:off x="863600" y="2565400"/>
            <a:ext cx="10464800" cy="952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证据支持判断</a:t>
            </a:r>
          </a:p>
        </p:txBody>
      </p:sp>
      <p:sp>
        <p:nvSpPr>
          <p:cNvPr id="5" name="teaching:item-2"/>
          <p:cNvSpPr/>
          <p:nvPr/>
        </p:nvSpPr>
        <p:spPr>
          <a:xfrm>
            <a:off x="863600" y="3530600"/>
            <a:ext cx="10464800" cy="952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反馈推动改进</a:t>
            </a:r>
          </a:p>
        </p:txBody>
      </p:sp>
      <p:sp>
        <p:nvSpPr>
          <p:cNvPr id="6" name="teaching:header-rule"/>
          <p:cNvSpPr/>
          <p:nvPr/>
        </p:nvSpPr>
        <p:spPr>
          <a:xfrm>
            <a:off x="355600" y="304800"/>
            <a:ext cx="50800" cy="609600"/>
          </a:xfrm>
          <a:prstGeom prst="rect">
            <a:avLst/>
          </a:prstGeom>
          <a:solidFill>
            <a:srgbClr val="4C479C"/>
          </a:solidFill>
          <a:ln>
            <a:solidFill>
              <a:srgbClr val="4C47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