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cpu_b564a68582c0b4e74e99c700</a:t>
            </a:r>
          </a:p>
          <a:p/>
          <a:p>
            <a:r>
              <a:t>source_section_ids: []</a:t>
            </a:r>
          </a:p>
          <a:p/>
          <a:p>
            <a:r>
              <a:t>[tsb-55bede79fcd2 @ cbr_59cbe1dee1101ffd9e5879db]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本节旨在实现从代数方程求解向矩阵结构操作的范式转换，核心目标是能够从任意给定的三元以下线性方程组中，准确提取其增广矩阵表示，并理解该操作的消元意图在于揭示解的存在结构而非直接计算数值。当面对方程组如 </a:t>
            </a:r>
          </a:p>
          <a:p>
            <a:r>
              <a:t>$$</a:t>
            </a:r>
          </a:p>
          <a:p>
            <a:r>
              <a:t>\begin{cases} 2x + 3y - z = 5 \\ x - y = 2 \\ 4y + 5z = -1 \end{cases}</a:t>
            </a:r>
          </a:p>
          <a:p>
            <a:r>
              <a:t>$$</a:t>
            </a:r>
          </a:p>
          <a:p>
            <a:r>
              <a:t> 时，必须能识别出每个方程中缺失变量的位置（如第二式无 $z$，第三式无 $x$），并以零作为占位系数，形成增广矩阵 </a:t>
            </a:r>
          </a:p>
          <a:p>
            <a:r>
              <a:t>$$</a:t>
            </a:r>
          </a:p>
          <a:p>
            <a:r>
              <a:t>\begin{bmatrix} 2 &amp; 3 &amp; -1 &amp; 5 \\ 1 &amp; -1 &amp; 0 &amp; 2 \\ 0 &amp; 4 &amp; 5 &amp; -1 \end{bmatrix}</a:t>
            </a:r>
          </a:p>
          <a:p>
            <a:r>
              <a:t>$$</a:t>
            </a:r>
          </a:p>
          <a:p>
            <a:r>
              <a:t>。此矩阵的每一行对应原方程，最后一列为常数项，缺项必补零，否则破坏方程等价性。与仅含系数的矩阵 </a:t>
            </a:r>
          </a:p>
          <a:p>
            <a:r>
              <a:t>$$</a:t>
            </a:r>
          </a:p>
          <a:p>
            <a:r>
              <a:t>\begin{bmatrix} 2 &amp; 3 &amp; -1 \\ 1 &amp; -1 &amp; 0 \\ 0 &amp; 4 &amp; 5 \end{bmatrix}</a:t>
            </a:r>
          </a:p>
          <a:p>
            <a:r>
              <a:t>$$</a:t>
            </a:r>
          </a:p>
          <a:p>
            <a:r>
              <a:t> 相比，增广矩阵保留了等式右侧的约束信息，是后续行变换判断解是否存在、是否唯一、是否无穷多的前提。行阶梯形的目标是通过初等行变换，使非零行的首个非零元逐行严格右移，形成“台阶状”结构，从而在不求解的前提下，通过矩阵形态直接判定解的类型。若某行呈现 $[0\ 0\ 0\ |\ 3]$ 形式，则系统无解；若所有主元列对应唯一变量且无全零行，则有唯一解。该过程不依赖数值运算，而依赖结构识别。</a:t>
            </a:r>
          </a:p>
          <a:p>
            <a:r>
              <a:t>source_payload: {"content_perspective": "teacher_delivery", "knowledge_binding_status": null, "markdown": "本节旨在实现从代数方程求解向矩阵结构操作的范式转换，核心目标是能够从任意给定的三元以下线性方程组中，准确提取其增广矩阵表示，并理解该操作的消元意图在于揭示解的存在结构而非直接计算数值。当面对方程组如 \n$$\n\\begin{cases} 2x + 3y - z = 5 \\\\ x - y = 2 \\\\ 4y + 5z = -1 \\end{cases}\n$$\n 时，必须能识别出每个方程中缺失变量的位置（如第二式无 $z$，第三式无 $x$），并以零作为占位系数，形成增广矩阵 \n$$\n\\begin{bmatrix} 2 &amp; 3 &amp; -1 &amp; 5 \\\\ 1 &amp; -1 &amp; 0 &amp; 2 \\\\ 0 &amp; 4 &amp; 5 &amp; -1 \\end{bmatrix}\n$$\n。此矩阵的每一行对应原方程，最后一列为常数项，缺项必补零，否则破坏方程等价性。与仅含系数的矩阵 \n$$\n\\begin{bmatrix} 2 &amp; 3 &amp; -1 \\\\ 1 &amp; -1 &amp; 0 \\\\ 0 &amp; 4 &amp; 5 \\end{bmatrix}\n$$\n 相比，增广矩阵保留了等式右侧的约束信息，是后续行变换判断解是否存在、是否唯一、是否无穷多的前提。行阶梯形的目标是通过初等行变换，使非零行的首个非零元逐行严格右移，形成“台阶状”结构，从而在不求解的前提下，通过矩阵形态直接判定解的类型。若某行呈现 $[0\\ 0\\ 0\\ |\\ 3]$ 形式，则系统无解；若所有主元列对应唯一变量且无全零行，则有唯一解。该过程不依赖数值运算，而依赖结构识别。", "module_id": "lesson_goal", "module_instance_id": "tsb-55bede79fcd2", "planned_minutes": 3, "ppt_page_group_id": "L2-1-1:ppt-page-group:1", "summary": "本节旨在实现从代数方程求解向矩阵结构操作的范式转换，核心目标是能够从任意给定的三元以下线性方程组中，准确提取其增广矩阵表示，并理解该操作的消元意图在于揭示解的存在结构而非直接计算数值。当面对方程组如 begin{cases} 2x + 3y", "title": "本节任务"}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cpu_b564a68582c0b4e74e99c700</a:t>
            </a:r>
          </a:p>
          <a:p/>
          <a:p>
            <a:r>
              <a:t>source_section_ids: []</a:t>
            </a:r>
          </a:p>
          <a:p/>
          <a:p>
            <a:r>
              <a:t>[tsb-55bede79fcd2 @ cbr_59cbe1dee1101ffd9e5879db]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本节旨在实现从代数方程求解向矩阵结构操作的范式转换，核心目标是能够从任意给定的三元以下线性方程组中，准确提取其增广矩阵表示，并理解该操作的消元意图在于揭示解的存在结构而非直接计算数值。当面对方程组如 </a:t>
            </a:r>
          </a:p>
          <a:p>
            <a:r>
              <a:t>$$</a:t>
            </a:r>
          </a:p>
          <a:p>
            <a:r>
              <a:t>\begin{cases} 2x + 3y - z = 5 \\ x - y = 2 \\ 4y + 5z = -1 \end{cases}</a:t>
            </a:r>
          </a:p>
          <a:p>
            <a:r>
              <a:t>$$</a:t>
            </a:r>
          </a:p>
          <a:p>
            <a:r>
              <a:t> 时，必须能识别出每个方程中缺失变量的位置（如第二式无 $z$，第三式无 $x$），并以零作为占位系数，形成增广矩阵 </a:t>
            </a:r>
          </a:p>
          <a:p>
            <a:r>
              <a:t>$$</a:t>
            </a:r>
          </a:p>
          <a:p>
            <a:r>
              <a:t>\begin{bmatrix} 2 &amp; 3 &amp; -1 &amp; 5 \\ 1 &amp; -1 &amp; 0 &amp; 2 \\ 0 &amp; 4 &amp; 5 &amp; -1 \end{bmatrix}</a:t>
            </a:r>
          </a:p>
          <a:p>
            <a:r>
              <a:t>$$</a:t>
            </a:r>
          </a:p>
          <a:p>
            <a:r>
              <a:t>。此矩阵的每一行对应原方程，最后一列为常数项，缺项必补零，否则破坏方程等价性。与仅含系数的矩阵 </a:t>
            </a:r>
          </a:p>
          <a:p>
            <a:r>
              <a:t>$$</a:t>
            </a:r>
          </a:p>
          <a:p>
            <a:r>
              <a:t>\begin{bmatrix} 2 &amp; 3 &amp; -1 \\ 1 &amp; -1 &amp; 0 \\ 0 &amp; 4 &amp; 5 \end{bmatrix}</a:t>
            </a:r>
          </a:p>
          <a:p>
            <a:r>
              <a:t>$$</a:t>
            </a:r>
          </a:p>
          <a:p>
            <a:r>
              <a:t> 相比，增广矩阵保留了等式右侧的约束信息，是后续行变换判断解是否存在、是否唯一、是否无穷多的前提。行阶梯形的目标是通过初等行变换，使非零行的首个非零元逐行严格右移，形成“台阶状”结构，从而在不求解的前提下，通过矩阵形态直接判定解的类型。若某行呈现 $[0\ 0\ 0\ |\ 3]$ 形式，则系统无解；若所有主元列对应唯一变量且无全零行，则有唯一解。该过程不依赖数值运算，而依赖结构识别。</a:t>
            </a:r>
          </a:p>
          <a:p>
            <a:r>
              <a:t>source_payload: {"content_perspective": "teacher_delivery", "knowledge_binding_status": null, "markdown": "本节旨在实现从代数方程求解向矩阵结构操作的范式转换，核心目标是能够从任意给定的三元以下线性方程组中，准确提取其增广矩阵表示，并理解该操作的消元意图在于揭示解的存在结构而非直接计算数值。当面对方程组如 \n$$\n\\begin{cases} 2x + 3y - z = 5 \\\\ x - y = 2 \\\\ 4y + 5z = -1 \\end{cases}\n$$\n 时，必须能识别出每个方程中缺失变量的位置（如第二式无 $z$，第三式无 $x$），并以零作为占位系数，形成增广矩阵 \n$$\n\\begin{bmatrix} 2 &amp; 3 &amp; -1 &amp; 5 \\\\ 1 &amp; -1 &amp; 0 &amp; 2 \\\\ 0 &amp; 4 &amp; 5 &amp; -1 \\end{bmatrix}\n$$\n。此矩阵的每一行对应原方程，最后一列为常数项，缺项必补零，否则破坏方程等价性。与仅含系数的矩阵 \n$$\n\\begin{bmatrix} 2 &amp; 3 &amp; -1 \\\\ 1 &amp; -1 &amp; 0 \\\\ 0 &amp; 4 &amp; 5 \\end{bmatrix}\n$$\n 相比，增广矩阵保留了等式右侧的约束信息，是后续行变换判断解是否存在、是否唯一、是否无穷多的前提。行阶梯形的目标是通过初等行变换，使非零行的首个非零元逐行严格右移，形成“台阶状”结构，从而在不求解的前提下，通过矩阵形态直接判定解的类型。若某行呈现 $[0\\ 0\\ 0\\ |\\ 3]$ 形式，则系统无解；若所有主元列对应唯一变量且无全零行，则有唯一解。该过程不依赖数值运算，而依赖结构识别。", "module_id": "lesson_goal", "module_instance_id": "tsb-55bede79fcd2", "planned_minutes": 3, "ppt_page_group_id": "L2-1-1:ppt-page-group:1", "summary": "本节旨在实现从代数方程求解向矩阵结构操作的范式转换，核心目标是能够从任意给定的三元以下线性方程组中，准确提取其增广矩阵表示，并理解该操作的消元意图在于揭示解的存在结构而非直接计算数值。当面对方程组如 begin{cases} 2x + 3y", "title": "本节任务"}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cpu_b564a68582c0b4e74e99c700</a:t>
            </a:r>
          </a:p>
          <a:p/>
          <a:p>
            <a:r>
              <a:t>source_section_ids: []</a:t>
            </a:r>
          </a:p>
          <a:p/>
          <a:p>
            <a:r>
              <a:t>[tsb-55bede79fcd2 @ cbr_59cbe1dee1101ffd9e5879db]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本节旨在实现从代数方程求解向矩阵结构操作的范式转换，核心目标是能够从任意给定的三元以下线性方程组中，准确提取其增广矩阵表示，并理解该操作的消元意图在于揭示解的存在结构而非直接计算数值。当面对方程组如 </a:t>
            </a:r>
          </a:p>
          <a:p>
            <a:r>
              <a:t>$$</a:t>
            </a:r>
          </a:p>
          <a:p>
            <a:r>
              <a:t>\begin{cases} 2x + 3y - z = 5 \\ x - y = 2 \\ 4y + 5z = -1 \end{cases}</a:t>
            </a:r>
          </a:p>
          <a:p>
            <a:r>
              <a:t>$$</a:t>
            </a:r>
          </a:p>
          <a:p>
            <a:r>
              <a:t> 时，必须能识别出每个方程中缺失变量的位置（如第二式无 $z$，第三式无 $x$），并以零作为占位系数，形成增广矩阵 </a:t>
            </a:r>
          </a:p>
          <a:p>
            <a:r>
              <a:t>$$</a:t>
            </a:r>
          </a:p>
          <a:p>
            <a:r>
              <a:t>\begin{bmatrix} 2 &amp; 3 &amp; -1 &amp; 5 \\ 1 &amp; -1 &amp; 0 &amp; 2 \\ 0 &amp; 4 &amp; 5 &amp; -1 \end{bmatrix}</a:t>
            </a:r>
          </a:p>
          <a:p>
            <a:r>
              <a:t>$$</a:t>
            </a:r>
          </a:p>
          <a:p>
            <a:r>
              <a:t>。此矩阵的每一行对应原方程，最后一列为常数项，缺项必补零，否则破坏方程等价性。与仅含系数的矩阵 </a:t>
            </a:r>
          </a:p>
          <a:p>
            <a:r>
              <a:t>$$</a:t>
            </a:r>
          </a:p>
          <a:p>
            <a:r>
              <a:t>\begin{bmatrix} 2 &amp; 3 &amp; -1 \\ 1 &amp; -1 &amp; 0 \\ 0 &amp; 4 &amp; 5 \end{bmatrix}</a:t>
            </a:r>
          </a:p>
          <a:p>
            <a:r>
              <a:t>$$</a:t>
            </a:r>
          </a:p>
          <a:p>
            <a:r>
              <a:t> 相比，增广矩阵保留了等式右侧的约束信息，是后续行变换判断解是否存在、是否唯一、是否无穷多的前提。行阶梯形的目标是通过初等行变换，使非零行的首个非零元逐行严格右移，形成“台阶状”结构，从而在不求解的前提下，通过矩阵形态直接判定解的类型。若某行呈现 $[0\ 0\ 0\ |\ 3]$ 形式，则系统无解；若所有主元列对应唯一变量且无全零行，则有唯一解。该过程不依赖数值运算，而依赖结构识别。</a:t>
            </a:r>
          </a:p>
          <a:p>
            <a:r>
              <a:t>source_payload: {"content_perspective": "teacher_delivery", "knowledge_binding_status": null, "markdown": "本节旨在实现从代数方程求解向矩阵结构操作的范式转换，核心目标是能够从任意给定的三元以下线性方程组中，准确提取其增广矩阵表示，并理解该操作的消元意图在于揭示解的存在结构而非直接计算数值。当面对方程组如 \n$$\n\\begin{cases} 2x + 3y - z = 5 \\\\ x - y = 2 \\\\ 4y + 5z = -1 \\end{cases}\n$$\n 时，必须能识别出每个方程中缺失变量的位置（如第二式无 $z$，第三式无 $x$），并以零作为占位系数，形成增广矩阵 \n$$\n\\begin{bmatrix} 2 &amp; 3 &amp; -1 &amp; 5 \\\\ 1 &amp; -1 &amp; 0 &amp; 2 \\\\ 0 &amp; 4 &amp; 5 &amp; -1 \\end{bmatrix}\n$$\n。此矩阵的每一行对应原方程，最后一列为常数项，缺项必补零，否则破坏方程等价性。与仅含系数的矩阵 \n$$\n\\begin{bmatrix} 2 &amp; 3 &amp; -1 \\\\ 1 &amp; -1 &amp; 0 \\\\ 0 &amp; 4 &amp; 5 \\end{bmatrix}\n$$\n 相比，增广矩阵保留了等式右侧的约束信息，是后续行变换判断解是否存在、是否唯一、是否无穷多的前提。行阶梯形的目标是通过初等行变换，使非零行的首个非零元逐行严格右移，形成“台阶状”结构，从而在不求解的前提下，通过矩阵形态直接判定解的类型。若某行呈现 $[0\\ 0\\ 0\\ |\\ 3]$ 形式，则系统无解；若所有主元列对应唯一变量且无全零行，则有唯一解。该过程不依赖数值运算，而依赖结构识别。", "module_id": "lesson_goal", "module_instance_id": "tsb-55bede79fcd2", "planned_minutes": 3, "ppt_page_group_id": "L2-1-1:ppt-page-group:1", "summary": "本节旨在实现从代数方程求解向矩阵结构操作的范式转换，核心目标是能够从任意给定的三元以下线性方程组中，准确提取其增广矩阵表示，并理解该操作的消元意图在于揭示解的存在结构而非直接计算数值。当面对方程组如 begin{cases} 2x + 3y", "title": "本节任务"}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cpu_b564a68582c0b4e74e99c700</a:t>
            </a:r>
          </a:p>
          <a:p/>
          <a:p>
            <a:r>
              <a:t>source_section_ids: []</a:t>
            </a:r>
          </a:p>
          <a:p/>
          <a:p>
            <a:r>
              <a:t>[tsb-55bede79fcd2 @ cbr_59cbe1dee1101ffd9e5879db]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本节旨在实现从代数方程求解向矩阵结构操作的范式转换，核心目标是能够从任意给定的三元以下线性方程组中，准确提取其增广矩阵表示，并理解该操作的消元意图在于揭示解的存在结构而非直接计算数值。当面对方程组如 </a:t>
            </a:r>
          </a:p>
          <a:p>
            <a:r>
              <a:t>$$</a:t>
            </a:r>
          </a:p>
          <a:p>
            <a:r>
              <a:t>\begin{cases} 2x + 3y - z = 5 \\ x - y = 2 \\ 4y + 5z = -1 \end{cases}</a:t>
            </a:r>
          </a:p>
          <a:p>
            <a:r>
              <a:t>$$</a:t>
            </a:r>
          </a:p>
          <a:p>
            <a:r>
              <a:t> 时，必须能识别出每个方程中缺失变量的位置（如第二式无 $z$，第三式无 $x$），并以零作为占位系数，形成增广矩阵 </a:t>
            </a:r>
          </a:p>
          <a:p>
            <a:r>
              <a:t>$$</a:t>
            </a:r>
          </a:p>
          <a:p>
            <a:r>
              <a:t>\begin{bmatrix} 2 &amp; 3 &amp; -1 &amp; 5 \\ 1 &amp; -1 &amp; 0 &amp; 2 \\ 0 &amp; 4 &amp; 5 &amp; -1 \end{bmatrix}</a:t>
            </a:r>
          </a:p>
          <a:p>
            <a:r>
              <a:t>$$</a:t>
            </a:r>
          </a:p>
          <a:p>
            <a:r>
              <a:t>。此矩阵的每一行对应原方程，最后一列为常数项，缺项必补零，否则破坏方程等价性。与仅含系数的矩阵 </a:t>
            </a:r>
          </a:p>
          <a:p>
            <a:r>
              <a:t>$$</a:t>
            </a:r>
          </a:p>
          <a:p>
            <a:r>
              <a:t>\begin{bmatrix} 2 &amp; 3 &amp; -1 \\ 1 &amp; -1 &amp; 0 \\ 0 &amp; 4 &amp; 5 \end{bmatrix}</a:t>
            </a:r>
          </a:p>
          <a:p>
            <a:r>
              <a:t>$$</a:t>
            </a:r>
          </a:p>
          <a:p>
            <a:r>
              <a:t> 相比，增广矩阵保留了等式右侧的约束信息，是后续行变换判断解是否存在、是否唯一、是否无穷多的前提。行阶梯形的目标是通过初等行变换，使非零行的首个非零元逐行严格右移，形成“台阶状”结构，从而在不求解的前提下，通过矩阵形态直接判定解的类型。若某行呈现 $[0\ 0\ 0\ |\ 3]$ 形式，则系统无解；若所有主元列对应唯一变量且无全零行，则有唯一解。该过程不依赖数值运算，而依赖结构识别。</a:t>
            </a:r>
          </a:p>
          <a:p>
            <a:r>
              <a:t>source_payload: {"content_perspective": "teacher_delivery", "knowledge_binding_status": null, "markdown": "本节旨在实现从代数方程求解向矩阵结构操作的范式转换，核心目标是能够从任意给定的三元以下线性方程组中，准确提取其增广矩阵表示，并理解该操作的消元意图在于揭示解的存在结构而非直接计算数值。当面对方程组如 \n$$\n\\begin{cases} 2x + 3y - z = 5 \\\\ x - y = 2 \\\\ 4y + 5z = -1 \\end{cases}\n$$\n 时，必须能识别出每个方程中缺失变量的位置（如第二式无 $z$，第三式无 $x$），并以零作为占位系数，形成增广矩阵 \n$$\n\\begin{bmatrix} 2 &amp; 3 &amp; -1 &amp; 5 \\\\ 1 &amp; -1 &amp; 0 &amp; 2 \\\\ 0 &amp; 4 &amp; 5 &amp; -1 \\end{bmatrix}\n$$\n。此矩阵的每一行对应原方程，最后一列为常数项，缺项必补零，否则破坏方程等价性。与仅含系数的矩阵 \n$$\n\\begin{bmatrix} 2 &amp; 3 &amp; -1 \\\\ 1 &amp; -1 &amp; 0 \\\\ 0 &amp; 4 &amp; 5 \\end{bmatrix}\n$$\n 相比，增广矩阵保留了等式右侧的约束信息，是后续行变换判断解是否存在、是否唯一、是否无穷多的前提。行阶梯形的目标是通过初等行变换，使非零行的首个非零元逐行严格右移，形成“台阶状”结构，从而在不求解的前提下，通过矩阵形态直接判定解的类型。若某行呈现 $[0\\ 0\\ 0\\ |\\ 3]$ 形式，则系统无解；若所有主元列对应唯一变量且无全零行，则有唯一解。该过程不依赖数值运算，而依赖结构识别。", "module_id": "lesson_goal", "module_instance_id": "tsb-55bede79fcd2", "planned_minutes": 3, "ppt_page_group_id": "L2-1-1:ppt-page-group:1", "summary": "本节旨在实现从代数方程求解向矩阵结构操作的范式转换，核心目标是能够从任意给定的三元以下线性方程组中，准确提取其增广矩阵表示，并理解该操作的消元意图在于揭示解的存在结构而非直接计算数值。当面对方程组如 begin{cases} 2x + 3y", "title": "本节任务"}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cpu_b564a68582c0b4e74e99c700</a:t>
            </a:r>
          </a:p>
          <a:p/>
          <a:p>
            <a:r>
              <a:t>source_section_ids: []</a:t>
            </a:r>
          </a:p>
          <a:p/>
          <a:p>
            <a:r>
              <a:t>[tsb-598ba7d17b25 @ cbr_f9a34d032d672904af46ce49]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线性方程组的矩阵表示是将代数系统转化为数值结构的关键步骤。对于三元线性方程组，如  </a:t>
            </a:r>
          </a:p>
          <a:p/>
          <a:p>
            <a:r>
              <a:t>$$</a:t>
            </a:r>
          </a:p>
          <a:p>
            <a:r>
              <a:t>\begin{cases}</a:t>
            </a:r>
          </a:p>
          <a:p>
            <a:r>
              <a:t>2x + 3y - z = 5 \\</a:t>
            </a:r>
          </a:p>
          <a:p>
            <a:r>
              <a:t>x - y = 2 \\</a:t>
            </a:r>
          </a:p>
          <a:p>
            <a:r>
              <a:t>4y + 5z = -1</a:t>
            </a:r>
          </a:p>
          <a:p>
            <a:r>
              <a:t>\end{cases}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需按变量顺序 $x, y, z$ 对齐各项系数。第二式无 $z$ 项，其系数为 0；第三式无 $x$ 项，其系数也为 0。由此形成系数矩阵：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2 &amp; 3 &amp; -1 \\</a:t>
            </a:r>
          </a:p>
          <a:p>
            <a:r>
              <a:t>1 &amp; -1 &amp; 0 \\</a:t>
            </a:r>
          </a:p>
          <a:p>
            <a:r>
              <a:t>0 &amp; 4 &amp; 5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将等式右侧常数作为附加列，构成增广矩阵：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2 &amp; 3 &amp; -1 &amp; 5 \\</a:t>
            </a:r>
          </a:p>
          <a:p>
            <a:r>
              <a:t>1 &amp; -1 &amp; 0 &amp; 2 \\</a:t>
            </a:r>
          </a:p>
          <a:p>
            <a:r>
              <a:t>0 &amp; 4 &amp; 5 &amp; -1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增广矩阵保留了方程的完整约束，而系数矩阵丢失了等号右侧信息，无法判断解是否存在。行阶梯形是通过行变换使每行首个非零元（主元）严格位于上一行主元的右侧，形成“台阶”结构，如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2 &amp; 3 &amp; 4 \\</a:t>
            </a:r>
          </a:p>
          <a:p>
            <a:r>
              <a:t>0 &amp; 0 &amp; 5 &amp; 6 \\</a:t>
            </a:r>
          </a:p>
          <a:p>
            <a:r>
              <a:t>0 &amp; 0 &amp; 0 &amp; 7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其中第二行主元在第三列，第三行主元在第四列，满足“严格右移”；若出现 $[0\ 0\ 0\ |\ 3]$ 这类全零系数但常数非零的行，则系统无解，此结构仅在增广矩阵中可识别。</a:t>
            </a:r>
          </a:p>
          <a:p>
            <a:r>
              <a:t>source_payload: {"content_perspective": "teacher_delivery", "knowledge_binding_status": null, "markdown": "线性方程组的矩阵表示是将代数系统转化为数值结构的关键步骤。对于三元线性方程组，如  \n\n$$\n\\begin{cases}\n2x + 3y - z = 5 \\\\\nx - y = 2 \\\\\n4y + 5z = -1\n\\end{cases}\n$$\n\n  \n需按变量顺序 $x, y, z$ 对齐各项系数。第二式无 $z$ 项，其系数为 0；第三式无 $x$ 项，其系数也为 0。由此形成系数矩阵：  \n\n$$\n\\begin{bmatrix}\n2 &amp; 3 &amp; -1 \\\\\n1 &amp; -1 &amp; 0 \\\\\n0 &amp; 4 &amp; 5\n\\end{bmatrix}\n$$\n\n  \n将等式右侧常数作为附加列，构成增广矩阵：  \n\n$$\n\\begin{bmatrix}\n2 &amp; 3 &amp; -1 &amp; 5 \\\\\n1 &amp; -1 &amp; 0 &amp; 2 \\\\\n0 &amp; 4 &amp; 5 &amp; -1\n\\end{bmatrix}\n$$\n\n  \n增广矩阵保留了方程的完整约束，而系数矩阵丢失了等号右侧信息，无法判断解是否存在。行阶梯形是通过行变换使每行首个非零元（主元）严格位于上一行主元的右侧，形成“台阶”结构，如  \n\n$$\n\\begin{bmatrix}\n1 &amp; 2 &amp; 3 &amp; 4 \\\\\n0 &amp; 0 &amp; 5 &amp; 6 \\\\\n0 &amp; 0 &amp; 0 &amp; 7\n\\end{bmatrix}\n$$\n\n  \n其中第二行主元在第三列，第三行主元在第四列，满足“严格右移”；若出现 $[0\\ 0\\ 0\\ |\\ 3]$ 这类全零系数但常数非零的行，则系统无解，此结构仅在增广矩阵中可识别。", "module_id": "core_explanation", "module_instance_id": "tsb-598ba7d17b25", "planned_minutes": 3, "ppt_page_group_id": "L2-1-1:ppt-page-group:1", "summary": "线性方程组的矩阵表示是将代数系统转化为数值结构的关键步骤。对于三元线性方程组，如 begin{cases} 2x + 3y z = 5 x y = 2 4y + 5z = 1 end{cases} 需按变量顺序 x, y, z 对齐各项系数", "title": "核心教学"}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cpu_b564a68582c0b4e74e99c700</a:t>
            </a:r>
          </a:p>
          <a:p/>
          <a:p>
            <a:r>
              <a:t>source_section_ids: []</a:t>
            </a:r>
          </a:p>
          <a:p/>
          <a:p>
            <a:r>
              <a:t>[tsb-598ba7d17b25 @ cbr_f9a34d032d672904af46ce49]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线性方程组的矩阵表示是将代数系统转化为数值结构的关键步骤。对于三元线性方程组，如  </a:t>
            </a:r>
          </a:p>
          <a:p/>
          <a:p>
            <a:r>
              <a:t>$$</a:t>
            </a:r>
          </a:p>
          <a:p>
            <a:r>
              <a:t>\begin{cases}</a:t>
            </a:r>
          </a:p>
          <a:p>
            <a:r>
              <a:t>2x + 3y - z = 5 \\</a:t>
            </a:r>
          </a:p>
          <a:p>
            <a:r>
              <a:t>x - y = 2 \\</a:t>
            </a:r>
          </a:p>
          <a:p>
            <a:r>
              <a:t>4y + 5z = -1</a:t>
            </a:r>
          </a:p>
          <a:p>
            <a:r>
              <a:t>\end{cases}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需按变量顺序 $x, y, z$ 对齐各项系数。第二式无 $z$ 项，其系数为 0；第三式无 $x$ 项，其系数也为 0。由此形成系数矩阵：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2 &amp; 3 &amp; -1 \\</a:t>
            </a:r>
          </a:p>
          <a:p>
            <a:r>
              <a:t>1 &amp; -1 &amp; 0 \\</a:t>
            </a:r>
          </a:p>
          <a:p>
            <a:r>
              <a:t>0 &amp; 4 &amp; 5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将等式右侧常数作为附加列，构成增广矩阵：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2 &amp; 3 &amp; -1 &amp; 5 \\</a:t>
            </a:r>
          </a:p>
          <a:p>
            <a:r>
              <a:t>1 &amp; -1 &amp; 0 &amp; 2 \\</a:t>
            </a:r>
          </a:p>
          <a:p>
            <a:r>
              <a:t>0 &amp; 4 &amp; 5 &amp; -1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增广矩阵保留了方程的完整约束，而系数矩阵丢失了等号右侧信息，无法判断解是否存在。行阶梯形是通过行变换使每行首个非零元（主元）严格位于上一行主元的右侧，形成“台阶”结构，如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2 &amp; 3 &amp; 4 \\</a:t>
            </a:r>
          </a:p>
          <a:p>
            <a:r>
              <a:t>0 &amp; 0 &amp; 5 &amp; 6 \\</a:t>
            </a:r>
          </a:p>
          <a:p>
            <a:r>
              <a:t>0 &amp; 0 &amp; 0 &amp; 7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其中第二行主元在第三列，第三行主元在第四列，满足“严格右移”；若出现 $[0\ 0\ 0\ |\ 3]$ 这类全零系数但常数非零的行，则系统无解，此结构仅在增广矩阵中可识别。</a:t>
            </a:r>
          </a:p>
          <a:p>
            <a:r>
              <a:t>source_payload: {"content_perspective": "teacher_delivery", "knowledge_binding_status": null, "markdown": "线性方程组的矩阵表示是将代数系统转化为数值结构的关键步骤。对于三元线性方程组，如  \n\n$$\n\\begin{cases}\n2x + 3y - z = 5 \\\\\nx - y = 2 \\\\\n4y + 5z = -1\n\\end{cases}\n$$\n\n  \n需按变量顺序 $x, y, z$ 对齐各项系数。第二式无 $z$ 项，其系数为 0；第三式无 $x$ 项，其系数也为 0。由此形成系数矩阵：  \n\n$$\n\\begin{bmatrix}\n2 &amp; 3 &amp; -1 \\\\\n1 &amp; -1 &amp; 0 \\\\\n0 &amp; 4 &amp; 5\n\\end{bmatrix}\n$$\n\n  \n将等式右侧常数作为附加列，构成增广矩阵：  \n\n$$\n\\begin{bmatrix}\n2 &amp; 3 &amp; -1 &amp; 5 \\\\\n1 &amp; -1 &amp; 0 &amp; 2 \\\\\n0 &amp; 4 &amp; 5 &amp; -1\n\\end{bmatrix}\n$$\n\n  \n增广矩阵保留了方程的完整约束，而系数矩阵丢失了等号右侧信息，无法判断解是否存在。行阶梯形是通过行变换使每行首个非零元（主元）严格位于上一行主元的右侧，形成“台阶”结构，如  \n\n$$\n\\begin{bmatrix}\n1 &amp; 2 &amp; 3 &amp; 4 \\\\\n0 &amp; 0 &amp; 5 &amp; 6 \\\\\n0 &amp; 0 &amp; 0 &amp; 7\n\\end{bmatrix}\n$$\n\n  \n其中第二行主元在第三列，第三行主元在第四列，满足“严格右移”；若出现 $[0\\ 0\\ 0\\ |\\ 3]$ 这类全零系数但常数非零的行，则系统无解，此结构仅在增广矩阵中可识别。", "module_id": "core_explanation", "module_instance_id": "tsb-598ba7d17b25", "planned_minutes": 3, "ppt_page_group_id": "L2-1-1:ppt-page-group:1", "summary": "线性方程组的矩阵表示是将代数系统转化为数值结构的关键步骤。对于三元线性方程组，如 begin{cases} 2x + 3y z = 5 x y = 2 4y + 5z = 1 end{cases} 需按变量顺序 x, y, z 对齐各项系数", "title": "核心教学"}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cpu_b564a68582c0b4e74e99c700</a:t>
            </a:r>
          </a:p>
          <a:p/>
          <a:p>
            <a:r>
              <a:t>source_section_ids: []</a:t>
            </a:r>
          </a:p>
          <a:p/>
          <a:p>
            <a:r>
              <a:t>[tsb-598ba7d17b25 @ cbr_f9a34d032d672904af46ce49]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线性方程组的矩阵表示是将代数系统转化为数值结构的关键步骤。对于三元线性方程组，如  </a:t>
            </a:r>
          </a:p>
          <a:p/>
          <a:p>
            <a:r>
              <a:t>$$</a:t>
            </a:r>
          </a:p>
          <a:p>
            <a:r>
              <a:t>\begin{cases}</a:t>
            </a:r>
          </a:p>
          <a:p>
            <a:r>
              <a:t>2x + 3y - z = 5 \\</a:t>
            </a:r>
          </a:p>
          <a:p>
            <a:r>
              <a:t>x - y = 2 \\</a:t>
            </a:r>
          </a:p>
          <a:p>
            <a:r>
              <a:t>4y + 5z = -1</a:t>
            </a:r>
          </a:p>
          <a:p>
            <a:r>
              <a:t>\end{cases}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需按变量顺序 $x, y, z$ 对齐各项系数。第二式无 $z$ 项，其系数为 0；第三式无 $x$ 项，其系数也为 0。由此形成系数矩阵：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2 &amp; 3 &amp; -1 \\</a:t>
            </a:r>
          </a:p>
          <a:p>
            <a:r>
              <a:t>1 &amp; -1 &amp; 0 \\</a:t>
            </a:r>
          </a:p>
          <a:p>
            <a:r>
              <a:t>0 &amp; 4 &amp; 5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将等式右侧常数作为附加列，构成增广矩阵：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2 &amp; 3 &amp; -1 &amp; 5 \\</a:t>
            </a:r>
          </a:p>
          <a:p>
            <a:r>
              <a:t>1 &amp; -1 &amp; 0 &amp; 2 \\</a:t>
            </a:r>
          </a:p>
          <a:p>
            <a:r>
              <a:t>0 &amp; 4 &amp; 5 &amp; -1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增广矩阵保留了方程的完整约束，而系数矩阵丢失了等号右侧信息，无法判断解是否存在。行阶梯形是通过行变换使每行首个非零元（主元）严格位于上一行主元的右侧，形成“台阶”结构，如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2 &amp; 3 &amp; 4 \\</a:t>
            </a:r>
          </a:p>
          <a:p>
            <a:r>
              <a:t>0 &amp; 0 &amp; 5 &amp; 6 \\</a:t>
            </a:r>
          </a:p>
          <a:p>
            <a:r>
              <a:t>0 &amp; 0 &amp; 0 &amp; 7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其中第二行主元在第三列，第三行主元在第四列，满足“严格右移”；若出现 $[0\ 0\ 0\ |\ 3]$ 这类全零系数但常数非零的行，则系统无解，此结构仅在增广矩阵中可识别。</a:t>
            </a:r>
          </a:p>
          <a:p>
            <a:r>
              <a:t>source_payload: {"content_perspective": "teacher_delivery", "knowledge_binding_status": null, "markdown": "线性方程组的矩阵表示是将代数系统转化为数值结构的关键步骤。对于三元线性方程组，如  \n\n$$\n\\begin{cases}\n2x + 3y - z = 5 \\\\\nx - y = 2 \\\\\n4y + 5z = -1\n\\end{cases}\n$$\n\n  \n需按变量顺序 $x, y, z$ 对齐各项系数。第二式无 $z$ 项，其系数为 0；第三式无 $x$ 项，其系数也为 0。由此形成系数矩阵：  \n\n$$\n\\begin{bmatrix}\n2 &amp; 3 &amp; -1 \\\\\n1 &amp; -1 &amp; 0 \\\\\n0 &amp; 4 &amp; 5\n\\end{bmatrix}\n$$\n\n  \n将等式右侧常数作为附加列，构成增广矩阵：  \n\n$$\n\\begin{bmatrix}\n2 &amp; 3 &amp; -1 &amp; 5 \\\\\n1 &amp; -1 &amp; 0 &amp; 2 \\\\\n0 &amp; 4 &amp; 5 &amp; -1\n\\end{bmatrix}\n$$\n\n  \n增广矩阵保留了方程的完整约束，而系数矩阵丢失了等号右侧信息，无法判断解是否存在。行阶梯形是通过行变换使每行首个非零元（主元）严格位于上一行主元的右侧，形成“台阶”结构，如  \n\n$$\n\\begin{bmatrix}\n1 &amp; 2 &amp; 3 &amp; 4 \\\\\n0 &amp; 0 &amp; 5 &amp; 6 \\\\\n0 &amp; 0 &amp; 0 &amp; 7\n\\end{bmatrix}\n$$\n\n  \n其中第二行主元在第三列，第三行主元在第四列，满足“严格右移”；若出现 $[0\\ 0\\ 0\\ |\\ 3]$ 这类全零系数但常数非零的行，则系统无解，此结构仅在增广矩阵中可识别。", "module_id": "core_explanation", "module_instance_id": "tsb-598ba7d17b25", "planned_minutes": 3, "ppt_page_group_id": "L2-1-1:ppt-page-group:1", "summary": "线性方程组的矩阵表示是将代数系统转化为数值结构的关键步骤。对于三元线性方程组，如 begin{cases} 2x + 3y z = 5 x y = 2 4y + 5z = 1 end{cases} 需按变量顺序 x, y, z 对齐各项系数", "title": "核心教学"}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cpu_b564a68582c0b4e74e99c700</a:t>
            </a:r>
          </a:p>
          <a:p/>
          <a:p>
            <a:r>
              <a:t>source_section_ids: []</a:t>
            </a:r>
          </a:p>
          <a:p/>
          <a:p>
            <a:r>
              <a:t>[tsb-598ba7d17b25 @ cbr_f9a34d032d672904af46ce49]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线性方程组的矩阵表示是将代数系统转化为数值结构的关键步骤。对于三元线性方程组，如  </a:t>
            </a:r>
          </a:p>
          <a:p/>
          <a:p>
            <a:r>
              <a:t>$$</a:t>
            </a:r>
          </a:p>
          <a:p>
            <a:r>
              <a:t>\begin{cases}</a:t>
            </a:r>
          </a:p>
          <a:p>
            <a:r>
              <a:t>2x + 3y - z = 5 \\</a:t>
            </a:r>
          </a:p>
          <a:p>
            <a:r>
              <a:t>x - y = 2 \\</a:t>
            </a:r>
          </a:p>
          <a:p>
            <a:r>
              <a:t>4y + 5z = -1</a:t>
            </a:r>
          </a:p>
          <a:p>
            <a:r>
              <a:t>\end{cases}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需按变量顺序 $x, y, z$ 对齐各项系数。第二式无 $z$ 项，其系数为 0；第三式无 $x$ 项，其系数也为 0。由此形成系数矩阵：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2 &amp; 3 &amp; -1 \\</a:t>
            </a:r>
          </a:p>
          <a:p>
            <a:r>
              <a:t>1 &amp; -1 &amp; 0 \\</a:t>
            </a:r>
          </a:p>
          <a:p>
            <a:r>
              <a:t>0 &amp; 4 &amp; 5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将等式右侧常数作为附加列，构成增广矩阵：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2 &amp; 3 &amp; -1 &amp; 5 \\</a:t>
            </a:r>
          </a:p>
          <a:p>
            <a:r>
              <a:t>1 &amp; -1 &amp; 0 &amp; 2 \\</a:t>
            </a:r>
          </a:p>
          <a:p>
            <a:r>
              <a:t>0 &amp; 4 &amp; 5 &amp; -1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增广矩阵保留了方程的完整约束，而系数矩阵丢失了等号右侧信息，无法判断解是否存在。行阶梯形是通过行变换使每行首个非零元（主元）严格位于上一行主元的右侧，形成“台阶”结构，如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2 &amp; 3 &amp; 4 \\</a:t>
            </a:r>
          </a:p>
          <a:p>
            <a:r>
              <a:t>0 &amp; 0 &amp; 5 &amp; 6 \\</a:t>
            </a:r>
          </a:p>
          <a:p>
            <a:r>
              <a:t>0 &amp; 0 &amp; 0 &amp; 7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其中第二行主元在第三列，第三行主元在第四列，满足“严格右移”；若出现 $[0\ 0\ 0\ |\ 3]$ 这类全零系数但常数非零的行，则系统无解，此结构仅在增广矩阵中可识别。</a:t>
            </a:r>
          </a:p>
          <a:p>
            <a:r>
              <a:t>source_payload: {"content_perspective": "teacher_delivery", "knowledge_binding_status": null, "markdown": "线性方程组的矩阵表示是将代数系统转化为数值结构的关键步骤。对于三元线性方程组，如  \n\n$$\n\\begin{cases}\n2x + 3y - z = 5 \\\\\nx - y = 2 \\\\\n4y + 5z = -1\n\\end{cases}\n$$\n\n  \n需按变量顺序 $x, y, z$ 对齐各项系数。第二式无 $z$ 项，其系数为 0；第三式无 $x$ 项，其系数也为 0。由此形成系数矩阵：  \n\n$$\n\\begin{bmatrix}\n2 &amp; 3 &amp; -1 \\\\\n1 &amp; -1 &amp; 0 \\\\\n0 &amp; 4 &amp; 5\n\\end{bmatrix}\n$$\n\n  \n将等式右侧常数作为附加列，构成增广矩阵：  \n\n$$\n\\begin{bmatrix}\n2 &amp; 3 &amp; -1 &amp; 5 \\\\\n1 &amp; -1 &amp; 0 &amp; 2 \\\\\n0 &amp; 4 &amp; 5 &amp; -1\n\\end{bmatrix}\n$$\n\n  \n增广矩阵保留了方程的完整约束，而系数矩阵丢失了等号右侧信息，无法判断解是否存在。行阶梯形是通过行变换使每行首个非零元（主元）严格位于上一行主元的右侧，形成“台阶”结构，如  \n\n$$\n\\begin{bmatrix}\n1 &amp; 2 &amp; 3 &amp; 4 \\\\\n0 &amp; 0 &amp; 5 &amp; 6 \\\\\n0 &amp; 0 &amp; 0 &amp; 7\n\\end{bmatrix}\n$$\n\n  \n其中第二行主元在第三列，第三行主元在第四列，满足“严格右移”；若出现 $[0\\ 0\\ 0\\ |\\ 3]$ 这类全零系数但常数非零的行，则系统无解，此结构仅在增广矩阵中可识别。", "module_id": "core_explanation", "module_instance_id": "tsb-598ba7d17b25", "planned_minutes": 3, "ppt_page_group_id": "L2-1-1:ppt-page-group:1", "summary": "线性方程组的矩阵表示是将代数系统转化为数值结构的关键步骤。对于三元线性方程组，如 begin{cases} 2x + 3y z = 5 x y = 2 4y + 5z = 1 end{cases} 需按变量顺序 x, y, z 对齐各项系数", "title": "核心教学"}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cpu_b564a68582c0b4e74e99c700</a:t>
            </a:r>
          </a:p>
          <a:p/>
          <a:p>
            <a:r>
              <a:t>source_section_ids: []</a:t>
            </a:r>
          </a:p>
          <a:p/>
          <a:p>
            <a:r>
              <a:t>[tsb-e0e9b91e12ab @ cbr_1a8ae5cc26b67e8fc3f95d2f]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任务条件：给定线性方程组  </a:t>
            </a:r>
          </a:p>
          <a:p/>
          <a:p>
            <a:r>
              <a:t>$$</a:t>
            </a:r>
          </a:p>
          <a:p>
            <a:r>
              <a:t>\begin{cases}</a:t>
            </a:r>
          </a:p>
          <a:p>
            <a:r>
              <a:t>3x - 2y + z = 4 \\</a:t>
            </a:r>
          </a:p>
          <a:p>
            <a:r>
              <a:t>x + 4z = -1 \\</a:t>
            </a:r>
          </a:p>
          <a:p>
            <a:r>
              <a:t>- y + 5z = 6</a:t>
            </a:r>
          </a:p>
          <a:p>
            <a:r>
              <a:t>\end{cases}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要求按变量顺序 $x, y, z$ 对齐，提取其增广矩阵，并判断下列三个矩阵中哪一个符合行阶梯形的直观特征：  </a:t>
            </a:r>
          </a:p>
          <a:p>
            <a:r>
              <a:t>(A) </a:t>
            </a:r>
          </a:p>
          <a:p>
            <a:r>
              <a:t>$$</a:t>
            </a:r>
          </a:p>
          <a:p>
            <a:r>
              <a:t>\begin{bmatrix} 1 &amp; 0 &amp; 4 &amp; -1 \\ 0 &amp; -1 &amp; 5 &amp; 6 \\ 3 &amp; -2 &amp; 1 &amp; 4 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(B) </a:t>
            </a:r>
          </a:p>
          <a:p>
            <a:r>
              <a:t>$$</a:t>
            </a:r>
          </a:p>
          <a:p>
            <a:r>
              <a:t>\begin{bmatrix} 3 &amp; -2 &amp; 1 &amp; 4 \\ 0 &amp; -1 &amp; 5 &amp; 6 \\ 0 &amp; 0 &amp; 4 &amp; -1 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(C) </a:t>
            </a:r>
          </a:p>
          <a:p>
            <a:r>
              <a:t>$$</a:t>
            </a:r>
          </a:p>
          <a:p>
            <a:r>
              <a:t>\begin{bmatrix} 1 &amp; 4 &amp; 0 &amp; -1 \\ 0 &amp; -1 &amp; 5 &amp; 6 \\ 0 &amp; 0 &amp; 0 &amp; 3 \end{bmatrix}</a:t>
            </a:r>
          </a:p>
          <a:p>
            <a:r>
              <a:t>$$</a:t>
            </a:r>
          </a:p>
          <a:p>
            <a:r>
              <a:t>  </a:t>
            </a:r>
          </a:p>
          <a:p/>
          <a:p>
            <a:r>
              <a:t>参考解法：首先对齐变量，第一式含 $x,y,z$，系数为 $[3, -2, 1]$；第二式缺 $y$，故系数为 $[1, 0, 4]$；第三式缺 $x$，系数为 $[0, -1, 5]$，常数项依次为 $4, -1, 6$，增广矩阵为 </a:t>
            </a:r>
          </a:p>
          <a:p>
            <a:r>
              <a:t>$$</a:t>
            </a:r>
          </a:p>
          <a:p>
            <a:r>
              <a:t>\begin{bmatrix} 3 &amp; -2 &amp; 1 &amp; 4 \\ 1 &amp; 0 &amp; 4 &amp; -1 \\ 0 &amp; -1 &amp; 5 &amp; 6 \end{bmatrix}</a:t>
            </a:r>
          </a:p>
          <a:p>
            <a:r>
              <a:t>$$</a:t>
            </a:r>
          </a:p>
          <a:p>
            <a:r>
              <a:t>。行阶梯形要求：非零行首非零元逐行严格右移，且全零行在底部。矩阵 (A) 第二行主元在第2列，第三行主元在第1列，违反右移规则；矩阵 (C) 第三行全零左部但右部非零，属矛盾行，非阶梯结构；矩阵 (B) 主元位置依次为第1列、第2列、第3列，呈严格右移台阶状，符合定义。增广矩阵必须包含常数列，否则无法判断解的存在性。</a:t>
            </a:r>
          </a:p>
          <a:p>
            <a:r>
              <a:t>source_payload: {"content_perspective": "teacher_delivery", "knowledge_binding_status": null, "markdown": "任务条件：给定线性方程组  \n\n$$\n\\begin{cases}\n3x - 2y + z = 4 \\\\\nx + 4z = -1 \\\\\n- y + 5z = 6\n\\end{cases}\n$$\n  \n要求按变量顺序 $x, y, z$ 对齐，提取其增广矩阵，并判断下列三个矩阵中哪一个符合行阶梯形的直观特征：  \n(A) \n$$\n\\begin{bmatrix} 1 &amp; 0 &amp; 4 &amp; -1 \\\\ 0 &amp; -1 &amp; 5 &amp; 6 \\\\ 3 &amp; -2 &amp; 1 &amp; 4 \\end{bmatrix}\n$$\n  \n(B) \n$$\n\\begin{bmatrix} 3 &amp; -2 &amp; 1 &amp; 4 \\\\ 0 &amp; -1 &amp; 5 &amp; 6 \\\\ 0 &amp; 0 &amp; 4 &amp; -1 \\end{bmatrix}\n$$\n  \n(C) \n$$\n\\begin{bmatrix} 1 &amp; 4 &amp; 0 &amp; -1 \\\\ 0 &amp; -1 &amp; 5 &amp; 6 \\\\ 0 &amp; 0 &amp; 0 &amp; 3 \\end{bmatrix}\n$$\n  \n\n参考解法：首先对齐变量，第一式含 $x,y,z$，系数为 $[3, -2, 1]$；第二式缺 $y$，故系数为 $[1, 0, 4]$；第三式缺 $x$，系数为 $[0, -1, 5]$，常数项依次为 $4, -1, 6$，增广矩阵为 \n$$\n\\begin{bmatrix} 3 &amp; -2 &amp; 1 &amp; 4 \\\\ 1 &amp; 0 &amp; 4 &amp; -1 \\\\ 0 &amp; -1 &amp; 5 &amp; 6 \\end{bmatrix}\n$$\n。行阶梯形要求：非零行首非零元逐行严格右移，且全零行在底部。矩阵 (A) 第二行主元在第2列，第三行主元在第1列，违反右移规则；矩阵 (C) 第三行全零左部但右部非零，属矛盾行，非阶梯结构；矩阵 (B) 主元位置依次为第1列、第2列、第3列，呈严格右移台阶状，符合定义。增广矩阵必须包含常数列，否则无法判断解的存在性。", "module_id": "learner_action", "module_instance_id": "tsb-e0e9b91e12ab", "planned_minutes": 3, "ppt_page_group_id": "L2-1-1:ppt-page-group:2", "summary": "任务条件：给定线性方程组 begin{cases} 3x 2y + z = 4 x + 4z = 1 y + 5z = 6 end{cases} 要求按变量顺序 x, y, z 对齐，提取其增广矩阵，并判断下列三个矩阵中哪一个符合行阶梯形的", "title": "学习者行动"}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cpu_b564a68582c0b4e74e99c700</a:t>
            </a:r>
          </a:p>
          <a:p/>
          <a:p>
            <a:r>
              <a:t>source_section_ids: []</a:t>
            </a:r>
          </a:p>
          <a:p/>
          <a:p>
            <a:r>
              <a:t>[tsb-e0e9b91e12ab @ cbr_1a8ae5cc26b67e8fc3f95d2f]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任务条件：给定线性方程组  </a:t>
            </a:r>
          </a:p>
          <a:p/>
          <a:p>
            <a:r>
              <a:t>$$</a:t>
            </a:r>
          </a:p>
          <a:p>
            <a:r>
              <a:t>\begin{cases}</a:t>
            </a:r>
          </a:p>
          <a:p>
            <a:r>
              <a:t>3x - 2y + z = 4 \\</a:t>
            </a:r>
          </a:p>
          <a:p>
            <a:r>
              <a:t>x + 4z = -1 \\</a:t>
            </a:r>
          </a:p>
          <a:p>
            <a:r>
              <a:t>- y + 5z = 6</a:t>
            </a:r>
          </a:p>
          <a:p>
            <a:r>
              <a:t>\end{cases}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要求按变量顺序 $x, y, z$ 对齐，提取其增广矩阵，并判断下列三个矩阵中哪一个符合行阶梯形的直观特征：  </a:t>
            </a:r>
          </a:p>
          <a:p>
            <a:r>
              <a:t>(A) </a:t>
            </a:r>
          </a:p>
          <a:p>
            <a:r>
              <a:t>$$</a:t>
            </a:r>
          </a:p>
          <a:p>
            <a:r>
              <a:t>\begin{bmatrix} 1 &amp; 0 &amp; 4 &amp; -1 \\ 0 &amp; -1 &amp; 5 &amp; 6 \\ 3 &amp; -2 &amp; 1 &amp; 4 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(B) </a:t>
            </a:r>
          </a:p>
          <a:p>
            <a:r>
              <a:t>$$</a:t>
            </a:r>
          </a:p>
          <a:p>
            <a:r>
              <a:t>\begin{bmatrix} 3 &amp; -2 &amp; 1 &amp; 4 \\ 0 &amp; -1 &amp; 5 &amp; 6 \\ 0 &amp; 0 &amp; 4 &amp; -1 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(C) </a:t>
            </a:r>
          </a:p>
          <a:p>
            <a:r>
              <a:t>$$</a:t>
            </a:r>
          </a:p>
          <a:p>
            <a:r>
              <a:t>\begin{bmatrix} 1 &amp; 4 &amp; 0 &amp; -1 \\ 0 &amp; -1 &amp; 5 &amp; 6 \\ 0 &amp; 0 &amp; 0 &amp; 3 \end{bmatrix}</a:t>
            </a:r>
          </a:p>
          <a:p>
            <a:r>
              <a:t>$$</a:t>
            </a:r>
          </a:p>
          <a:p>
            <a:r>
              <a:t>  </a:t>
            </a:r>
          </a:p>
          <a:p/>
          <a:p>
            <a:r>
              <a:t>参考解法：首先对齐变量，第一式含 $x,y,z$，系数为 $[3, -2, 1]$；第二式缺 $y$，故系数为 $[1, 0, 4]$；第三式缺 $x$，系数为 $[0, -1, 5]$，常数项依次为 $4, -1, 6$，增广矩阵为 </a:t>
            </a:r>
          </a:p>
          <a:p>
            <a:r>
              <a:t>$$</a:t>
            </a:r>
          </a:p>
          <a:p>
            <a:r>
              <a:t>\begin{bmatrix} 3 &amp; -2 &amp; 1 &amp; 4 \\ 1 &amp; 0 &amp; 4 &amp; -1 \\ 0 &amp; -1 &amp; 5 &amp; 6 \end{bmatrix}</a:t>
            </a:r>
          </a:p>
          <a:p>
            <a:r>
              <a:t>$$</a:t>
            </a:r>
          </a:p>
          <a:p>
            <a:r>
              <a:t>。行阶梯形要求：非零行首非零元逐行严格右移，且全零行在底部。矩阵 (A) 第二行主元在第2列，第三行主元在第1列，违反右移规则；矩阵 (C) 第三行全零左部但右部非零，属矛盾行，非阶梯结构；矩阵 (B) 主元位置依次为第1列、第2列、第3列，呈严格右移台阶状，符合定义。增广矩阵必须包含常数列，否则无法判断解的存在性。</a:t>
            </a:r>
          </a:p>
          <a:p>
            <a:r>
              <a:t>source_payload: {"content_perspective": "teacher_delivery", "knowledge_binding_status": null, "markdown": "任务条件：给定线性方程组  \n\n$$\n\\begin{cases}\n3x - 2y + z = 4 \\\\\nx + 4z = -1 \\\\\n- y + 5z = 6\n\\end{cases}\n$$\n  \n要求按变量顺序 $x, y, z$ 对齐，提取其增广矩阵，并判断下列三个矩阵中哪一个符合行阶梯形的直观特征：  \n(A) \n$$\n\\begin{bmatrix} 1 &amp; 0 &amp; 4 &amp; -1 \\\\ 0 &amp; -1 &amp; 5 &amp; 6 \\\\ 3 &amp; -2 &amp; 1 &amp; 4 \\end{bmatrix}\n$$\n  \n(B) \n$$\n\\begin{bmatrix} 3 &amp; -2 &amp; 1 &amp; 4 \\\\ 0 &amp; -1 &amp; 5 &amp; 6 \\\\ 0 &amp; 0 &amp; 4 &amp; -1 \\end{bmatrix}\n$$\n  \n(C) \n$$\n\\begin{bmatrix} 1 &amp; 4 &amp; 0 &amp; -1 \\\\ 0 &amp; -1 &amp; 5 &amp; 6 \\\\ 0 &amp; 0 &amp; 0 &amp; 3 \\end{bmatrix}\n$$\n  \n\n参考解法：首先对齐变量，第一式含 $x,y,z$，系数为 $[3, -2, 1]$；第二式缺 $y$，故系数为 $[1, 0, 4]$；第三式缺 $x$，系数为 $[0, -1, 5]$，常数项依次为 $4, -1, 6$，增广矩阵为 \n$$\n\\begin{bmatrix} 3 &amp; -2 &amp; 1 &amp; 4 \\\\ 1 &amp; 0 &amp; 4 &amp; -1 \\\\ 0 &amp; -1 &amp; 5 &amp; 6 \\end{bmatrix}\n$$\n。行阶梯形要求：非零行首非零元逐行严格右移，且全零行在底部。矩阵 (A) 第二行主元在第2列，第三行主元在第1列，违反右移规则；矩阵 (C) 第三行全零左部但右部非零，属矛盾行，非阶梯结构；矩阵 (B) 主元位置依次为第1列、第2列、第3列，呈严格右移台阶状，符合定义。增广矩阵必须包含常数列，否则无法判断解的存在性。", "module_id": "learner_action", "module_instance_id": "tsb-e0e9b91e12ab", "planned_minutes": 3, "ppt_page_group_id": "L2-1-1:ppt-page-group:2", "summary": "任务条件：给定线性方程组 begin{cases} 3x 2y + z = 4 x + 4z = 1 y + 5z = 6 end{cases} 要求按变量顺序 x, y, z 对齐，提取其增广矩阵，并判断下列三个矩阵中哪一个符合行阶梯形的", "title": "学习者行动"}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cpu_b564a68582c0b4e74e99c700</a:t>
            </a:r>
          </a:p>
          <a:p/>
          <a:p>
            <a:r>
              <a:t>source_section_ids: []</a:t>
            </a:r>
          </a:p>
          <a:p/>
          <a:p>
            <a:r>
              <a:t>[tsb-e0e9b91e12ab @ cbr_1a8ae5cc26b67e8fc3f95d2f]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任务条件：给定线性方程组  </a:t>
            </a:r>
          </a:p>
          <a:p/>
          <a:p>
            <a:r>
              <a:t>$$</a:t>
            </a:r>
          </a:p>
          <a:p>
            <a:r>
              <a:t>\begin{cases}</a:t>
            </a:r>
          </a:p>
          <a:p>
            <a:r>
              <a:t>3x - 2y + z = 4 \\</a:t>
            </a:r>
          </a:p>
          <a:p>
            <a:r>
              <a:t>x + 4z = -1 \\</a:t>
            </a:r>
          </a:p>
          <a:p>
            <a:r>
              <a:t>- y + 5z = 6</a:t>
            </a:r>
          </a:p>
          <a:p>
            <a:r>
              <a:t>\end{cases}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要求按变量顺序 $x, y, z$ 对齐，提取其增广矩阵，并判断下列三个矩阵中哪一个符合行阶梯形的直观特征：  </a:t>
            </a:r>
          </a:p>
          <a:p>
            <a:r>
              <a:t>(A) </a:t>
            </a:r>
          </a:p>
          <a:p>
            <a:r>
              <a:t>$$</a:t>
            </a:r>
          </a:p>
          <a:p>
            <a:r>
              <a:t>\begin{bmatrix} 1 &amp; 0 &amp; 4 &amp; -1 \\ 0 &amp; -1 &amp; 5 &amp; 6 \\ 3 &amp; -2 &amp; 1 &amp; 4 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(B) </a:t>
            </a:r>
          </a:p>
          <a:p>
            <a:r>
              <a:t>$$</a:t>
            </a:r>
          </a:p>
          <a:p>
            <a:r>
              <a:t>\begin{bmatrix} 3 &amp; -2 &amp; 1 &amp; 4 \\ 0 &amp; -1 &amp; 5 &amp; 6 \\ 0 &amp; 0 &amp; 4 &amp; -1 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(C) </a:t>
            </a:r>
          </a:p>
          <a:p>
            <a:r>
              <a:t>$$</a:t>
            </a:r>
          </a:p>
          <a:p>
            <a:r>
              <a:t>\begin{bmatrix} 1 &amp; 4 &amp; 0 &amp; -1 \\ 0 &amp; -1 &amp; 5 &amp; 6 \\ 0 &amp; 0 &amp; 0 &amp; 3 \end{bmatrix}</a:t>
            </a:r>
          </a:p>
          <a:p>
            <a:r>
              <a:t>$$</a:t>
            </a:r>
          </a:p>
          <a:p>
            <a:r>
              <a:t>  </a:t>
            </a:r>
          </a:p>
          <a:p/>
          <a:p>
            <a:r>
              <a:t>参考解法：首先对齐变量，第一式含 $x,y,z$，系数为 $[3, -2, 1]$；第二式缺 $y$，故系数为 $[1, 0, 4]$；第三式缺 $x$，系数为 $[0, -1, 5]$，常数项依次为 $4, -1, 6$，增广矩阵为 </a:t>
            </a:r>
          </a:p>
          <a:p>
            <a:r>
              <a:t>$$</a:t>
            </a:r>
          </a:p>
          <a:p>
            <a:r>
              <a:t>\begin{bmatrix} 3 &amp; -2 &amp; 1 &amp; 4 \\ 1 &amp; 0 &amp; 4 &amp; -1 \\ 0 &amp; -1 &amp; 5 &amp; 6 \end{bmatrix}</a:t>
            </a:r>
          </a:p>
          <a:p>
            <a:r>
              <a:t>$$</a:t>
            </a:r>
          </a:p>
          <a:p>
            <a:r>
              <a:t>。行阶梯形要求：非零行首非零元逐行严格右移，且全零行在底部。矩阵 (A) 第二行主元在第2列，第三行主元在第1列，违反右移规则；矩阵 (C) 第三行全零左部但右部非零，属矛盾行，非阶梯结构；矩阵 (B) 主元位置依次为第1列、第2列、第3列，呈严格右移台阶状，符合定义。增广矩阵必须包含常数列，否则无法判断解的存在性。</a:t>
            </a:r>
          </a:p>
          <a:p>
            <a:r>
              <a:t>source_payload: {"content_perspective": "teacher_delivery", "knowledge_binding_status": null, "markdown": "任务条件：给定线性方程组  \n\n$$\n\\begin{cases}\n3x - 2y + z = 4 \\\\\nx + 4z = -1 \\\\\n- y + 5z = 6\n\\end{cases}\n$$\n  \n要求按变量顺序 $x, y, z$ 对齐，提取其增广矩阵，并判断下列三个矩阵中哪一个符合行阶梯形的直观特征：  \n(A) \n$$\n\\begin{bmatrix} 1 &amp; 0 &amp; 4 &amp; -1 \\\\ 0 &amp; -1 &amp; 5 &amp; 6 \\\\ 3 &amp; -2 &amp; 1 &amp; 4 \\end{bmatrix}\n$$\n  \n(B) \n$$\n\\begin{bmatrix} 3 &amp; -2 &amp; 1 &amp; 4 \\\\ 0 &amp; -1 &amp; 5 &amp; 6 \\\\ 0 &amp; 0 &amp; 4 &amp; -1 \\end{bmatrix}\n$$\n  \n(C) \n$$\n\\begin{bmatrix} 1 &amp; 4 &amp; 0 &amp; -1 \\\\ 0 &amp; -1 &amp; 5 &amp; 6 \\\\ 0 &amp; 0 &amp; 0 &amp; 3 \\end{bmatrix}\n$$\n  \n\n参考解法：首先对齐变量，第一式含 $x,y,z$，系数为 $[3, -2, 1]$；第二式缺 $y$，故系数为 $[1, 0, 4]$；第三式缺 $x$，系数为 $[0, -1, 5]$，常数项依次为 $4, -1, 6$，增广矩阵为 \n$$\n\\begin{bmatrix} 3 &amp; -2 &amp; 1 &amp; 4 \\\\ 1 &amp; 0 &amp; 4 &amp; -1 \\\\ 0 &amp; -1 &amp; 5 &amp; 6 \\end{bmatrix}\n$$\n。行阶梯形要求：非零行首非零元逐行严格右移，且全零行在底部。矩阵 (A) 第二行主元在第2列，第三行主元在第1列，违反右移规则；矩阵 (C) 第三行全零左部但右部非零，属矛盾行，非阶梯结构；矩阵 (B) 主元位置依次为第1列、第2列、第3列，呈严格右移台阶状，符合定义。增广矩阵必须包含常数列，否则无法判断解的存在性。", "module_id": "learner_action", "module_instance_id": "tsb-e0e9b91e12ab", "planned_minutes": 3, "ppt_page_group_id": "L2-1-1:ppt-page-group:2", "summary": "任务条件：给定线性方程组 begin{cases} 3x 2y + z = 4 x + 4z = 1 y + 5z = 6 end{cases} 要求按变量顺序 x, y, z 对齐，提取其增广矩阵，并判断下列三个矩阵中哪一个符合行阶梯形的", "title": "学习者行动"}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cpu_b564a68582c0b4e74e99c700</a:t>
            </a:r>
          </a:p>
          <a:p/>
          <a:p>
            <a:r>
              <a:t>source_section_ids: []</a:t>
            </a:r>
          </a:p>
          <a:p/>
          <a:p>
            <a:r>
              <a:t>[tsb-e0e9b91e12ab @ cbr_1a8ae5cc26b67e8fc3f95d2f]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任务条件：给定线性方程组  </a:t>
            </a:r>
          </a:p>
          <a:p/>
          <a:p>
            <a:r>
              <a:t>$$</a:t>
            </a:r>
          </a:p>
          <a:p>
            <a:r>
              <a:t>\begin{cases}</a:t>
            </a:r>
          </a:p>
          <a:p>
            <a:r>
              <a:t>3x - 2y + z = 4 \\</a:t>
            </a:r>
          </a:p>
          <a:p>
            <a:r>
              <a:t>x + 4z = -1 \\</a:t>
            </a:r>
          </a:p>
          <a:p>
            <a:r>
              <a:t>- y + 5z = 6</a:t>
            </a:r>
          </a:p>
          <a:p>
            <a:r>
              <a:t>\end{cases}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要求按变量顺序 $x, y, z$ 对齐，提取其增广矩阵，并判断下列三个矩阵中哪一个符合行阶梯形的直观特征：  </a:t>
            </a:r>
          </a:p>
          <a:p>
            <a:r>
              <a:t>(A) </a:t>
            </a:r>
          </a:p>
          <a:p>
            <a:r>
              <a:t>$$</a:t>
            </a:r>
          </a:p>
          <a:p>
            <a:r>
              <a:t>\begin{bmatrix} 1 &amp; 0 &amp; 4 &amp; -1 \\ 0 &amp; -1 &amp; 5 &amp; 6 \\ 3 &amp; -2 &amp; 1 &amp; 4 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(B) </a:t>
            </a:r>
          </a:p>
          <a:p>
            <a:r>
              <a:t>$$</a:t>
            </a:r>
          </a:p>
          <a:p>
            <a:r>
              <a:t>\begin{bmatrix} 3 &amp; -2 &amp; 1 &amp; 4 \\ 0 &amp; -1 &amp; 5 &amp; 6 \\ 0 &amp; 0 &amp; 4 &amp; -1 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(C) </a:t>
            </a:r>
          </a:p>
          <a:p>
            <a:r>
              <a:t>$$</a:t>
            </a:r>
          </a:p>
          <a:p>
            <a:r>
              <a:t>\begin{bmatrix} 1 &amp; 4 &amp; 0 &amp; -1 \\ 0 &amp; -1 &amp; 5 &amp; 6 \\ 0 &amp; 0 &amp; 0 &amp; 3 \end{bmatrix}</a:t>
            </a:r>
          </a:p>
          <a:p>
            <a:r>
              <a:t>$$</a:t>
            </a:r>
          </a:p>
          <a:p>
            <a:r>
              <a:t>  </a:t>
            </a:r>
          </a:p>
          <a:p/>
          <a:p>
            <a:r>
              <a:t>参考解法：首先对齐变量，第一式含 $x,y,z$，系数为 $[3, -2, 1]$；第二式缺 $y$，故系数为 $[1, 0, 4]$；第三式缺 $x$，系数为 $[0, -1, 5]$，常数项依次为 $4, -1, 6$，增广矩阵为 </a:t>
            </a:r>
          </a:p>
          <a:p>
            <a:r>
              <a:t>$$</a:t>
            </a:r>
          </a:p>
          <a:p>
            <a:r>
              <a:t>\begin{bmatrix} 3 &amp; -2 &amp; 1 &amp; 4 \\ 1 &amp; 0 &amp; 4 &amp; -1 \\ 0 &amp; -1 &amp; 5 &amp; 6 \end{bmatrix}</a:t>
            </a:r>
          </a:p>
          <a:p>
            <a:r>
              <a:t>$$</a:t>
            </a:r>
          </a:p>
          <a:p>
            <a:r>
              <a:t>。行阶梯形要求：非零行首非零元逐行严格右移，且全零行在底部。矩阵 (A) 第二行主元在第2列，第三行主元在第1列，违反右移规则；矩阵 (C) 第三行全零左部但右部非零，属矛盾行，非阶梯结构；矩阵 (B) 主元位置依次为第1列、第2列、第3列，呈严格右移台阶状，符合定义。增广矩阵必须包含常数列，否则无法判断解的存在性。</a:t>
            </a:r>
          </a:p>
          <a:p>
            <a:r>
              <a:t>source_payload: {"content_perspective": "teacher_delivery", "knowledge_binding_status": null, "markdown": "任务条件：给定线性方程组  \n\n$$\n\\begin{cases}\n3x - 2y + z = 4 \\\\\nx + 4z = -1 \\\\\n- y + 5z = 6\n\\end{cases}\n$$\n  \n要求按变量顺序 $x, y, z$ 对齐，提取其增广矩阵，并判断下列三个矩阵中哪一个符合行阶梯形的直观特征：  \n(A) \n$$\n\\begin{bmatrix} 1 &amp; 0 &amp; 4 &amp; -1 \\\\ 0 &amp; -1 &amp; 5 &amp; 6 \\\\ 3 &amp; -2 &amp; 1 &amp; 4 \\end{bmatrix}\n$$\n  \n(B) \n$$\n\\begin{bmatrix} 3 &amp; -2 &amp; 1 &amp; 4 \\\\ 0 &amp; -1 &amp; 5 &amp; 6 \\\\ 0 &amp; 0 &amp; 4 &amp; -1 \\end{bmatrix}\n$$\n  \n(C) \n$$\n\\begin{bmatrix} 1 &amp; 4 &amp; 0 &amp; -1 \\\\ 0 &amp; -1 &amp; 5 &amp; 6 \\\\ 0 &amp; 0 &amp; 0 &amp; 3 \\end{bmatrix}\n$$\n  \n\n参考解法：首先对齐变量，第一式含 $x,y,z$，系数为 $[3, -2, 1]$；第二式缺 $y$，故系数为 $[1, 0, 4]$；第三式缺 $x$，系数为 $[0, -1, 5]$，常数项依次为 $4, -1, 6$，增广矩阵为 \n$$\n\\begin{bmatrix} 3 &amp; -2 &amp; 1 &amp; 4 \\\\ 1 &amp; 0 &amp; 4 &amp; -1 \\\\ 0 &amp; -1 &amp; 5 &amp; 6 \\end{bmatrix}\n$$\n。行阶梯形要求：非零行首非零元逐行严格右移，且全零行在底部。矩阵 (A) 第二行主元在第2列，第三行主元在第1列，违反右移规则；矩阵 (C) 第三行全零左部但右部非零，属矛盾行，非阶梯结构；矩阵 (B) 主元位置依次为第1列、第2列、第3列，呈严格右移台阶状，符合定义。增广矩阵必须包含常数列，否则无法判断解的存在性。", "module_id": "learner_action", "module_instance_id": "tsb-e0e9b91e12ab", "planned_minutes": 3, "ppt_page_group_id": "L2-1-1:ppt-page-group:2", "summary": "任务条件：给定线性方程组 begin{cases} 3x 2y + z = 4 x + 4z = 1 y + 5z = 6 end{cases} 要求按变量顺序 x, y, z 对齐，提取其增广矩阵，并判断下列三个矩阵中哪一个符合行阶梯形的", "title": "学习者行动"}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cpu_b564a68582c0b4e74e99c700</a:t>
            </a:r>
          </a:p>
          <a:p/>
          <a:p>
            <a:r>
              <a:t>source_section_ids: []</a:t>
            </a:r>
          </a:p>
          <a:p/>
          <a:p>
            <a:r>
              <a:t>[tsb-db0817ea5353 @ cbr_e775ae5317902690f22f5c31]</a:t>
            </a:r>
          </a:p>
          <a:p>
            <a:r>
              <a:t>source_kind: review_checkpoint</a:t>
            </a:r>
          </a:p>
          <a:p>
            <a:r>
              <a:t>asset_refs: []</a:t>
            </a:r>
          </a:p>
          <a:p>
            <a:r>
              <a:t>核对标准：给定方程组 </a:t>
            </a:r>
          </a:p>
          <a:p>
            <a:r>
              <a:t>$$</a:t>
            </a:r>
          </a:p>
          <a:p>
            <a:r>
              <a:t>\begin{cases} 2x + 3y - z = 5 \\ x - y = 2 \\ 4y + 5z = -1 \end{cases}</a:t>
            </a:r>
          </a:p>
          <a:p>
            <a:r>
              <a:t>$$</a:t>
            </a:r>
          </a:p>
          <a:p>
            <a:r>
              <a:t>，其增广矩阵是否按 $x, y, z$ 顺序对齐，缺失变量是否以零占位，常数项是否正确附加为最后一列。参考结论：正确增广矩阵为 </a:t>
            </a:r>
          </a:p>
          <a:p>
            <a:r>
              <a:t>$$</a:t>
            </a:r>
          </a:p>
          <a:p>
            <a:r>
              <a:t>\begin{bmatrix} 2 &amp; 3 &amp; -1 &amp; 5 \\ 1 &amp; -1 &amp; 0 &amp; 2 \\ 0 &amp; 4 &amp; 5 &amp; -1 \end{bmatrix}</a:t>
            </a:r>
          </a:p>
          <a:p>
            <a:r>
              <a:t>$$</a:t>
            </a:r>
          </a:p>
          <a:p>
            <a:r>
              <a:t>。推导依据：每个方程对应一行，变量顺序固定，缺项系数为零，等式右侧数值直接移入最后一列；若省略 $z$ 的系数（如第二行写为 $[1\ -1\ 2]$），则等价于将原方程误读为 $x - y + 2z = 2$，破坏系统等价性。典型错误：将第三式误写为 $[4\ 5\ -1]$ 而忽略 $x$ 缺失，漏掉首列零，导致矩阵变为 </a:t>
            </a:r>
          </a:p>
          <a:p>
            <a:r>
              <a:t>$$</a:t>
            </a:r>
          </a:p>
          <a:p>
            <a:r>
              <a:t>\begin{bmatrix} 2 &amp; 3 &amp; -1 &amp; 5 \\ 1 &amp; -1 &amp; 0 &amp; 2 \\ 4 &amp; 5 &amp; -1 \end{bmatrix}</a:t>
            </a:r>
          </a:p>
          <a:p>
            <a:r>
              <a:t>$$</a:t>
            </a:r>
          </a:p>
          <a:p>
            <a:r>
              <a:t>，此错误使第三行多出一个变量维度，与原方程组变量数不一致。修正原因：线性方程组的变量空间是三维的，任何行必须包含三个系数与一个常数，缺项零占位是保持维度一致的必要操作。再次验证：将修正后矩阵每行还原为方程，检查是否与原式完全等价，确认无新增或遗漏变量项。</a:t>
            </a:r>
          </a:p>
          <a:p>
            <a:r>
              <a:t>source_payload: {"content_perspective": "teacher_delivery", "feedback_structure": {"mode": "static_reference", "schema_version": "course_feedback_v1", "sections": [{"collapsed_by_default": false, "kind": "guidance", "markdown": "核对标准：给定方程组 \n$$\n\\begin{cases} 2x + 3y - z = 5 \\\\ x - y = 2 \\\\ 4y + 5z = -1 \\end{cases}\n$$\n，其增广矩阵是否按 $x, y, z$ 顺序对齐，缺失变量是否以零占位，常数项是否正确附加为最后一列。参考结论：正确增广矩阵为 \n$$\n\\begin{bmatrix} 2 &amp; 3 &amp; -1 &amp; 5 \\\\ 1 &amp; -1 &amp; 0 &amp; 2 \\\\ 0 &amp; 4 &amp; 5 &amp; -1 \\end{bmatrix}\n$$\n。推导依据：每个方程对应一行，变量顺序固定，缺项系数为零，等式右侧数值直接移入最后一列；若省略 $z$ 的系数（如第二行写为 $[1\\ -1\\ 2]$），则等价于将原方程误读为 $x - y + 2z = 2$，破坏系统等价性。典型错误：将第三式误写为 $[4\\ 5\\ -1]$ 而忽略 $x$ 缺失，漏掉首列零，导致矩阵变为 \n$$\n\\begin{bmatrix} 2 &amp; 3 &amp; -1 &amp; 5 \\\\ 1 &amp; -1 &amp; 0 &amp; 2 \\\\ 4 &amp; 5 &amp; -1 \\end{bmatrix}\n$$\n，此错误使第三行多出一个变量维度，与原方程组变量数不一致。修正原因：线性方程组的变量空间是三维的，任何行必须包含三个系数与一个常数，缺项零占位是保持维度一致的必要操作。再次验证：将修正后矩阵每行还原为方程，检查是否与原式完全等价，确认无新增或遗漏变量项。", "section_id": "feedback-section-f53ac175437c", "summary": "核对标准：给定方程组 begin{cases} 2x + 3y z = 5 x y = 2 4y + 5z = 1 end{cases} ，其增广矩阵是否按 x, y, z 顺序对齐，缺失变量", "title": "参考与检查"}], "source_fingerprint": "7775a8555dbb1129217925f9"}, "knowledge_binding_status": null, "markdown": "核对标准：给定方程组 \n$$\n\\begin{cases} 2x + 3y - z = 5 \\\\ x - y = 2 \\\\ 4y + 5z = -1 \\end{cases}\n$$\n，其增广矩阵是否按 $x, y, z$ 顺序对齐，缺失变量是否以零占位，常数项是否正确附加为最后一列。参考结论：正确增广矩阵为 \n$$\n\\begin{bmatrix} 2 &amp; 3 &amp; -1 &amp; 5 \\\\ 1 &amp; -1 &amp; 0 &amp; 2 \\\\ 0 &amp; 4 &amp; 5 &amp; -1 \\end{bmatrix}\n$$\n。推导依据：每个方程对应一行，变量顺序固定，缺项系数为零，等式右侧数值直接移入最后一列；若省略 $z$ 的系数（如第二行写为 $[1\\ -1\\ 2]$），则等价于将原方程误读为 $x - y + 2z = 2$，破坏系统等价性。典型错误：将第三式误写为 $[4\\ 5\\ -1]$ 而忽略 $x$ 缺失，漏掉首列零，导致矩阵变为 \n$$\n\\begin{bmatrix} 2 &amp; 3 &amp; -1 &amp; 5 \\\\ 1 &amp; -1 &amp; 0 &amp; 2 \\\\ 4 &amp; 5 &amp; -1 \\end{bmatrix}\n$$\n，此错误使第三行多出一个变量维度，与原方程组变量数不一致。修正原因：线性方程组的变量空间是三维的，任何行必须包含三个系数与一个常数，缺项零占位是保持维度一致的必要操作。再次验证：将修正后矩阵每行还原为方程，检查是否与原式完全等价，确认无新增或遗漏变量项。", "module_id": "feedback_check", "module_instance_id": "tsb-db0817ea5353", "planned_minutes": 2, "ppt_page_group_id": "L2-1-1:ppt-page-group:2", "summary": "核对标准：给定方程组 begin{cases} 2x + 3y z = 5 x y = 2 4y + 5z = 1 end{cases} ，其增广矩阵是否按 x, y, z 顺序对齐，缺失变量是否以零占位，常数项是否正确附加为最后一列。参考", "title": "检查与反馈"}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cpu_b564a68582c0b4e74e99c700</a:t>
            </a:r>
          </a:p>
          <a:p/>
          <a:p>
            <a:r>
              <a:t>source_section_ids: []</a:t>
            </a:r>
          </a:p>
          <a:p/>
          <a:p>
            <a:r>
              <a:t>[tsb-db0817ea5353 @ cbr_e775ae5317902690f22f5c31]</a:t>
            </a:r>
          </a:p>
          <a:p>
            <a:r>
              <a:t>source_kind: review_checkpoint</a:t>
            </a:r>
          </a:p>
          <a:p>
            <a:r>
              <a:t>asset_refs: []</a:t>
            </a:r>
          </a:p>
          <a:p>
            <a:r>
              <a:t>核对标准：给定方程组 </a:t>
            </a:r>
          </a:p>
          <a:p>
            <a:r>
              <a:t>$$</a:t>
            </a:r>
          </a:p>
          <a:p>
            <a:r>
              <a:t>\begin{cases} 2x + 3y - z = 5 \\ x - y = 2 \\ 4y + 5z = -1 \end{cases}</a:t>
            </a:r>
          </a:p>
          <a:p>
            <a:r>
              <a:t>$$</a:t>
            </a:r>
          </a:p>
          <a:p>
            <a:r>
              <a:t>，其增广矩阵是否按 $x, y, z$ 顺序对齐，缺失变量是否以零占位，常数项是否正确附加为最后一列。参考结论：正确增广矩阵为 </a:t>
            </a:r>
          </a:p>
          <a:p>
            <a:r>
              <a:t>$$</a:t>
            </a:r>
          </a:p>
          <a:p>
            <a:r>
              <a:t>\begin{bmatrix} 2 &amp; 3 &amp; -1 &amp; 5 \\ 1 &amp; -1 &amp; 0 &amp; 2 \\ 0 &amp; 4 &amp; 5 &amp; -1 \end{bmatrix}</a:t>
            </a:r>
          </a:p>
          <a:p>
            <a:r>
              <a:t>$$</a:t>
            </a:r>
          </a:p>
          <a:p>
            <a:r>
              <a:t>。推导依据：每个方程对应一行，变量顺序固定，缺项系数为零，等式右侧数值直接移入最后一列；若省略 $z$ 的系数（如第二行写为 $[1\ -1\ 2]$），则等价于将原方程误读为 $x - y + 2z = 2$，破坏系统等价性。典型错误：将第三式误写为 $[4\ 5\ -1]$ 而忽略 $x$ 缺失，漏掉首列零，导致矩阵变为 </a:t>
            </a:r>
          </a:p>
          <a:p>
            <a:r>
              <a:t>$$</a:t>
            </a:r>
          </a:p>
          <a:p>
            <a:r>
              <a:t>\begin{bmatrix} 2 &amp; 3 &amp; -1 &amp; 5 \\ 1 &amp; -1 &amp; 0 &amp; 2 \\ 4 &amp; 5 &amp; -1 \end{bmatrix}</a:t>
            </a:r>
          </a:p>
          <a:p>
            <a:r>
              <a:t>$$</a:t>
            </a:r>
          </a:p>
          <a:p>
            <a:r>
              <a:t>，此错误使第三行多出一个变量维度，与原方程组变量数不一致。修正原因：线性方程组的变量空间是三维的，任何行必须包含三个系数与一个常数，缺项零占位是保持维度一致的必要操作。再次验证：将修正后矩阵每行还原为方程，检查是否与原式完全等价，确认无新增或遗漏变量项。</a:t>
            </a:r>
          </a:p>
          <a:p>
            <a:r>
              <a:t>source_payload: {"content_perspective": "teacher_delivery", "feedback_structure": {"mode": "static_reference", "schema_version": "course_feedback_v1", "sections": [{"collapsed_by_default": false, "kind": "guidance", "markdown": "核对标准：给定方程组 \n$$\n\\begin{cases} 2x + 3y - z = 5 \\\\ x - y = 2 \\\\ 4y + 5z = -1 \\end{cases}\n$$\n，其增广矩阵是否按 $x, y, z$ 顺序对齐，缺失变量是否以零占位，常数项是否正确附加为最后一列。参考结论：正确增广矩阵为 \n$$\n\\begin{bmatrix} 2 &amp; 3 &amp; -1 &amp; 5 \\\\ 1 &amp; -1 &amp; 0 &amp; 2 \\\\ 0 &amp; 4 &amp; 5 &amp; -1 \\end{bmatrix}\n$$\n。推导依据：每个方程对应一行，变量顺序固定，缺项系数为零，等式右侧数值直接移入最后一列；若省略 $z$ 的系数（如第二行写为 $[1\\ -1\\ 2]$），则等价于将原方程误读为 $x - y + 2z = 2$，破坏系统等价性。典型错误：将第三式误写为 $[4\\ 5\\ -1]$ 而忽略 $x$ 缺失，漏掉首列零，导致矩阵变为 \n$$\n\\begin{bmatrix} 2 &amp; 3 &amp; -1 &amp; 5 \\\\ 1 &amp; -1 &amp; 0 &amp; 2 \\\\ 4 &amp; 5 &amp; -1 \\end{bmatrix}\n$$\n，此错误使第三行多出一个变量维度，与原方程组变量数不一致。修正原因：线性方程组的变量空间是三维的，任何行必须包含三个系数与一个常数，缺项零占位是保持维度一致的必要操作。再次验证：将修正后矩阵每行还原为方程，检查是否与原式完全等价，确认无新增或遗漏变量项。", "section_id": "feedback-section-f53ac175437c", "summary": "核对标准：给定方程组 begin{cases} 2x + 3y z = 5 x y = 2 4y + 5z = 1 end{cases} ，其增广矩阵是否按 x, y, z 顺序对齐，缺失变量", "title": "参考与检查"}], "source_fingerprint": "7775a8555dbb1129217925f9"}, "knowledge_binding_status": null, "markdown": "核对标准：给定方程组 \n$$\n\\begin{cases} 2x + 3y - z = 5 \\\\ x - y = 2 \\\\ 4y + 5z = -1 \\end{cases}\n$$\n，其增广矩阵是否按 $x, y, z$ 顺序对齐，缺失变量是否以零占位，常数项是否正确附加为最后一列。参考结论：正确增广矩阵为 \n$$\n\\begin{bmatrix} 2 &amp; 3 &amp; -1 &amp; 5 \\\\ 1 &amp; -1 &amp; 0 &amp; 2 \\\\ 0 &amp; 4 &amp; 5 &amp; -1 \\end{bmatrix}\n$$\n。推导依据：每个方程对应一行，变量顺序固定，缺项系数为零，等式右侧数值直接移入最后一列；若省略 $z$ 的系数（如第二行写为 $[1\\ -1\\ 2]$），则等价于将原方程误读为 $x - y + 2z = 2$，破坏系统等价性。典型错误：将第三式误写为 $[4\\ 5\\ -1]$ 而忽略 $x$ 缺失，漏掉首列零，导致矩阵变为 \n$$\n\\begin{bmatrix} 2 &amp; 3 &amp; -1 &amp; 5 \\\\ 1 &amp; -1 &amp; 0 &amp; 2 \\\\ 4 &amp; 5 &amp; -1 \\end{bmatrix}\n$$\n，此错误使第三行多出一个变量维度，与原方程组变量数不一致。修正原因：线性方程组的变量空间是三维的，任何行必须包含三个系数与一个常数，缺项零占位是保持维度一致的必要操作。再次验证：将修正后矩阵每行还原为方程，检查是否与原式完全等价，确认无新增或遗漏变量项。", "module_id": "feedback_check", "module_instance_id": "tsb-db0817ea5353", "planned_minutes": 2, "ppt_page_group_id": "L2-1-1:ppt-page-group:2", "summary": "核对标准：给定方程组 begin{cases} 2x + 3y z = 5 x y = 2 4y + 5z = 1 end{cases} ，其增广矩阵是否按 x, y, z 顺序对齐，缺失变量是否以零占位，常数项是否正确附加为最后一列。参考", "title": "检查与反馈"}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cpu_b564a68582c0b4e74e99c700</a:t>
            </a:r>
          </a:p>
          <a:p/>
          <a:p>
            <a:r>
              <a:t>source_section_ids: []</a:t>
            </a:r>
          </a:p>
          <a:p/>
          <a:p>
            <a:r>
              <a:t>[tsb-db0817ea5353 @ cbr_e775ae5317902690f22f5c31]</a:t>
            </a:r>
          </a:p>
          <a:p>
            <a:r>
              <a:t>source_kind: review_checkpoint</a:t>
            </a:r>
          </a:p>
          <a:p>
            <a:r>
              <a:t>asset_refs: []</a:t>
            </a:r>
          </a:p>
          <a:p>
            <a:r>
              <a:t>核对标准：给定方程组 </a:t>
            </a:r>
          </a:p>
          <a:p>
            <a:r>
              <a:t>$$</a:t>
            </a:r>
          </a:p>
          <a:p>
            <a:r>
              <a:t>\begin{cases} 2x + 3y - z = 5 \\ x - y = 2 \\ 4y + 5z = -1 \end{cases}</a:t>
            </a:r>
          </a:p>
          <a:p>
            <a:r>
              <a:t>$$</a:t>
            </a:r>
          </a:p>
          <a:p>
            <a:r>
              <a:t>，其增广矩阵是否按 $x, y, z$ 顺序对齐，缺失变量是否以零占位，常数项是否正确附加为最后一列。参考结论：正确增广矩阵为 </a:t>
            </a:r>
          </a:p>
          <a:p>
            <a:r>
              <a:t>$$</a:t>
            </a:r>
          </a:p>
          <a:p>
            <a:r>
              <a:t>\begin{bmatrix} 2 &amp; 3 &amp; -1 &amp; 5 \\ 1 &amp; -1 &amp; 0 &amp; 2 \\ 0 &amp; 4 &amp; 5 &amp; -1 \end{bmatrix}</a:t>
            </a:r>
          </a:p>
          <a:p>
            <a:r>
              <a:t>$$</a:t>
            </a:r>
          </a:p>
          <a:p>
            <a:r>
              <a:t>。推导依据：每个方程对应一行，变量顺序固定，缺项系数为零，等式右侧数值直接移入最后一列；若省略 $z$ 的系数（如第二行写为 $[1\ -1\ 2]$），则等价于将原方程误读为 $x - y + 2z = 2$，破坏系统等价性。典型错误：将第三式误写为 $[4\ 5\ -1]$ 而忽略 $x$ 缺失，漏掉首列零，导致矩阵变为 </a:t>
            </a:r>
          </a:p>
          <a:p>
            <a:r>
              <a:t>$$</a:t>
            </a:r>
          </a:p>
          <a:p>
            <a:r>
              <a:t>\begin{bmatrix} 2 &amp; 3 &amp; -1 &amp; 5 \\ 1 &amp; -1 &amp; 0 &amp; 2 \\ 4 &amp; 5 &amp; -1 \end{bmatrix}</a:t>
            </a:r>
          </a:p>
          <a:p>
            <a:r>
              <a:t>$$</a:t>
            </a:r>
          </a:p>
          <a:p>
            <a:r>
              <a:t>，此错误使第三行多出一个变量维度，与原方程组变量数不一致。修正原因：线性方程组的变量空间是三维的，任何行必须包含三个系数与一个常数，缺项零占位是保持维度一致的必要操作。再次验证：将修正后矩阵每行还原为方程，检查是否与原式完全等价，确认无新增或遗漏变量项。</a:t>
            </a:r>
          </a:p>
          <a:p>
            <a:r>
              <a:t>source_payload: {"content_perspective": "teacher_delivery", "feedback_structure": {"mode": "static_reference", "schema_version": "course_feedback_v1", "sections": [{"collapsed_by_default": false, "kind": "guidance", "markdown": "核对标准：给定方程组 \n$$\n\\begin{cases} 2x + 3y - z = 5 \\\\ x - y = 2 \\\\ 4y + 5z = -1 \\end{cases}\n$$\n，其增广矩阵是否按 $x, y, z$ 顺序对齐，缺失变量是否以零占位，常数项是否正确附加为最后一列。参考结论：正确增广矩阵为 \n$$\n\\begin{bmatrix} 2 &amp; 3 &amp; -1 &amp; 5 \\\\ 1 &amp; -1 &amp; 0 &amp; 2 \\\\ 0 &amp; 4 &amp; 5 &amp; -1 \\end{bmatrix}\n$$\n。推导依据：每个方程对应一行，变量顺序固定，缺项系数为零，等式右侧数值直接移入最后一列；若省略 $z$ 的系数（如第二行写为 $[1\\ -1\\ 2]$），则等价于将原方程误读为 $x - y + 2z = 2$，破坏系统等价性。典型错误：将第三式误写为 $[4\\ 5\\ -1]$ 而忽略 $x$ 缺失，漏掉首列零，导致矩阵变为 \n$$\n\\begin{bmatrix} 2 &amp; 3 &amp; -1 &amp; 5 \\\\ 1 &amp; -1 &amp; 0 &amp; 2 \\\\ 4 &amp; 5 &amp; -1 \\end{bmatrix}\n$$\n，此错误使第三行多出一个变量维度，与原方程组变量数不一致。修正原因：线性方程组的变量空间是三维的，任何行必须包含三个系数与一个常数，缺项零占位是保持维度一致的必要操作。再次验证：将修正后矩阵每行还原为方程，检查是否与原式完全等价，确认无新增或遗漏变量项。", "section_id": "feedback-section-f53ac175437c", "summary": "核对标准：给定方程组 begin{cases} 2x + 3y z = 5 x y = 2 4y + 5z = 1 end{cases} ，其增广矩阵是否按 x, y, z 顺序对齐，缺失变量", "title": "参考与检查"}], "source_fingerprint": "7775a8555dbb1129217925f9"}, "knowledge_binding_status": null, "markdown": "核对标准：给定方程组 \n$$\n\\begin{cases} 2x + 3y - z = 5 \\\\ x - y = 2 \\\\ 4y + 5z = -1 \\end{cases}\n$$\n，其增广矩阵是否按 $x, y, z$ 顺序对齐，缺失变量是否以零占位，常数项是否正确附加为最后一列。参考结论：正确增广矩阵为 \n$$\n\\begin{bmatrix} 2 &amp; 3 &amp; -1 &amp; 5 \\\\ 1 &amp; -1 &amp; 0 &amp; 2 \\\\ 0 &amp; 4 &amp; 5 &amp; -1 \\end{bmatrix}\n$$\n。推导依据：每个方程对应一行，变量顺序固定，缺项系数为零，等式右侧数值直接移入最后一列；若省略 $z$ 的系数（如第二行写为 $[1\\ -1\\ 2]$），则等价于将原方程误读为 $x - y + 2z = 2$，破坏系统等价性。典型错误：将第三式误写为 $[4\\ 5\\ -1]$ 而忽略 $x$ 缺失，漏掉首列零，导致矩阵变为 \n$$\n\\begin{bmatrix} 2 &amp; 3 &amp; -1 &amp; 5 \\\\ 1 &amp; -1 &amp; 0 &amp; 2 \\\\ 4 &amp; 5 &amp; -1 \\end{bmatrix}\n$$\n，此错误使第三行多出一个变量维度，与原方程组变量数不一致。修正原因：线性方程组的变量空间是三维的，任何行必须包含三个系数与一个常数，缺项零占位是保持维度一致的必要操作。再次验证：将修正后矩阵每行还原为方程，检查是否与原式完全等价，确认无新增或遗漏变量项。", "module_id": "feedback_check", "module_instance_id": "tsb-db0817ea5353", "planned_minutes": 2, "ppt_page_group_id": "L2-1-1:ppt-page-group:2", "summary": "核对标准：给定方程组 begin{cases} 2x + 3y z = 5 x y = 2 4y + 5z = 1 end{cases} ，其增广矩阵是否按 x, y, z 顺序对齐，缺失变量是否以零占位，常数项是否正确附加为最后一列。参考", "title": "检查与反馈"}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cpu_2fcadd890cbcd7b8fb8132c7</a:t>
            </a:r>
          </a:p>
          <a:p/>
          <a:p>
            <a:r>
              <a:t>source_section_ids: []</a:t>
            </a:r>
          </a:p>
          <a:p/>
          <a:p>
            <a:r>
              <a:t>[tsb-3192073d3a5a @ cbr_8b6f32ed728862ebe30011f0]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观察一个三元线性方程组的三个等式，每个等式可视为三维空间中的一个平面。消元的意图并非直接求出交点，而是通过系统性地“消除”变量，使这些平面的相对位置关系变得清晰。当一个方程中某变量缺失，如 $x - y = 2$ 中无 $z$，意味着该平面与 $z$ 轴平行，其法向量在 $z$ 方向分量为零——这不是忽略，而是明确的几何约束。若强行省略该系数，相当于扭曲了平面的方向，导致空间结构错乱。消元的目标是让这些平面的“倾斜方向”逐层简化：第一层平面可自由倾斜，第二层需在第一层消去一个方向后仅剩两个自由度，第三层则进一步受限。最终希望形成“台阶状”结构：每一步消元后，剩余的约束只作用于更少的变量，且新约束的主导变量必须出现在前一约束未覆盖的右侧位置。例如，若第一行主元在 $x$ 列，第二行主元应在 $y$ 或更右列，不可回到 $x$；若第二行主元在 $z$ 列，则第三行若存在，主元必须在其右侧——即不能在同一列或左移。这种“严格右移”的台阶形态，直观反映约束逐级收紧的逻辑：每一级台阶都切断一个自由度，直到所有变量被锁定，或出现矛盾——如某行形如 $[0\ 0\ 0\ |\ 3]$，表示“0=3”，即三个平面无共同交点。此形态无需计算，仅凭排列即可判断系统是否可解。</a:t>
            </a:r>
          </a:p>
          <a:p>
            <a:r>
              <a:t>source_payload: {"content_perspective": "teacher_delivery", "knowledge_binding_status": null, "markdown": "观察一个三元线性方程组的三个等式，每个等式可视为三维空间中的一个平面。消元的意图并非直接求出交点，而是通过系统性地“消除”变量，使这些平面的相对位置关系变得清晰。当一个方程中某变量缺失，如 $x - y = 2$ 中无 $z$，意味着该平面与 $z$ 轴平行，其法向量在 $z$ 方向分量为零——这不是忽略，而是明确的几何约束。若强行省略该系数，相当于扭曲了平面的方向，导致空间结构错乱。消元的目标是让这些平面的“倾斜方向”逐层简化：第一层平面可自由倾斜，第二层需在第一层消去一个方向后仅剩两个自由度，第三层则进一步受限。最终希望形成“台阶状”结构：每一步消元后，剩余的约束只作用于更少的变量，且新约束的主导变量必须出现在前一约束未覆盖的右侧位置。例如，若第一行主元在 $x$ 列，第二行主元应在 $y$ 或更右列，不可回到 $x$；若第二行主元在 $z$ 列，则第三行若存在，主元必须在其右侧——即不能在同一列或左移。这种“严格右移”的台阶形态，直观反映约束逐级收紧的逻辑：每一级台阶都切断一个自由度，直到所有变量被锁定，或出现矛盾——如某行形如 $[0\\ 0\\ 0\\ |\\ 3]$，表示“0=3”，即三个平面无共同交点。此形态无需计算，仅凭排列即可判断系统是否可解。", "module_id": "math_intuition", "module_instance_id": "tsb-3192073d3a5a", "planned_minutes": 2, "ppt_page_group_id": "L2-1-1:ppt-page-group:3", "summary": "观察一个三元线性方程组的三个等式，每个等式可视为三维空间中的一个平面。消元的意图并非直接求出交点，而是通过系统性地“消除”变量，使这些平面的相对位置关系变得清晰。当一个方程中某变量缺失，如 x y = 2 中无 z ，意味着该平面与 z 轴", "title": "直觉入口"}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cpu_2fcadd890cbcd7b8fb8132c7</a:t>
            </a:r>
          </a:p>
          <a:p/>
          <a:p>
            <a:r>
              <a:t>source_section_ids: []</a:t>
            </a:r>
          </a:p>
          <a:p/>
          <a:p>
            <a:r>
              <a:t>[tsb-3192073d3a5a @ cbr_8b6f32ed728862ebe30011f0]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观察一个三元线性方程组的三个等式，每个等式可视为三维空间中的一个平面。消元的意图并非直接求出交点，而是通过系统性地“消除”变量，使这些平面的相对位置关系变得清晰。当一个方程中某变量缺失，如 $x - y = 2$ 中无 $z$，意味着该平面与 $z$ 轴平行，其法向量在 $z$ 方向分量为零——这不是忽略，而是明确的几何约束。若强行省略该系数，相当于扭曲了平面的方向，导致空间结构错乱。消元的目标是让这些平面的“倾斜方向”逐层简化：第一层平面可自由倾斜，第二层需在第一层消去一个方向后仅剩两个自由度，第三层则进一步受限。最终希望形成“台阶状”结构：每一步消元后，剩余的约束只作用于更少的变量，且新约束的主导变量必须出现在前一约束未覆盖的右侧位置。例如，若第一行主元在 $x$ 列，第二行主元应在 $y$ 或更右列，不可回到 $x$；若第二行主元在 $z$ 列，则第三行若存在，主元必须在其右侧——即不能在同一列或左移。这种“严格右移”的台阶形态，直观反映约束逐级收紧的逻辑：每一级台阶都切断一个自由度，直到所有变量被锁定，或出现矛盾——如某行形如 $[0\ 0\ 0\ |\ 3]$，表示“0=3”，即三个平面无共同交点。此形态无需计算，仅凭排列即可判断系统是否可解。</a:t>
            </a:r>
          </a:p>
          <a:p>
            <a:r>
              <a:t>source_payload: {"content_perspective": "teacher_delivery", "knowledge_binding_status": null, "markdown": "观察一个三元线性方程组的三个等式，每个等式可视为三维空间中的一个平面。消元的意图并非直接求出交点，而是通过系统性地“消除”变量，使这些平面的相对位置关系变得清晰。当一个方程中某变量缺失，如 $x - y = 2$ 中无 $z$，意味着该平面与 $z$ 轴平行，其法向量在 $z$ 方向分量为零——这不是忽略，而是明确的几何约束。若强行省略该系数，相当于扭曲了平面的方向，导致空间结构错乱。消元的目标是让这些平面的“倾斜方向”逐层简化：第一层平面可自由倾斜，第二层需在第一层消去一个方向后仅剩两个自由度，第三层则进一步受限。最终希望形成“台阶状”结构：每一步消元后，剩余的约束只作用于更少的变量，且新约束的主导变量必须出现在前一约束未覆盖的右侧位置。例如，若第一行主元在 $x$ 列，第二行主元应在 $y$ 或更右列，不可回到 $x$；若第二行主元在 $z$ 列，则第三行若存在，主元必须在其右侧——即不能在同一列或左移。这种“严格右移”的台阶形态，直观反映约束逐级收紧的逻辑：每一级台阶都切断一个自由度，直到所有变量被锁定，或出现矛盾——如某行形如 $[0\\ 0\\ 0\\ |\\ 3]$，表示“0=3”，即三个平面无共同交点。此形态无需计算，仅凭排列即可判断系统是否可解。", "module_id": "math_intuition", "module_instance_id": "tsb-3192073d3a5a", "planned_minutes": 2, "ppt_page_group_id": "L2-1-1:ppt-page-group:3", "summary": "观察一个三元线性方程组的三个等式，每个等式可视为三维空间中的一个平面。消元的意图并非直接求出交点，而是通过系统性地“消除”变量，使这些平面的相对位置关系变得清晰。当一个方程中某变量缺失，如 x y = 2 中无 z ，意味着该平面与 z 轴", "title": "直觉入口"}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cpu_2fcadd890cbcd7b8fb8132c7</a:t>
            </a:r>
          </a:p>
          <a:p/>
          <a:p>
            <a:r>
              <a:t>source_section_ids: []</a:t>
            </a:r>
          </a:p>
          <a:p/>
          <a:p>
            <a:r>
              <a:t>[tsb-3192073d3a5a @ cbr_8b6f32ed728862ebe30011f0]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观察一个三元线性方程组的三个等式，每个等式可视为三维空间中的一个平面。消元的意图并非直接求出交点，而是通过系统性地“消除”变量，使这些平面的相对位置关系变得清晰。当一个方程中某变量缺失，如 $x - y = 2$ 中无 $z$，意味着该平面与 $z$ 轴平行，其法向量在 $z$ 方向分量为零——这不是忽略，而是明确的几何约束。若强行省略该系数，相当于扭曲了平面的方向，导致空间结构错乱。消元的目标是让这些平面的“倾斜方向”逐层简化：第一层平面可自由倾斜，第二层需在第一层消去一个方向后仅剩两个自由度，第三层则进一步受限。最终希望形成“台阶状”结构：每一步消元后，剩余的约束只作用于更少的变量，且新约束的主导变量必须出现在前一约束未覆盖的右侧位置。例如，若第一行主元在 $x$ 列，第二行主元应在 $y$ 或更右列，不可回到 $x$；若第二行主元在 $z$ 列，则第三行若存在，主元必须在其右侧——即不能在同一列或左移。这种“严格右移”的台阶形态，直观反映约束逐级收紧的逻辑：每一级台阶都切断一个自由度，直到所有变量被锁定，或出现矛盾——如某行形如 $[0\ 0\ 0\ |\ 3]$，表示“0=3”，即三个平面无共同交点。此形态无需计算，仅凭排列即可判断系统是否可解。</a:t>
            </a:r>
          </a:p>
          <a:p>
            <a:r>
              <a:t>source_payload: {"content_perspective": "teacher_delivery", "knowledge_binding_status": null, "markdown": "观察一个三元线性方程组的三个等式，每个等式可视为三维空间中的一个平面。消元的意图并非直接求出交点，而是通过系统性地“消除”变量，使这些平面的相对位置关系变得清晰。当一个方程中某变量缺失，如 $x - y = 2$ 中无 $z$，意味着该平面与 $z$ 轴平行，其法向量在 $z$ 方向分量为零——这不是忽略，而是明确的几何约束。若强行省略该系数，相当于扭曲了平面的方向，导致空间结构错乱。消元的目标是让这些平面的“倾斜方向”逐层简化：第一层平面可自由倾斜，第二层需在第一层消去一个方向后仅剩两个自由度，第三层则进一步受限。最终希望形成“台阶状”结构：每一步消元后，剩余的约束只作用于更少的变量，且新约束的主导变量必须出现在前一约束未覆盖的右侧位置。例如，若第一行主元在 $x$ 列，第二行主元应在 $y$ 或更右列，不可回到 $x$；若第二行主元在 $z$ 列，则第三行若存在，主元必须在其右侧——即不能在同一列或左移。这种“严格右移”的台阶形态，直观反映约束逐级收紧的逻辑：每一级台阶都切断一个自由度，直到所有变量被锁定，或出现矛盾——如某行形如 $[0\\ 0\\ 0\\ |\\ 3]$，表示“0=3”，即三个平面无共同交点。此形态无需计算，仅凭排列即可判断系统是否可解。", "module_id": "math_intuition", "module_instance_id": "tsb-3192073d3a5a", "planned_minutes": 2, "ppt_page_group_id": "L2-1-1:ppt-page-group:3", "summary": "观察一个三元线性方程组的三个等式，每个等式可视为三维空间中的一个平面。消元的意图并非直接求出交点，而是通过系统性地“消除”变量，使这些平面的相对位置关系变得清晰。当一个方程中某变量缺失，如 x y = 2 中无 z ，意味着该平面与 z 轴", "title": "直觉入口"}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cpu_2fcadd890cbcd7b8fb8132c7</a:t>
            </a:r>
          </a:p>
          <a:p/>
          <a:p>
            <a:r>
              <a:t>source_section_ids: []</a:t>
            </a:r>
          </a:p>
          <a:p/>
          <a:p>
            <a:r>
              <a:t>[tsb-3192073d3a5a @ cbr_8b6f32ed728862ebe30011f0]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观察一个三元线性方程组的三个等式，每个等式可视为三维空间中的一个平面。消元的意图并非直接求出交点，而是通过系统性地“消除”变量，使这些平面的相对位置关系变得清晰。当一个方程中某变量缺失，如 $x - y = 2$ 中无 $z$，意味着该平面与 $z$ 轴平行，其法向量在 $z$ 方向分量为零——这不是忽略，而是明确的几何约束。若强行省略该系数，相当于扭曲了平面的方向，导致空间结构错乱。消元的目标是让这些平面的“倾斜方向”逐层简化：第一层平面可自由倾斜，第二层需在第一层消去一个方向后仅剩两个自由度，第三层则进一步受限。最终希望形成“台阶状”结构：每一步消元后，剩余的约束只作用于更少的变量，且新约束的主导变量必须出现在前一约束未覆盖的右侧位置。例如，若第一行主元在 $x$ 列，第二行主元应在 $y$ 或更右列，不可回到 $x$；若第二行主元在 $z$ 列，则第三行若存在，主元必须在其右侧——即不能在同一列或左移。这种“严格右移”的台阶形态，直观反映约束逐级收紧的逻辑：每一级台阶都切断一个自由度，直到所有变量被锁定，或出现矛盾——如某行形如 $[0\ 0\ 0\ |\ 3]$，表示“0=3”，即三个平面无共同交点。此形态无需计算，仅凭排列即可判断系统是否可解。</a:t>
            </a:r>
          </a:p>
          <a:p>
            <a:r>
              <a:t>source_payload: {"content_perspective": "teacher_delivery", "knowledge_binding_status": null, "markdown": "观察一个三元线性方程组的三个等式，每个等式可视为三维空间中的一个平面。消元的意图并非直接求出交点，而是通过系统性地“消除”变量，使这些平面的相对位置关系变得清晰。当一个方程中某变量缺失，如 $x - y = 2$ 中无 $z$，意味着该平面与 $z$ 轴平行，其法向量在 $z$ 方向分量为零——这不是忽略，而是明确的几何约束。若强行省略该系数，相当于扭曲了平面的方向，导致空间结构错乱。消元的目标是让这些平面的“倾斜方向”逐层简化：第一层平面可自由倾斜，第二层需在第一层消去一个方向后仅剩两个自由度，第三层则进一步受限。最终希望形成“台阶状”结构：每一步消元后，剩余的约束只作用于更少的变量，且新约束的主导变量必须出现在前一约束未覆盖的右侧位置。例如，若第一行主元在 $x$ 列，第二行主元应在 $y$ 或更右列，不可回到 $x$；若第二行主元在 $z$ 列，则第三行若存在，主元必须在其右侧——即不能在同一列或左移。这种“严格右移”的台阶形态，直观反映约束逐级收紧的逻辑：每一级台阶都切断一个自由度，直到所有变量被锁定，或出现矛盾——如某行形如 $[0\\ 0\\ 0\\ |\\ 3]$，表示“0=3”，即三个平面无共同交点。此形态无需计算，仅凭排列即可判断系统是否可解。", "module_id": "math_intuition", "module_instance_id": "tsb-3192073d3a5a", "planned_minutes": 2, "ppt_page_group_id": "L2-1-1:ppt-page-group:3", "summary": "观察一个三元线性方程组的三个等式，每个等式可视为三维空间中的一个平面。消元的意图并非直接求出交点，而是通过系统性地“消除”变量，使这些平面的相对位置关系变得清晰。当一个方程中某变量缺失，如 x y = 2 中无 z ，意味着该平面与 z 轴", "title": "直觉入口"}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cpu_2fcadd890cbcd7b8fb8132c7</a:t>
            </a:r>
          </a:p>
          <a:p/>
          <a:p>
            <a:r>
              <a:t>source_section_ids: []</a:t>
            </a:r>
          </a:p>
          <a:p/>
          <a:p>
            <a:r>
              <a:t>[tsb-3192073d3a5a @ cbr_8b6f32ed728862ebe30011f0]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观察一个三元线性方程组的三个等式，每个等式可视为三维空间中的一个平面。消元的意图并非直接求出交点，而是通过系统性地“消除”变量，使这些平面的相对位置关系变得清晰。当一个方程中某变量缺失，如 $x - y = 2$ 中无 $z$，意味着该平面与 $z$ 轴平行，其法向量在 $z$ 方向分量为零——这不是忽略，而是明确的几何约束。若强行省略该系数，相当于扭曲了平面的方向，导致空间结构错乱。消元的目标是让这些平面的“倾斜方向”逐层简化：第一层平面可自由倾斜，第二层需在第一层消去一个方向后仅剩两个自由度，第三层则进一步受限。最终希望形成“台阶状”结构：每一步消元后，剩余的约束只作用于更少的变量，且新约束的主导变量必须出现在前一约束未覆盖的右侧位置。例如，若第一行主元在 $x$ 列，第二行主元应在 $y$ 或更右列，不可回到 $x$；若第二行主元在 $z$ 列，则第三行若存在，主元必须在其右侧——即不能在同一列或左移。这种“严格右移”的台阶形态，直观反映约束逐级收紧的逻辑：每一级台阶都切断一个自由度，直到所有变量被锁定，或出现矛盾——如某行形如 $[0\ 0\ 0\ |\ 3]$，表示“0=3”，即三个平面无共同交点。此形态无需计算，仅凭排列即可判断系统是否可解。</a:t>
            </a:r>
          </a:p>
          <a:p>
            <a:r>
              <a:t>source_payload: {"content_perspective": "teacher_delivery", "knowledge_binding_status": null, "markdown": "观察一个三元线性方程组的三个等式，每个等式可视为三维空间中的一个平面。消元的意图并非直接求出交点，而是通过系统性地“消除”变量，使这些平面的相对位置关系变得清晰。当一个方程中某变量缺失，如 $x - y = 2$ 中无 $z$，意味着该平面与 $z$ 轴平行，其法向量在 $z$ 方向分量为零——这不是忽略，而是明确的几何约束。若强行省略该系数，相当于扭曲了平面的方向，导致空间结构错乱。消元的目标是让这些平面的“倾斜方向”逐层简化：第一层平面可自由倾斜，第二层需在第一层消去一个方向后仅剩两个自由度，第三层则进一步受限。最终希望形成“台阶状”结构：每一步消元后，剩余的约束只作用于更少的变量，且新约束的主导变量必须出现在前一约束未覆盖的右侧位置。例如，若第一行主元在 $x$ 列，第二行主元应在 $y$ 或更右列，不可回到 $x$；若第二行主元在 $z$ 列，则第三行若存在，主元必须在其右侧——即不能在同一列或左移。这种“严格右移”的台阶形态，直观反映约束逐级收紧的逻辑：每一级台阶都切断一个自由度，直到所有变量被锁定，或出现矛盾——如某行形如 $[0\\ 0\\ 0\\ |\\ 3]$，表示“0=3”，即三个平面无共同交点。此形态无需计算，仅凭排列即可判断系统是否可解。", "module_id": "math_intuition", "module_instance_id": "tsb-3192073d3a5a", "planned_minutes": 2, "ppt_page_group_id": "L2-1-1:ppt-page-group:3", "summary": "观察一个三元线性方程组的三个等式，每个等式可视为三维空间中的一个平面。消元的意图并非直接求出交点，而是通过系统性地“消除”变量，使这些平面的相对位置关系变得清晰。当一个方程中某变量缺失，如 x y = 2 中无 z ，意味着该平面与 z 轴", "title": "直觉入口"}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cpu_2fcadd890cbcd7b8fb8132c7</a:t>
            </a:r>
          </a:p>
          <a:p/>
          <a:p>
            <a:r>
              <a:t>source_section_ids: []</a:t>
            </a:r>
          </a:p>
          <a:p/>
          <a:p>
            <a:r>
              <a:t>[tsb-ae2a317e26a4 @ cbr_1b9d17d8aa2162ec874fcd18]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线性方程组是代数关系的符号化表达，其本质是多个线性约束在变量空间中的联合限制。一个包含 $n$ 个未知量和 $m$ 个方程的系统，可写作：</a:t>
            </a:r>
          </a:p>
          <a:p/>
          <a:p>
            <a:r>
              <a:t>$$</a:t>
            </a:r>
          </a:p>
          <a:p>
            <a:r>
              <a:t>\begin{cases}</a:t>
            </a:r>
          </a:p>
          <a:p>
            <a:r>
              <a:t>a_{11}x_1 + a_{12}x_2 + \cdots + a_{1n}x_n = b_1 \\</a:t>
            </a:r>
          </a:p>
          <a:p>
            <a:r>
              <a:t>a_{21}x_1 + a_{22}x_2 + \cdots + a_{2n}x_n = b_2 \\</a:t>
            </a:r>
          </a:p>
          <a:p>
            <a:r>
              <a:t>\vdots \\</a:t>
            </a:r>
          </a:p>
          <a:p>
            <a:r>
              <a:t>a_{m1}x_1 + a_{m2}x_2 + \cdots + a_{mn}x_n = b_m</a:t>
            </a:r>
          </a:p>
          <a:p>
            <a:r>
              <a:t>\end{cases}</a:t>
            </a:r>
          </a:p>
          <a:p>
            <a:r>
              <a:t>$$</a:t>
            </a:r>
          </a:p>
          <a:p/>
          <a:p>
            <a:r>
              <a:t>该符号表征中，每个方程对应一个超平面，系数 $a_{ij}$ 描述变量对约束的贡献权重，常数项 $b_i$ 为约束的偏移量。为实现结构化分析，需将其转化为数值矩阵表征：系数矩阵 $A$ 由所有 $a_{ij}$ 构成，大小为 $m \times n$；增广矩阵则在 $A$ 右侧附加常数列 $[b_1, b_2, \dots, b_m]^T$，形成 $m \times (n+1)$ 矩阵：</a:t>
            </a:r>
          </a:p>
          <a:p>
            <a:r>
              <a:t>$$</a:t>
            </a:r>
          </a:p>
          <a:p>
            <a:r>
              <a:t>\left[</a:t>
            </a:r>
          </a:p>
          <a:p>
            <a:r>
              <a:t>\begin{array}{cccc|c}</a:t>
            </a:r>
          </a:p>
          <a:p>
            <a:r>
              <a:t>a_{11} &amp; a_{12} &amp; \cdots &amp; a_{1n} &amp; b_1 \\</a:t>
            </a:r>
          </a:p>
          <a:p>
            <a:r>
              <a:t>a_{21} &amp; a_{22} &amp; \cdots &amp; a_{2n} &amp; b_2 \\</a:t>
            </a:r>
          </a:p>
          <a:p>
            <a:r>
              <a:t>\vdots &amp; \vdots &amp; \ddots &amp; \vdots &amp; \vdots \\</a:t>
            </a:r>
          </a:p>
          <a:p>
            <a:r>
              <a:t>a_{m1} &amp; a_{m2} &amp; \cdots &amp; a_{mn} &amp; b_m</a:t>
            </a:r>
          </a:p>
          <a:p>
            <a:r>
              <a:t>\end{array}</a:t>
            </a:r>
          </a:p>
          <a:p>
            <a:r>
              <a:t>\right]</a:t>
            </a:r>
          </a:p>
          <a:p>
            <a:r>
              <a:t>$$</a:t>
            </a:r>
          </a:p>
          <a:p>
            <a:r>
              <a:t>增广矩阵完整保留了原方程组的等价性，因为每一行的前 $n$ 项与末项分别对应变量系数与常数项，缺项必须以零占位以维持变量维度一致性。例如方程组 $x + 4z = -1$ 在 $x,y,z$ 顺序下应写作 $[1, 0, 4 \mid -1]$，若省略 $y$ 的零系数，则破坏了三维空间的结构映射。系数矩阵仅反映变量间的线性依赖关系，而增广矩阵包含右侧常数，决定了系统是否相容——这是判断解是否存在、唯一或无穷的关键依据。矩阵的行阶梯形目标，正是通过初等行变换将增广矩阵转化为“主元逐行严格右移”的台阶结构，从而在不改变方程组解集的前提下，清晰暴露其解的结构特征。</a:t>
            </a:r>
          </a:p>
          <a:p>
            <a:r>
              <a:t>source_payload: {"content_perspective": "teacher_delivery", "knowledge_binding_status": null, "markdown": "线性方程组是代数关系的符号化表达，其本质是多个线性约束在变量空间中的联合限制。一个包含 $n$ 个未知量和 $m$ 个方程的系统，可写作：\n\n$$\n\\begin{cases}\na_{11}x_1 + a_{12}x_2 + \\cdots + a_{1n}x_n = b_1 \\\\\na_{21}x_1 + a_{22}x_2 + \\cdots + a_{2n}x_n = b_2 \\\\\n\\vdots \\\\\na_{m1}x_1 + a_{m2}x_2 + \\cdots + a_{mn}x_n = b_m\n\\end{cases}\n$$\n\n该符号表征中，每个方程对应一个超平面，系数 $a_{ij}$ 描述变量对约束的贡献权重，常数项 $b_i$ 为约束的偏移量。为实现结构化分析，需将其转化为数值矩阵表征：系数矩阵 $A$ 由所有 $a_{ij}$ 构成，大小为 $m \\times n$；增广矩阵则在 $A$ 右侧附加常数列 $[b_1, b_2, \\dots, b_m]^T$，形成 $m \\times (n+1)$ 矩阵：\n$$\n\\left[\n\\begin{array}{cccc|c}\na_{11} &amp; a_{12} &amp; \\cdots &amp; a_{1n} &amp; b_1 \\\\\na_{21} &amp; a_{22} &amp; \\cdots &amp; a_{2n} &amp; b_2 \\\\\n\\vdots &amp; \\vdots &amp; \\ddots &amp; \\vdots &amp; \\vdots \\\\\na_{m1} &amp; a_{m2} &amp; \\cdots &amp; a_{mn} &amp; b_m\n\\end{array}\n\\right]\n$$\n增广矩阵完整保留了原方程组的等价性，因为每一行的前 $n$ 项与末项分别对应变量系数与常数项，缺项必须以零占位以维持变量维度一致性。例如方程组 $x + 4z = -1$ 在 $x,y,z$ 顺序下应写作 $[1, 0, 4 \\mid -1]$，若省略 $y$ 的零系数，则破坏了三维空间的结构映射。系数矩阵仅反映变量间的线性依赖关系，而增广矩阵包含右侧常数，决定了系统是否相容——这是判断解是否存在、唯一或无穷的关键依据。矩阵的行阶梯形目标，正是通过初等行变换将增广矩阵转化为“主元逐行严格右移”的台阶结构，从而在不改变方程组解集的前提下，清晰暴露其解的结构特征。", "module_id": "math_representation", "module_instance_id": "tsb-ae2a317e26a4", "planned_minutes": 2, "ppt_page_group_id": "L2-1-1:ppt-page-group:3", "summary": "线性方程组是代数关系的符号化表达，其本质是多个线性约束在变量空间中的联合限制。一个包含 n 个未知量和 m 个方程的系统，可写作： begin{cases} a {11}x 1 + a {12}x 2 + cdots + a {1n}x n", "title": "多重表征"}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cpu_2fcadd890cbcd7b8fb8132c7</a:t>
            </a:r>
          </a:p>
          <a:p/>
          <a:p>
            <a:r>
              <a:t>source_section_ids: []</a:t>
            </a:r>
          </a:p>
          <a:p/>
          <a:p>
            <a:r>
              <a:t>[tsb-ae2a317e26a4 @ cbr_1b9d17d8aa2162ec874fcd18]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线性方程组是代数关系的符号化表达，其本质是多个线性约束在变量空间中的联合限制。一个包含 $n$ 个未知量和 $m$ 个方程的系统，可写作：</a:t>
            </a:r>
          </a:p>
          <a:p/>
          <a:p>
            <a:r>
              <a:t>$$</a:t>
            </a:r>
          </a:p>
          <a:p>
            <a:r>
              <a:t>\begin{cases}</a:t>
            </a:r>
          </a:p>
          <a:p>
            <a:r>
              <a:t>a_{11}x_1 + a_{12}x_2 + \cdots + a_{1n}x_n = b_1 \\</a:t>
            </a:r>
          </a:p>
          <a:p>
            <a:r>
              <a:t>a_{21}x_1 + a_{22}x_2 + \cdots + a_{2n}x_n = b_2 \\</a:t>
            </a:r>
          </a:p>
          <a:p>
            <a:r>
              <a:t>\vdots \\</a:t>
            </a:r>
          </a:p>
          <a:p>
            <a:r>
              <a:t>a_{m1}x_1 + a_{m2}x_2 + \cdots + a_{mn}x_n = b_m</a:t>
            </a:r>
          </a:p>
          <a:p>
            <a:r>
              <a:t>\end{cases}</a:t>
            </a:r>
          </a:p>
          <a:p>
            <a:r>
              <a:t>$$</a:t>
            </a:r>
          </a:p>
          <a:p/>
          <a:p>
            <a:r>
              <a:t>该符号表征中，每个方程对应一个超平面，系数 $a_{ij}$ 描述变量对约束的贡献权重，常数项 $b_i$ 为约束的偏移量。为实现结构化分析，需将其转化为数值矩阵表征：系数矩阵 $A$ 由所有 $a_{ij}$ 构成，大小为 $m \times n$；增广矩阵则在 $A$ 右侧附加常数列 $[b_1, b_2, \dots, b_m]^T$，形成 $m \times (n+1)$ 矩阵：</a:t>
            </a:r>
          </a:p>
          <a:p>
            <a:r>
              <a:t>$$</a:t>
            </a:r>
          </a:p>
          <a:p>
            <a:r>
              <a:t>\left[</a:t>
            </a:r>
          </a:p>
          <a:p>
            <a:r>
              <a:t>\begin{array}{cccc|c}</a:t>
            </a:r>
          </a:p>
          <a:p>
            <a:r>
              <a:t>a_{11} &amp; a_{12} &amp; \cdots &amp; a_{1n} &amp; b_1 \\</a:t>
            </a:r>
          </a:p>
          <a:p>
            <a:r>
              <a:t>a_{21} &amp; a_{22} &amp; \cdots &amp; a_{2n} &amp; b_2 \\</a:t>
            </a:r>
          </a:p>
          <a:p>
            <a:r>
              <a:t>\vdots &amp; \vdots &amp; \ddots &amp; \vdots &amp; \vdots \\</a:t>
            </a:r>
          </a:p>
          <a:p>
            <a:r>
              <a:t>a_{m1} &amp; a_{m2} &amp; \cdots &amp; a_{mn} &amp; b_m</a:t>
            </a:r>
          </a:p>
          <a:p>
            <a:r>
              <a:t>\end{array}</a:t>
            </a:r>
          </a:p>
          <a:p>
            <a:r>
              <a:t>\right]</a:t>
            </a:r>
          </a:p>
          <a:p>
            <a:r>
              <a:t>$$</a:t>
            </a:r>
          </a:p>
          <a:p>
            <a:r>
              <a:t>增广矩阵完整保留了原方程组的等价性，因为每一行的前 $n$ 项与末项分别对应变量系数与常数项，缺项必须以零占位以维持变量维度一致性。例如方程组 $x + 4z = -1$ 在 $x,y,z$ 顺序下应写作 $[1, 0, 4 \mid -1]$，若省略 $y$ 的零系数，则破坏了三维空间的结构映射。系数矩阵仅反映变量间的线性依赖关系，而增广矩阵包含右侧常数，决定了系统是否相容——这是判断解是否存在、唯一或无穷的关键依据。矩阵的行阶梯形目标，正是通过初等行变换将增广矩阵转化为“主元逐行严格右移”的台阶结构，从而在不改变方程组解集的前提下，清晰暴露其解的结构特征。</a:t>
            </a:r>
          </a:p>
          <a:p>
            <a:r>
              <a:t>source_payload: {"content_perspective": "teacher_delivery", "knowledge_binding_status": null, "markdown": "线性方程组是代数关系的符号化表达，其本质是多个线性约束在变量空间中的联合限制。一个包含 $n$ 个未知量和 $m$ 个方程的系统，可写作：\n\n$$\n\\begin{cases}\na_{11}x_1 + a_{12}x_2 + \\cdots + a_{1n}x_n = b_1 \\\\\na_{21}x_1 + a_{22}x_2 + \\cdots + a_{2n}x_n = b_2 \\\\\n\\vdots \\\\\na_{m1}x_1 + a_{m2}x_2 + \\cdots + a_{mn}x_n = b_m\n\\end{cases}\n$$\n\n该符号表征中，每个方程对应一个超平面，系数 $a_{ij}$ 描述变量对约束的贡献权重，常数项 $b_i$ 为约束的偏移量。为实现结构化分析，需将其转化为数值矩阵表征：系数矩阵 $A$ 由所有 $a_{ij}$ 构成，大小为 $m \\times n$；增广矩阵则在 $A$ 右侧附加常数列 $[b_1, b_2, \\dots, b_m]^T$，形成 $m \\times (n+1)$ 矩阵：\n$$\n\\left[\n\\begin{array}{cccc|c}\na_{11} &amp; a_{12} &amp; \\cdots &amp; a_{1n} &amp; b_1 \\\\\na_{21} &amp; a_{22} &amp; \\cdots &amp; a_{2n} &amp; b_2 \\\\\n\\vdots &amp; \\vdots &amp; \\ddots &amp; \\vdots &amp; \\vdots \\\\\na_{m1} &amp; a_{m2} &amp; \\cdots &amp; a_{mn} &amp; b_m\n\\end{array}\n\\right]\n$$\n增广矩阵完整保留了原方程组的等价性，因为每一行的前 $n$ 项与末项分别对应变量系数与常数项，缺项必须以零占位以维持变量维度一致性。例如方程组 $x + 4z = -1$ 在 $x,y,z$ 顺序下应写作 $[1, 0, 4 \\mid -1]$，若省略 $y$ 的零系数，则破坏了三维空间的结构映射。系数矩阵仅反映变量间的线性依赖关系，而增广矩阵包含右侧常数，决定了系统是否相容——这是判断解是否存在、唯一或无穷的关键依据。矩阵的行阶梯形目标，正是通过初等行变换将增广矩阵转化为“主元逐行严格右移”的台阶结构，从而在不改变方程组解集的前提下，清晰暴露其解的结构特征。", "module_id": "math_representation", "module_instance_id": "tsb-ae2a317e26a4", "planned_minutes": 2, "ppt_page_group_id": "L2-1-1:ppt-page-group:3", "summary": "线性方程组是代数关系的符号化表达，其本质是多个线性约束在变量空间中的联合限制。一个包含 n 个未知量和 m 个方程的系统，可写作： begin{cases} a {11}x 1 + a {12}x 2 + cdots + a {1n}x n", "title": "多重表征"}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cpu_2fcadd890cbcd7b8fb8132c7</a:t>
            </a:r>
          </a:p>
          <a:p/>
          <a:p>
            <a:r>
              <a:t>source_section_ids: []</a:t>
            </a:r>
          </a:p>
          <a:p/>
          <a:p>
            <a:r>
              <a:t>[tsb-ae2a317e26a4 @ cbr_1b9d17d8aa2162ec874fcd18]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线性方程组是代数关系的符号化表达，其本质是多个线性约束在变量空间中的联合限制。一个包含 $n$ 个未知量和 $m$ 个方程的系统，可写作：</a:t>
            </a:r>
          </a:p>
          <a:p/>
          <a:p>
            <a:r>
              <a:t>$$</a:t>
            </a:r>
          </a:p>
          <a:p>
            <a:r>
              <a:t>\begin{cases}</a:t>
            </a:r>
          </a:p>
          <a:p>
            <a:r>
              <a:t>a_{11}x_1 + a_{12}x_2 + \cdots + a_{1n}x_n = b_1 \\</a:t>
            </a:r>
          </a:p>
          <a:p>
            <a:r>
              <a:t>a_{21}x_1 + a_{22}x_2 + \cdots + a_{2n}x_n = b_2 \\</a:t>
            </a:r>
          </a:p>
          <a:p>
            <a:r>
              <a:t>\vdots \\</a:t>
            </a:r>
          </a:p>
          <a:p>
            <a:r>
              <a:t>a_{m1}x_1 + a_{m2}x_2 + \cdots + a_{mn}x_n = b_m</a:t>
            </a:r>
          </a:p>
          <a:p>
            <a:r>
              <a:t>\end{cases}</a:t>
            </a:r>
          </a:p>
          <a:p>
            <a:r>
              <a:t>$$</a:t>
            </a:r>
          </a:p>
          <a:p/>
          <a:p>
            <a:r>
              <a:t>该符号表征中，每个方程对应一个超平面，系数 $a_{ij}$ 描述变量对约束的贡献权重，常数项 $b_i$ 为约束的偏移量。为实现结构化分析，需将其转化为数值矩阵表征：系数矩阵 $A$ 由所有 $a_{ij}$ 构成，大小为 $m \times n$；增广矩阵则在 $A$ 右侧附加常数列 $[b_1, b_2, \dots, b_m]^T$，形成 $m \times (n+1)$ 矩阵：</a:t>
            </a:r>
          </a:p>
          <a:p>
            <a:r>
              <a:t>$$</a:t>
            </a:r>
          </a:p>
          <a:p>
            <a:r>
              <a:t>\left[</a:t>
            </a:r>
          </a:p>
          <a:p>
            <a:r>
              <a:t>\begin{array}{cccc|c}</a:t>
            </a:r>
          </a:p>
          <a:p>
            <a:r>
              <a:t>a_{11} &amp; a_{12} &amp; \cdots &amp; a_{1n} &amp; b_1 \\</a:t>
            </a:r>
          </a:p>
          <a:p>
            <a:r>
              <a:t>a_{21} &amp; a_{22} &amp; \cdots &amp; a_{2n} &amp; b_2 \\</a:t>
            </a:r>
          </a:p>
          <a:p>
            <a:r>
              <a:t>\vdots &amp; \vdots &amp; \ddots &amp; \vdots &amp; \vdots \\</a:t>
            </a:r>
          </a:p>
          <a:p>
            <a:r>
              <a:t>a_{m1} &amp; a_{m2} &amp; \cdots &amp; a_{mn} &amp; b_m</a:t>
            </a:r>
          </a:p>
          <a:p>
            <a:r>
              <a:t>\end{array}</a:t>
            </a:r>
          </a:p>
          <a:p>
            <a:r>
              <a:t>\right]</a:t>
            </a:r>
          </a:p>
          <a:p>
            <a:r>
              <a:t>$$</a:t>
            </a:r>
          </a:p>
          <a:p>
            <a:r>
              <a:t>增广矩阵完整保留了原方程组的等价性，因为每一行的前 $n$ 项与末项分别对应变量系数与常数项，缺项必须以零占位以维持变量维度一致性。例如方程组 $x + 4z = -1$ 在 $x,y,z$ 顺序下应写作 $[1, 0, 4 \mid -1]$，若省略 $y$ 的零系数，则破坏了三维空间的结构映射。系数矩阵仅反映变量间的线性依赖关系，而增广矩阵包含右侧常数，决定了系统是否相容——这是判断解是否存在、唯一或无穷的关键依据。矩阵的行阶梯形目标，正是通过初等行变换将增广矩阵转化为“主元逐行严格右移”的台阶结构，从而在不改变方程组解集的前提下，清晰暴露其解的结构特征。</a:t>
            </a:r>
          </a:p>
          <a:p>
            <a:r>
              <a:t>source_payload: {"content_perspective": "teacher_delivery", "knowledge_binding_status": null, "markdown": "线性方程组是代数关系的符号化表达，其本质是多个线性约束在变量空间中的联合限制。一个包含 $n$ 个未知量和 $m$ 个方程的系统，可写作：\n\n$$\n\\begin{cases}\na_{11}x_1 + a_{12}x_2 + \\cdots + a_{1n}x_n = b_1 \\\\\na_{21}x_1 + a_{22}x_2 + \\cdots + a_{2n}x_n = b_2 \\\\\n\\vdots \\\\\na_{m1}x_1 + a_{m2}x_2 + \\cdots + a_{mn}x_n = b_m\n\\end{cases}\n$$\n\n该符号表征中，每个方程对应一个超平面，系数 $a_{ij}$ 描述变量对约束的贡献权重，常数项 $b_i$ 为约束的偏移量。为实现结构化分析，需将其转化为数值矩阵表征：系数矩阵 $A$ 由所有 $a_{ij}$ 构成，大小为 $m \\times n$；增广矩阵则在 $A$ 右侧附加常数列 $[b_1, b_2, \\dots, b_m]^T$，形成 $m \\times (n+1)$ 矩阵：\n$$\n\\left[\n\\begin{array}{cccc|c}\na_{11} &amp; a_{12} &amp; \\cdots &amp; a_{1n} &amp; b_1 \\\\\na_{21} &amp; a_{22} &amp; \\cdots &amp; a_{2n} &amp; b_2 \\\\\n\\vdots &amp; \\vdots &amp; \\ddots &amp; \\vdots &amp; \\vdots \\\\\na_{m1} &amp; a_{m2} &amp; \\cdots &amp; a_{mn} &amp; b_m\n\\end{array}\n\\right]\n$$\n增广矩阵完整保留了原方程组的等价性，因为每一行的前 $n$ 项与末项分别对应变量系数与常数项，缺项必须以零占位以维持变量维度一致性。例如方程组 $x + 4z = -1$ 在 $x,y,z$ 顺序下应写作 $[1, 0, 4 \\mid -1]$，若省略 $y$ 的零系数，则破坏了三维空间的结构映射。系数矩阵仅反映变量间的线性依赖关系，而增广矩阵包含右侧常数，决定了系统是否相容——这是判断解是否存在、唯一或无穷的关键依据。矩阵的行阶梯形目标，正是通过初等行变换将增广矩阵转化为“主元逐行严格右移”的台阶结构，从而在不改变方程组解集的前提下，清晰暴露其解的结构特征。", "module_id": "math_representation", "module_instance_id": "tsb-ae2a317e26a4", "planned_minutes": 2, "ppt_page_group_id": "L2-1-1:ppt-page-group:3", "summary": "线性方程组是代数关系的符号化表达，其本质是多个线性约束在变量空间中的联合限制。一个包含 n 个未知量和 m 个方程的系统，可写作： begin{cases} a {11}x 1 + a {12}x 2 + cdots + a {1n}x n", "title": "多重表征"}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cpu_2fcadd890cbcd7b8fb8132c7</a:t>
            </a:r>
          </a:p>
          <a:p/>
          <a:p>
            <a:r>
              <a:t>source_section_ids: []</a:t>
            </a:r>
          </a:p>
          <a:p/>
          <a:p>
            <a:r>
              <a:t>[tsb-ae2a317e26a4 @ cbr_1b9d17d8aa2162ec874fcd18]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线性方程组是代数关系的符号化表达，其本质是多个线性约束在变量空间中的联合限制。一个包含 $n$ 个未知量和 $m$ 个方程的系统，可写作：</a:t>
            </a:r>
          </a:p>
          <a:p/>
          <a:p>
            <a:r>
              <a:t>$$</a:t>
            </a:r>
          </a:p>
          <a:p>
            <a:r>
              <a:t>\begin{cases}</a:t>
            </a:r>
          </a:p>
          <a:p>
            <a:r>
              <a:t>a_{11}x_1 + a_{12}x_2 + \cdots + a_{1n}x_n = b_1 \\</a:t>
            </a:r>
          </a:p>
          <a:p>
            <a:r>
              <a:t>a_{21}x_1 + a_{22}x_2 + \cdots + a_{2n}x_n = b_2 \\</a:t>
            </a:r>
          </a:p>
          <a:p>
            <a:r>
              <a:t>\vdots \\</a:t>
            </a:r>
          </a:p>
          <a:p>
            <a:r>
              <a:t>a_{m1}x_1 + a_{m2}x_2 + \cdots + a_{mn}x_n = b_m</a:t>
            </a:r>
          </a:p>
          <a:p>
            <a:r>
              <a:t>\end{cases}</a:t>
            </a:r>
          </a:p>
          <a:p>
            <a:r>
              <a:t>$$</a:t>
            </a:r>
          </a:p>
          <a:p/>
          <a:p>
            <a:r>
              <a:t>该符号表征中，每个方程对应一个超平面，系数 $a_{ij}$ 描述变量对约束的贡献权重，常数项 $b_i$ 为约束的偏移量。为实现结构化分析，需将其转化为数值矩阵表征：系数矩阵 $A$ 由所有 $a_{ij}$ 构成，大小为 $m \times n$；增广矩阵则在 $A$ 右侧附加常数列 $[b_1, b_2, \dots, b_m]^T$，形成 $m \times (n+1)$ 矩阵：</a:t>
            </a:r>
          </a:p>
          <a:p>
            <a:r>
              <a:t>$$</a:t>
            </a:r>
          </a:p>
          <a:p>
            <a:r>
              <a:t>\left[</a:t>
            </a:r>
          </a:p>
          <a:p>
            <a:r>
              <a:t>\begin{array}{cccc|c}</a:t>
            </a:r>
          </a:p>
          <a:p>
            <a:r>
              <a:t>a_{11} &amp; a_{12} &amp; \cdots &amp; a_{1n} &amp; b_1 \\</a:t>
            </a:r>
          </a:p>
          <a:p>
            <a:r>
              <a:t>a_{21} &amp; a_{22} &amp; \cdots &amp; a_{2n} &amp; b_2 \\</a:t>
            </a:r>
          </a:p>
          <a:p>
            <a:r>
              <a:t>\vdots &amp; \vdots &amp; \ddots &amp; \vdots &amp; \vdots \\</a:t>
            </a:r>
          </a:p>
          <a:p>
            <a:r>
              <a:t>a_{m1} &amp; a_{m2} &amp; \cdots &amp; a_{mn} &amp; b_m</a:t>
            </a:r>
          </a:p>
          <a:p>
            <a:r>
              <a:t>\end{array}</a:t>
            </a:r>
          </a:p>
          <a:p>
            <a:r>
              <a:t>\right]</a:t>
            </a:r>
          </a:p>
          <a:p>
            <a:r>
              <a:t>$$</a:t>
            </a:r>
          </a:p>
          <a:p>
            <a:r>
              <a:t>增广矩阵完整保留了原方程组的等价性，因为每一行的前 $n$ 项与末项分别对应变量系数与常数项，缺项必须以零占位以维持变量维度一致性。例如方程组 $x + 4z = -1$ 在 $x,y,z$ 顺序下应写作 $[1, 0, 4 \mid -1]$，若省略 $y$ 的零系数，则破坏了三维空间的结构映射。系数矩阵仅反映变量间的线性依赖关系，而增广矩阵包含右侧常数，决定了系统是否相容——这是判断解是否存在、唯一或无穷的关键依据。矩阵的行阶梯形目标，正是通过初等行变换将增广矩阵转化为“主元逐行严格右移”的台阶结构，从而在不改变方程组解集的前提下，清晰暴露其解的结构特征。</a:t>
            </a:r>
          </a:p>
          <a:p>
            <a:r>
              <a:t>source_payload: {"content_perspective": "teacher_delivery", "knowledge_binding_status": null, "markdown": "线性方程组是代数关系的符号化表达，其本质是多个线性约束在变量空间中的联合限制。一个包含 $n$ 个未知量和 $m$ 个方程的系统，可写作：\n\n$$\n\\begin{cases}\na_{11}x_1 + a_{12}x_2 + \\cdots + a_{1n}x_n = b_1 \\\\\na_{21}x_1 + a_{22}x_2 + \\cdots + a_{2n}x_n = b_2 \\\\\n\\vdots \\\\\na_{m1}x_1 + a_{m2}x_2 + \\cdots + a_{mn}x_n = b_m\n\\end{cases}\n$$\n\n该符号表征中，每个方程对应一个超平面，系数 $a_{ij}$ 描述变量对约束的贡献权重，常数项 $b_i$ 为约束的偏移量。为实现结构化分析，需将其转化为数值矩阵表征：系数矩阵 $A$ 由所有 $a_{ij}$ 构成，大小为 $m \\times n$；增广矩阵则在 $A$ 右侧附加常数列 $[b_1, b_2, \\dots, b_m]^T$，形成 $m \\times (n+1)$ 矩阵：\n$$\n\\left[\n\\begin{array}{cccc|c}\na_{11} &amp; a_{12} &amp; \\cdots &amp; a_{1n} &amp; b_1 \\\\\na_{21} &amp; a_{22} &amp; \\cdots &amp; a_{2n} &amp; b_2 \\\\\n\\vdots &amp; \\vdots &amp; \\ddots &amp; \\vdots &amp; \\vdots \\\\\na_{m1} &amp; a_{m2} &amp; \\cdots &amp; a_{mn} &amp; b_m\n\\end{array}\n\\right]\n$$\n增广矩阵完整保留了原方程组的等价性，因为每一行的前 $n$ 项与末项分别对应变量系数与常数项，缺项必须以零占位以维持变量维度一致性。例如方程组 $x + 4z = -1$ 在 $x,y,z$ 顺序下应写作 $[1, 0, 4 \\mid -1]$，若省略 $y$ 的零系数，则破坏了三维空间的结构映射。系数矩阵仅反映变量间的线性依赖关系，而增广矩阵包含右侧常数，决定了系统是否相容——这是判断解是否存在、唯一或无穷的关键依据。矩阵的行阶梯形目标，正是通过初等行变换将增广矩阵转化为“主元逐行严格右移”的台阶结构，从而在不改变方程组解集的前提下，清晰暴露其解的结构特征。", "module_id": "math_representation", "module_instance_id": "tsb-ae2a317e26a4", "planned_minutes": 2, "ppt_page_group_id": "L2-1-1:ppt-page-group:3", "summary": "线性方程组是代数关系的符号化表达，其本质是多个线性约束在变量空间中的联合限制。一个包含 n 个未知量和 m 个方程的系统，可写作： begin{cases} a {11}x 1 + a {12}x 2 + cdots + a {1n}x n", "title": "多重表征"}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cpu_2fcadd890cbcd7b8fb8132c7</a:t>
            </a:r>
          </a:p>
          <a:p/>
          <a:p>
            <a:r>
              <a:t>source_section_ids: []</a:t>
            </a:r>
          </a:p>
          <a:p/>
          <a:p>
            <a:r>
              <a:t>[tsb-ae2a317e26a4 @ cbr_1b9d17d8aa2162ec874fcd18]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线性方程组是代数关系的符号化表达，其本质是多个线性约束在变量空间中的联合限制。一个包含 $n$ 个未知量和 $m$ 个方程的系统，可写作：</a:t>
            </a:r>
          </a:p>
          <a:p/>
          <a:p>
            <a:r>
              <a:t>$$</a:t>
            </a:r>
          </a:p>
          <a:p>
            <a:r>
              <a:t>\begin{cases}</a:t>
            </a:r>
          </a:p>
          <a:p>
            <a:r>
              <a:t>a_{11}x_1 + a_{12}x_2 + \cdots + a_{1n}x_n = b_1 \\</a:t>
            </a:r>
          </a:p>
          <a:p>
            <a:r>
              <a:t>a_{21}x_1 + a_{22}x_2 + \cdots + a_{2n}x_n = b_2 \\</a:t>
            </a:r>
          </a:p>
          <a:p>
            <a:r>
              <a:t>\vdots \\</a:t>
            </a:r>
          </a:p>
          <a:p>
            <a:r>
              <a:t>a_{m1}x_1 + a_{m2}x_2 + \cdots + a_{mn}x_n = b_m</a:t>
            </a:r>
          </a:p>
          <a:p>
            <a:r>
              <a:t>\end{cases}</a:t>
            </a:r>
          </a:p>
          <a:p>
            <a:r>
              <a:t>$$</a:t>
            </a:r>
          </a:p>
          <a:p/>
          <a:p>
            <a:r>
              <a:t>该符号表征中，每个方程对应一个超平面，系数 $a_{ij}$ 描述变量对约束的贡献权重，常数项 $b_i$ 为约束的偏移量。为实现结构化分析，需将其转化为数值矩阵表征：系数矩阵 $A$ 由所有 $a_{ij}$ 构成，大小为 $m \times n$；增广矩阵则在 $A$ 右侧附加常数列 $[b_1, b_2, \dots, b_m]^T$，形成 $m \times (n+1)$ 矩阵：</a:t>
            </a:r>
          </a:p>
          <a:p>
            <a:r>
              <a:t>$$</a:t>
            </a:r>
          </a:p>
          <a:p>
            <a:r>
              <a:t>\left[</a:t>
            </a:r>
          </a:p>
          <a:p>
            <a:r>
              <a:t>\begin{array}{cccc|c}</a:t>
            </a:r>
          </a:p>
          <a:p>
            <a:r>
              <a:t>a_{11} &amp; a_{12} &amp; \cdots &amp; a_{1n} &amp; b_1 \\</a:t>
            </a:r>
          </a:p>
          <a:p>
            <a:r>
              <a:t>a_{21} &amp; a_{22} &amp; \cdots &amp; a_{2n} &amp; b_2 \\</a:t>
            </a:r>
          </a:p>
          <a:p>
            <a:r>
              <a:t>\vdots &amp; \vdots &amp; \ddots &amp; \vdots &amp; \vdots \\</a:t>
            </a:r>
          </a:p>
          <a:p>
            <a:r>
              <a:t>a_{m1} &amp; a_{m2} &amp; \cdots &amp; a_{mn} &amp; b_m</a:t>
            </a:r>
          </a:p>
          <a:p>
            <a:r>
              <a:t>\end{array}</a:t>
            </a:r>
          </a:p>
          <a:p>
            <a:r>
              <a:t>\right]</a:t>
            </a:r>
          </a:p>
          <a:p>
            <a:r>
              <a:t>$$</a:t>
            </a:r>
          </a:p>
          <a:p>
            <a:r>
              <a:t>增广矩阵完整保留了原方程组的等价性，因为每一行的前 $n$ 项与末项分别对应变量系数与常数项，缺项必须以零占位以维持变量维度一致性。例如方程组 $x + 4z = -1$ 在 $x,y,z$ 顺序下应写作 $[1, 0, 4 \mid -1]$，若省略 $y$ 的零系数，则破坏了三维空间的结构映射。系数矩阵仅反映变量间的线性依赖关系，而增广矩阵包含右侧常数，决定了系统是否相容——这是判断解是否存在、唯一或无穷的关键依据。矩阵的行阶梯形目标，正是通过初等行变换将增广矩阵转化为“主元逐行严格右移”的台阶结构，从而在不改变方程组解集的前提下，清晰暴露其解的结构特征。</a:t>
            </a:r>
          </a:p>
          <a:p>
            <a:r>
              <a:t>source_payload: {"content_perspective": "teacher_delivery", "knowledge_binding_status": null, "markdown": "线性方程组是代数关系的符号化表达，其本质是多个线性约束在变量空间中的联合限制。一个包含 $n$ 个未知量和 $m$ 个方程的系统，可写作：\n\n$$\n\\begin{cases}\na_{11}x_1 + a_{12}x_2 + \\cdots + a_{1n}x_n = b_1 \\\\\na_{21}x_1 + a_{22}x_2 + \\cdots + a_{2n}x_n = b_2 \\\\\n\\vdots \\\\\na_{m1}x_1 + a_{m2}x_2 + \\cdots + a_{mn}x_n = b_m\n\\end{cases}\n$$\n\n该符号表征中，每个方程对应一个超平面，系数 $a_{ij}$ 描述变量对约束的贡献权重，常数项 $b_i$ 为约束的偏移量。为实现结构化分析，需将其转化为数值矩阵表征：系数矩阵 $A$ 由所有 $a_{ij}$ 构成，大小为 $m \\times n$；增广矩阵则在 $A$ 右侧附加常数列 $[b_1, b_2, \\dots, b_m]^T$，形成 $m \\times (n+1)$ 矩阵：\n$$\n\\left[\n\\begin{array}{cccc|c}\na_{11} &amp; a_{12} &amp; \\cdots &amp; a_{1n} &amp; b_1 \\\\\na_{21} &amp; a_{22} &amp; \\cdots &amp; a_{2n} &amp; b_2 \\\\\n\\vdots &amp; \\vdots &amp; \\ddots &amp; \\vdots &amp; \\vdots \\\\\na_{m1} &amp; a_{m2} &amp; \\cdots &amp; a_{mn} &amp; b_m\n\\end{array}\n\\right]\n$$\n增广矩阵完整保留了原方程组的等价性，因为每一行的前 $n$ 项与末项分别对应变量系数与常数项，缺项必须以零占位以维持变量维度一致性。例如方程组 $x + 4z = -1$ 在 $x,y,z$ 顺序下应写作 $[1, 0, 4 \\mid -1]$，若省略 $y$ 的零系数，则破坏了三维空间的结构映射。系数矩阵仅反映变量间的线性依赖关系，而增广矩阵包含右侧常数，决定了系统是否相容——这是判断解是否存在、唯一或无穷的关键依据。矩阵的行阶梯形目标，正是通过初等行变换将增广矩阵转化为“主元逐行严格右移”的台阶结构，从而在不改变方程组解集的前提下，清晰暴露其解的结构特征。", "module_id": "math_representation", "module_instance_id": "tsb-ae2a317e26a4", "planned_minutes": 2, "ppt_page_group_id": "L2-1-1:ppt-page-group:3", "summary": "线性方程组是代数关系的符号化表达，其本质是多个线性约束在变量空间中的联合限制。一个包含 n 个未知量和 m 个方程的系统，可写作： begin{cases} a {11}x 1 + a {12}x 2 + cdots + a {1n}x n", "title": "多重表征"}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cpu_2fcadd890cbcd7b8fb8132c7</a:t>
            </a:r>
          </a:p>
          <a:p/>
          <a:p>
            <a:r>
              <a:t>source_section_ids: []</a:t>
            </a:r>
          </a:p>
          <a:p/>
          <a:p>
            <a:r>
              <a:t>[tsb-ae2a317e26a4 @ cbr_1b9d17d8aa2162ec874fcd18]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线性方程组是代数关系的符号化表达，其本质是多个线性约束在变量空间中的联合限制。一个包含 $n$ 个未知量和 $m$ 个方程的系统，可写作：</a:t>
            </a:r>
          </a:p>
          <a:p/>
          <a:p>
            <a:r>
              <a:t>$$</a:t>
            </a:r>
          </a:p>
          <a:p>
            <a:r>
              <a:t>\begin{cases}</a:t>
            </a:r>
          </a:p>
          <a:p>
            <a:r>
              <a:t>a_{11}x_1 + a_{12}x_2 + \cdots + a_{1n}x_n = b_1 \\</a:t>
            </a:r>
          </a:p>
          <a:p>
            <a:r>
              <a:t>a_{21}x_1 + a_{22}x_2 + \cdots + a_{2n}x_n = b_2 \\</a:t>
            </a:r>
          </a:p>
          <a:p>
            <a:r>
              <a:t>\vdots \\</a:t>
            </a:r>
          </a:p>
          <a:p>
            <a:r>
              <a:t>a_{m1}x_1 + a_{m2}x_2 + \cdots + a_{mn}x_n = b_m</a:t>
            </a:r>
          </a:p>
          <a:p>
            <a:r>
              <a:t>\end{cases}</a:t>
            </a:r>
          </a:p>
          <a:p>
            <a:r>
              <a:t>$$</a:t>
            </a:r>
          </a:p>
          <a:p/>
          <a:p>
            <a:r>
              <a:t>该符号表征中，每个方程对应一个超平面，系数 $a_{ij}$ 描述变量对约束的贡献权重，常数项 $b_i$ 为约束的偏移量。为实现结构化分析，需将其转化为数值矩阵表征：系数矩阵 $A$ 由所有 $a_{ij}$ 构成，大小为 $m \times n$；增广矩阵则在 $A$ 右侧附加常数列 $[b_1, b_2, \dots, b_m]^T$，形成 $m \times (n+1)$ 矩阵：</a:t>
            </a:r>
          </a:p>
          <a:p>
            <a:r>
              <a:t>$$</a:t>
            </a:r>
          </a:p>
          <a:p>
            <a:r>
              <a:t>\left[</a:t>
            </a:r>
          </a:p>
          <a:p>
            <a:r>
              <a:t>\begin{array}{cccc|c}</a:t>
            </a:r>
          </a:p>
          <a:p>
            <a:r>
              <a:t>a_{11} &amp; a_{12} &amp; \cdots &amp; a_{1n} &amp; b_1 \\</a:t>
            </a:r>
          </a:p>
          <a:p>
            <a:r>
              <a:t>a_{21} &amp; a_{22} &amp; \cdots &amp; a_{2n} &amp; b_2 \\</a:t>
            </a:r>
          </a:p>
          <a:p>
            <a:r>
              <a:t>\vdots &amp; \vdots &amp; \ddots &amp; \vdots &amp; \vdots \\</a:t>
            </a:r>
          </a:p>
          <a:p>
            <a:r>
              <a:t>a_{m1} &amp; a_{m2} &amp; \cdots &amp; a_{mn} &amp; b_m</a:t>
            </a:r>
          </a:p>
          <a:p>
            <a:r>
              <a:t>\end{array}</a:t>
            </a:r>
          </a:p>
          <a:p>
            <a:r>
              <a:t>\right]</a:t>
            </a:r>
          </a:p>
          <a:p>
            <a:r>
              <a:t>$$</a:t>
            </a:r>
          </a:p>
          <a:p>
            <a:r>
              <a:t>增广矩阵完整保留了原方程组的等价性，因为每一行的前 $n$ 项与末项分别对应变量系数与常数项，缺项必须以零占位以维持变量维度一致性。例如方程组 $x + 4z = -1$ 在 $x,y,z$ 顺序下应写作 $[1, 0, 4 \mid -1]$，若省略 $y$ 的零系数，则破坏了三维空间的结构映射。系数矩阵仅反映变量间的线性依赖关系，而增广矩阵包含右侧常数，决定了系统是否相容——这是判断解是否存在、唯一或无穷的关键依据。矩阵的行阶梯形目标，正是通过初等行变换将增广矩阵转化为“主元逐行严格右移”的台阶结构，从而在不改变方程组解集的前提下，清晰暴露其解的结构特征。</a:t>
            </a:r>
          </a:p>
          <a:p>
            <a:r>
              <a:t>source_payload: {"content_perspective": "teacher_delivery", "knowledge_binding_status": null, "markdown": "线性方程组是代数关系的符号化表达，其本质是多个线性约束在变量空间中的联合限制。一个包含 $n$ 个未知量和 $m$ 个方程的系统，可写作：\n\n$$\n\\begin{cases}\na_{11}x_1 + a_{12}x_2 + \\cdots + a_{1n}x_n = b_1 \\\\\na_{21}x_1 + a_{22}x_2 + \\cdots + a_{2n}x_n = b_2 \\\\\n\\vdots \\\\\na_{m1}x_1 + a_{m2}x_2 + \\cdots + a_{mn}x_n = b_m\n\\end{cases}\n$$\n\n该符号表征中，每个方程对应一个超平面，系数 $a_{ij}$ 描述变量对约束的贡献权重，常数项 $b_i$ 为约束的偏移量。为实现结构化分析，需将其转化为数值矩阵表征：系数矩阵 $A$ 由所有 $a_{ij}$ 构成，大小为 $m \\times n$；增广矩阵则在 $A$ 右侧附加常数列 $[b_1, b_2, \\dots, b_m]^T$，形成 $m \\times (n+1)$ 矩阵：\n$$\n\\left[\n\\begin{array}{cccc|c}\na_{11} &amp; a_{12} &amp; \\cdots &amp; a_{1n} &amp; b_1 \\\\\na_{21} &amp; a_{22} &amp; \\cdots &amp; a_{2n} &amp; b_2 \\\\\n\\vdots &amp; \\vdots &amp; \\ddots &amp; \\vdots &amp; \\vdots \\\\\na_{m1} &amp; a_{m2} &amp; \\cdots &amp; a_{mn} &amp; b_m\n\\end{array}\n\\right]\n$$\n增广矩阵完整保留了原方程组的等价性，因为每一行的前 $n$ 项与末项分别对应变量系数与常数项，缺项必须以零占位以维持变量维度一致性。例如方程组 $x + 4z = -1$ 在 $x,y,z$ 顺序下应写作 $[1, 0, 4 \\mid -1]$，若省略 $y$ 的零系数，则破坏了三维空间的结构映射。系数矩阵仅反映变量间的线性依赖关系，而增广矩阵包含右侧常数，决定了系统是否相容——这是判断解是否存在、唯一或无穷的关键依据。矩阵的行阶梯形目标，正是通过初等行变换将增广矩阵转化为“主元逐行严格右移”的台阶结构，从而在不改变方程组解集的前提下，清晰暴露其解的结构特征。", "module_id": "math_representation", "module_instance_id": "tsb-ae2a317e26a4", "planned_minutes": 2, "ppt_page_group_id": "L2-1-1:ppt-page-group:3", "summary": "线性方程组是代数关系的符号化表达，其本质是多个线性约束在变量空间中的联合限制。一个包含 n 个未知量和 m 个方程的系统，可写作： begin{cases} a {11}x 1 + a {12}x 2 + cdots + a {1n}x n", "title": "多重表征"}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cpu_009026a9b65fa642e7e428fa</a:t>
            </a:r>
          </a:p>
          <a:p/>
          <a:p>
            <a:r>
              <a:t>source_section_ids: []</a:t>
            </a:r>
          </a:p>
          <a:p/>
          <a:p>
            <a:r>
              <a:t>[tsb-5ec7a5553c01 @ cbr_165cdd3fc4aef902ea7b1cd1]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一个线性方程组是由若干形如 $ a_{i1}x_1 + a_{i2}x_2 + \cdots + a_{in}x_n = b_i $ 的方程构成的集合，其中 $ a_{ij} \in \mathbb{R} $ 为系数，$ x_j $ 为未知量，$ b_i \in \mathbb{R} $ 为常数项，且每个方程中未知量的次数均为一次。对于含 $ m $ 个方程、$ n $ 个未知量的系统，其系数矩阵为 $ m \times n $ 矩阵 $ A = [a_{ij}] $，仅包含所有变量的系数；增广矩阵为 $ m \times (n+1) $ 矩阵 $ [A \mid \mathbf{b}] =$</a:t>
            </a:r>
          </a:p>
          <a:p>
            <a:r>
              <a:t>$$</a:t>
            </a:r>
          </a:p>
          <a:p>
            <a:r>
              <a:t>\begin{bmatrix} a_{11} &amp; \cdots &amp; a_{1n} &amp; b_1 \\ \vdots &amp; \ddots &amp; \vdots &amp; \vdots \\ a_{m1} &amp; \cdots &amp; a_{mn} &amp; b_m \end{bmatrix}</a:t>
            </a:r>
          </a:p>
          <a:p>
            <a:r>
              <a:t>$$</a:t>
            </a:r>
          </a:p>
          <a:p>
            <a:r>
              <a:t>，其最后一列独立保留常数项，确保方程的等式关系不被破坏。行阶梯形矩阵需满足：（1）所有非零行位于零行之上；（2）每行首个非零元素（主元）严格位于上一行主元的右侧；（3）主元下方所有元素为零。若某行形如 $ [0\ \cdots\ 0 \mid c] $ 且 $ c \neq 0 $，则该行对应矛盾方程 $ 0 = c $，系统无解。系数矩阵无法区分不同常数项，故不能独立判断解的存在性；增广矩阵完整保留方程结构，是分析解集形态的最小充分表征。核验方法：将矩阵还原为方程组，变量顺序必须与列序严格一致，缺失变量必须以零占位，否则方程含义失真。</a:t>
            </a:r>
          </a:p>
          <a:p>
            <a:r>
              <a:t>source_payload: {"content_perspective": "teacher_delivery", "knowledge_binding_status": null, "markdown": "一个线性方程组是由若干形如 $ a_{i1}x_1 + a_{i2}x_2 + \\cdots + a_{in}x_n = b_i $ 的方程构成的集合，其中 $ a_{ij} \\in \\mathbb{R} $ 为系数，$ x_j $ 为未知量，$ b_i \\in \\mathbb{R} $ 为常数项，且每个方程中未知量的次数均为一次。对于含 $ m $ 个方程、$ n $ 个未知量的系统，其系数矩阵为 $ m \\times n $ 矩阵 $ A = [a_{ij}] $，仅包含所有变量的系数；增广矩阵为 $ m \\times (n+1) $ 矩阵 $ [A \\mid \\mathbf{b}] =$\n$$\n\\begin{bmatrix} a_{11} &amp; \\cdots &amp; a_{1n} &amp; b_1 \\\\ \\vdots &amp; \\ddots &amp; \\vdots &amp; \\vdots \\\\ a_{m1} &amp; \\cdots &amp; a_{mn} &amp; b_m \\end{bmatrix}\n$$\n，其最后一列独立保留常数项，确保方程的等式关系不被破坏。行阶梯形矩阵需满足：（1）所有非零行位于零行之上；（2）每行首个非零元素（主元）严格位于上一行主元的右侧；（3）主元下方所有元素为零。若某行形如 $ [0\\ \\cdots\\ 0 \\mid c] $ 且 $ c \\neq 0 $，则该行对应矛盾方程 $ 0 = c $，系统无解。系数矩阵无法区分不同常数项，故不能独立判断解的存在性；增广矩阵完整保留方程结构，是分析解集形态的最小充分表征。核验方法：将矩阵还原为方程组，变量顺序必须与列序严格一致，缺失变量必须以零占位，否则方程含义失真。", "module_id": "math_formalization", "module_instance_id": "tsb-5ec7a5553c01", "planned_minutes": 2, "ppt_page_group_id": "L2-1-1:ppt-page-group:4", "summary": "一个线性方程组是由若干形如 a {i1}x 1 + a {i2}x 2 + cdots + a {in}x n = b i 的方程构成的集合，其中 a {ij} in mathbb{R} 为系数， x j 为未知量， b i in math", "title": "正式定义"}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[tsb-66ca62aa7db1 @ cbr_d08f7edcd085526ce46eb7cb]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掌握将三阶增广矩阵化为行阶梯形的操作流程，能规范执行三类初等行变换：行交换、行倍乘、行倍加。目标是形成满足以下条件的矩阵：每行首个非零元（主元）严格位于上一行主元右侧；全零行在最下方；主元下方元素全为零。对矩阵  </a:t>
            </a:r>
          </a:p>
          <a:p/>
          <a:p>
            <a:r>
              <a:t>$$</a:t>
            </a:r>
          </a:p>
          <a:p>
            <a:r>
              <a:t>\begin{bmatrix} 0 &amp; 2 &amp; 4 &amp; | &amp; 6 \\ 1 &amp; -1 &amp; 2 &amp; | &amp; 3 \\ 0 &amp; 4 &amp; 8 &amp; | &amp; 12 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需先交换 $R_1$ 与 $R_2$，得  </a:t>
            </a:r>
          </a:p>
          <a:p/>
          <a:p>
            <a:r>
              <a:t>$$</a:t>
            </a:r>
          </a:p>
          <a:p>
            <a:r>
              <a:t>\begin{bmatrix} 1 &amp; -1 &amp; 2 &amp; | &amp; 3 \\ 0 &amp; 2 &amp; 4 &amp; | &amp; 6 \\ 0 &amp; 4 &amp; 8 &amp; | &amp; 12 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再执行 $R_3 \leftarrow R_3 - 2R_2$，得  </a:t>
            </a:r>
          </a:p>
          <a:p/>
          <a:p>
            <a:r>
              <a:t>$$</a:t>
            </a:r>
          </a:p>
          <a:p>
            <a:r>
              <a:t>\begin{bmatrix} 1 &amp; -1 &amp; 2 &amp; | &amp; 3 \\ 0 &amp; 2 &amp; 4 &amp; | &amp; 6 \\ 0 &amp; 0 &amp; 0 &amp; | &amp; 0 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主元位于 (1,1) 和 (2,2)。操作必须严格按“从左至右、从上至下”顺序进行，禁止跳列或提前处理下方行，否则破坏阶梯结构。每步变换须为合法初等行变换，完成时须明确标出所有主元并验证结构合规。</a:t>
            </a:r>
          </a:p>
          <a:p>
            <a:r>
              <a:t>source_payload: {"content_perspective": "teacher_delivery", "knowledge_binding_status": null, "markdown": "掌握将三阶增广矩阵化为行阶梯形的操作流程，能规范执行三类初等行变换：行交换、行倍乘、行倍加。目标是形成满足以下条件的矩阵：每行首个非零元（主元）严格位于上一行主元右侧；全零行在最下方；主元下方元素全为零。对矩阵  \n\n$$\n\\begin{bmatrix} 0 &amp; 2 &amp; 4 &amp; | &amp; 6 \\\\ 1 &amp; -1 &amp; 2 &amp; | &amp; 3 \\\\ 0 &amp; 4 &amp; 8 &amp; | &amp; 12 \\end{bmatrix}\n$$\n  \n需先交换 $R_1$ 与 $R_2$，得  \n\n$$\n\\begin{bmatrix} 1 &amp; -1 &amp; 2 &amp; | &amp; 3 \\\\ 0 &amp; 2 &amp; 4 &amp; | &amp; 6 \\\\ 0 &amp; 4 &amp; 8 &amp; | &amp; 12 \\end{bmatrix}\n$$\n  \n再执行 $R_3 \\leftarrow R_3 - 2R_2$，得  \n\n$$\n\\begin{bmatrix} 1 &amp; -1 &amp; 2 &amp; | &amp; 3 \\\\ 0 &amp; 2 &amp; 4 &amp; | &amp; 6 \\\\ 0 &amp; 0 &amp; 0 &amp; | &amp; 0 \\end{bmatrix}\n$$\n  \n主元位于 (1,1) 和 (2,2)。操作必须严格按“从左至右、从上至下”顺序进行，禁止跳列或提前处理下方行，否则破坏阶梯结构。每步变换须为合法初等行变换，完成时须明确标出所有主元并验证结构合规。", "module_id": "lesson_goal", "module_instance_id": "tsb-66ca62aa7db1", "planned_minutes": 2, "ppt_page_group_id": "L2-1-2:ppt-page-group:1", "summary": "掌握将三阶增广矩阵化为行阶梯形的操作流程，能规范执行三类初等行变换：行交换、行倍乘、行倍加。目标是形成满足以下条件的矩阵：每行首个非零元（主元）严格位于上一行主元右侧；全零行在最下方；主元下方元素全为零。对矩阵 begin{bmatrix}", "title": "本节任务"}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[tsb-66ca62aa7db1 @ cbr_d08f7edcd085526ce46eb7cb]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掌握将三阶增广矩阵化为行阶梯形的操作流程，能规范执行三类初等行变换：行交换、行倍乘、行倍加。目标是形成满足以下条件的矩阵：每行首个非零元（主元）严格位于上一行主元右侧；全零行在最下方；主元下方元素全为零。对矩阵  </a:t>
            </a:r>
          </a:p>
          <a:p/>
          <a:p>
            <a:r>
              <a:t>$$</a:t>
            </a:r>
          </a:p>
          <a:p>
            <a:r>
              <a:t>\begin{bmatrix} 0 &amp; 2 &amp; 4 &amp; | &amp; 6 \\ 1 &amp; -1 &amp; 2 &amp; | &amp; 3 \\ 0 &amp; 4 &amp; 8 &amp; | &amp; 12 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需先交换 $R_1$ 与 $R_2$，得  </a:t>
            </a:r>
          </a:p>
          <a:p/>
          <a:p>
            <a:r>
              <a:t>$$</a:t>
            </a:r>
          </a:p>
          <a:p>
            <a:r>
              <a:t>\begin{bmatrix} 1 &amp; -1 &amp; 2 &amp; | &amp; 3 \\ 0 &amp; 2 &amp; 4 &amp; | &amp; 6 \\ 0 &amp; 4 &amp; 8 &amp; | &amp; 12 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再执行 $R_3 \leftarrow R_3 - 2R_2$，得  </a:t>
            </a:r>
          </a:p>
          <a:p/>
          <a:p>
            <a:r>
              <a:t>$$</a:t>
            </a:r>
          </a:p>
          <a:p>
            <a:r>
              <a:t>\begin{bmatrix} 1 &amp; -1 &amp; 2 &amp; | &amp; 3 \\ 0 &amp; 2 &amp; 4 &amp; | &amp; 6 \\ 0 &amp; 0 &amp; 0 &amp; | &amp; 0 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主元位于 (1,1) 和 (2,2)。操作必须严格按“从左至右、从上至下”顺序进行，禁止跳列或提前处理下方行，否则破坏阶梯结构。每步变换须为合法初等行变换，完成时须明确标出所有主元并验证结构合规。</a:t>
            </a:r>
          </a:p>
          <a:p>
            <a:r>
              <a:t>source_payload: {"content_perspective": "teacher_delivery", "knowledge_binding_status": null, "markdown": "掌握将三阶增广矩阵化为行阶梯形的操作流程，能规范执行三类初等行变换：行交换、行倍乘、行倍加。目标是形成满足以下条件的矩阵：每行首个非零元（主元）严格位于上一行主元右侧；全零行在最下方；主元下方元素全为零。对矩阵  \n\n$$\n\\begin{bmatrix} 0 &amp; 2 &amp; 4 &amp; | &amp; 6 \\\\ 1 &amp; -1 &amp; 2 &amp; | &amp; 3 \\\\ 0 &amp; 4 &amp; 8 &amp; | &amp; 12 \\end{bmatrix}\n$$\n  \n需先交换 $R_1$ 与 $R_2$，得  \n\n$$\n\\begin{bmatrix} 1 &amp; -1 &amp; 2 &amp; | &amp; 3 \\\\ 0 &amp; 2 &amp; 4 &amp; | &amp; 6 \\\\ 0 &amp; 4 &amp; 8 &amp; | &amp; 12 \\end{bmatrix}\n$$\n  \n再执行 $R_3 \\leftarrow R_3 - 2R_2$，得  \n\n$$\n\\begin{bmatrix} 1 &amp; -1 &amp; 2 &amp; | &amp; 3 \\\\ 0 &amp; 2 &amp; 4 &amp; | &amp; 6 \\\\ 0 &amp; 0 &amp; 0 &amp; | &amp; 0 \\end{bmatrix}\n$$\n  \n主元位于 (1,1) 和 (2,2)。操作必须严格按“从左至右、从上至下”顺序进行，禁止跳列或提前处理下方行，否则破坏阶梯结构。每步变换须为合法初等行变换，完成时须明确标出所有主元并验证结构合规。", "module_id": "lesson_goal", "module_instance_id": "tsb-66ca62aa7db1", "planned_minutes": 2, "ppt_page_group_id": "L2-1-2:ppt-page-group:1", "summary": "掌握将三阶增广矩阵化为行阶梯形的操作流程，能规范执行三类初等行变换：行交换、行倍乘、行倍加。目标是形成满足以下条件的矩阵：每行首个非零元（主元）严格位于上一行主元右侧；全零行在最下方；主元下方元素全为零。对矩阵 begin{bmatrix}", "title": "本节任务"}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[tsb-66ca62aa7db1 @ cbr_d08f7edcd085526ce46eb7cb]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掌握将三阶增广矩阵化为行阶梯形的操作流程，能规范执行三类初等行变换：行交换、行倍乘、行倍加。目标是形成满足以下条件的矩阵：每行首个非零元（主元）严格位于上一行主元右侧；全零行在最下方；主元下方元素全为零。对矩阵  </a:t>
            </a:r>
          </a:p>
          <a:p/>
          <a:p>
            <a:r>
              <a:t>$$</a:t>
            </a:r>
          </a:p>
          <a:p>
            <a:r>
              <a:t>\begin{bmatrix} 0 &amp; 2 &amp; 4 &amp; | &amp; 6 \\ 1 &amp; -1 &amp; 2 &amp; | &amp; 3 \\ 0 &amp; 4 &amp; 8 &amp; | &amp; 12 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需先交换 $R_1$ 与 $R_2$，得  </a:t>
            </a:r>
          </a:p>
          <a:p/>
          <a:p>
            <a:r>
              <a:t>$$</a:t>
            </a:r>
          </a:p>
          <a:p>
            <a:r>
              <a:t>\begin{bmatrix} 1 &amp; -1 &amp; 2 &amp; | &amp; 3 \\ 0 &amp; 2 &amp; 4 &amp; | &amp; 6 \\ 0 &amp; 4 &amp; 8 &amp; | &amp; 12 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再执行 $R_3 \leftarrow R_3 - 2R_2$，得  </a:t>
            </a:r>
          </a:p>
          <a:p/>
          <a:p>
            <a:r>
              <a:t>$$</a:t>
            </a:r>
          </a:p>
          <a:p>
            <a:r>
              <a:t>\begin{bmatrix} 1 &amp; -1 &amp; 2 &amp; | &amp; 3 \\ 0 &amp; 2 &amp; 4 &amp; | &amp; 6 \\ 0 &amp; 0 &amp; 0 &amp; | &amp; 0 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主元位于 (1,1) 和 (2,2)。操作必须严格按“从左至右、从上至下”顺序进行，禁止跳列或提前处理下方行，否则破坏阶梯结构。每步变换须为合法初等行变换，完成时须明确标出所有主元并验证结构合规。</a:t>
            </a:r>
          </a:p>
          <a:p>
            <a:r>
              <a:t>source_payload: {"content_perspective": "teacher_delivery", "knowledge_binding_status": null, "markdown": "掌握将三阶增广矩阵化为行阶梯形的操作流程，能规范执行三类初等行变换：行交换、行倍乘、行倍加。目标是形成满足以下条件的矩阵：每行首个非零元（主元）严格位于上一行主元右侧；全零行在最下方；主元下方元素全为零。对矩阵  \n\n$$\n\\begin{bmatrix} 0 &amp; 2 &amp; 4 &amp; | &amp; 6 \\\\ 1 &amp; -1 &amp; 2 &amp; | &amp; 3 \\\\ 0 &amp; 4 &amp; 8 &amp; | &amp; 12 \\end{bmatrix}\n$$\n  \n需先交换 $R_1$ 与 $R_2$，得  \n\n$$\n\\begin{bmatrix} 1 &amp; -1 &amp; 2 &amp; | &amp; 3 \\\\ 0 &amp; 2 &amp; 4 &amp; | &amp; 6 \\\\ 0 &amp; 4 &amp; 8 &amp; | &amp; 12 \\end{bmatrix}\n$$\n  \n再执行 $R_3 \\leftarrow R_3 - 2R_2$，得  \n\n$$\n\\begin{bmatrix} 1 &amp; -1 &amp; 2 &amp; | &amp; 3 \\\\ 0 &amp; 2 &amp; 4 &amp; | &amp; 6 \\\\ 0 &amp; 0 &amp; 0 &amp; | &amp; 0 \\end{bmatrix}\n$$\n  \n主元位于 (1,1) 和 (2,2)。操作必须严格按“从左至右、从上至下”顺序进行，禁止跳列或提前处理下方行，否则破坏阶梯结构。每步变换须为合法初等行变换，完成时须明确标出所有主元并验证结构合规。", "module_id": "lesson_goal", "module_instance_id": "tsb-66ca62aa7db1", "planned_minutes": 2, "ppt_page_group_id": "L2-1-2:ppt-page-group:1", "summary": "掌握将三阶增广矩阵化为行阶梯形的操作流程，能规范执行三类初等行变换：行交换、行倍乘、行倍加。目标是形成满足以下条件的矩阵：每行首个非零元（主元）严格位于上一行主元右侧；全零行在最下方；主元下方元素全为零。对矩阵 begin{bmatrix}", "title": "本节任务"}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[tsb-66ca62aa7db1 @ cbr_d08f7edcd085526ce46eb7cb]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掌握将三阶增广矩阵化为行阶梯形的操作流程，能规范执行三类初等行变换：行交换、行倍乘、行倍加。目标是形成满足以下条件的矩阵：每行首个非零元（主元）严格位于上一行主元右侧；全零行在最下方；主元下方元素全为零。对矩阵  </a:t>
            </a:r>
          </a:p>
          <a:p/>
          <a:p>
            <a:r>
              <a:t>$$</a:t>
            </a:r>
          </a:p>
          <a:p>
            <a:r>
              <a:t>\begin{bmatrix} 0 &amp; 2 &amp; 4 &amp; | &amp; 6 \\ 1 &amp; -1 &amp; 2 &amp; | &amp; 3 \\ 0 &amp; 4 &amp; 8 &amp; | &amp; 12 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需先交换 $R_1$ 与 $R_2$，得  </a:t>
            </a:r>
          </a:p>
          <a:p/>
          <a:p>
            <a:r>
              <a:t>$$</a:t>
            </a:r>
          </a:p>
          <a:p>
            <a:r>
              <a:t>\begin{bmatrix} 1 &amp; -1 &amp; 2 &amp; | &amp; 3 \\ 0 &amp; 2 &amp; 4 &amp; | &amp; 6 \\ 0 &amp; 4 &amp; 8 &amp; | &amp; 12 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再执行 $R_3 \leftarrow R_3 - 2R_2$，得  </a:t>
            </a:r>
          </a:p>
          <a:p/>
          <a:p>
            <a:r>
              <a:t>$$</a:t>
            </a:r>
          </a:p>
          <a:p>
            <a:r>
              <a:t>\begin{bmatrix} 1 &amp; -1 &amp; 2 &amp; | &amp; 3 \\ 0 &amp; 2 &amp; 4 &amp; | &amp; 6 \\ 0 &amp; 0 &amp; 0 &amp; | &amp; 0 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主元位于 (1,1) 和 (2,2)。操作必须严格按“从左至右、从上至下”顺序进行，禁止跳列或提前处理下方行，否则破坏阶梯结构。每步变换须为合法初等行变换，完成时须明确标出所有主元并验证结构合规。</a:t>
            </a:r>
          </a:p>
          <a:p>
            <a:r>
              <a:t>source_payload: {"content_perspective": "teacher_delivery", "knowledge_binding_status": null, "markdown": "掌握将三阶增广矩阵化为行阶梯形的操作流程，能规范执行三类初等行变换：行交换、行倍乘、行倍加。目标是形成满足以下条件的矩阵：每行首个非零元（主元）严格位于上一行主元右侧；全零行在最下方；主元下方元素全为零。对矩阵  \n\n$$\n\\begin{bmatrix} 0 &amp; 2 &amp; 4 &amp; | &amp; 6 \\\\ 1 &amp; -1 &amp; 2 &amp; | &amp; 3 \\\\ 0 &amp; 4 &amp; 8 &amp; | &amp; 12 \\end{bmatrix}\n$$\n  \n需先交换 $R_1$ 与 $R_2$，得  \n\n$$\n\\begin{bmatrix} 1 &amp; -1 &amp; 2 &amp; | &amp; 3 \\\\ 0 &amp; 2 &amp; 4 &amp; | &amp; 6 \\\\ 0 &amp; 4 &amp; 8 &amp; | &amp; 12 \\end{bmatrix}\n$$\n  \n再执行 $R_3 \\leftarrow R_3 - 2R_2$，得  \n\n$$\n\\begin{bmatrix} 1 &amp; -1 &amp; 2 &amp; | &amp; 3 \\\\ 0 &amp; 2 &amp; 4 &amp; | &amp; 6 \\\\ 0 &amp; 0 &amp; 0 &amp; | &amp; 0 \\end{bmatrix}\n$$\n  \n主元位于 (1,1) 和 (2,2)。操作必须严格按“从左至右、从上至下”顺序进行，禁止跳列或提前处理下方行，否则破坏阶梯结构。每步变换须为合法初等行变换，完成时须明确标出所有主元并验证结构合规。", "module_id": "lesson_goal", "module_instance_id": "tsb-66ca62aa7db1", "planned_minutes": 2, "ppt_page_group_id": "L2-1-2:ppt-page-group:1", "summary": "掌握将三阶增广矩阵化为行阶梯形的操作流程，能规范执行三类初等行变换：行交换、行倍乘、行倍加。目标是形成满足以下条件的矩阵：每行首个非零元（主元）严格位于上一行主元右侧；全零行在最下方；主元下方元素全为零。对矩阵 begin{bmatrix}", "title": "本节任务"}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[tsb-66ca62aa7db1 @ cbr_d08f7edcd085526ce46eb7cb]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掌握将三阶增广矩阵化为行阶梯形的操作流程，能规范执行三类初等行变换：行交换、行倍乘、行倍加。目标是形成满足以下条件的矩阵：每行首个非零元（主元）严格位于上一行主元右侧；全零行在最下方；主元下方元素全为零。对矩阵  </a:t>
            </a:r>
          </a:p>
          <a:p/>
          <a:p>
            <a:r>
              <a:t>$$</a:t>
            </a:r>
          </a:p>
          <a:p>
            <a:r>
              <a:t>\begin{bmatrix} 0 &amp; 2 &amp; 4 &amp; | &amp; 6 \\ 1 &amp; -1 &amp; 2 &amp; | &amp; 3 \\ 0 &amp; 4 &amp; 8 &amp; | &amp; 12 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需先交换 $R_1$ 与 $R_2$，得  </a:t>
            </a:r>
          </a:p>
          <a:p/>
          <a:p>
            <a:r>
              <a:t>$$</a:t>
            </a:r>
          </a:p>
          <a:p>
            <a:r>
              <a:t>\begin{bmatrix} 1 &amp; -1 &amp; 2 &amp; | &amp; 3 \\ 0 &amp; 2 &amp; 4 &amp; | &amp; 6 \\ 0 &amp; 4 &amp; 8 &amp; | &amp; 12 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再执行 $R_3 \leftarrow R_3 - 2R_2$，得  </a:t>
            </a:r>
          </a:p>
          <a:p/>
          <a:p>
            <a:r>
              <a:t>$$</a:t>
            </a:r>
          </a:p>
          <a:p>
            <a:r>
              <a:t>\begin{bmatrix} 1 &amp; -1 &amp; 2 &amp; | &amp; 3 \\ 0 &amp; 2 &amp; 4 &amp; | &amp; 6 \\ 0 &amp; 0 &amp; 0 &amp; | &amp; 0 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主元位于 (1,1) 和 (2,2)。操作必须严格按“从左至右、从上至下”顺序进行，禁止跳列或提前处理下方行，否则破坏阶梯结构。每步变换须为合法初等行变换，完成时须明确标出所有主元并验证结构合规。</a:t>
            </a:r>
          </a:p>
          <a:p>
            <a:r>
              <a:t>source_payload: {"content_perspective": "teacher_delivery", "knowledge_binding_status": null, "markdown": "掌握将三阶增广矩阵化为行阶梯形的操作流程，能规范执行三类初等行变换：行交换、行倍乘、行倍加。目标是形成满足以下条件的矩阵：每行首个非零元（主元）严格位于上一行主元右侧；全零行在最下方；主元下方元素全为零。对矩阵  \n\n$$\n\\begin{bmatrix} 0 &amp; 2 &amp; 4 &amp; | &amp; 6 \\\\ 1 &amp; -1 &amp; 2 &amp; | &amp; 3 \\\\ 0 &amp; 4 &amp; 8 &amp; | &amp; 12 \\end{bmatrix}\n$$\n  \n需先交换 $R_1$ 与 $R_2$，得  \n\n$$\n\\begin{bmatrix} 1 &amp; -1 &amp; 2 &amp; | &amp; 3 \\\\ 0 &amp; 2 &amp; 4 &amp; | &amp; 6 \\\\ 0 &amp; 4 &amp; 8 &amp; | &amp; 12 \\end{bmatrix}\n$$\n  \n再执行 $R_3 \\leftarrow R_3 - 2R_2$，得  \n\n$$\n\\begin{bmatrix} 1 &amp; -1 &amp; 2 &amp; | &amp; 3 \\\\ 0 &amp; 2 &amp; 4 &amp; | &amp; 6 \\\\ 0 &amp; 0 &amp; 0 &amp; | &amp; 0 \\end{bmatrix}\n$$\n  \n主元位于 (1,1) 和 (2,2)。操作必须严格按“从左至右、从上至下”顺序进行，禁止跳列或提前处理下方行，否则破坏阶梯结构。每步变换须为合法初等行变换，完成时须明确标出所有主元并验证结构合规。", "module_id": "lesson_goal", "module_instance_id": "tsb-66ca62aa7db1", "planned_minutes": 2, "ppt_page_group_id": "L2-1-2:ppt-page-group:1", "summary": "掌握将三阶增广矩阵化为行阶梯形的操作流程，能规范执行三类初等行变换：行交换、行倍乘、行倍加。目标是形成满足以下条件的矩阵：每行首个非零元（主元）严格位于上一行主元右侧；全零行在最下方；主元下方元素全为零。对矩阵 begin{bmatrix}", "title": "本节任务"}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[tsb-66ca62aa7db1 @ cbr_d08f7edcd085526ce46eb7cb]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掌握将三阶增广矩阵化为行阶梯形的操作流程，能规范执行三类初等行变换：行交换、行倍乘、行倍加。目标是形成满足以下条件的矩阵：每行首个非零元（主元）严格位于上一行主元右侧；全零行在最下方；主元下方元素全为零。对矩阵  </a:t>
            </a:r>
          </a:p>
          <a:p/>
          <a:p>
            <a:r>
              <a:t>$$</a:t>
            </a:r>
          </a:p>
          <a:p>
            <a:r>
              <a:t>\begin{bmatrix} 0 &amp; 2 &amp; 4 &amp; | &amp; 6 \\ 1 &amp; -1 &amp; 2 &amp; | &amp; 3 \\ 0 &amp; 4 &amp; 8 &amp; | &amp; 12 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需先交换 $R_1$ 与 $R_2$，得  </a:t>
            </a:r>
          </a:p>
          <a:p/>
          <a:p>
            <a:r>
              <a:t>$$</a:t>
            </a:r>
          </a:p>
          <a:p>
            <a:r>
              <a:t>\begin{bmatrix} 1 &amp; -1 &amp; 2 &amp; | &amp; 3 \\ 0 &amp; 2 &amp; 4 &amp; | &amp; 6 \\ 0 &amp; 4 &amp; 8 &amp; | &amp; 12 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再执行 $R_3 \leftarrow R_3 - 2R_2$，得  </a:t>
            </a:r>
          </a:p>
          <a:p/>
          <a:p>
            <a:r>
              <a:t>$$</a:t>
            </a:r>
          </a:p>
          <a:p>
            <a:r>
              <a:t>\begin{bmatrix} 1 &amp; -1 &amp; 2 &amp; | &amp; 3 \\ 0 &amp; 2 &amp; 4 &amp; | &amp; 6 \\ 0 &amp; 0 &amp; 0 &amp; | &amp; 0 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主元位于 (1,1) 和 (2,2)。操作必须严格按“从左至右、从上至下”顺序进行，禁止跳列或提前处理下方行，否则破坏阶梯结构。每步变换须为合法初等行变换，完成时须明确标出所有主元并验证结构合规。</a:t>
            </a:r>
          </a:p>
          <a:p>
            <a:r>
              <a:t>source_payload: {"content_perspective": "teacher_delivery", "knowledge_binding_status": null, "markdown": "掌握将三阶增广矩阵化为行阶梯形的操作流程，能规范执行三类初等行变换：行交换、行倍乘、行倍加。目标是形成满足以下条件的矩阵：每行首个非零元（主元）严格位于上一行主元右侧；全零行在最下方；主元下方元素全为零。对矩阵  \n\n$$\n\\begin{bmatrix} 0 &amp; 2 &amp; 4 &amp; | &amp; 6 \\\\ 1 &amp; -1 &amp; 2 &amp; | &amp; 3 \\\\ 0 &amp; 4 &amp; 8 &amp; | &amp; 12 \\end{bmatrix}\n$$\n  \n需先交换 $R_1$ 与 $R_2$，得  \n\n$$\n\\begin{bmatrix} 1 &amp; -1 &amp; 2 &amp; | &amp; 3 \\\\ 0 &amp; 2 &amp; 4 &amp; | &amp; 6 \\\\ 0 &amp; 4 &amp; 8 &amp; | &amp; 12 \\end{bmatrix}\n$$\n  \n再执行 $R_3 \\leftarrow R_3 - 2R_2$，得  \n\n$$\n\\begin{bmatrix} 1 &amp; -1 &amp; 2 &amp; | &amp; 3 \\\\ 0 &amp; 2 &amp; 4 &amp; | &amp; 6 \\\\ 0 &amp; 0 &amp; 0 &amp; | &amp; 0 \\end{bmatrix}\n$$\n  \n主元位于 (1,1) 和 (2,2)。操作必须严格按“从左至右、从上至下”顺序进行，禁止跳列或提前处理下方行，否则破坏阶梯结构。每步变换须为合法初等行变换，完成时须明确标出所有主元并验证结构合规。", "module_id": "lesson_goal", "module_instance_id": "tsb-66ca62aa7db1", "planned_minutes": 2, "ppt_page_group_id": "L2-1-2:ppt-page-group:1", "summary": "掌握将三阶增广矩阵化为行阶梯形的操作流程，能规范执行三类初等行变换：行交换、行倍乘、行倍加。目标是形成满足以下条件的矩阵：每行首个非零元（主元）严格位于上一行主元右侧；全零行在最下方；主元下方元素全为零。对矩阵 begin{bmatrix}", "title": "本节任务"}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[tsb-77e892da6b41 @ cbr_b1241a4645f20ade89424443]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初等行变换仅限三种：行交换、行倍乘、行倍加。行交换指互换两行位置，记为 $R_i \leftrightarrow R_j$，必须完整交换整行，不可部分交换；行倍乘指将某行所有元素乘以非零常数 $k$，记为 $R_i \leftarrow kR_i$，$k \neq 0$，否则将破坏方程组的解集；行倍加指将某行的 $k$ 倍加到另一行，记为 $R_j \leftarrow R_j + kR_i$，其中 $i \neq j$，$k$ 可为任意实数，但不可对同一行执行倍加后立即倍乘，以免混淆变换顺序。高斯消元必须按“从左至右、从上至下”顺序处理：先定位最左非零列，若其首行元素为零，则执行行交换使非零元居首；再通过倍乘使该位置主元为1（非必须，但可简化后续计算）；随后用倍加消去该列下方所有元素。以矩阵 </a:t>
            </a:r>
          </a:p>
          <a:p>
            <a:r>
              <a:t>$$</a:t>
            </a:r>
          </a:p>
          <a:p>
            <a:r>
              <a:t>\begin{bmatrix} 0 &amp; 2 &amp; 4 &amp; | &amp; 6 \\ 1 &amp; -1 &amp; 2 &amp; | &amp; 3 \\ 0 &amp; 4 &amp; 8 &amp; | &amp; 12 \end{bmatrix}</a:t>
            </a:r>
          </a:p>
          <a:p>
            <a:r>
              <a:t>$$</a:t>
            </a:r>
          </a:p>
          <a:p>
            <a:r>
              <a:t> 为例，首列首元为零，故执行 $R_1 \leftrightarrow R_2$ 得 </a:t>
            </a:r>
          </a:p>
          <a:p>
            <a:r>
              <a:t>$$</a:t>
            </a:r>
          </a:p>
          <a:p>
            <a:r>
              <a:t>\begin{bmatrix} 1 &amp; -1 &amp; 2 &amp; | &amp; 3 \\ 0 &amp; 2 &amp; 4 &amp; | &amp; 6 \\ 0 &amp; 4 &amp; 8 &amp; | &amp; 12 \end{bmatrix}</a:t>
            </a:r>
          </a:p>
          <a:p>
            <a:r>
              <a:t>$$</a:t>
            </a:r>
          </a:p>
          <a:p>
            <a:r>
              <a:t>；第二列主元为2，执行 $R_3 \leftarrow R_3 - 2R_2$ 得 </a:t>
            </a:r>
          </a:p>
          <a:p>
            <a:r>
              <a:t>$$</a:t>
            </a:r>
          </a:p>
          <a:p>
            <a:r>
              <a:t>\begin{bmatrix} 1 &amp; -1 &amp; 2 &amp; | &amp; 3 \\ 0 &amp; 2 &amp; 4 &amp; | &amp; 6 \\ 0 &amp; 0 &amp; 0 &amp; | &amp; 0 \end{bmatrix}</a:t>
            </a:r>
          </a:p>
          <a:p>
            <a:r>
              <a:t>$$</a:t>
            </a:r>
          </a:p>
          <a:p>
            <a:r>
              <a:t>，此时主元位于 (1,1) 与 (2,2)，下方全零行居底，符合行阶梯形定义。任何跳过左列、提前处理下方行、或使用非零倍乘后未消下方元素的操作，均破坏阶梯结构。</a:t>
            </a:r>
          </a:p>
          <a:p>
            <a:r>
              <a:t>source_payload: {"content_perspective": "teacher_delivery", "knowledge_binding_status": null, "markdown": "初等行变换仅限三种：行交换、行倍乘、行倍加。行交换指互换两行位置，记为 $R_i \\leftrightarrow R_j$，必须完整交换整行，不可部分交换；行倍乘指将某行所有元素乘以非零常数 $k$，记为 $R_i \\leftarrow kR_i$，$k \\neq 0$，否则将破坏方程组的解集；行倍加指将某行的 $k$ 倍加到另一行，记为 $R_j \\leftarrow R_j + kR_i$，其中 $i \\neq j$，$k$ 可为任意实数，但不可对同一行执行倍加后立即倍乘，以免混淆变换顺序。高斯消元必须按“从左至右、从上至下”顺序处理：先定位最左非零列，若其首行元素为零，则执行行交换使非零元居首；再通过倍乘使该位置主元为1（非必须，但可简化后续计算）；随后用倍加消去该列下方所有元素。以矩阵 \n$$\n\\begin{bmatrix} 0 &amp; 2 &amp; 4 &amp; | &amp; 6 \\\\ 1 &amp; -1 &amp; 2 &amp; | &amp; 3 \\\\ 0 &amp; 4 &amp; 8 &amp; | &amp; 12 \\end{bmatrix}\n$$\n 为例，首列首元为零，故执行 $R_1 \\leftrightarrow R_2$ 得 \n$$\n\\begin{bmatrix} 1 &amp; -1 &amp; 2 &amp; | &amp; 3 \\\\ 0 &amp; 2 &amp; 4 &amp; | &amp; 6 \\\\ 0 &amp; 4 &amp; 8 &amp; | &amp; 12 \\end{bmatrix}\n$$\n；第二列主元为2，执行 $R_3 \\leftarrow R_3 - 2R_2$ 得 \n$$\n\\begin{bmatrix} 1 &amp; -1 &amp; 2 &amp; | &amp; 3 \\\\ 0 &amp; 2 &amp; 4 &amp; | &amp; 6 \\\\ 0 &amp; 0 &amp; 0 &amp; | &amp; 0 \\end{bmatrix}\n$$\n，此时主元位于 (1,1) 与 (2,2)，下方全零行居底，符合行阶梯形定义。任何跳过左列、提前处理下方行、或使用非零倍乘后未消下方元素的操作，均破坏阶梯结构。", "module_id": "core_explanation", "module_instance_id": "tsb-77e892da6b41", "planned_minutes": 2, "ppt_page_group_id": "L2-1-2:ppt-page-group:1", "summary": "初等行变换仅限三种：行交换、行倍乘、行倍加。行交换指互换两行位置，记为 R i leftrightarrow R j ，必须完整交换整行，不可部分交换；行倍乘指将某行所有元素乘以非零常数 k ，记为 R i leftarrow kR i ，", "title": "核心教学"}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[tsb-77e892da6b41 @ cbr_b1241a4645f20ade89424443]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初等行变换仅限三种：行交换、行倍乘、行倍加。行交换指互换两行位置，记为 $R_i \leftrightarrow R_j$，必须完整交换整行，不可部分交换；行倍乘指将某行所有元素乘以非零常数 $k$，记为 $R_i \leftarrow kR_i$，$k \neq 0$，否则将破坏方程组的解集；行倍加指将某行的 $k$ 倍加到另一行，记为 $R_j \leftarrow R_j + kR_i$，其中 $i \neq j$，$k$ 可为任意实数，但不可对同一行执行倍加后立即倍乘，以免混淆变换顺序。高斯消元必须按“从左至右、从上至下”顺序处理：先定位最左非零列，若其首行元素为零，则执行行交换使非零元居首；再通过倍乘使该位置主元为1（非必须，但可简化后续计算）；随后用倍加消去该列下方所有元素。以矩阵 </a:t>
            </a:r>
          </a:p>
          <a:p>
            <a:r>
              <a:t>$$</a:t>
            </a:r>
          </a:p>
          <a:p>
            <a:r>
              <a:t>\begin{bmatrix} 0 &amp; 2 &amp; 4 &amp; | &amp; 6 \\ 1 &amp; -1 &amp; 2 &amp; | &amp; 3 \\ 0 &amp; 4 &amp; 8 &amp; | &amp; 12 \end{bmatrix}</a:t>
            </a:r>
          </a:p>
          <a:p>
            <a:r>
              <a:t>$$</a:t>
            </a:r>
          </a:p>
          <a:p>
            <a:r>
              <a:t> 为例，首列首元为零，故执行 $R_1 \leftrightarrow R_2$ 得 </a:t>
            </a:r>
          </a:p>
          <a:p>
            <a:r>
              <a:t>$$</a:t>
            </a:r>
          </a:p>
          <a:p>
            <a:r>
              <a:t>\begin{bmatrix} 1 &amp; -1 &amp; 2 &amp; | &amp; 3 \\ 0 &amp; 2 &amp; 4 &amp; | &amp; 6 \\ 0 &amp; 4 &amp; 8 &amp; | &amp; 12 \end{bmatrix}</a:t>
            </a:r>
          </a:p>
          <a:p>
            <a:r>
              <a:t>$$</a:t>
            </a:r>
          </a:p>
          <a:p>
            <a:r>
              <a:t>；第二列主元为2，执行 $R_3 \leftarrow R_3 - 2R_2$ 得 </a:t>
            </a:r>
          </a:p>
          <a:p>
            <a:r>
              <a:t>$$</a:t>
            </a:r>
          </a:p>
          <a:p>
            <a:r>
              <a:t>\begin{bmatrix} 1 &amp; -1 &amp; 2 &amp; | &amp; 3 \\ 0 &amp; 2 &amp; 4 &amp; | &amp; 6 \\ 0 &amp; 0 &amp; 0 &amp; | &amp; 0 \end{bmatrix}</a:t>
            </a:r>
          </a:p>
          <a:p>
            <a:r>
              <a:t>$$</a:t>
            </a:r>
          </a:p>
          <a:p>
            <a:r>
              <a:t>，此时主元位于 (1,1) 与 (2,2)，下方全零行居底，符合行阶梯形定义。任何跳过左列、提前处理下方行、或使用非零倍乘后未消下方元素的操作，均破坏阶梯结构。</a:t>
            </a:r>
          </a:p>
          <a:p>
            <a:r>
              <a:t>source_payload: {"content_perspective": "teacher_delivery", "knowledge_binding_status": null, "markdown": "初等行变换仅限三种：行交换、行倍乘、行倍加。行交换指互换两行位置，记为 $R_i \\leftrightarrow R_j$，必须完整交换整行，不可部分交换；行倍乘指将某行所有元素乘以非零常数 $k$，记为 $R_i \\leftarrow kR_i$，$k \\neq 0$，否则将破坏方程组的解集；行倍加指将某行的 $k$ 倍加到另一行，记为 $R_j \\leftarrow R_j + kR_i$，其中 $i \\neq j$，$k$ 可为任意实数，但不可对同一行执行倍加后立即倍乘，以免混淆变换顺序。高斯消元必须按“从左至右、从上至下”顺序处理：先定位最左非零列，若其首行元素为零，则执行行交换使非零元居首；再通过倍乘使该位置主元为1（非必须，但可简化后续计算）；随后用倍加消去该列下方所有元素。以矩阵 \n$$\n\\begin{bmatrix} 0 &amp; 2 &amp; 4 &amp; | &amp; 6 \\\\ 1 &amp; -1 &amp; 2 &amp; | &amp; 3 \\\\ 0 &amp; 4 &amp; 8 &amp; | &amp; 12 \\end{bmatrix}\n$$\n 为例，首列首元为零，故执行 $R_1 \\leftrightarrow R_2$ 得 \n$$\n\\begin{bmatrix} 1 &amp; -1 &amp; 2 &amp; | &amp; 3 \\\\ 0 &amp; 2 &amp; 4 &amp; | &amp; 6 \\\\ 0 &amp; 4 &amp; 8 &amp; | &amp; 12 \\end{bmatrix}\n$$\n；第二列主元为2，执行 $R_3 \\leftarrow R_3 - 2R_2$ 得 \n$$\n\\begin{bmatrix} 1 &amp; -1 &amp; 2 &amp; | &amp; 3 \\\\ 0 &amp; 2 &amp; 4 &amp; | &amp; 6 \\\\ 0 &amp; 0 &amp; 0 &amp; | &amp; 0 \\end{bmatrix}\n$$\n，此时主元位于 (1,1) 与 (2,2)，下方全零行居底，符合行阶梯形定义。任何跳过左列、提前处理下方行、或使用非零倍乘后未消下方元素的操作，均破坏阶梯结构。", "module_id": "core_explanation", "module_instance_id": "tsb-77e892da6b41", "planned_minutes": 2, "ppt_page_group_id": "L2-1-2:ppt-page-group:1", "summary": "初等行变换仅限三种：行交换、行倍乘、行倍加。行交换指互换两行位置，记为 R i leftrightarrow R j ，必须完整交换整行，不可部分交换；行倍乘指将某行所有元素乘以非零常数 k ，记为 R i leftarrow kR i ，", "title": "核心教学"}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[tsb-04b350d7dad0 @ cbr_2b35ab5a1d6dfbe443eafff1]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给定增广矩阵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0 &amp; 3 &amp; -2 &amp; | &amp; 6 \\</a:t>
            </a:r>
          </a:p>
          <a:p>
            <a:r>
              <a:t>2 &amp; -1 &amp; 4 &amp; | &amp; 5 \\</a:t>
            </a:r>
          </a:p>
          <a:p>
            <a:r>
              <a:t>0 &amp; 6 &amp; -4 &amp; | &amp; 12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要求将其化为行阶梯形，每一步必须明确写出所用初等行变换类型（行交换、倍乘、倍加），并标注变换后矩阵中主元的位置。主元定义为每行最左侧非零元素，且必须位于前一行主元的右侧；零行必须位于所有非零行下方。变换过程中禁止跳过非零首元列，禁止在未处理当前列前进入下一列。参考解法：首先执行 $ R_1 \leftrightarrow R_2 $，使第一行首元非零，得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2 &amp; -1 &amp; 4 &amp; | &amp; 5 \\</a:t>
            </a:r>
          </a:p>
          <a:p>
            <a:r>
              <a:t>0 &amp; 3 &amp; -2 &amp; | &amp; 6 \\</a:t>
            </a:r>
          </a:p>
          <a:p>
            <a:r>
              <a:t>0 &amp; 6 &amp; -4 &amp; | &amp; 12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主元位于 $(1,1)$；随后对第三行执行 $ R_3 \leftarrow R_3 - 2R_2 $，得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2 &amp; -1 &amp; 4 &amp; | &amp; 5 \\</a:t>
            </a:r>
          </a:p>
          <a:p>
            <a:r>
              <a:t>0 &amp; 3 &amp; -2 &amp; | &amp; 6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主元位于 $(1,1)$ 和 $(2,2)$，第三行为零行。验收标准：最终矩阵中，非零行数为2，主元严格右移，主元下方全为零，且每步变换均属合法初等行变换。若未执行行交换而直接对 $ R_3 $ 消元，或在 $ R_2 $ 未处理时对 $ R_3 $ 使用 $ R_3 \leftarrow R_3 - 2R_1 $，均属错误，因前者破坏主元列顺序，后者导致主元未在最左非零位置形成阶梯结构。</a:t>
            </a:r>
          </a:p>
          <a:p>
            <a:r>
              <a:t>source_payload: {"content_perspective": "teacher_delivery", "knowledge_binding_status": null, "markdown": "给定增广矩阵  \n\n$$\n\\begin{bmatrix}\n0 &amp; 3 &amp; -2 &amp; | &amp; 6 \\\\\n2 &amp; -1 &amp; 4 &amp; | &amp; 5 \\\\\n0 &amp; 6 &amp; -4 &amp; | &amp; 12\n\\end{bmatrix}\n$$\n  \n要求将其化为行阶梯形，每一步必须明确写出所用初等行变换类型（行交换、倍乘、倍加），并标注变换后矩阵中主元的位置。主元定义为每行最左侧非零元素，且必须位于前一行主元的右侧；零行必须位于所有非零行下方。变换过程中禁止跳过非零首元列，禁止在未处理当前列前进入下一列。参考解法：首先执行 $ R_1 \\leftrightarrow R_2 $，使第一行首元非零，得  \n\n$$\n\\begin{bmatrix}\n2 &amp; -1 &amp; 4 &amp; | &amp; 5 \\\\\n0 &amp; 3 &amp; -2 &amp; | &amp; 6 \\\\\n0 &amp; 6 &amp; -4 &amp; | &amp; 12\n\\end{bmatrix}\n$$\n  \n主元位于 $(1,1)$；随后对第三行执行 $ R_3 \\leftarrow R_3 - 2R_2 $，得  \n\n$$\n\\begin{bmatrix}\n2 &amp; -1 &amp; 4 &amp; | &amp; 5 \\\\\n0 &amp; 3 &amp; -2 &amp; | &amp; 6 \\\\\n0 &amp; 0 &amp; 0 &amp; | &amp; 0\n\\end{bmatrix}\n$$\n  \n主元位于 $(1,1)$ 和 $(2,2)$，第三行为零行。验收标准：最终矩阵中，非零行数为2，主元严格右移，主元下方全为零，且每步变换均属合法初等行变换。若未执行行交换而直接对 $ R_3 $ 消元，或在 $ R_2 $ 未处理时对 $ R_3 $ 使用 $ R_3 \\leftarrow R_3 - 2R_1 $，均属错误，因前者破坏主元列顺序，后者导致主元未在最左非零位置形成阶梯结构。", "module_id": "learner_action", "module_instance_id": "tsb-04b350d7dad0", "planned_minutes": 2, "ppt_page_group_id": "L2-1-2:ppt-page-group:2", "summary": "给定增广矩阵 begin{bmatrix} 0 &amp; 3 &amp; 2 &amp; | &amp; 6 2 &amp; 1 &amp; 4 &amp; | &amp; 5 0 &amp; 6 &amp; 4 &amp; | &amp; 12 end{bmatrix} 要求将其化为行阶梯形，每一步必须明确写出所用初等行变换类型（", "title": "学习者行动"}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[tsb-04b350d7dad0 @ cbr_2b35ab5a1d6dfbe443eafff1]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给定增广矩阵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0 &amp; 3 &amp; -2 &amp; | &amp; 6 \\</a:t>
            </a:r>
          </a:p>
          <a:p>
            <a:r>
              <a:t>2 &amp; -1 &amp; 4 &amp; | &amp; 5 \\</a:t>
            </a:r>
          </a:p>
          <a:p>
            <a:r>
              <a:t>0 &amp; 6 &amp; -4 &amp; | &amp; 12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要求将其化为行阶梯形，每一步必须明确写出所用初等行变换类型（行交换、倍乘、倍加），并标注变换后矩阵中主元的位置。主元定义为每行最左侧非零元素，且必须位于前一行主元的右侧；零行必须位于所有非零行下方。变换过程中禁止跳过非零首元列，禁止在未处理当前列前进入下一列。参考解法：首先执行 $ R_1 \leftrightarrow R_2 $，使第一行首元非零，得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2 &amp; -1 &amp; 4 &amp; | &amp; 5 \\</a:t>
            </a:r>
          </a:p>
          <a:p>
            <a:r>
              <a:t>0 &amp; 3 &amp; -2 &amp; | &amp; 6 \\</a:t>
            </a:r>
          </a:p>
          <a:p>
            <a:r>
              <a:t>0 &amp; 6 &amp; -4 &amp; | &amp; 12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主元位于 $(1,1)$；随后对第三行执行 $ R_3 \leftarrow R_3 - 2R_2 $，得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2 &amp; -1 &amp; 4 &amp; | &amp; 5 \\</a:t>
            </a:r>
          </a:p>
          <a:p>
            <a:r>
              <a:t>0 &amp; 3 &amp; -2 &amp; | &amp; 6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主元位于 $(1,1)$ 和 $(2,2)$，第三行为零行。验收标准：最终矩阵中，非零行数为2，主元严格右移，主元下方全为零，且每步变换均属合法初等行变换。若未执行行交换而直接对 $ R_3 $ 消元，或在 $ R_2 $ 未处理时对 $ R_3 $ 使用 $ R_3 \leftarrow R_3 - 2R_1 $，均属错误，因前者破坏主元列顺序，后者导致主元未在最左非零位置形成阶梯结构。</a:t>
            </a:r>
          </a:p>
          <a:p>
            <a:r>
              <a:t>source_payload: {"content_perspective": "teacher_delivery", "knowledge_binding_status": null, "markdown": "给定增广矩阵  \n\n$$\n\\begin{bmatrix}\n0 &amp; 3 &amp; -2 &amp; | &amp; 6 \\\\\n2 &amp; -1 &amp; 4 &amp; | &amp; 5 \\\\\n0 &amp; 6 &amp; -4 &amp; | &amp; 12\n\\end{bmatrix}\n$$\n  \n要求将其化为行阶梯形，每一步必须明确写出所用初等行变换类型（行交换、倍乘、倍加），并标注变换后矩阵中主元的位置。主元定义为每行最左侧非零元素，且必须位于前一行主元的右侧；零行必须位于所有非零行下方。变换过程中禁止跳过非零首元列，禁止在未处理当前列前进入下一列。参考解法：首先执行 $ R_1 \\leftrightarrow R_2 $，使第一行首元非零，得  \n\n$$\n\\begin{bmatrix}\n2 &amp; -1 &amp; 4 &amp; | &amp; 5 \\\\\n0 &amp; 3 &amp; -2 &amp; | &amp; 6 \\\\\n0 &amp; 6 &amp; -4 &amp; | &amp; 12\n\\end{bmatrix}\n$$\n  \n主元位于 $(1,1)$；随后对第三行执行 $ R_3 \\leftarrow R_3 - 2R_2 $，得  \n\n$$\n\\begin{bmatrix}\n2 &amp; -1 &amp; 4 &amp; | &amp; 5 \\\\\n0 &amp; 3 &amp; -2 &amp; | &amp; 6 \\\\\n0 &amp; 0 &amp; 0 &amp; | &amp; 0\n\\end{bmatrix}\n$$\n  \n主元位于 $(1,1)$ 和 $(2,2)$，第三行为零行。验收标准：最终矩阵中，非零行数为2，主元严格右移，主元下方全为零，且每步变换均属合法初等行变换。若未执行行交换而直接对 $ R_3 $ 消元，或在 $ R_2 $ 未处理时对 $ R_3 $ 使用 $ R_3 \\leftarrow R_3 - 2R_1 $，均属错误，因前者破坏主元列顺序，后者导致主元未在最左非零位置形成阶梯结构。", "module_id": "learner_action", "module_instance_id": "tsb-04b350d7dad0", "planned_minutes": 2, "ppt_page_group_id": "L2-1-2:ppt-page-group:2", "summary": "给定增广矩阵 begin{bmatrix} 0 &amp; 3 &amp; 2 &amp; | &amp; 6 2 &amp; 1 &amp; 4 &amp; | &amp; 5 0 &amp; 6 &amp; 4 &amp; | &amp; 12 end{bmatrix} 要求将其化为行阶梯形，每一步必须明确写出所用初等行变换类型（", "title": "学习者行动"}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[tsb-04b350d7dad0 @ cbr_2b35ab5a1d6dfbe443eafff1]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给定增广矩阵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0 &amp; 3 &amp; -2 &amp; | &amp; 6 \\</a:t>
            </a:r>
          </a:p>
          <a:p>
            <a:r>
              <a:t>2 &amp; -1 &amp; 4 &amp; | &amp; 5 \\</a:t>
            </a:r>
          </a:p>
          <a:p>
            <a:r>
              <a:t>0 &amp; 6 &amp; -4 &amp; | &amp; 12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要求将其化为行阶梯形，每一步必须明确写出所用初等行变换类型（行交换、倍乘、倍加），并标注变换后矩阵中主元的位置。主元定义为每行最左侧非零元素，且必须位于前一行主元的右侧；零行必须位于所有非零行下方。变换过程中禁止跳过非零首元列，禁止在未处理当前列前进入下一列。参考解法：首先执行 $ R_1 \leftrightarrow R_2 $，使第一行首元非零，得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2 &amp; -1 &amp; 4 &amp; | &amp; 5 \\</a:t>
            </a:r>
          </a:p>
          <a:p>
            <a:r>
              <a:t>0 &amp; 3 &amp; -2 &amp; | &amp; 6 \\</a:t>
            </a:r>
          </a:p>
          <a:p>
            <a:r>
              <a:t>0 &amp; 6 &amp; -4 &amp; | &amp; 12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主元位于 $(1,1)$；随后对第三行执行 $ R_3 \leftarrow R_3 - 2R_2 $，得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2 &amp; -1 &amp; 4 &amp; | &amp; 5 \\</a:t>
            </a:r>
          </a:p>
          <a:p>
            <a:r>
              <a:t>0 &amp; 3 &amp; -2 &amp; | &amp; 6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主元位于 $(1,1)$ 和 $(2,2)$，第三行为零行。验收标准：最终矩阵中，非零行数为2，主元严格右移，主元下方全为零，且每步变换均属合法初等行变换。若未执行行交换而直接对 $ R_3 $ 消元，或在 $ R_2 $ 未处理时对 $ R_3 $ 使用 $ R_3 \leftarrow R_3 - 2R_1 $，均属错误，因前者破坏主元列顺序，后者导致主元未在最左非零位置形成阶梯结构。</a:t>
            </a:r>
          </a:p>
          <a:p>
            <a:r>
              <a:t>source_payload: {"content_perspective": "teacher_delivery", "knowledge_binding_status": null, "markdown": "给定增广矩阵  \n\n$$\n\\begin{bmatrix}\n0 &amp; 3 &amp; -2 &amp; | &amp; 6 \\\\\n2 &amp; -1 &amp; 4 &amp; | &amp; 5 \\\\\n0 &amp; 6 &amp; -4 &amp; | &amp; 12\n\\end{bmatrix}\n$$\n  \n要求将其化为行阶梯形，每一步必须明确写出所用初等行变换类型（行交换、倍乘、倍加），并标注变换后矩阵中主元的位置。主元定义为每行最左侧非零元素，且必须位于前一行主元的右侧；零行必须位于所有非零行下方。变换过程中禁止跳过非零首元列，禁止在未处理当前列前进入下一列。参考解法：首先执行 $ R_1 \\leftrightarrow R_2 $，使第一行首元非零，得  \n\n$$\n\\begin{bmatrix}\n2 &amp; -1 &amp; 4 &amp; | &amp; 5 \\\\\n0 &amp; 3 &amp; -2 &amp; | &amp; 6 \\\\\n0 &amp; 6 &amp; -4 &amp; | &amp; 12\n\\end{bmatrix}\n$$\n  \n主元位于 $(1,1)$；随后对第三行执行 $ R_3 \\leftarrow R_3 - 2R_2 $，得  \n\n$$\n\\begin{bmatrix}\n2 &amp; -1 &amp; 4 &amp; | &amp; 5 \\\\\n0 &amp; 3 &amp; -2 &amp; | &amp; 6 \\\\\n0 &amp; 0 &amp; 0 &amp; | &amp; 0\n\\end{bmatrix}\n$$\n  \n主元位于 $(1,1)$ 和 $(2,2)$，第三行为零行。验收标准：最终矩阵中，非零行数为2，主元严格右移，主元下方全为零，且每步变换均属合法初等行变换。若未执行行交换而直接对 $ R_3 $ 消元，或在 $ R_2 $ 未处理时对 $ R_3 $ 使用 $ R_3 \\leftarrow R_3 - 2R_1 $，均属错误，因前者破坏主元列顺序，后者导致主元未在最左非零位置形成阶梯结构。", "module_id": "learner_action", "module_instance_id": "tsb-04b350d7dad0", "planned_minutes": 2, "ppt_page_group_id": "L2-1-2:ppt-page-group:2", "summary": "给定增广矩阵 begin{bmatrix} 0 &amp; 3 &amp; 2 &amp; | &amp; 6 2 &amp; 1 &amp; 4 &amp; | &amp; 5 0 &amp; 6 &amp; 4 &amp; | &amp; 12 end{bmatrix} 要求将其化为行阶梯形，每一步必须明确写出所用初等行变换类型（", "title": "学习者行动"}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[tsb-04b350d7dad0 @ cbr_2b35ab5a1d6dfbe443eafff1]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给定增广矩阵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0 &amp; 3 &amp; -2 &amp; | &amp; 6 \\</a:t>
            </a:r>
          </a:p>
          <a:p>
            <a:r>
              <a:t>2 &amp; -1 &amp; 4 &amp; | &amp; 5 \\</a:t>
            </a:r>
          </a:p>
          <a:p>
            <a:r>
              <a:t>0 &amp; 6 &amp; -4 &amp; | &amp; 12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要求将其化为行阶梯形，每一步必须明确写出所用初等行变换类型（行交换、倍乘、倍加），并标注变换后矩阵中主元的位置。主元定义为每行最左侧非零元素，且必须位于前一行主元的右侧；零行必须位于所有非零行下方。变换过程中禁止跳过非零首元列，禁止在未处理当前列前进入下一列。参考解法：首先执行 $ R_1 \leftrightarrow R_2 $，使第一行首元非零，得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2 &amp; -1 &amp; 4 &amp; | &amp; 5 \\</a:t>
            </a:r>
          </a:p>
          <a:p>
            <a:r>
              <a:t>0 &amp; 3 &amp; -2 &amp; | &amp; 6 \\</a:t>
            </a:r>
          </a:p>
          <a:p>
            <a:r>
              <a:t>0 &amp; 6 &amp; -4 &amp; | &amp; 12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主元位于 $(1,1)$；随后对第三行执行 $ R_3 \leftarrow R_3 - 2R_2 $，得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2 &amp; -1 &amp; 4 &amp; | &amp; 5 \\</a:t>
            </a:r>
          </a:p>
          <a:p>
            <a:r>
              <a:t>0 &amp; 3 &amp; -2 &amp; | &amp; 6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主元位于 $(1,1)$ 和 $(2,2)$，第三行为零行。验收标准：最终矩阵中，非零行数为2，主元严格右移，主元下方全为零，且每步变换均属合法初等行变换。若未执行行交换而直接对 $ R_3 $ 消元，或在 $ R_2 $ 未处理时对 $ R_3 $ 使用 $ R_3 \leftarrow R_3 - 2R_1 $，均属错误，因前者破坏主元列顺序，后者导致主元未在最左非零位置形成阶梯结构。</a:t>
            </a:r>
          </a:p>
          <a:p>
            <a:r>
              <a:t>source_payload: {"content_perspective": "teacher_delivery", "knowledge_binding_status": null, "markdown": "给定增广矩阵  \n\n$$\n\\begin{bmatrix}\n0 &amp; 3 &amp; -2 &amp; | &amp; 6 \\\\\n2 &amp; -1 &amp; 4 &amp; | &amp; 5 \\\\\n0 &amp; 6 &amp; -4 &amp; | &amp; 12\n\\end{bmatrix}\n$$\n  \n要求将其化为行阶梯形，每一步必须明确写出所用初等行变换类型（行交换、倍乘、倍加），并标注变换后矩阵中主元的位置。主元定义为每行最左侧非零元素，且必须位于前一行主元的右侧；零行必须位于所有非零行下方。变换过程中禁止跳过非零首元列，禁止在未处理当前列前进入下一列。参考解法：首先执行 $ R_1 \\leftrightarrow R_2 $，使第一行首元非零，得  \n\n$$\n\\begin{bmatrix}\n2 &amp; -1 &amp; 4 &amp; | &amp; 5 \\\\\n0 &amp; 3 &amp; -2 &amp; | &amp; 6 \\\\\n0 &amp; 6 &amp; -4 &amp; | &amp; 12\n\\end{bmatrix}\n$$\n  \n主元位于 $(1,1)$；随后对第三行执行 $ R_3 \\leftarrow R_3 - 2R_2 $，得  \n\n$$\n\\begin{bmatrix}\n2 &amp; -1 &amp; 4 &amp; | &amp; 5 \\\\\n0 &amp; 3 &amp; -2 &amp; | &amp; 6 \\\\\n0 &amp; 0 &amp; 0 &amp; | &amp; 0\n\\end{bmatrix}\n$$\n  \n主元位于 $(1,1)$ 和 $(2,2)$，第三行为零行。验收标准：最终矩阵中，非零行数为2，主元严格右移，主元下方全为零，且每步变换均属合法初等行变换。若未执行行交换而直接对 $ R_3 $ 消元，或在 $ R_2 $ 未处理时对 $ R_3 $ 使用 $ R_3 \\leftarrow R_3 - 2R_1 $，均属错误，因前者破坏主元列顺序，后者导致主元未在最左非零位置形成阶梯结构。", "module_id": "learner_action", "module_instance_id": "tsb-04b350d7dad0", "planned_minutes": 2, "ppt_page_group_id": "L2-1-2:ppt-page-group:2", "summary": "给定增广矩阵 begin{bmatrix} 0 &amp; 3 &amp; 2 &amp; | &amp; 6 2 &amp; 1 &amp; 4 &amp; | &amp; 5 0 &amp; 6 &amp; 4 &amp; | &amp; 12 end{bmatrix} 要求将其化为行阶梯形，每一步必须明确写出所用初等行变换类型（", "title": "学习者行动"}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[tsb-04b350d7dad0 @ cbr_2b35ab5a1d6dfbe443eafff1]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给定增广矩阵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0 &amp; 3 &amp; -2 &amp; | &amp; 6 \\</a:t>
            </a:r>
          </a:p>
          <a:p>
            <a:r>
              <a:t>2 &amp; -1 &amp; 4 &amp; | &amp; 5 \\</a:t>
            </a:r>
          </a:p>
          <a:p>
            <a:r>
              <a:t>0 &amp; 6 &amp; -4 &amp; | &amp; 12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要求将其化为行阶梯形，每一步必须明确写出所用初等行变换类型（行交换、倍乘、倍加），并标注变换后矩阵中主元的位置。主元定义为每行最左侧非零元素，且必须位于前一行主元的右侧；零行必须位于所有非零行下方。变换过程中禁止跳过非零首元列，禁止在未处理当前列前进入下一列。参考解法：首先执行 $ R_1 \leftrightarrow R_2 $，使第一行首元非零，得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2 &amp; -1 &amp; 4 &amp; | &amp; 5 \\</a:t>
            </a:r>
          </a:p>
          <a:p>
            <a:r>
              <a:t>0 &amp; 3 &amp; -2 &amp; | &amp; 6 \\</a:t>
            </a:r>
          </a:p>
          <a:p>
            <a:r>
              <a:t>0 &amp; 6 &amp; -4 &amp; | &amp; 12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主元位于 $(1,1)$；随后对第三行执行 $ R_3 \leftarrow R_3 - 2R_2 $，得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2 &amp; -1 &amp; 4 &amp; | &amp; 5 \\</a:t>
            </a:r>
          </a:p>
          <a:p>
            <a:r>
              <a:t>0 &amp; 3 &amp; -2 &amp; | &amp; 6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主元位于 $(1,1)$ 和 $(2,2)$，第三行为零行。验收标准：最终矩阵中，非零行数为2，主元严格右移，主元下方全为零，且每步变换均属合法初等行变换。若未执行行交换而直接对 $ R_3 $ 消元，或在 $ R_2 $ 未处理时对 $ R_3 $ 使用 $ R_3 \leftarrow R_3 - 2R_1 $，均属错误，因前者破坏主元列顺序，后者导致主元未在最左非零位置形成阶梯结构。</a:t>
            </a:r>
          </a:p>
          <a:p>
            <a:r>
              <a:t>source_payload: {"content_perspective": "teacher_delivery", "knowledge_binding_status": null, "markdown": "给定增广矩阵  \n\n$$\n\\begin{bmatrix}\n0 &amp; 3 &amp; -2 &amp; | &amp; 6 \\\\\n2 &amp; -1 &amp; 4 &amp; | &amp; 5 \\\\\n0 &amp; 6 &amp; -4 &amp; | &amp; 12\n\\end{bmatrix}\n$$\n  \n要求将其化为行阶梯形，每一步必须明确写出所用初等行变换类型（行交换、倍乘、倍加），并标注变换后矩阵中主元的位置。主元定义为每行最左侧非零元素，且必须位于前一行主元的右侧；零行必须位于所有非零行下方。变换过程中禁止跳过非零首元列，禁止在未处理当前列前进入下一列。参考解法：首先执行 $ R_1 \\leftrightarrow R_2 $，使第一行首元非零，得  \n\n$$\n\\begin{bmatrix}\n2 &amp; -1 &amp; 4 &amp; | &amp; 5 \\\\\n0 &amp; 3 &amp; -2 &amp; | &amp; 6 \\\\\n0 &amp; 6 &amp; -4 &amp; | &amp; 12\n\\end{bmatrix}\n$$\n  \n主元位于 $(1,1)$；随后对第三行执行 $ R_3 \\leftarrow R_3 - 2R_2 $，得  \n\n$$\n\\begin{bmatrix}\n2 &amp; -1 &amp; 4 &amp; | &amp; 5 \\\\\n0 &amp; 3 &amp; -2 &amp; | &amp; 6 \\\\\n0 &amp; 0 &amp; 0 &amp; | &amp; 0\n\\end{bmatrix}\n$$\n  \n主元位于 $(1,1)$ 和 $(2,2)$，第三行为零行。验收标准：最终矩阵中，非零行数为2，主元严格右移，主元下方全为零，且每步变换均属合法初等行变换。若未执行行交换而直接对 $ R_3 $ 消元，或在 $ R_2 $ 未处理时对 $ R_3 $ 使用 $ R_3 \\leftarrow R_3 - 2R_1 $，均属错误，因前者破坏主元列顺序，后者导致主元未在最左非零位置形成阶梯结构。", "module_id": "learner_action", "module_instance_id": "tsb-04b350d7dad0", "planned_minutes": 2, "ppt_page_group_id": "L2-1-2:ppt-page-group:2", "summary": "给定增广矩阵 begin{bmatrix} 0 &amp; 3 &amp; 2 &amp; | &amp; 6 2 &amp; 1 &amp; 4 &amp; | &amp; 5 0 &amp; 6 &amp; 4 &amp; | &amp; 12 end{bmatrix} 要求将其化为行阶梯形，每一步必须明确写出所用初等行变换类型（", "title": "学习者行动"}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[tsb-04b350d7dad0 @ cbr_2b35ab5a1d6dfbe443eafff1]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给定增广矩阵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0 &amp; 3 &amp; -2 &amp; | &amp; 6 \\</a:t>
            </a:r>
          </a:p>
          <a:p>
            <a:r>
              <a:t>2 &amp; -1 &amp; 4 &amp; | &amp; 5 \\</a:t>
            </a:r>
          </a:p>
          <a:p>
            <a:r>
              <a:t>0 &amp; 6 &amp; -4 &amp; | &amp; 12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要求将其化为行阶梯形，每一步必须明确写出所用初等行变换类型（行交换、倍乘、倍加），并标注变换后矩阵中主元的位置。主元定义为每行最左侧非零元素，且必须位于前一行主元的右侧；零行必须位于所有非零行下方。变换过程中禁止跳过非零首元列，禁止在未处理当前列前进入下一列。参考解法：首先执行 $ R_1 \leftrightarrow R_2 $，使第一行首元非零，得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2 &amp; -1 &amp; 4 &amp; | &amp; 5 \\</a:t>
            </a:r>
          </a:p>
          <a:p>
            <a:r>
              <a:t>0 &amp; 3 &amp; -2 &amp; | &amp; 6 \\</a:t>
            </a:r>
          </a:p>
          <a:p>
            <a:r>
              <a:t>0 &amp; 6 &amp; -4 &amp; | &amp; 12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主元位于 $(1,1)$；随后对第三行执行 $ R_3 \leftarrow R_3 - 2R_2 $，得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2 &amp; -1 &amp; 4 &amp; | &amp; 5 \\</a:t>
            </a:r>
          </a:p>
          <a:p>
            <a:r>
              <a:t>0 &amp; 3 &amp; -2 &amp; | &amp; 6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主元位于 $(1,1)$ 和 $(2,2)$，第三行为零行。验收标准：最终矩阵中，非零行数为2，主元严格右移，主元下方全为零，且每步变换均属合法初等行变换。若未执行行交换而直接对 $ R_3 $ 消元，或在 $ R_2 $ 未处理时对 $ R_3 $ 使用 $ R_3 \leftarrow R_3 - 2R_1 $，均属错误，因前者破坏主元列顺序，后者导致主元未在最左非零位置形成阶梯结构。</a:t>
            </a:r>
          </a:p>
          <a:p>
            <a:r>
              <a:t>source_payload: {"content_perspective": "teacher_delivery", "knowledge_binding_status": null, "markdown": "给定增广矩阵  \n\n$$\n\\begin{bmatrix}\n0 &amp; 3 &amp; -2 &amp; | &amp; 6 \\\\\n2 &amp; -1 &amp; 4 &amp; | &amp; 5 \\\\\n0 &amp; 6 &amp; -4 &amp; | &amp; 12\n\\end{bmatrix}\n$$\n  \n要求将其化为行阶梯形，每一步必须明确写出所用初等行变换类型（行交换、倍乘、倍加），并标注变换后矩阵中主元的位置。主元定义为每行最左侧非零元素，且必须位于前一行主元的右侧；零行必须位于所有非零行下方。变换过程中禁止跳过非零首元列，禁止在未处理当前列前进入下一列。参考解法：首先执行 $ R_1 \\leftrightarrow R_2 $，使第一行首元非零，得  \n\n$$\n\\begin{bmatrix}\n2 &amp; -1 &amp; 4 &amp; | &amp; 5 \\\\\n0 &amp; 3 &amp; -2 &amp; | &amp; 6 \\\\\n0 &amp; 6 &amp; -4 &amp; | &amp; 12\n\\end{bmatrix}\n$$\n  \n主元位于 $(1,1)$；随后对第三行执行 $ R_3 \\leftarrow R_3 - 2R_2 $，得  \n\n$$\n\\begin{bmatrix}\n2 &amp; -1 &amp; 4 &amp; | &amp; 5 \\\\\n0 &amp; 3 &amp; -2 &amp; | &amp; 6 \\\\\n0 &amp; 0 &amp; 0 &amp; | &amp; 0\n\\end{bmatrix}\n$$\n  \n主元位于 $(1,1)$ 和 $(2,2)$，第三行为零行。验收标准：最终矩阵中，非零行数为2，主元严格右移，主元下方全为零，且每步变换均属合法初等行变换。若未执行行交换而直接对 $ R_3 $ 消元，或在 $ R_2 $ 未处理时对 $ R_3 $ 使用 $ R_3 \\leftarrow R_3 - 2R_1 $，均属错误，因前者破坏主元列顺序，后者导致主元未在最左非零位置形成阶梯结构。", "module_id": "learner_action", "module_instance_id": "tsb-04b350d7dad0", "planned_minutes": 2, "ppt_page_group_id": "L2-1-2:ppt-page-group:2", "summary": "给定增广矩阵 begin{bmatrix} 0 &amp; 3 &amp; 2 &amp; | &amp; 6 2 &amp; 1 &amp; 4 &amp; | &amp; 5 0 &amp; 6 &amp; 4 &amp; | &amp; 12 end{bmatrix} 要求将其化为行阶梯形，每一步必须明确写出所用初等行变换类型（", "title": "学习者行动"}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[tsb-04b350d7dad0 @ cbr_2b35ab5a1d6dfbe443eafff1]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给定增广矩阵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0 &amp; 3 &amp; -2 &amp; | &amp; 6 \\</a:t>
            </a:r>
          </a:p>
          <a:p>
            <a:r>
              <a:t>2 &amp; -1 &amp; 4 &amp; | &amp; 5 \\</a:t>
            </a:r>
          </a:p>
          <a:p>
            <a:r>
              <a:t>0 &amp; 6 &amp; -4 &amp; | &amp; 12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要求将其化为行阶梯形，每一步必须明确写出所用初等行变换类型（行交换、倍乘、倍加），并标注变换后矩阵中主元的位置。主元定义为每行最左侧非零元素，且必须位于前一行主元的右侧；零行必须位于所有非零行下方。变换过程中禁止跳过非零首元列，禁止在未处理当前列前进入下一列。参考解法：首先执行 $ R_1 \leftrightarrow R_2 $，使第一行首元非零，得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2 &amp; -1 &amp; 4 &amp; | &amp; 5 \\</a:t>
            </a:r>
          </a:p>
          <a:p>
            <a:r>
              <a:t>0 &amp; 3 &amp; -2 &amp; | &amp; 6 \\</a:t>
            </a:r>
          </a:p>
          <a:p>
            <a:r>
              <a:t>0 &amp; 6 &amp; -4 &amp; | &amp; 12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主元位于 $(1,1)$；随后对第三行执行 $ R_3 \leftarrow R_3 - 2R_2 $，得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2 &amp; -1 &amp; 4 &amp; | &amp; 5 \\</a:t>
            </a:r>
          </a:p>
          <a:p>
            <a:r>
              <a:t>0 &amp; 3 &amp; -2 &amp; | &amp; 6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主元位于 $(1,1)$ 和 $(2,2)$，第三行为零行。验收标准：最终矩阵中，非零行数为2，主元严格右移，主元下方全为零，且每步变换均属合法初等行变换。若未执行行交换而直接对 $ R_3 $ 消元，或在 $ R_2 $ 未处理时对 $ R_3 $ 使用 $ R_3 \leftarrow R_3 - 2R_1 $，均属错误，因前者破坏主元列顺序，后者导致主元未在最左非零位置形成阶梯结构。</a:t>
            </a:r>
          </a:p>
          <a:p>
            <a:r>
              <a:t>source_payload: {"content_perspective": "teacher_delivery", "knowledge_binding_status": null, "markdown": "给定增广矩阵  \n\n$$\n\\begin{bmatrix}\n0 &amp; 3 &amp; -2 &amp; | &amp; 6 \\\\\n2 &amp; -1 &amp; 4 &amp; | &amp; 5 \\\\\n0 &amp; 6 &amp; -4 &amp; | &amp; 12\n\\end{bmatrix}\n$$\n  \n要求将其化为行阶梯形，每一步必须明确写出所用初等行变换类型（行交换、倍乘、倍加），并标注变换后矩阵中主元的位置。主元定义为每行最左侧非零元素，且必须位于前一行主元的右侧；零行必须位于所有非零行下方。变换过程中禁止跳过非零首元列，禁止在未处理当前列前进入下一列。参考解法：首先执行 $ R_1 \\leftrightarrow R_2 $，使第一行首元非零，得  \n\n$$\n\\begin{bmatrix}\n2 &amp; -1 &amp; 4 &amp; | &amp; 5 \\\\\n0 &amp; 3 &amp; -2 &amp; | &amp; 6 \\\\\n0 &amp; 6 &amp; -4 &amp; | &amp; 12\n\\end{bmatrix}\n$$\n  \n主元位于 $(1,1)$；随后对第三行执行 $ R_3 \\leftarrow R_3 - 2R_2 $，得  \n\n$$\n\\begin{bmatrix}\n2 &amp; -1 &amp; 4 &amp; | &amp; 5 \\\\\n0 &amp; 3 &amp; -2 &amp; | &amp; 6 \\\\\n0 &amp; 0 &amp; 0 &amp; | &amp; 0\n\\end{bmatrix}\n$$\n  \n主元位于 $(1,1)$ 和 $(2,2)$，第三行为零行。验收标准：最终矩阵中，非零行数为2，主元严格右移，主元下方全为零，且每步变换均属合法初等行变换。若未执行行交换而直接对 $ R_3 $ 消元，或在 $ R_2 $ 未处理时对 $ R_3 $ 使用 $ R_3 \\leftarrow R_3 - 2R_1 $，均属错误，因前者破坏主元列顺序，后者导致主元未在最左非零位置形成阶梯结构。", "module_id": "learner_action", "module_instance_id": "tsb-04b350d7dad0", "planned_minutes": 2, "ppt_page_group_id": "L2-1-2:ppt-page-group:2", "summary": "给定增广矩阵 begin{bmatrix} 0 &amp; 3 &amp; 2 &amp; | &amp; 6 2 &amp; 1 &amp; 4 &amp; | &amp; 5 0 &amp; 6 &amp; 4 &amp; | &amp; 12 end{bmatrix} 要求将其化为行阶梯形，每一步必须明确写出所用初等行变换类型（", "title": "学习者行动"}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[tsb-04b350d7dad0 @ cbr_2b35ab5a1d6dfbe443eafff1]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给定增广矩阵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0 &amp; 3 &amp; -2 &amp; | &amp; 6 \\</a:t>
            </a:r>
          </a:p>
          <a:p>
            <a:r>
              <a:t>2 &amp; -1 &amp; 4 &amp; | &amp; 5 \\</a:t>
            </a:r>
          </a:p>
          <a:p>
            <a:r>
              <a:t>0 &amp; 6 &amp; -4 &amp; | &amp; 12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要求将其化为行阶梯形，每一步必须明确写出所用初等行变换类型（行交换、倍乘、倍加），并标注变换后矩阵中主元的位置。主元定义为每行最左侧非零元素，且必须位于前一行主元的右侧；零行必须位于所有非零行下方。变换过程中禁止跳过非零首元列，禁止在未处理当前列前进入下一列。参考解法：首先执行 $ R_1 \leftrightarrow R_2 $，使第一行首元非零，得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2 &amp; -1 &amp; 4 &amp; | &amp; 5 \\</a:t>
            </a:r>
          </a:p>
          <a:p>
            <a:r>
              <a:t>0 &amp; 3 &amp; -2 &amp; | &amp; 6 \\</a:t>
            </a:r>
          </a:p>
          <a:p>
            <a:r>
              <a:t>0 &amp; 6 &amp; -4 &amp; | &amp; 12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主元位于 $(1,1)$；随后对第三行执行 $ R_3 \leftarrow R_3 - 2R_2 $，得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2 &amp; -1 &amp; 4 &amp; | &amp; 5 \\</a:t>
            </a:r>
          </a:p>
          <a:p>
            <a:r>
              <a:t>0 &amp; 3 &amp; -2 &amp; | &amp; 6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主元位于 $(1,1)$ 和 $(2,2)$，第三行为零行。验收标准：最终矩阵中，非零行数为2，主元严格右移，主元下方全为零，且每步变换均属合法初等行变换。若未执行行交换而直接对 $ R_3 $ 消元，或在 $ R_2 $ 未处理时对 $ R_3 $ 使用 $ R_3 \leftarrow R_3 - 2R_1 $，均属错误，因前者破坏主元列顺序，后者导致主元未在最左非零位置形成阶梯结构。</a:t>
            </a:r>
          </a:p>
          <a:p>
            <a:r>
              <a:t>source_payload: {"content_perspective": "teacher_delivery", "knowledge_binding_status": null, "markdown": "给定增广矩阵  \n\n$$\n\\begin{bmatrix}\n0 &amp; 3 &amp; -2 &amp; | &amp; 6 \\\\\n2 &amp; -1 &amp; 4 &amp; | &amp; 5 \\\\\n0 &amp; 6 &amp; -4 &amp; | &amp; 12\n\\end{bmatrix}\n$$\n  \n要求将其化为行阶梯形，每一步必须明确写出所用初等行变换类型（行交换、倍乘、倍加），并标注变换后矩阵中主元的位置。主元定义为每行最左侧非零元素，且必须位于前一行主元的右侧；零行必须位于所有非零行下方。变换过程中禁止跳过非零首元列，禁止在未处理当前列前进入下一列。参考解法：首先执行 $ R_1 \\leftrightarrow R_2 $，使第一行首元非零，得  \n\n$$\n\\begin{bmatrix}\n2 &amp; -1 &amp; 4 &amp; | &amp; 5 \\\\\n0 &amp; 3 &amp; -2 &amp; | &amp; 6 \\\\\n0 &amp; 6 &amp; -4 &amp; | &amp; 12\n\\end{bmatrix}\n$$\n  \n主元位于 $(1,1)$；随后对第三行执行 $ R_3 \\leftarrow R_3 - 2R_2 $，得  \n\n$$\n\\begin{bmatrix}\n2 &amp; -1 &amp; 4 &amp; | &amp; 5 \\\\\n0 &amp; 3 &amp; -2 &amp; | &amp; 6 \\\\\n0 &amp; 0 &amp; 0 &amp; | &amp; 0\n\\end{bmatrix}\n$$\n  \n主元位于 $(1,1)$ 和 $(2,2)$，第三行为零行。验收标准：最终矩阵中，非零行数为2，主元严格右移，主元下方全为零，且每步变换均属合法初等行变换。若未执行行交换而直接对 $ R_3 $ 消元，或在 $ R_2 $ 未处理时对 $ R_3 $ 使用 $ R_3 \\leftarrow R_3 - 2R_1 $，均属错误，因前者破坏主元列顺序，后者导致主元未在最左非零位置形成阶梯结构。", "module_id": "learner_action", "module_instance_id": "tsb-04b350d7dad0", "planned_minutes": 2, "ppt_page_group_id": "L2-1-2:ppt-page-group:2", "summary": "给定增广矩阵 begin{bmatrix} 0 &amp; 3 &amp; 2 &amp; | &amp; 6 2 &amp; 1 &amp; 4 &amp; | &amp; 5 0 &amp; 6 &amp; 4 &amp; | &amp; 12 end{bmatrix} 要求将其化为行阶梯形，每一步必须明确写出所用初等行变换类型（", "title": "学习者行动"}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[tsb-04b350d7dad0 @ cbr_2b35ab5a1d6dfbe443eafff1]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给定增广矩阵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0 &amp; 3 &amp; -2 &amp; | &amp; 6 \\</a:t>
            </a:r>
          </a:p>
          <a:p>
            <a:r>
              <a:t>2 &amp; -1 &amp; 4 &amp; | &amp; 5 \\</a:t>
            </a:r>
          </a:p>
          <a:p>
            <a:r>
              <a:t>0 &amp; 6 &amp; -4 &amp; | &amp; 12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要求将其化为行阶梯形，每一步必须明确写出所用初等行变换类型（行交换、倍乘、倍加），并标注变换后矩阵中主元的位置。主元定义为每行最左侧非零元素，且必须位于前一行主元的右侧；零行必须位于所有非零行下方。变换过程中禁止跳过非零首元列，禁止在未处理当前列前进入下一列。参考解法：首先执行 $ R_1 \leftrightarrow R_2 $，使第一行首元非零，得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2 &amp; -1 &amp; 4 &amp; | &amp; 5 \\</a:t>
            </a:r>
          </a:p>
          <a:p>
            <a:r>
              <a:t>0 &amp; 3 &amp; -2 &amp; | &amp; 6 \\</a:t>
            </a:r>
          </a:p>
          <a:p>
            <a:r>
              <a:t>0 &amp; 6 &amp; -4 &amp; | &amp; 12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主元位于 $(1,1)$；随后对第三行执行 $ R_3 \leftarrow R_3 - 2R_2 $，得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2 &amp; -1 &amp; 4 &amp; | &amp; 5 \\</a:t>
            </a:r>
          </a:p>
          <a:p>
            <a:r>
              <a:t>0 &amp; 3 &amp; -2 &amp; | &amp; 6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主元位于 $(1,1)$ 和 $(2,2)$，第三行为零行。验收标准：最终矩阵中，非零行数为2，主元严格右移，主元下方全为零，且每步变换均属合法初等行变换。若未执行行交换而直接对 $ R_3 $ 消元，或在 $ R_2 $ 未处理时对 $ R_3 $ 使用 $ R_3 \leftarrow R_3 - 2R_1 $，均属错误，因前者破坏主元列顺序，后者导致主元未在最左非零位置形成阶梯结构。</a:t>
            </a:r>
          </a:p>
          <a:p>
            <a:r>
              <a:t>source_payload: {"content_perspective": "teacher_delivery", "knowledge_binding_status": null, "markdown": "给定增广矩阵  \n\n$$\n\\begin{bmatrix}\n0 &amp; 3 &amp; -2 &amp; | &amp; 6 \\\\\n2 &amp; -1 &amp; 4 &amp; | &amp; 5 \\\\\n0 &amp; 6 &amp; -4 &amp; | &amp; 12\n\\end{bmatrix}\n$$\n  \n要求将其化为行阶梯形，每一步必须明确写出所用初等行变换类型（行交换、倍乘、倍加），并标注变换后矩阵中主元的位置。主元定义为每行最左侧非零元素，且必须位于前一行主元的右侧；零行必须位于所有非零行下方。变换过程中禁止跳过非零首元列，禁止在未处理当前列前进入下一列。参考解法：首先执行 $ R_1 \\leftrightarrow R_2 $，使第一行首元非零，得  \n\n$$\n\\begin{bmatrix}\n2 &amp; -1 &amp; 4 &amp; | &amp; 5 \\\\\n0 &amp; 3 &amp; -2 &amp; | &amp; 6 \\\\\n0 &amp; 6 &amp; -4 &amp; | &amp; 12\n\\end{bmatrix}\n$$\n  \n主元位于 $(1,1)$；随后对第三行执行 $ R_3 \\leftarrow R_3 - 2R_2 $，得  \n\n$$\n\\begin{bmatrix}\n2 &amp; -1 &amp; 4 &amp; | &amp; 5 \\\\\n0 &amp; 3 &amp; -2 &amp; | &amp; 6 \\\\\n0 &amp; 0 &amp; 0 &amp; | &amp; 0\n\\end{bmatrix}\n$$\n  \n主元位于 $(1,1)$ 和 $(2,2)$，第三行为零行。验收标准：最终矩阵中，非零行数为2，主元严格右移，主元下方全为零，且每步变换均属合法初等行变换。若未执行行交换而直接对 $ R_3 $ 消元，或在 $ R_2 $ 未处理时对 $ R_3 $ 使用 $ R_3 \\leftarrow R_3 - 2R_1 $，均属错误，因前者破坏主元列顺序，后者导致主元未在最左非零位置形成阶梯结构。", "module_id": "learner_action", "module_instance_id": "tsb-04b350d7dad0", "planned_minutes": 2, "ppt_page_group_id": "L2-1-2:ppt-page-group:2", "summary": "给定增广矩阵 begin{bmatrix} 0 &amp; 3 &amp; 2 &amp; | &amp; 6 2 &amp; 1 &amp; 4 &amp; | &amp; 5 0 &amp; 6 &amp; 4 &amp; | &amp; 12 end{bmatrix} 要求将其化为行阶梯形，每一步必须明确写出所用初等行变换类型（", "title": "学习者行动"}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[tsb-04b350d7dad0 @ cbr_2b35ab5a1d6dfbe443eafff1]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给定增广矩阵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0 &amp; 3 &amp; -2 &amp; | &amp; 6 \\</a:t>
            </a:r>
          </a:p>
          <a:p>
            <a:r>
              <a:t>2 &amp; -1 &amp; 4 &amp; | &amp; 5 \\</a:t>
            </a:r>
          </a:p>
          <a:p>
            <a:r>
              <a:t>0 &amp; 6 &amp; -4 &amp; | &amp; 12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要求将其化为行阶梯形，每一步必须明确写出所用初等行变换类型（行交换、倍乘、倍加），并标注变换后矩阵中主元的位置。主元定义为每行最左侧非零元素，且必须位于前一行主元的右侧；零行必须位于所有非零行下方。变换过程中禁止跳过非零首元列，禁止在未处理当前列前进入下一列。参考解法：首先执行 $ R_1 \leftrightarrow R_2 $，使第一行首元非零，得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2 &amp; -1 &amp; 4 &amp; | &amp; 5 \\</a:t>
            </a:r>
          </a:p>
          <a:p>
            <a:r>
              <a:t>0 &amp; 3 &amp; -2 &amp; | &amp; 6 \\</a:t>
            </a:r>
          </a:p>
          <a:p>
            <a:r>
              <a:t>0 &amp; 6 &amp; -4 &amp; | &amp; 12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主元位于 $(1,1)$；随后对第三行执行 $ R_3 \leftarrow R_3 - 2R_2 $，得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2 &amp; -1 &amp; 4 &amp; | &amp; 5 \\</a:t>
            </a:r>
          </a:p>
          <a:p>
            <a:r>
              <a:t>0 &amp; 3 &amp; -2 &amp; | &amp; 6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主元位于 $(1,1)$ 和 $(2,2)$，第三行为零行。验收标准：最终矩阵中，非零行数为2，主元严格右移，主元下方全为零，且每步变换均属合法初等行变换。若未执行行交换而直接对 $ R_3 $ 消元，或在 $ R_2 $ 未处理时对 $ R_3 $ 使用 $ R_3 \leftarrow R_3 - 2R_1 $，均属错误，因前者破坏主元列顺序，后者导致主元未在最左非零位置形成阶梯结构。</a:t>
            </a:r>
          </a:p>
          <a:p>
            <a:r>
              <a:t>source_payload: {"content_perspective": "teacher_delivery", "knowledge_binding_status": null, "markdown": "给定增广矩阵  \n\n$$\n\\begin{bmatrix}\n0 &amp; 3 &amp; -2 &amp; | &amp; 6 \\\\\n2 &amp; -1 &amp; 4 &amp; | &amp; 5 \\\\\n0 &amp; 6 &amp; -4 &amp; | &amp; 12\n\\end{bmatrix}\n$$\n  \n要求将其化为行阶梯形，每一步必须明确写出所用初等行变换类型（行交换、倍乘、倍加），并标注变换后矩阵中主元的位置。主元定义为每行最左侧非零元素，且必须位于前一行主元的右侧；零行必须位于所有非零行下方。变换过程中禁止跳过非零首元列，禁止在未处理当前列前进入下一列。参考解法：首先执行 $ R_1 \\leftrightarrow R_2 $，使第一行首元非零，得  \n\n$$\n\\begin{bmatrix}\n2 &amp; -1 &amp; 4 &amp; | &amp; 5 \\\\\n0 &amp; 3 &amp; -2 &amp; | &amp; 6 \\\\\n0 &amp; 6 &amp; -4 &amp; | &amp; 12\n\\end{bmatrix}\n$$\n  \n主元位于 $(1,1)$；随后对第三行执行 $ R_3 \\leftarrow R_3 - 2R_2 $，得  \n\n$$\n\\begin{bmatrix}\n2 &amp; -1 &amp; 4 &amp; | &amp; 5 \\\\\n0 &amp; 3 &amp; -2 &amp; | &amp; 6 \\\\\n0 &amp; 0 &amp; 0 &amp; | &amp; 0\n\\end{bmatrix}\n$$\n  \n主元位于 $(1,1)$ 和 $(2,2)$，第三行为零行。验收标准：最终矩阵中，非零行数为2，主元严格右移，主元下方全为零，且每步变换均属合法初等行变换。若未执行行交换而直接对 $ R_3 $ 消元，或在 $ R_2 $ 未处理时对 $ R_3 $ 使用 $ R_3 \\leftarrow R_3 - 2R_1 $，均属错误，因前者破坏主元列顺序，后者导致主元未在最左非零位置形成阶梯结构。", "module_id": "learner_action", "module_instance_id": "tsb-04b350d7dad0", "planned_minutes": 2, "ppt_page_group_id": "L2-1-2:ppt-page-group:2", "summary": "给定增广矩阵 begin{bmatrix} 0 &amp; 3 &amp; 2 &amp; | &amp; 6 2 &amp; 1 &amp; 4 &amp; | &amp; 5 0 &amp; 6 &amp; 4 &amp; | &amp; 12 end{bmatrix} 要求将其化为行阶梯形，每一步必须明确写出所用初等行变换类型（", "title": "学习者行动"}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[tsb-04b350d7dad0 @ cbr_2b35ab5a1d6dfbe443eafff1]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给定增广矩阵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0 &amp; 3 &amp; -2 &amp; | &amp; 6 \\</a:t>
            </a:r>
          </a:p>
          <a:p>
            <a:r>
              <a:t>2 &amp; -1 &amp; 4 &amp; | &amp; 5 \\</a:t>
            </a:r>
          </a:p>
          <a:p>
            <a:r>
              <a:t>0 &amp; 6 &amp; -4 &amp; | &amp; 12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要求将其化为行阶梯形，每一步必须明确写出所用初等行变换类型（行交换、倍乘、倍加），并标注变换后矩阵中主元的位置。主元定义为每行最左侧非零元素，且必须位于前一行主元的右侧；零行必须位于所有非零行下方。变换过程中禁止跳过非零首元列，禁止在未处理当前列前进入下一列。参考解法：首先执行 $ R_1 \leftrightarrow R_2 $，使第一行首元非零，得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2 &amp; -1 &amp; 4 &amp; | &amp; 5 \\</a:t>
            </a:r>
          </a:p>
          <a:p>
            <a:r>
              <a:t>0 &amp; 3 &amp; -2 &amp; | &amp; 6 \\</a:t>
            </a:r>
          </a:p>
          <a:p>
            <a:r>
              <a:t>0 &amp; 6 &amp; -4 &amp; | &amp; 12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主元位于 $(1,1)$；随后对第三行执行 $ R_3 \leftarrow R_3 - 2R_2 $，得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2 &amp; -1 &amp; 4 &amp; | &amp; 5 \\</a:t>
            </a:r>
          </a:p>
          <a:p>
            <a:r>
              <a:t>0 &amp; 3 &amp; -2 &amp; | &amp; 6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主元位于 $(1,1)$ 和 $(2,2)$，第三行为零行。验收标准：最终矩阵中，非零行数为2，主元严格右移，主元下方全为零，且每步变换均属合法初等行变换。若未执行行交换而直接对 $ R_3 $ 消元，或在 $ R_2 $ 未处理时对 $ R_3 $ 使用 $ R_3 \leftarrow R_3 - 2R_1 $，均属错误，因前者破坏主元列顺序，后者导致主元未在最左非零位置形成阶梯结构。</a:t>
            </a:r>
          </a:p>
          <a:p>
            <a:r>
              <a:t>source_payload: {"content_perspective": "teacher_delivery", "knowledge_binding_status": null, "markdown": "给定增广矩阵  \n\n$$\n\\begin{bmatrix}\n0 &amp; 3 &amp; -2 &amp; | &amp; 6 \\\\\n2 &amp; -1 &amp; 4 &amp; | &amp; 5 \\\\\n0 &amp; 6 &amp; -4 &amp; | &amp; 12\n\\end{bmatrix}\n$$\n  \n要求将其化为行阶梯形，每一步必须明确写出所用初等行变换类型（行交换、倍乘、倍加），并标注变换后矩阵中主元的位置。主元定义为每行最左侧非零元素，且必须位于前一行主元的右侧；零行必须位于所有非零行下方。变换过程中禁止跳过非零首元列，禁止在未处理当前列前进入下一列。参考解法：首先执行 $ R_1 \\leftrightarrow R_2 $，使第一行首元非零，得  \n\n$$\n\\begin{bmatrix}\n2 &amp; -1 &amp; 4 &amp; | &amp; 5 \\\\\n0 &amp; 3 &amp; -2 &amp; | &amp; 6 \\\\\n0 &amp; 6 &amp; -4 &amp; | &amp; 12\n\\end{bmatrix}\n$$\n  \n主元位于 $(1,1)$；随后对第三行执行 $ R_3 \\leftarrow R_3 - 2R_2 $，得  \n\n$$\n\\begin{bmatrix}\n2 &amp; -1 &amp; 4 &amp; | &amp; 5 \\\\\n0 &amp; 3 &amp; -2 &amp; | &amp; 6 \\\\\n0 &amp; 0 &amp; 0 &amp; | &amp; 0\n\\end{bmatrix}\n$$\n  \n主元位于 $(1,1)$ 和 $(2,2)$，第三行为零行。验收标准：最终矩阵中，非零行数为2，主元严格右移，主元下方全为零，且每步变换均属合法初等行变换。若未执行行交换而直接对 $ R_3 $ 消元，或在 $ R_2 $ 未处理时对 $ R_3 $ 使用 $ R_3 \\leftarrow R_3 - 2R_1 $，均属错误，因前者破坏主元列顺序，后者导致主元未在最左非零位置形成阶梯结构。", "module_id": "learner_action", "module_instance_id": "tsb-04b350d7dad0", "planned_minutes": 2, "ppt_page_group_id": "L2-1-2:ppt-page-group:2", "summary": "给定增广矩阵 begin{bmatrix} 0 &amp; 3 &amp; 2 &amp; | &amp; 6 2 &amp; 1 &amp; 4 &amp; | &amp; 5 0 &amp; 6 &amp; 4 &amp; | &amp; 12 end{bmatrix} 要求将其化为行阶梯形，每一步必须明确写出所用初等行变换类型（", "title": "学习者行动"}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[tsb-04b350d7dad0 @ cbr_2b35ab5a1d6dfbe443eafff1]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给定增广矩阵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0 &amp; 3 &amp; -2 &amp; | &amp; 6 \\</a:t>
            </a:r>
          </a:p>
          <a:p>
            <a:r>
              <a:t>2 &amp; -1 &amp; 4 &amp; | &amp; 5 \\</a:t>
            </a:r>
          </a:p>
          <a:p>
            <a:r>
              <a:t>0 &amp; 6 &amp; -4 &amp; | &amp; 12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要求将其化为行阶梯形，每一步必须明确写出所用初等行变换类型（行交换、倍乘、倍加），并标注变换后矩阵中主元的位置。主元定义为每行最左侧非零元素，且必须位于前一行主元的右侧；零行必须位于所有非零行下方。变换过程中禁止跳过非零首元列，禁止在未处理当前列前进入下一列。参考解法：首先执行 $ R_1 \leftrightarrow R_2 $，使第一行首元非零，得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2 &amp; -1 &amp; 4 &amp; | &amp; 5 \\</a:t>
            </a:r>
          </a:p>
          <a:p>
            <a:r>
              <a:t>0 &amp; 3 &amp; -2 &amp; | &amp; 6 \\</a:t>
            </a:r>
          </a:p>
          <a:p>
            <a:r>
              <a:t>0 &amp; 6 &amp; -4 &amp; | &amp; 12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主元位于 $(1,1)$；随后对第三行执行 $ R_3 \leftarrow R_3 - 2R_2 $，得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2 &amp; -1 &amp; 4 &amp; | &amp; 5 \\</a:t>
            </a:r>
          </a:p>
          <a:p>
            <a:r>
              <a:t>0 &amp; 3 &amp; -2 &amp; | &amp; 6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主元位于 $(1,1)$ 和 $(2,2)$，第三行为零行。验收标准：最终矩阵中，非零行数为2，主元严格右移，主元下方全为零，且每步变换均属合法初等行变换。若未执行行交换而直接对 $ R_3 $ 消元，或在 $ R_2 $ 未处理时对 $ R_3 $ 使用 $ R_3 \leftarrow R_3 - 2R_1 $，均属错误，因前者破坏主元列顺序，后者导致主元未在最左非零位置形成阶梯结构。</a:t>
            </a:r>
          </a:p>
          <a:p>
            <a:r>
              <a:t>source_payload: {"content_perspective": "teacher_delivery", "knowledge_binding_status": null, "markdown": "给定增广矩阵  \n\n$$\n\\begin{bmatrix}\n0 &amp; 3 &amp; -2 &amp; | &amp; 6 \\\\\n2 &amp; -1 &amp; 4 &amp; | &amp; 5 \\\\\n0 &amp; 6 &amp; -4 &amp; | &amp; 12\n\\end{bmatrix}\n$$\n  \n要求将其化为行阶梯形，每一步必须明确写出所用初等行变换类型（行交换、倍乘、倍加），并标注变换后矩阵中主元的位置。主元定义为每行最左侧非零元素，且必须位于前一行主元的右侧；零行必须位于所有非零行下方。变换过程中禁止跳过非零首元列，禁止在未处理当前列前进入下一列。参考解法：首先执行 $ R_1 \\leftrightarrow R_2 $，使第一行首元非零，得  \n\n$$\n\\begin{bmatrix}\n2 &amp; -1 &amp; 4 &amp; | &amp; 5 \\\\\n0 &amp; 3 &amp; -2 &amp; | &amp; 6 \\\\\n0 &amp; 6 &amp; -4 &amp; | &amp; 12\n\\end{bmatrix}\n$$\n  \n主元位于 $(1,1)$；随后对第三行执行 $ R_3 \\leftarrow R_3 - 2R_2 $，得  \n\n$$\n\\begin{bmatrix}\n2 &amp; -1 &amp; 4 &amp; | &amp; 5 \\\\\n0 &amp; 3 &amp; -2 &amp; | &amp; 6 \\\\\n0 &amp; 0 &amp; 0 &amp; | &amp; 0\n\\end{bmatrix}\n$$\n  \n主元位于 $(1,1)$ 和 $(2,2)$，第三行为零行。验收标准：最终矩阵中，非零行数为2，主元严格右移，主元下方全为零，且每步变换均属合法初等行变换。若未执行行交换而直接对 $ R_3 $ 消元，或在 $ R_2 $ 未处理时对 $ R_3 $ 使用 $ R_3 \\leftarrow R_3 - 2R_1 $，均属错误，因前者破坏主元列顺序，后者导致主元未在最左非零位置形成阶梯结构。", "module_id": "learner_action", "module_instance_id": "tsb-04b350d7dad0", "planned_minutes": 2, "ppt_page_group_id": "L2-1-2:ppt-page-group:2", "summary": "给定增广矩阵 begin{bmatrix} 0 &amp; 3 &amp; 2 &amp; | &amp; 6 2 &amp; 1 &amp; 4 &amp; | &amp; 5 0 &amp; 6 &amp; 4 &amp; | &amp; 12 end{bmatrix} 要求将其化为行阶梯形，每一步必须明确写出所用初等行变换类型（", "title": "学习者行动"}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[tsb-29fa12cb8720 @ cbr_a2f601d05009cd1cc6906169]</a:t>
            </a:r>
          </a:p>
          <a:p>
            <a:r>
              <a:t>source_kind: review_checkpoint</a:t>
            </a:r>
          </a:p>
          <a:p>
            <a:r>
              <a:t>asset_refs: []</a:t>
            </a:r>
          </a:p>
          <a:p>
            <a:r>
              <a:t>**核对标准**：判断行交换操作是否在首列主元为零时执行，且交换后首行首元非零。参考结论：对矩阵 </a:t>
            </a:r>
          </a:p>
          <a:p>
            <a:r>
              <a:t>$$</a:t>
            </a:r>
          </a:p>
          <a:p>
            <a:r>
              <a:t>\begin{bmatrix} 0 &amp; 3 &amp; -2 &amp; | &amp; 6 \\ 2 &amp; -1 &amp; 4 &amp; | &amp; 5 \\ 0 &amp; 6 &amp; -4 &amp; | &amp; 12 \end{bmatrix}</a:t>
            </a:r>
          </a:p>
          <a:p>
            <a:r>
              <a:t>$$</a:t>
            </a:r>
          </a:p>
          <a:p>
            <a:r>
              <a:t>，必须先执行 $R_1 \leftrightarrow R_2$。典型错误：直接对 $R_3$ 执行 $R_3 \leftarrow R_3 - 2R_1$，未交换行。修正原因：$R_1$ 首元为零，此时使用倍加无法在首列构造主元，破坏“从左至右”顺序，导致后续主元位置错位。再次验证：交换后首列为 </a:t>
            </a:r>
          </a:p>
          <a:p>
            <a:r>
              <a:t>$$</a:t>
            </a:r>
          </a:p>
          <a:p>
            <a:r>
              <a:t>\begin{bmatrix} 2 \\ 0 \\ 0 \end{bmatrix}</a:t>
            </a:r>
          </a:p>
          <a:p>
            <a:r>
              <a:t>$$</a:t>
            </a:r>
          </a:p>
          <a:p>
            <a:r>
              <a:t>，符合主元定义。</a:t>
            </a:r>
          </a:p>
          <a:p/>
          <a:p>
            <a:r>
              <a:t>**核对标准**：识别主元时需满足两个条件：每行最左非零元，且位于上一行主元右侧。参考结论：矩阵 </a:t>
            </a:r>
          </a:p>
          <a:p>
            <a:r>
              <a:t>$$</a:t>
            </a:r>
          </a:p>
          <a:p>
            <a:r>
              <a:t>\begin{bmatrix} 2 &amp; -1 &amp; 4 &amp; | &amp; 5 \\ 0 &amp; 3 &amp; -2 &amp; | &amp; 6 \\ 0 &amp; 0 &amp; 0 &amp; | &amp; 0 \end{bmatrix}</a:t>
            </a:r>
          </a:p>
          <a:p>
            <a:r>
              <a:t>$$</a:t>
            </a:r>
          </a:p>
          <a:p>
            <a:r>
              <a:t> 的主元为 $(1,1)$ 与 $(2,2)$。典型错误：将 $(1,2)$ 视为主元，因误认“非零即主元”。修正原因：主元必须是行内首个非零元，且列序必须严格递增；$(1,2)$ 前有非零元 $2$，不满足“最左”条件。再次验证：逐行扫描，首非零元位置为第1列与第2列，无跳列。</a:t>
            </a:r>
          </a:p>
          <a:p/>
          <a:p>
            <a:r>
              <a:t>**核对标准**：倍加操作必须仅用于消去当前主元列下方元素，且被加行必须是已确定主元的上方行。参考结论：在 </a:t>
            </a:r>
          </a:p>
          <a:p>
            <a:r>
              <a:t>$$</a:t>
            </a:r>
          </a:p>
          <a:p>
            <a:r>
              <a:t>\begin{bmatrix} 2 &amp; -1 &amp; 4 &amp; | &amp; 5 \\ 0 &amp; 3 &amp; -2 &amp; | &amp; 6 \\ 0 &amp; 6 &amp; -4 &amp; | &amp; 12 \end{bmatrix}</a:t>
            </a:r>
          </a:p>
          <a:p>
            <a:r>
              <a:t>$$</a:t>
            </a:r>
          </a:p>
          <a:p>
            <a:r>
              <a:t> 中，应执行 $R_3 \leftarrow R_3 - 2R_2$。典型错误：执行 $R_3 \leftarrow R_3 - 3R_1$。修正原因：$R_1$ 主元在第1列，但第2列尚未处理，此时对 $R_3$ 使用 $R_1$ 会引入非零项至第2列，破坏阶梯结构。再次验证：仅当第2列上方主元已定位（即 $R_2$ 的 $3$ 为当前主元），才可使用 $R_2$ 消去其下方元素。</a:t>
            </a:r>
          </a:p>
          <a:p>
            <a:r>
              <a:t>source_payload: {"content_perspective": "teacher_delivery", "feedback_structure": {"mode": "static_reference", "schema_version": "course_feedback_v1", "sections": [{"collapsed_by_default": true, "kind": "guidance", "markdown": "**核对标准**：判断行交换操作是否在首列主元为零时执行，且交换后首行首元非零。参考结论：对矩阵 \n$$\n\\begin{bmatrix} 0 &amp; 3 &amp; -2 &amp; | &amp; 6 \\\\ 2 &amp; -1 &amp; 4 &amp; | &amp; 5 \\\\ 0 &amp; 6 &amp; -4 &amp; | &amp; 12 \\end{bmatrix}\n$$\n，必须先执行 $R_1 \\leftrightarrow R_2$。典型错误：直接对 $R_3$ 执行 $R_3 \\leftarrow R_3 - 2R_1$，未交换行。修正原因：$R_1$ 首元为零，此时使用倍加无法在首列构造主元，破坏“从左至右”顺序，导致后续主元位置错位。再次验证：交换后首列为 \n$$\n\\begin{bmatrix} 2 \\\\ 0 \\\\ 0 \\end{bmatrix}\n$$\n，符合主元定义。\n\n**核对标准**：识别主元时需满足两个条件：每行最左非零元，且位于上一行主元右侧。参考结论：矩阵 \n$$\n\\begin{bmatrix} 2 &amp; -1 &amp; 4 &amp; | &amp; 5 \\\\ 0 &amp; 3 &amp; -2 &amp; | &amp; 6 \\\\ 0 &amp; 0 &amp; 0 &amp; | &amp; 0 \\end{bmatrix}\n$$\n 的主元为 $(1,1)$ 与 $(2,2)$。典型错误：将 $(1,2)$ 视为主元，因误认“非零即主元”。修正原因：主元必须是行内首个非零元，且列序必须严格递增；$(1,2)$ 前有非零元 $2$，不满足“最左”条件。再次验证：逐行扫描，首非零元位置为第1列与第2列，无跳列。\n\n**核对标准**：倍加操作必须仅用于消去当前主元列下方元素，且被加行必须是已确定主元的上方行。参考结论：在 \n$$\n\\begin{bmatrix} 2 &amp; -1 &amp; 4 &amp; | &amp; 5 \\\\ 0 &amp; 3 &amp; -2 &amp; | &amp; 6 \\\\ 0 &amp; 6 &amp; -4 &amp; | &amp; 12 \\end{bmatrix}\n$$\n 中，应执行 $R_3 \\leftarrow R_3 - 2R_2$。典型错误：执行 $R_3 \\leftarrow R_3 - 3R_1$。修正原因：$R_1$ 主元在第1列，但第2列尚未处理，此时对 $R_3$ 使用 $R_1$ 会引入非零项至第2列，破坏阶梯结构。再次验证：仅当第2列上方主元已定位（即 $R_2$ 的 $3$ 为当前主元），才可使用 $R_2$ 消去其下方元素。", "section_id": "feedback-section-f53ac175437c", "summary": "核对标准 ：判断行交换操作是否在首列主元为零时执行，且交换后首行首元非零。参考结论：对矩阵 begin{bmatrix} 0 &amp; 3 &amp; 2 &amp; | &amp; 6 2 &amp; 1 &amp; 4 &amp; | &amp; 5", "title": "参考与检查"}], "source_fingerprint": "d79114f4cc2773b33fe33a6b"}, "knowledge_binding_status": null, "markdown": "**核对标准**：判断行交换操作是否在首列主元为零时执行，且交换后首行首元非零。参考结论：对矩阵 \n$$\n\\begin{bmatrix} 0 &amp; 3 &amp; -2 &amp; | &amp; 6 \\\\ 2 &amp; -1 &amp; 4 &amp; | &amp; 5 \\\\ 0 &amp; 6 &amp; -4 &amp; | &amp; 12 \\end{bmatrix}\n$$\n，必须先执行 $R_1 \\leftrightarrow R_2$。典型错误：直接对 $R_3$ 执行 $R_3 \\leftarrow R_3 - 2R_1$，未交换行。修正原因：$R_1$ 首元为零，此时使用倍加无法在首列构造主元，破坏“从左至右”顺序，导致后续主元位置错位。再次验证：交换后首列为 \n$$\n\\begin{bmatrix} 2 \\\\ 0 \\\\ 0 \\end{bmatrix}\n$$\n，符合主元定义。\n\n**核对标准**：识别主元时需满足两个条件：每行最左非零元，且位于上一行主元右侧。参考结论：矩阵 \n$$\n\\begin{bmatrix} 2 &amp; -1 &amp; 4 &amp; | &amp; 5 \\\\ 0 &amp; 3 &amp; -2 &amp; | &amp; 6 \\\\ 0 &amp; 0 &amp; 0 &amp; | &amp; 0 \\end{bmatrix}\n$$\n 的主元为 $(1,1)$ 与 $(2,2)$。典型错误：将 $(1,2)$ 视为主元，因误认“非零即主元”。修正原因：主元必须是行内首个非零元，且列序必须严格递增；$(1,2)$ 前有非零元 $2$，不满足“最左”条件。再次验证：逐行扫描，首非零元位置为第1列与第2列，无跳列。\n\n**核对标准**：倍加操作必须仅用于消去当前主元列下方元素，且被加行必须是已确定主元的上方行。参考结论：在 \n$$\n\\begin{bmatrix} 2 &amp; -1 &amp; 4 &amp; | &amp; 5 \\\\ 0 &amp; 3 &amp; -2 &amp; | &amp; 6 \\\\ 0 &amp; 6 &amp; -4 &amp; | &amp; 12 \\end{bmatrix}\n$$\n 中，应执行 $R_3 \\leftarrow R_3 - 2R_2$。典型错误：执行 $R_3 \\leftarrow R_3 - 3R_1$。修正原因：$R_1$ 主元在第1列，但第2列尚未处理，此时对 $R_3$ 使用 $R_1$ 会引入非零项至第2列，破坏阶梯结构。再次验证：仅当第2列上方主元已定位（即 $R_2$ 的 $3$ 为当前主元），才可使用 $R_2$ 消去其下方元素。", "module_id": "feedback_check", "module_instance_id": "tsb-29fa12cb8720", "planned_minutes": 2, "ppt_page_group_id": "L2-1-2:ppt-page-group:2", "summary": "核对标准 ：判断行交换操作是否在首列主元为零时执行，且交换后首行首元非零。参考结论：对矩阵 begin{bmatrix} 0 &amp; 3 &amp; 2 &amp; | &amp; 6 2 &amp; 1 &amp; 4 &amp; | &amp; 5 0 &amp; 6 &amp; 4 &amp; | &amp; 12 end{", "title": "检查与反馈"}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[tsb-29fa12cb8720 @ cbr_a2f601d05009cd1cc6906169]</a:t>
            </a:r>
          </a:p>
          <a:p>
            <a:r>
              <a:t>source_kind: review_checkpoint</a:t>
            </a:r>
          </a:p>
          <a:p>
            <a:r>
              <a:t>asset_refs: []</a:t>
            </a:r>
          </a:p>
          <a:p>
            <a:r>
              <a:t>**核对标准**：判断行交换操作是否在首列主元为零时执行，且交换后首行首元非零。参考结论：对矩阵 </a:t>
            </a:r>
          </a:p>
          <a:p>
            <a:r>
              <a:t>$$</a:t>
            </a:r>
          </a:p>
          <a:p>
            <a:r>
              <a:t>\begin{bmatrix} 0 &amp; 3 &amp; -2 &amp; | &amp; 6 \\ 2 &amp; -1 &amp; 4 &amp; | &amp; 5 \\ 0 &amp; 6 &amp; -4 &amp; | &amp; 12 \end{bmatrix}</a:t>
            </a:r>
          </a:p>
          <a:p>
            <a:r>
              <a:t>$$</a:t>
            </a:r>
          </a:p>
          <a:p>
            <a:r>
              <a:t>，必须先执行 $R_1 \leftrightarrow R_2$。典型错误：直接对 $R_3$ 执行 $R_3 \leftarrow R_3 - 2R_1$，未交换行。修正原因：$R_1$ 首元为零，此时使用倍加无法在首列构造主元，破坏“从左至右”顺序，导致后续主元位置错位。再次验证：交换后首列为 </a:t>
            </a:r>
          </a:p>
          <a:p>
            <a:r>
              <a:t>$$</a:t>
            </a:r>
          </a:p>
          <a:p>
            <a:r>
              <a:t>\begin{bmatrix} 2 \\ 0 \\ 0 \end{bmatrix}</a:t>
            </a:r>
          </a:p>
          <a:p>
            <a:r>
              <a:t>$$</a:t>
            </a:r>
          </a:p>
          <a:p>
            <a:r>
              <a:t>，符合主元定义。</a:t>
            </a:r>
          </a:p>
          <a:p/>
          <a:p>
            <a:r>
              <a:t>**核对标准**：识别主元时需满足两个条件：每行最左非零元，且位于上一行主元右侧。参考结论：矩阵 </a:t>
            </a:r>
          </a:p>
          <a:p>
            <a:r>
              <a:t>$$</a:t>
            </a:r>
          </a:p>
          <a:p>
            <a:r>
              <a:t>\begin{bmatrix} 2 &amp; -1 &amp; 4 &amp; | &amp; 5 \\ 0 &amp; 3 &amp; -2 &amp; | &amp; 6 \\ 0 &amp; 0 &amp; 0 &amp; | &amp; 0 \end{bmatrix}</a:t>
            </a:r>
          </a:p>
          <a:p>
            <a:r>
              <a:t>$$</a:t>
            </a:r>
          </a:p>
          <a:p>
            <a:r>
              <a:t> 的主元为 $(1,1)$ 与 $(2,2)$。典型错误：将 $(1,2)$ 视为主元，因误认“非零即主元”。修正原因：主元必须是行内首个非零元，且列序必须严格递增；$(1,2)$ 前有非零元 $2$，不满足“最左”条件。再次验证：逐行扫描，首非零元位置为第1列与第2列，无跳列。</a:t>
            </a:r>
          </a:p>
          <a:p/>
          <a:p>
            <a:r>
              <a:t>**核对标准**：倍加操作必须仅用于消去当前主元列下方元素，且被加行必须是已确定主元的上方行。参考结论：在 </a:t>
            </a:r>
          </a:p>
          <a:p>
            <a:r>
              <a:t>$$</a:t>
            </a:r>
          </a:p>
          <a:p>
            <a:r>
              <a:t>\begin{bmatrix} 2 &amp; -1 &amp; 4 &amp; | &amp; 5 \\ 0 &amp; 3 &amp; -2 &amp; | &amp; 6 \\ 0 &amp; 6 &amp; -4 &amp; | &amp; 12 \end{bmatrix}</a:t>
            </a:r>
          </a:p>
          <a:p>
            <a:r>
              <a:t>$$</a:t>
            </a:r>
          </a:p>
          <a:p>
            <a:r>
              <a:t> 中，应执行 $R_3 \leftarrow R_3 - 2R_2$。典型错误：执行 $R_3 \leftarrow R_3 - 3R_1$。修正原因：$R_1$ 主元在第1列，但第2列尚未处理，此时对 $R_3$ 使用 $R_1$ 会引入非零项至第2列，破坏阶梯结构。再次验证：仅当第2列上方主元已定位（即 $R_2$ 的 $3$ 为当前主元），才可使用 $R_2$ 消去其下方元素。</a:t>
            </a:r>
          </a:p>
          <a:p>
            <a:r>
              <a:t>source_payload: {"content_perspective": "teacher_delivery", "feedback_structure": {"mode": "static_reference", "schema_version": "course_feedback_v1", "sections": [{"collapsed_by_default": true, "kind": "guidance", "markdown": "**核对标准**：判断行交换操作是否在首列主元为零时执行，且交换后首行首元非零。参考结论：对矩阵 \n$$\n\\begin{bmatrix} 0 &amp; 3 &amp; -2 &amp; | &amp; 6 \\\\ 2 &amp; -1 &amp; 4 &amp; | &amp; 5 \\\\ 0 &amp; 6 &amp; -4 &amp; | &amp; 12 \\end{bmatrix}\n$$\n，必须先执行 $R_1 \\leftrightarrow R_2$。典型错误：直接对 $R_3$ 执行 $R_3 \\leftarrow R_3 - 2R_1$，未交换行。修正原因：$R_1$ 首元为零，此时使用倍加无法在首列构造主元，破坏“从左至右”顺序，导致后续主元位置错位。再次验证：交换后首列为 \n$$\n\\begin{bmatrix} 2 \\\\ 0 \\\\ 0 \\end{bmatrix}\n$$\n，符合主元定义。\n\n**核对标准**：识别主元时需满足两个条件：每行最左非零元，且位于上一行主元右侧。参考结论：矩阵 \n$$\n\\begin{bmatrix} 2 &amp; -1 &amp; 4 &amp; | &amp; 5 \\\\ 0 &amp; 3 &amp; -2 &amp; | &amp; 6 \\\\ 0 &amp; 0 &amp; 0 &amp; | &amp; 0 \\end{bmatrix}\n$$\n 的主元为 $(1,1)$ 与 $(2,2)$。典型错误：将 $(1,2)$ 视为主元，因误认“非零即主元”。修正原因：主元必须是行内首个非零元，且列序必须严格递增；$(1,2)$ 前有非零元 $2$，不满足“最左”条件。再次验证：逐行扫描，首非零元位置为第1列与第2列，无跳列。\n\n**核对标准**：倍加操作必须仅用于消去当前主元列下方元素，且被加行必须是已确定主元的上方行。参考结论：在 \n$$\n\\begin{bmatrix} 2 &amp; -1 &amp; 4 &amp; | &amp; 5 \\\\ 0 &amp; 3 &amp; -2 &amp; | &amp; 6 \\\\ 0 &amp; 6 &amp; -4 &amp; | &amp; 12 \\end{bmatrix}\n$$\n 中，应执行 $R_3 \\leftarrow R_3 - 2R_2$。典型错误：执行 $R_3 \\leftarrow R_3 - 3R_1$。修正原因：$R_1$ 主元在第1列，但第2列尚未处理，此时对 $R_3$ 使用 $R_1$ 会引入非零项至第2列，破坏阶梯结构。再次验证：仅当第2列上方主元已定位（即 $R_2$ 的 $3$ 为当前主元），才可使用 $R_2$ 消去其下方元素。", "section_id": "feedback-section-f53ac175437c", "summary": "核对标准 ：判断行交换操作是否在首列主元为零时执行，且交换后首行首元非零。参考结论：对矩阵 begin{bmatrix} 0 &amp; 3 &amp; 2 &amp; | &amp; 6 2 &amp; 1 &amp; 4 &amp; | &amp; 5", "title": "参考与检查"}], "source_fingerprint": "d79114f4cc2773b33fe33a6b"}, "knowledge_binding_status": null, "markdown": "**核对标准**：判断行交换操作是否在首列主元为零时执行，且交换后首行首元非零。参考结论：对矩阵 \n$$\n\\begin{bmatrix} 0 &amp; 3 &amp; -2 &amp; | &amp; 6 \\\\ 2 &amp; -1 &amp; 4 &amp; | &amp; 5 \\\\ 0 &amp; 6 &amp; -4 &amp; | &amp; 12 \\end{bmatrix}\n$$\n，必须先执行 $R_1 \\leftrightarrow R_2$。典型错误：直接对 $R_3$ 执行 $R_3 \\leftarrow R_3 - 2R_1$，未交换行。修正原因：$R_1$ 首元为零，此时使用倍加无法在首列构造主元，破坏“从左至右”顺序，导致后续主元位置错位。再次验证：交换后首列为 \n$$\n\\begin{bmatrix} 2 \\\\ 0 \\\\ 0 \\end{bmatrix}\n$$\n，符合主元定义。\n\n**核对标准**：识别主元时需满足两个条件：每行最左非零元，且位于上一行主元右侧。参考结论：矩阵 \n$$\n\\begin{bmatrix} 2 &amp; -1 &amp; 4 &amp; | &amp; 5 \\\\ 0 &amp; 3 &amp; -2 &amp; | &amp; 6 \\\\ 0 &amp; 0 &amp; 0 &amp; | &amp; 0 \\end{bmatrix}\n$$\n 的主元为 $(1,1)$ 与 $(2,2)$。典型错误：将 $(1,2)$ 视为主元，因误认“非零即主元”。修正原因：主元必须是行内首个非零元，且列序必须严格递增；$(1,2)$ 前有非零元 $2$，不满足“最左”条件。再次验证：逐行扫描，首非零元位置为第1列与第2列，无跳列。\n\n**核对标准**：倍加操作必须仅用于消去当前主元列下方元素，且被加行必须是已确定主元的上方行。参考结论：在 \n$$\n\\begin{bmatrix} 2 &amp; -1 &amp; 4 &amp; | &amp; 5 \\\\ 0 &amp; 3 &amp; -2 &amp; | &amp; 6 \\\\ 0 &amp; 6 &amp; -4 &amp; | &amp; 12 \\end{bmatrix}\n$$\n 中，应执行 $R_3 \\leftarrow R_3 - 2R_2$。典型错误：执行 $R_3 \\leftarrow R_3 - 3R_1$。修正原因：$R_1$ 主元在第1列，但第2列尚未处理，此时对 $R_3$ 使用 $R_1$ 会引入非零项至第2列，破坏阶梯结构。再次验证：仅当第2列上方主元已定位（即 $R_2$ 的 $3$ 为当前主元），才可使用 $R_2$ 消去其下方元素。", "module_id": "feedback_check", "module_instance_id": "tsb-29fa12cb8720", "planned_minutes": 2, "ppt_page_group_id": "L2-1-2:ppt-page-group:2", "summary": "核对标准 ：判断行交换操作是否在首列主元为零时执行，且交换后首行首元非零。参考结论：对矩阵 begin{bmatrix} 0 &amp; 3 &amp; 2 &amp; | &amp; 6 2 &amp; 1 &amp; 4 &amp; | &amp; 5 0 &amp; 6 &amp; 4 &amp; | &amp; 12 end{", "title": "检查与反馈"}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[tsb-29fa12cb8720 @ cbr_a2f601d05009cd1cc6906169]</a:t>
            </a:r>
          </a:p>
          <a:p>
            <a:r>
              <a:t>source_kind: review_checkpoint</a:t>
            </a:r>
          </a:p>
          <a:p>
            <a:r>
              <a:t>asset_refs: []</a:t>
            </a:r>
          </a:p>
          <a:p>
            <a:r>
              <a:t>**核对标准**：判断行交换操作是否在首列主元为零时执行，且交换后首行首元非零。参考结论：对矩阵 </a:t>
            </a:r>
          </a:p>
          <a:p>
            <a:r>
              <a:t>$$</a:t>
            </a:r>
          </a:p>
          <a:p>
            <a:r>
              <a:t>\begin{bmatrix} 0 &amp; 3 &amp; -2 &amp; | &amp; 6 \\ 2 &amp; -1 &amp; 4 &amp; | &amp; 5 \\ 0 &amp; 6 &amp; -4 &amp; | &amp; 12 \end{bmatrix}</a:t>
            </a:r>
          </a:p>
          <a:p>
            <a:r>
              <a:t>$$</a:t>
            </a:r>
          </a:p>
          <a:p>
            <a:r>
              <a:t>，必须先执行 $R_1 \leftrightarrow R_2$。典型错误：直接对 $R_3$ 执行 $R_3 \leftarrow R_3 - 2R_1$，未交换行。修正原因：$R_1$ 首元为零，此时使用倍加无法在首列构造主元，破坏“从左至右”顺序，导致后续主元位置错位。再次验证：交换后首列为 </a:t>
            </a:r>
          </a:p>
          <a:p>
            <a:r>
              <a:t>$$</a:t>
            </a:r>
          </a:p>
          <a:p>
            <a:r>
              <a:t>\begin{bmatrix} 2 \\ 0 \\ 0 \end{bmatrix}</a:t>
            </a:r>
          </a:p>
          <a:p>
            <a:r>
              <a:t>$$</a:t>
            </a:r>
          </a:p>
          <a:p>
            <a:r>
              <a:t>，符合主元定义。</a:t>
            </a:r>
          </a:p>
          <a:p/>
          <a:p>
            <a:r>
              <a:t>**核对标准**：识别主元时需满足两个条件：每行最左非零元，且位于上一行主元右侧。参考结论：矩阵 </a:t>
            </a:r>
          </a:p>
          <a:p>
            <a:r>
              <a:t>$$</a:t>
            </a:r>
          </a:p>
          <a:p>
            <a:r>
              <a:t>\begin{bmatrix} 2 &amp; -1 &amp; 4 &amp; | &amp; 5 \\ 0 &amp; 3 &amp; -2 &amp; | &amp; 6 \\ 0 &amp; 0 &amp; 0 &amp; | &amp; 0 \end{bmatrix}</a:t>
            </a:r>
          </a:p>
          <a:p>
            <a:r>
              <a:t>$$</a:t>
            </a:r>
          </a:p>
          <a:p>
            <a:r>
              <a:t> 的主元为 $(1,1)$ 与 $(2,2)$。典型错误：将 $(1,2)$ 视为主元，因误认“非零即主元”。修正原因：主元必须是行内首个非零元，且列序必须严格递增；$(1,2)$ 前有非零元 $2$，不满足“最左”条件。再次验证：逐行扫描，首非零元位置为第1列与第2列，无跳列。</a:t>
            </a:r>
          </a:p>
          <a:p/>
          <a:p>
            <a:r>
              <a:t>**核对标准**：倍加操作必须仅用于消去当前主元列下方元素，且被加行必须是已确定主元的上方行。参考结论：在 </a:t>
            </a:r>
          </a:p>
          <a:p>
            <a:r>
              <a:t>$$</a:t>
            </a:r>
          </a:p>
          <a:p>
            <a:r>
              <a:t>\begin{bmatrix} 2 &amp; -1 &amp; 4 &amp; | &amp; 5 \\ 0 &amp; 3 &amp; -2 &amp; | &amp; 6 \\ 0 &amp; 6 &amp; -4 &amp; | &amp; 12 \end{bmatrix}</a:t>
            </a:r>
          </a:p>
          <a:p>
            <a:r>
              <a:t>$$</a:t>
            </a:r>
          </a:p>
          <a:p>
            <a:r>
              <a:t> 中，应执行 $R_3 \leftarrow R_3 - 2R_2$。典型错误：执行 $R_3 \leftarrow R_3 - 3R_1$。修正原因：$R_1$ 主元在第1列，但第2列尚未处理，此时对 $R_3$ 使用 $R_1$ 会引入非零项至第2列，破坏阶梯结构。再次验证：仅当第2列上方主元已定位（即 $R_2$ 的 $3$ 为当前主元），才可使用 $R_2$ 消去其下方元素。</a:t>
            </a:r>
          </a:p>
          <a:p>
            <a:r>
              <a:t>source_payload: {"content_perspective": "teacher_delivery", "feedback_structure": {"mode": "static_reference", "schema_version": "course_feedback_v1", "sections": [{"collapsed_by_default": true, "kind": "guidance", "markdown": "**核对标准**：判断行交换操作是否在首列主元为零时执行，且交换后首行首元非零。参考结论：对矩阵 \n$$\n\\begin{bmatrix} 0 &amp; 3 &amp; -2 &amp; | &amp; 6 \\\\ 2 &amp; -1 &amp; 4 &amp; | &amp; 5 \\\\ 0 &amp; 6 &amp; -4 &amp; | &amp; 12 \\end{bmatrix}\n$$\n，必须先执行 $R_1 \\leftrightarrow R_2$。典型错误：直接对 $R_3$ 执行 $R_3 \\leftarrow R_3 - 2R_1$，未交换行。修正原因：$R_1$ 首元为零，此时使用倍加无法在首列构造主元，破坏“从左至右”顺序，导致后续主元位置错位。再次验证：交换后首列为 \n$$\n\\begin{bmatrix} 2 \\\\ 0 \\\\ 0 \\end{bmatrix}\n$$\n，符合主元定义。\n\n**核对标准**：识别主元时需满足两个条件：每行最左非零元，且位于上一行主元右侧。参考结论：矩阵 \n$$\n\\begin{bmatrix} 2 &amp; -1 &amp; 4 &amp; | &amp; 5 \\\\ 0 &amp; 3 &amp; -2 &amp; | &amp; 6 \\\\ 0 &amp; 0 &amp; 0 &amp; | &amp; 0 \\end{bmatrix}\n$$\n 的主元为 $(1,1)$ 与 $(2,2)$。典型错误：将 $(1,2)$ 视为主元，因误认“非零即主元”。修正原因：主元必须是行内首个非零元，且列序必须严格递增；$(1,2)$ 前有非零元 $2$，不满足“最左”条件。再次验证：逐行扫描，首非零元位置为第1列与第2列，无跳列。\n\n**核对标准**：倍加操作必须仅用于消去当前主元列下方元素，且被加行必须是已确定主元的上方行。参考结论：在 \n$$\n\\begin{bmatrix} 2 &amp; -1 &amp; 4 &amp; | &amp; 5 \\\\ 0 &amp; 3 &amp; -2 &amp; | &amp; 6 \\\\ 0 &amp; 6 &amp; -4 &amp; | &amp; 12 \\end{bmatrix}\n$$\n 中，应执行 $R_3 \\leftarrow R_3 - 2R_2$。典型错误：执行 $R_3 \\leftarrow R_3 - 3R_1$。修正原因：$R_1$ 主元在第1列，但第2列尚未处理，此时对 $R_3$ 使用 $R_1$ 会引入非零项至第2列，破坏阶梯结构。再次验证：仅当第2列上方主元已定位（即 $R_2$ 的 $3$ 为当前主元），才可使用 $R_2$ 消去其下方元素。", "section_id": "feedback-section-f53ac175437c", "summary": "核对标准 ：判断行交换操作是否在首列主元为零时执行，且交换后首行首元非零。参考结论：对矩阵 begin{bmatrix} 0 &amp; 3 &amp; 2 &amp; | &amp; 6 2 &amp; 1 &amp; 4 &amp; | &amp; 5", "title": "参考与检查"}], "source_fingerprint": "d79114f4cc2773b33fe33a6b"}, "knowledge_binding_status": null, "markdown": "**核对标准**：判断行交换操作是否在首列主元为零时执行，且交换后首行首元非零。参考结论：对矩阵 \n$$\n\\begin{bmatrix} 0 &amp; 3 &amp; -2 &amp; | &amp; 6 \\\\ 2 &amp; -1 &amp; 4 &amp; | &amp; 5 \\\\ 0 &amp; 6 &amp; -4 &amp; | &amp; 12 \\end{bmatrix}\n$$\n，必须先执行 $R_1 \\leftrightarrow R_2$。典型错误：直接对 $R_3$ 执行 $R_3 \\leftarrow R_3 - 2R_1$，未交换行。修正原因：$R_1$ 首元为零，此时使用倍加无法在首列构造主元，破坏“从左至右”顺序，导致后续主元位置错位。再次验证：交换后首列为 \n$$\n\\begin{bmatrix} 2 \\\\ 0 \\\\ 0 \\end{bmatrix}\n$$\n，符合主元定义。\n\n**核对标准**：识别主元时需满足两个条件：每行最左非零元，且位于上一行主元右侧。参考结论：矩阵 \n$$\n\\begin{bmatrix} 2 &amp; -1 &amp; 4 &amp; | &amp; 5 \\\\ 0 &amp; 3 &amp; -2 &amp; | &amp; 6 \\\\ 0 &amp; 0 &amp; 0 &amp; | &amp; 0 \\end{bmatrix}\n$$\n 的主元为 $(1,1)$ 与 $(2,2)$。典型错误：将 $(1,2)$ 视为主元，因误认“非零即主元”。修正原因：主元必须是行内首个非零元，且列序必须严格递增；$(1,2)$ 前有非零元 $2$，不满足“最左”条件。再次验证：逐行扫描，首非零元位置为第1列与第2列，无跳列。\n\n**核对标准**：倍加操作必须仅用于消去当前主元列下方元素，且被加行必须是已确定主元的上方行。参考结论：在 \n$$\n\\begin{bmatrix} 2 &amp; -1 &amp; 4 &amp; | &amp; 5 \\\\ 0 &amp; 3 &amp; -2 &amp; | &amp; 6 \\\\ 0 &amp; 6 &amp; -4 &amp; | &amp; 12 \\end{bmatrix}\n$$\n 中，应执行 $R_3 \\leftarrow R_3 - 2R_2$。典型错误：执行 $R_3 \\leftarrow R_3 - 3R_1$。修正原因：$R_1$ 主元在第1列，但第2列尚未处理，此时对 $R_3$ 使用 $R_1$ 会引入非零项至第2列，破坏阶梯结构。再次验证：仅当第2列上方主元已定位（即 $R_2$ 的 $3$ 为当前主元），才可使用 $R_2$ 消去其下方元素。", "module_id": "feedback_check", "module_instance_id": "tsb-29fa12cb8720", "planned_minutes": 2, "ppt_page_group_id": "L2-1-2:ppt-page-group:2", "summary": "核对标准 ：判断行交换操作是否在首列主元为零时执行，且交换后首行首元非零。参考结论：对矩阵 begin{bmatrix} 0 &amp; 3 &amp; 2 &amp; | &amp; 6 2 &amp; 1 &amp; 4 &amp; | &amp; 5 0 &amp; 6 &amp; 4 &amp; | &amp; 12 end{", "title": "检查与反馈"}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[tsb-29fa12cb8720 @ cbr_a2f601d05009cd1cc6906169]</a:t>
            </a:r>
          </a:p>
          <a:p>
            <a:r>
              <a:t>source_kind: review_checkpoint</a:t>
            </a:r>
          </a:p>
          <a:p>
            <a:r>
              <a:t>asset_refs: []</a:t>
            </a:r>
          </a:p>
          <a:p>
            <a:r>
              <a:t>**核对标准**：判断行交换操作是否在首列主元为零时执行，且交换后首行首元非零。参考结论：对矩阵 </a:t>
            </a:r>
          </a:p>
          <a:p>
            <a:r>
              <a:t>$$</a:t>
            </a:r>
          </a:p>
          <a:p>
            <a:r>
              <a:t>\begin{bmatrix} 0 &amp; 3 &amp; -2 &amp; | &amp; 6 \\ 2 &amp; -1 &amp; 4 &amp; | &amp; 5 \\ 0 &amp; 6 &amp; -4 &amp; | &amp; 12 \end{bmatrix}</a:t>
            </a:r>
          </a:p>
          <a:p>
            <a:r>
              <a:t>$$</a:t>
            </a:r>
          </a:p>
          <a:p>
            <a:r>
              <a:t>，必须先执行 $R_1 \leftrightarrow R_2$。典型错误：直接对 $R_3$ 执行 $R_3 \leftarrow R_3 - 2R_1$，未交换行。修正原因：$R_1$ 首元为零，此时使用倍加无法在首列构造主元，破坏“从左至右”顺序，导致后续主元位置错位。再次验证：交换后首列为 </a:t>
            </a:r>
          </a:p>
          <a:p>
            <a:r>
              <a:t>$$</a:t>
            </a:r>
          </a:p>
          <a:p>
            <a:r>
              <a:t>\begin{bmatrix} 2 \\ 0 \\ 0 \end{bmatrix}</a:t>
            </a:r>
          </a:p>
          <a:p>
            <a:r>
              <a:t>$$</a:t>
            </a:r>
          </a:p>
          <a:p>
            <a:r>
              <a:t>，符合主元定义。</a:t>
            </a:r>
          </a:p>
          <a:p/>
          <a:p>
            <a:r>
              <a:t>**核对标准**：识别主元时需满足两个条件：每行最左非零元，且位于上一行主元右侧。参考结论：矩阵 </a:t>
            </a:r>
          </a:p>
          <a:p>
            <a:r>
              <a:t>$$</a:t>
            </a:r>
          </a:p>
          <a:p>
            <a:r>
              <a:t>\begin{bmatrix} 2 &amp; -1 &amp; 4 &amp; | &amp; 5 \\ 0 &amp; 3 &amp; -2 &amp; | &amp; 6 \\ 0 &amp; 0 &amp; 0 &amp; | &amp; 0 \end{bmatrix}</a:t>
            </a:r>
          </a:p>
          <a:p>
            <a:r>
              <a:t>$$</a:t>
            </a:r>
          </a:p>
          <a:p>
            <a:r>
              <a:t> 的主元为 $(1,1)$ 与 $(2,2)$。典型错误：将 $(1,2)$ 视为主元，因误认“非零即主元”。修正原因：主元必须是行内首个非零元，且列序必须严格递增；$(1,2)$ 前有非零元 $2$，不满足“最左”条件。再次验证：逐行扫描，首非零元位置为第1列与第2列，无跳列。</a:t>
            </a:r>
          </a:p>
          <a:p/>
          <a:p>
            <a:r>
              <a:t>**核对标准**：倍加操作必须仅用于消去当前主元列下方元素，且被加行必须是已确定主元的上方行。参考结论：在 </a:t>
            </a:r>
          </a:p>
          <a:p>
            <a:r>
              <a:t>$$</a:t>
            </a:r>
          </a:p>
          <a:p>
            <a:r>
              <a:t>\begin{bmatrix} 2 &amp; -1 &amp; 4 &amp; | &amp; 5 \\ 0 &amp; 3 &amp; -2 &amp; | &amp; 6 \\ 0 &amp; 6 &amp; -4 &amp; | &amp; 12 \end{bmatrix}</a:t>
            </a:r>
          </a:p>
          <a:p>
            <a:r>
              <a:t>$$</a:t>
            </a:r>
          </a:p>
          <a:p>
            <a:r>
              <a:t> 中，应执行 $R_3 \leftarrow R_3 - 2R_2$。典型错误：执行 $R_3 \leftarrow R_3 - 3R_1$。修正原因：$R_1$ 主元在第1列，但第2列尚未处理，此时对 $R_3$ 使用 $R_1$ 会引入非零项至第2列，破坏阶梯结构。再次验证：仅当第2列上方主元已定位（即 $R_2$ 的 $3$ 为当前主元），才可使用 $R_2$ 消去其下方元素。</a:t>
            </a:r>
          </a:p>
          <a:p>
            <a:r>
              <a:t>source_payload: {"content_perspective": "teacher_delivery", "feedback_structure": {"mode": "static_reference", "schema_version": "course_feedback_v1", "sections": [{"collapsed_by_default": true, "kind": "guidance", "markdown": "**核对标准**：判断行交换操作是否在首列主元为零时执行，且交换后首行首元非零。参考结论：对矩阵 \n$$\n\\begin{bmatrix} 0 &amp; 3 &amp; -2 &amp; | &amp; 6 \\\\ 2 &amp; -1 &amp; 4 &amp; | &amp; 5 \\\\ 0 &amp; 6 &amp; -4 &amp; | &amp; 12 \\end{bmatrix}\n$$\n，必须先执行 $R_1 \\leftrightarrow R_2$。典型错误：直接对 $R_3$ 执行 $R_3 \\leftarrow R_3 - 2R_1$，未交换行。修正原因：$R_1$ 首元为零，此时使用倍加无法在首列构造主元，破坏“从左至右”顺序，导致后续主元位置错位。再次验证：交换后首列为 \n$$\n\\begin{bmatrix} 2 \\\\ 0 \\\\ 0 \\end{bmatrix}\n$$\n，符合主元定义。\n\n**核对标准**：识别主元时需满足两个条件：每行最左非零元，且位于上一行主元右侧。参考结论：矩阵 \n$$\n\\begin{bmatrix} 2 &amp; -1 &amp; 4 &amp; | &amp; 5 \\\\ 0 &amp; 3 &amp; -2 &amp; | &amp; 6 \\\\ 0 &amp; 0 &amp; 0 &amp; | &amp; 0 \\end{bmatrix}\n$$\n 的主元为 $(1,1)$ 与 $(2,2)$。典型错误：将 $(1,2)$ 视为主元，因误认“非零即主元”。修正原因：主元必须是行内首个非零元，且列序必须严格递增；$(1,2)$ 前有非零元 $2$，不满足“最左”条件。再次验证：逐行扫描，首非零元位置为第1列与第2列，无跳列。\n\n**核对标准**：倍加操作必须仅用于消去当前主元列下方元素，且被加行必须是已确定主元的上方行。参考结论：在 \n$$\n\\begin{bmatrix} 2 &amp; -1 &amp; 4 &amp; | &amp; 5 \\\\ 0 &amp; 3 &amp; -2 &amp; | &amp; 6 \\\\ 0 &amp; 6 &amp; -4 &amp; | &amp; 12 \\end{bmatrix}\n$$\n 中，应执行 $R_3 \\leftarrow R_3 - 2R_2$。典型错误：执行 $R_3 \\leftarrow R_3 - 3R_1$。修正原因：$R_1$ 主元在第1列，但第2列尚未处理，此时对 $R_3$ 使用 $R_1$ 会引入非零项至第2列，破坏阶梯结构。再次验证：仅当第2列上方主元已定位（即 $R_2$ 的 $3$ 为当前主元），才可使用 $R_2$ 消去其下方元素。", "section_id": "feedback-section-f53ac175437c", "summary": "核对标准 ：判断行交换操作是否在首列主元为零时执行，且交换后首行首元非零。参考结论：对矩阵 begin{bmatrix} 0 &amp; 3 &amp; 2 &amp; | &amp; 6 2 &amp; 1 &amp; 4 &amp; | &amp; 5", "title": "参考与检查"}], "source_fingerprint": "d79114f4cc2773b33fe33a6b"}, "knowledge_binding_status": null, "markdown": "**核对标准**：判断行交换操作是否在首列主元为零时执行，且交换后首行首元非零。参考结论：对矩阵 \n$$\n\\begin{bmatrix} 0 &amp; 3 &amp; -2 &amp; | &amp; 6 \\\\ 2 &amp; -1 &amp; 4 &amp; | &amp; 5 \\\\ 0 &amp; 6 &amp; -4 &amp; | &amp; 12 \\end{bmatrix}\n$$\n，必须先执行 $R_1 \\leftrightarrow R_2$。典型错误：直接对 $R_3$ 执行 $R_3 \\leftarrow R_3 - 2R_1$，未交换行。修正原因：$R_1$ 首元为零，此时使用倍加无法在首列构造主元，破坏“从左至右”顺序，导致后续主元位置错位。再次验证：交换后首列为 \n$$\n\\begin{bmatrix} 2 \\\\ 0 \\\\ 0 \\end{bmatrix}\n$$\n，符合主元定义。\n\n**核对标准**：识别主元时需满足两个条件：每行最左非零元，且位于上一行主元右侧。参考结论：矩阵 \n$$\n\\begin{bmatrix} 2 &amp; -1 &amp; 4 &amp; | &amp; 5 \\\\ 0 &amp; 3 &amp; -2 &amp; | &amp; 6 \\\\ 0 &amp; 0 &amp; 0 &amp; | &amp; 0 \\end{bmatrix}\n$$\n 的主元为 $(1,1)$ 与 $(2,2)$。典型错误：将 $(1,2)$ 视为主元，因误认“非零即主元”。修正原因：主元必须是行内首个非零元，且列序必须严格递增；$(1,2)$ 前有非零元 $2$，不满足“最左”条件。再次验证：逐行扫描，首非零元位置为第1列与第2列，无跳列。\n\n**核对标准**：倍加操作必须仅用于消去当前主元列下方元素，且被加行必须是已确定主元的上方行。参考结论：在 \n$$\n\\begin{bmatrix} 2 &amp; -1 &amp; 4 &amp; | &amp; 5 \\\\ 0 &amp; 3 &amp; -2 &amp; | &amp; 6 \\\\ 0 &amp; 6 &amp; -4 &amp; | &amp; 12 \\end{bmatrix}\n$$\n 中，应执行 $R_3 \\leftarrow R_3 - 2R_2$。典型错误：执行 $R_3 \\leftarrow R_3 - 3R_1$。修正原因：$R_1$ 主元在第1列，但第2列尚未处理，此时对 $R_3$ 使用 $R_1$ 会引入非零项至第2列，破坏阶梯结构。再次验证：仅当第2列上方主元已定位（即 $R_2$ 的 $3$ 为当前主元），才可使用 $R_2$ 消去其下方元素。", "module_id": "feedback_check", "module_instance_id": "tsb-29fa12cb8720", "planned_minutes": 2, "ppt_page_group_id": "L2-1-2:ppt-page-group:2", "summary": "核对标准 ：判断行交换操作是否在首列主元为零时执行，且交换后首行首元非零。参考结论：对矩阵 begin{bmatrix} 0 &amp; 3 &amp; 2 &amp; | &amp; 6 2 &amp; 1 &amp; 4 &amp; | &amp; 5 0 &amp; 6 &amp; 4 &amp; | &amp; 12 end{", "title": "检查与反馈"}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[tsb-29fa12cb8720 @ cbr_a2f601d05009cd1cc6906169]</a:t>
            </a:r>
          </a:p>
          <a:p>
            <a:r>
              <a:t>source_kind: review_checkpoint</a:t>
            </a:r>
          </a:p>
          <a:p>
            <a:r>
              <a:t>asset_refs: []</a:t>
            </a:r>
          </a:p>
          <a:p>
            <a:r>
              <a:t>**核对标准**：判断行交换操作是否在首列主元为零时执行，且交换后首行首元非零。参考结论：对矩阵 </a:t>
            </a:r>
          </a:p>
          <a:p>
            <a:r>
              <a:t>$$</a:t>
            </a:r>
          </a:p>
          <a:p>
            <a:r>
              <a:t>\begin{bmatrix} 0 &amp; 3 &amp; -2 &amp; | &amp; 6 \\ 2 &amp; -1 &amp; 4 &amp; | &amp; 5 \\ 0 &amp; 6 &amp; -4 &amp; | &amp; 12 \end{bmatrix}</a:t>
            </a:r>
          </a:p>
          <a:p>
            <a:r>
              <a:t>$$</a:t>
            </a:r>
          </a:p>
          <a:p>
            <a:r>
              <a:t>，必须先执行 $R_1 \leftrightarrow R_2$。典型错误：直接对 $R_3$ 执行 $R_3 \leftarrow R_3 - 2R_1$，未交换行。修正原因：$R_1$ 首元为零，此时使用倍加无法在首列构造主元，破坏“从左至右”顺序，导致后续主元位置错位。再次验证：交换后首列为 </a:t>
            </a:r>
          </a:p>
          <a:p>
            <a:r>
              <a:t>$$</a:t>
            </a:r>
          </a:p>
          <a:p>
            <a:r>
              <a:t>\begin{bmatrix} 2 \\ 0 \\ 0 \end{bmatrix}</a:t>
            </a:r>
          </a:p>
          <a:p>
            <a:r>
              <a:t>$$</a:t>
            </a:r>
          </a:p>
          <a:p>
            <a:r>
              <a:t>，符合主元定义。</a:t>
            </a:r>
          </a:p>
          <a:p/>
          <a:p>
            <a:r>
              <a:t>**核对标准**：识别主元时需满足两个条件：每行最左非零元，且位于上一行主元右侧。参考结论：矩阵 </a:t>
            </a:r>
          </a:p>
          <a:p>
            <a:r>
              <a:t>$$</a:t>
            </a:r>
          </a:p>
          <a:p>
            <a:r>
              <a:t>\begin{bmatrix} 2 &amp; -1 &amp; 4 &amp; | &amp; 5 \\ 0 &amp; 3 &amp; -2 &amp; | &amp; 6 \\ 0 &amp; 0 &amp; 0 &amp; | &amp; 0 \end{bmatrix}</a:t>
            </a:r>
          </a:p>
          <a:p>
            <a:r>
              <a:t>$$</a:t>
            </a:r>
          </a:p>
          <a:p>
            <a:r>
              <a:t> 的主元为 $(1,1)$ 与 $(2,2)$。典型错误：将 $(1,2)$ 视为主元，因误认“非零即主元”。修正原因：主元必须是行内首个非零元，且列序必须严格递增；$(1,2)$ 前有非零元 $2$，不满足“最左”条件。再次验证：逐行扫描，首非零元位置为第1列与第2列，无跳列。</a:t>
            </a:r>
          </a:p>
          <a:p/>
          <a:p>
            <a:r>
              <a:t>**核对标准**：倍加操作必须仅用于消去当前主元列下方元素，且被加行必须是已确定主元的上方行。参考结论：在 </a:t>
            </a:r>
          </a:p>
          <a:p>
            <a:r>
              <a:t>$$</a:t>
            </a:r>
          </a:p>
          <a:p>
            <a:r>
              <a:t>\begin{bmatrix} 2 &amp; -1 &amp; 4 &amp; | &amp; 5 \\ 0 &amp; 3 &amp; -2 &amp; | &amp; 6 \\ 0 &amp; 6 &amp; -4 &amp; | &amp; 12 \end{bmatrix}</a:t>
            </a:r>
          </a:p>
          <a:p>
            <a:r>
              <a:t>$$</a:t>
            </a:r>
          </a:p>
          <a:p>
            <a:r>
              <a:t> 中，应执行 $R_3 \leftarrow R_3 - 2R_2$。典型错误：执行 $R_3 \leftarrow R_3 - 3R_1$。修正原因：$R_1$ 主元在第1列，但第2列尚未处理，此时对 $R_3$ 使用 $R_1$ 会引入非零项至第2列，破坏阶梯结构。再次验证：仅当第2列上方主元已定位（即 $R_2$ 的 $3$ 为当前主元），才可使用 $R_2$ 消去其下方元素。</a:t>
            </a:r>
          </a:p>
          <a:p>
            <a:r>
              <a:t>source_payload: {"content_perspective": "teacher_delivery", "feedback_structure": {"mode": "static_reference", "schema_version": "course_feedback_v1", "sections": [{"collapsed_by_default": true, "kind": "guidance", "markdown": "**核对标准**：判断行交换操作是否在首列主元为零时执行，且交换后首行首元非零。参考结论：对矩阵 \n$$\n\\begin{bmatrix} 0 &amp; 3 &amp; -2 &amp; | &amp; 6 \\\\ 2 &amp; -1 &amp; 4 &amp; | &amp; 5 \\\\ 0 &amp; 6 &amp; -4 &amp; | &amp; 12 \\end{bmatrix}\n$$\n，必须先执行 $R_1 \\leftrightarrow R_2$。典型错误：直接对 $R_3$ 执行 $R_3 \\leftarrow R_3 - 2R_1$，未交换行。修正原因：$R_1$ 首元为零，此时使用倍加无法在首列构造主元，破坏“从左至右”顺序，导致后续主元位置错位。再次验证：交换后首列为 \n$$\n\\begin{bmatrix} 2 \\\\ 0 \\\\ 0 \\end{bmatrix}\n$$\n，符合主元定义。\n\n**核对标准**：识别主元时需满足两个条件：每行最左非零元，且位于上一行主元右侧。参考结论：矩阵 \n$$\n\\begin{bmatrix} 2 &amp; -1 &amp; 4 &amp; | &amp; 5 \\\\ 0 &amp; 3 &amp; -2 &amp; | &amp; 6 \\\\ 0 &amp; 0 &amp; 0 &amp; | &amp; 0 \\end{bmatrix}\n$$\n 的主元为 $(1,1)$ 与 $(2,2)$。典型错误：将 $(1,2)$ 视为主元，因误认“非零即主元”。修正原因：主元必须是行内首个非零元，且列序必须严格递增；$(1,2)$ 前有非零元 $2$，不满足“最左”条件。再次验证：逐行扫描，首非零元位置为第1列与第2列，无跳列。\n\n**核对标准**：倍加操作必须仅用于消去当前主元列下方元素，且被加行必须是已确定主元的上方行。参考结论：在 \n$$\n\\begin{bmatrix} 2 &amp; -1 &amp; 4 &amp; | &amp; 5 \\\\ 0 &amp; 3 &amp; -2 &amp; | &amp; 6 \\\\ 0 &amp; 6 &amp; -4 &amp; | &amp; 12 \\end{bmatrix}\n$$\n 中，应执行 $R_3 \\leftarrow R_3 - 2R_2$。典型错误：执行 $R_3 \\leftarrow R_3 - 3R_1$。修正原因：$R_1$ 主元在第1列，但第2列尚未处理，此时对 $R_3$ 使用 $R_1$ 会引入非零项至第2列，破坏阶梯结构。再次验证：仅当第2列上方主元已定位（即 $R_2$ 的 $3$ 为当前主元），才可使用 $R_2$ 消去其下方元素。", "section_id": "feedback-section-f53ac175437c", "summary": "核对标准 ：判断行交换操作是否在首列主元为零时执行，且交换后首行首元非零。参考结论：对矩阵 begin{bmatrix} 0 &amp; 3 &amp; 2 &amp; | &amp; 6 2 &amp; 1 &amp; 4 &amp; | &amp; 5", "title": "参考与检查"}], "source_fingerprint": "d79114f4cc2773b33fe33a6b"}, "knowledge_binding_status": null, "markdown": "**核对标准**：判断行交换操作是否在首列主元为零时执行，且交换后首行首元非零。参考结论：对矩阵 \n$$\n\\begin{bmatrix} 0 &amp; 3 &amp; -2 &amp; | &amp; 6 \\\\ 2 &amp; -1 &amp; 4 &amp; | &amp; 5 \\\\ 0 &amp; 6 &amp; -4 &amp; | &amp; 12 \\end{bmatrix}\n$$\n，必须先执行 $R_1 \\leftrightarrow R_2$。典型错误：直接对 $R_3$ 执行 $R_3 \\leftarrow R_3 - 2R_1$，未交换行。修正原因：$R_1$ 首元为零，此时使用倍加无法在首列构造主元，破坏“从左至右”顺序，导致后续主元位置错位。再次验证：交换后首列为 \n$$\n\\begin{bmatrix} 2 \\\\ 0 \\\\ 0 \\end{bmatrix}\n$$\n，符合主元定义。\n\n**核对标准**：识别主元时需满足两个条件：每行最左非零元，且位于上一行主元右侧。参考结论：矩阵 \n$$\n\\begin{bmatrix} 2 &amp; -1 &amp; 4 &amp; | &amp; 5 \\\\ 0 &amp; 3 &amp; -2 &amp; | &amp; 6 \\\\ 0 &amp; 0 &amp; 0 &amp; | &amp; 0 \\end{bmatrix}\n$$\n 的主元为 $(1,1)$ 与 $(2,2)$。典型错误：将 $(1,2)$ 视为主元，因误认“非零即主元”。修正原因：主元必须是行内首个非零元，且列序必须严格递增；$(1,2)$ 前有非零元 $2$，不满足“最左”条件。再次验证：逐行扫描，首非零元位置为第1列与第2列，无跳列。\n\n**核对标准**：倍加操作必须仅用于消去当前主元列下方元素，且被加行必须是已确定主元的上方行。参考结论：在 \n$$\n\\begin{bmatrix} 2 &amp; -1 &amp; 4 &amp; | &amp; 5 \\\\ 0 &amp; 3 &amp; -2 &amp; | &amp; 6 \\\\ 0 &amp; 6 &amp; -4 &amp; | &amp; 12 \\end{bmatrix}\n$$\n 中，应执行 $R_3 \\leftarrow R_3 - 2R_2$。典型错误：执行 $R_3 \\leftarrow R_3 - 3R_1$。修正原因：$R_1$ 主元在第1列，但第2列尚未处理，此时对 $R_3$ 使用 $R_1$ 会引入非零项至第2列，破坏阶梯结构。再次验证：仅当第2列上方主元已定位（即 $R_2$ 的 $3$ 为当前主元），才可使用 $R_2$ 消去其下方元素。", "module_id": "feedback_check", "module_instance_id": "tsb-29fa12cb8720", "planned_minutes": 2, "ppt_page_group_id": "L2-1-2:ppt-page-group:2", "summary": "核对标准 ：判断行交换操作是否在首列主元为零时执行，且交换后首行首元非零。参考结论：对矩阵 begin{bmatrix} 0 &amp; 3 &amp; 2 &amp; | &amp; 6 2 &amp; 1 &amp; 4 &amp; | &amp; 5 0 &amp; 6 &amp; 4 &amp; | &amp; 12 end{", "title": "检查与反馈"}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[tsb-29fa12cb8720 @ cbr_a2f601d05009cd1cc6906169]</a:t>
            </a:r>
          </a:p>
          <a:p>
            <a:r>
              <a:t>source_kind: review_checkpoint</a:t>
            </a:r>
          </a:p>
          <a:p>
            <a:r>
              <a:t>asset_refs: []</a:t>
            </a:r>
          </a:p>
          <a:p>
            <a:r>
              <a:t>**核对标准**：判断行交换操作是否在首列主元为零时执行，且交换后首行首元非零。参考结论：对矩阵 </a:t>
            </a:r>
          </a:p>
          <a:p>
            <a:r>
              <a:t>$$</a:t>
            </a:r>
          </a:p>
          <a:p>
            <a:r>
              <a:t>\begin{bmatrix} 0 &amp; 3 &amp; -2 &amp; | &amp; 6 \\ 2 &amp; -1 &amp; 4 &amp; | &amp; 5 \\ 0 &amp; 6 &amp; -4 &amp; | &amp; 12 \end{bmatrix}</a:t>
            </a:r>
          </a:p>
          <a:p>
            <a:r>
              <a:t>$$</a:t>
            </a:r>
          </a:p>
          <a:p>
            <a:r>
              <a:t>，必须先执行 $R_1 \leftrightarrow R_2$。典型错误：直接对 $R_3$ 执行 $R_3 \leftarrow R_3 - 2R_1$，未交换行。修正原因：$R_1$ 首元为零，此时使用倍加无法在首列构造主元，破坏“从左至右”顺序，导致后续主元位置错位。再次验证：交换后首列为 </a:t>
            </a:r>
          </a:p>
          <a:p>
            <a:r>
              <a:t>$$</a:t>
            </a:r>
          </a:p>
          <a:p>
            <a:r>
              <a:t>\begin{bmatrix} 2 \\ 0 \\ 0 \end{bmatrix}</a:t>
            </a:r>
          </a:p>
          <a:p>
            <a:r>
              <a:t>$$</a:t>
            </a:r>
          </a:p>
          <a:p>
            <a:r>
              <a:t>，符合主元定义。</a:t>
            </a:r>
          </a:p>
          <a:p/>
          <a:p>
            <a:r>
              <a:t>**核对标准**：识别主元时需满足两个条件：每行最左非零元，且位于上一行主元右侧。参考结论：矩阵 </a:t>
            </a:r>
          </a:p>
          <a:p>
            <a:r>
              <a:t>$$</a:t>
            </a:r>
          </a:p>
          <a:p>
            <a:r>
              <a:t>\begin{bmatrix} 2 &amp; -1 &amp; 4 &amp; | &amp; 5 \\ 0 &amp; 3 &amp; -2 &amp; | &amp; 6 \\ 0 &amp; 0 &amp; 0 &amp; | &amp; 0 \end{bmatrix}</a:t>
            </a:r>
          </a:p>
          <a:p>
            <a:r>
              <a:t>$$</a:t>
            </a:r>
          </a:p>
          <a:p>
            <a:r>
              <a:t> 的主元为 $(1,1)$ 与 $(2,2)$。典型错误：将 $(1,2)$ 视为主元，因误认“非零即主元”。修正原因：主元必须是行内首个非零元，且列序必须严格递增；$(1,2)$ 前有非零元 $2$，不满足“最左”条件。再次验证：逐行扫描，首非零元位置为第1列与第2列，无跳列。</a:t>
            </a:r>
          </a:p>
          <a:p/>
          <a:p>
            <a:r>
              <a:t>**核对标准**：倍加操作必须仅用于消去当前主元列下方元素，且被加行必须是已确定主元的上方行。参考结论：在 </a:t>
            </a:r>
          </a:p>
          <a:p>
            <a:r>
              <a:t>$$</a:t>
            </a:r>
          </a:p>
          <a:p>
            <a:r>
              <a:t>\begin{bmatrix} 2 &amp; -1 &amp; 4 &amp; | &amp; 5 \\ 0 &amp; 3 &amp; -2 &amp; | &amp; 6 \\ 0 &amp; 6 &amp; -4 &amp; | &amp; 12 \end{bmatrix}</a:t>
            </a:r>
          </a:p>
          <a:p>
            <a:r>
              <a:t>$$</a:t>
            </a:r>
          </a:p>
          <a:p>
            <a:r>
              <a:t> 中，应执行 $R_3 \leftarrow R_3 - 2R_2$。典型错误：执行 $R_3 \leftarrow R_3 - 3R_1$。修正原因：$R_1$ 主元在第1列，但第2列尚未处理，此时对 $R_3$ 使用 $R_1$ 会引入非零项至第2列，破坏阶梯结构。再次验证：仅当第2列上方主元已定位（即 $R_2$ 的 $3$ 为当前主元），才可使用 $R_2$ 消去其下方元素。</a:t>
            </a:r>
          </a:p>
          <a:p>
            <a:r>
              <a:t>source_payload: {"content_perspective": "teacher_delivery", "feedback_structure": {"mode": "static_reference", "schema_version": "course_feedback_v1", "sections": [{"collapsed_by_default": true, "kind": "guidance", "markdown": "**核对标准**：判断行交换操作是否在首列主元为零时执行，且交换后首行首元非零。参考结论：对矩阵 \n$$\n\\begin{bmatrix} 0 &amp; 3 &amp; -2 &amp; | &amp; 6 \\\\ 2 &amp; -1 &amp; 4 &amp; | &amp; 5 \\\\ 0 &amp; 6 &amp; -4 &amp; | &amp; 12 \\end{bmatrix}\n$$\n，必须先执行 $R_1 \\leftrightarrow R_2$。典型错误：直接对 $R_3$ 执行 $R_3 \\leftarrow R_3 - 2R_1$，未交换行。修正原因：$R_1$ 首元为零，此时使用倍加无法在首列构造主元，破坏“从左至右”顺序，导致后续主元位置错位。再次验证：交换后首列为 \n$$\n\\begin{bmatrix} 2 \\\\ 0 \\\\ 0 \\end{bmatrix}\n$$\n，符合主元定义。\n\n**核对标准**：识别主元时需满足两个条件：每行最左非零元，且位于上一行主元右侧。参考结论：矩阵 \n$$\n\\begin{bmatrix} 2 &amp; -1 &amp; 4 &amp; | &amp; 5 \\\\ 0 &amp; 3 &amp; -2 &amp; | &amp; 6 \\\\ 0 &amp; 0 &amp; 0 &amp; | &amp; 0 \\end{bmatrix}\n$$\n 的主元为 $(1,1)$ 与 $(2,2)$。典型错误：将 $(1,2)$ 视为主元，因误认“非零即主元”。修正原因：主元必须是行内首个非零元，且列序必须严格递增；$(1,2)$ 前有非零元 $2$，不满足“最左”条件。再次验证：逐行扫描，首非零元位置为第1列与第2列，无跳列。\n\n**核对标准**：倍加操作必须仅用于消去当前主元列下方元素，且被加行必须是已确定主元的上方行。参考结论：在 \n$$\n\\begin{bmatrix} 2 &amp; -1 &amp; 4 &amp; | &amp; 5 \\\\ 0 &amp; 3 &amp; -2 &amp; | &amp; 6 \\\\ 0 &amp; 6 &amp; -4 &amp; | &amp; 12 \\end{bmatrix}\n$$\n 中，应执行 $R_3 \\leftarrow R_3 - 2R_2$。典型错误：执行 $R_3 \\leftarrow R_3 - 3R_1$。修正原因：$R_1$ 主元在第1列，但第2列尚未处理，此时对 $R_3$ 使用 $R_1$ 会引入非零项至第2列，破坏阶梯结构。再次验证：仅当第2列上方主元已定位（即 $R_2$ 的 $3$ 为当前主元），才可使用 $R_2$ 消去其下方元素。", "section_id": "feedback-section-f53ac175437c", "summary": "核对标准 ：判断行交换操作是否在首列主元为零时执行，且交换后首行首元非零。参考结论：对矩阵 begin{bmatrix} 0 &amp; 3 &amp; 2 &amp; | &amp; 6 2 &amp; 1 &amp; 4 &amp; | &amp; 5", "title": "参考与检查"}], "source_fingerprint": "d79114f4cc2773b33fe33a6b"}, "knowledge_binding_status": null, "markdown": "**核对标准**：判断行交换操作是否在首列主元为零时执行，且交换后首行首元非零。参考结论：对矩阵 \n$$\n\\begin{bmatrix} 0 &amp; 3 &amp; -2 &amp; | &amp; 6 \\\\ 2 &amp; -1 &amp; 4 &amp; | &amp; 5 \\\\ 0 &amp; 6 &amp; -4 &amp; | &amp; 12 \\end{bmatrix}\n$$\n，必须先执行 $R_1 \\leftrightarrow R_2$。典型错误：直接对 $R_3$ 执行 $R_3 \\leftarrow R_3 - 2R_1$，未交换行。修正原因：$R_1$ 首元为零，此时使用倍加无法在首列构造主元，破坏“从左至右”顺序，导致后续主元位置错位。再次验证：交换后首列为 \n$$\n\\begin{bmatrix} 2 \\\\ 0 \\\\ 0 \\end{bmatrix}\n$$\n，符合主元定义。\n\n**核对标准**：识别主元时需满足两个条件：每行最左非零元，且位于上一行主元右侧。参考结论：矩阵 \n$$\n\\begin{bmatrix} 2 &amp; -1 &amp; 4 &amp; | &amp; 5 \\\\ 0 &amp; 3 &amp; -2 &amp; | &amp; 6 \\\\ 0 &amp; 0 &amp; 0 &amp; | &amp; 0 \\end{bmatrix}\n$$\n 的主元为 $(1,1)$ 与 $(2,2)$。典型错误：将 $(1,2)$ 视为主元，因误认“非零即主元”。修正原因：主元必须是行内首个非零元，且列序必须严格递增；$(1,2)$ 前有非零元 $2$，不满足“最左”条件。再次验证：逐行扫描，首非零元位置为第1列与第2列，无跳列。\n\n**核对标准**：倍加操作必须仅用于消去当前主元列下方元素，且被加行必须是已确定主元的上方行。参考结论：在 \n$$\n\\begin{bmatrix} 2 &amp; -1 &amp; 4 &amp; | &amp; 5 \\\\ 0 &amp; 3 &amp; -2 &amp; | &amp; 6 \\\\ 0 &amp; 6 &amp; -4 &amp; | &amp; 12 \\end{bmatrix}\n$$\n 中，应执行 $R_3 \\leftarrow R_3 - 2R_2$。典型错误：执行 $R_3 \\leftarrow R_3 - 3R_1$。修正原因：$R_1$ 主元在第1列，但第2列尚未处理，此时对 $R_3$ 使用 $R_1$ 会引入非零项至第2列，破坏阶梯结构。再次验证：仅当第2列上方主元已定位（即 $R_2$ 的 $3$ 为当前主元），才可使用 $R_2$ 消去其下方元素。", "module_id": "feedback_check", "module_instance_id": "tsb-29fa12cb8720", "planned_minutes": 2, "ppt_page_group_id": "L2-1-2:ppt-page-group:2", "summary": "核对标准 ：判断行交换操作是否在首列主元为零时执行，且交换后首行首元非零。参考结论：对矩阵 begin{bmatrix} 0 &amp; 3 &amp; 2 &amp; | &amp; 6 2 &amp; 1 &amp; 4 &amp; | &amp; 5 0 &amp; 6 &amp; 4 &amp; | &amp; 12 end{", "title": "检查与反馈"}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[tsb-ca885c64f21f @ cbr_42efd0d0bb7e1e649e66ebf4]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给定增广矩阵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0 &amp; 4 &amp; -2 &amp; | &amp; 8 \\</a:t>
            </a:r>
          </a:p>
          <a:p>
            <a:r>
              <a:t>3 &amp; -1 &amp; 5 &amp; | &amp; 7 \\</a:t>
            </a:r>
          </a:p>
          <a:p>
            <a:r>
              <a:t>0 &amp; 8 &amp; -4 &amp; | &amp; 16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需化为行阶梯形。首列首元素为零，违反“从左至右”处理原则，故执行行交换 $R_1 \leftrightarrow R_2$，得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3 &amp; -1 &amp; 5 &amp; | &amp; 7 \\</a:t>
            </a:r>
          </a:p>
          <a:p>
            <a:r>
              <a:t>0 &amp; 4 &amp; -2 &amp; | &amp; 8 \\</a:t>
            </a:r>
          </a:p>
          <a:p>
            <a:r>
              <a:t>0 &amp; 8 &amp; -4 &amp; | &amp; 16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此时主元位于 $(1,1)$。第二列首非零元为 $4$，位于第二行，符合主元定义。为消去其下方元素，执行倍加 $R_3 \leftarrow R_3 - 2R_2$，因 $8 = 2 \times 4$，计算得第三行元素为 $0 - 2 \times 0 = 0$，$8 - 2 \times 4 = 0$，$-4 - 2 \times (-2) = 0$，常数项 $16 - 2 \times 8 = 0$，结果为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3 &amp; -1 &amp; 5 &amp; | &amp; 7 \\</a:t>
            </a:r>
          </a:p>
          <a:p>
            <a:r>
              <a:t>0 &amp; 4 &amp; -2 &amp; | &amp; 8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主元为 $(1,1)$ 与 $(2,2)$，第三行为零行，位于底部。验证：主元列严格递增（第1列→第2列），每行主元下方全零，无跳列操作，所有变换均为合法初等行变换。核对：若未交换行而直接对 $R_3$ 使用 $R_3 \leftarrow R_3 - 2R_1$，将产生 $R_3$ 第一列为 $0 - 2 \times 0 = 0$，第二列为 $8 - 2 \times 4 = 0$，但第三列为 $-4 - 2 \times (-2) = 0$，看似正确，实则破坏了“先处理当前列”的顺序——此时 $R_1$ 的主元在第1列，尚未处理第2列，却用其消去下方行，导致第2列出现虚假“零结构”，无法形成阶梯。本例最终矩阵满足行阶梯形全部条件。</a:t>
            </a:r>
          </a:p>
          <a:p>
            <a:r>
              <a:t>source_payload: {"content_perspective": "teacher_delivery", "knowledge_binding_status": null, "markdown": "给定增广矩阵  \n\n$$\n\\begin{bmatrix}\n0 &amp; 4 &amp; -2 &amp; | &amp; 8 \\\\\n3 &amp; -1 &amp; 5 &amp; | &amp; 7 \\\\\n0 &amp; 8 &amp; -4 &amp; | &amp; 16\n\\end{bmatrix}\n$$\n  \n需化为行阶梯形。首列首元素为零，违反“从左至右”处理原则，故执行行交换 $R_1 \\leftrightarrow R_2$，得  \n\n$$\n\\begin{bmatrix}\n3 &amp; -1 &amp; 5 &amp; | &amp; 7 \\\\\n0 &amp; 4 &amp; -2 &amp; | &amp; 8 \\\\\n0 &amp; 8 &amp; -4 &amp; | &amp; 16\n\\end{bmatrix}\n$$\n  \n此时主元位于 $(1,1)$。第二列首非零元为 $4$，位于第二行，符合主元定义。为消去其下方元素，执行倍加 $R_3 \\leftarrow R_3 - 2R_2$，因 $8 = 2 \\times 4$，计算得第三行元素为 $0 - 2 \\times 0 = 0$，$8 - 2 \\times 4 = 0$，$-4 - 2 \\times (-2) = 0$，常数项 $16 - 2 \\times 8 = 0$，结果为  \n\n$$\n\\begin{bmatrix}\n3 &amp; -1 &amp; 5 &amp; | &amp; 7 \\\\\n0 &amp; 4 &amp; -2 &amp; | &amp; 8 \\\\\n0 &amp; 0 &amp; 0 &amp; | &amp; 0\n\\end{bmatrix}\n$$\n  \n主元为 $(1,1)$ 与 $(2,2)$，第三行为零行，位于底部。验证：主元列严格递增（第1列→第2列），每行主元下方全零，无跳列操作，所有变换均为合法初等行变换。核对：若未交换行而直接对 $R_3$ 使用 $R_3 \\leftarrow R_3 - 2R_1$，将产生 $R_3$ 第一列为 $0 - 2 \\times 0 = 0$，第二列为 $8 - 2 \\times 4 = 0$，但第三列为 $-4 - 2 \\times (-2) = 0$，看似正确，实则破坏了“先处理当前列”的顺序——此时 $R_1$ 的主元在第1列，尚未处理第2列，却用其消去下方行，导致第2列出现虚假“零结构”，无法形成阶梯。本例最终矩阵满足行阶梯形全部条件。", "module_id": "math_worked_example", "module_instance_id": "tsb-ca885c64f21f", "planned_minutes": 2, "ppt_page_group_id": "L2-1-2:ppt-page-group:3", "summary": "给定增广矩阵 begin{bmatrix} 0 &amp; 4 &amp; 2 &amp; | &amp; 8 3 &amp; 1 &amp; 5 &amp; | &amp; 7 0 &amp; 8 &amp; 4 &amp; | &amp; 16 end{bmatrix} 需化为行阶梯形。首列首元素为零，违反“从左至右”处理原则，故", "title": "例题推演"}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[tsb-ca885c64f21f @ cbr_42efd0d0bb7e1e649e66ebf4]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给定增广矩阵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0 &amp; 4 &amp; -2 &amp; | &amp; 8 \\</a:t>
            </a:r>
          </a:p>
          <a:p>
            <a:r>
              <a:t>3 &amp; -1 &amp; 5 &amp; | &amp; 7 \\</a:t>
            </a:r>
          </a:p>
          <a:p>
            <a:r>
              <a:t>0 &amp; 8 &amp; -4 &amp; | &amp; 16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需化为行阶梯形。首列首元素为零，违反“从左至右”处理原则，故执行行交换 $R_1 \leftrightarrow R_2$，得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3 &amp; -1 &amp; 5 &amp; | &amp; 7 \\</a:t>
            </a:r>
          </a:p>
          <a:p>
            <a:r>
              <a:t>0 &amp; 4 &amp; -2 &amp; | &amp; 8 \\</a:t>
            </a:r>
          </a:p>
          <a:p>
            <a:r>
              <a:t>0 &amp; 8 &amp; -4 &amp; | &amp; 16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此时主元位于 $(1,1)$。第二列首非零元为 $4$，位于第二行，符合主元定义。为消去其下方元素，执行倍加 $R_3 \leftarrow R_3 - 2R_2$，因 $8 = 2 \times 4$，计算得第三行元素为 $0 - 2 \times 0 = 0$，$8 - 2 \times 4 = 0$，$-4 - 2 \times (-2) = 0$，常数项 $16 - 2 \times 8 = 0$，结果为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3 &amp; -1 &amp; 5 &amp; | &amp; 7 \\</a:t>
            </a:r>
          </a:p>
          <a:p>
            <a:r>
              <a:t>0 &amp; 4 &amp; -2 &amp; | &amp; 8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主元为 $(1,1)$ 与 $(2,2)$，第三行为零行，位于底部。验证：主元列严格递增（第1列→第2列），每行主元下方全零，无跳列操作，所有变换均为合法初等行变换。核对：若未交换行而直接对 $R_3$ 使用 $R_3 \leftarrow R_3 - 2R_1$，将产生 $R_3$ 第一列为 $0 - 2 \times 0 = 0$，第二列为 $8 - 2 \times 4 = 0$，但第三列为 $-4 - 2 \times (-2) = 0$，看似正确，实则破坏了“先处理当前列”的顺序——此时 $R_1$ 的主元在第1列，尚未处理第2列，却用其消去下方行，导致第2列出现虚假“零结构”，无法形成阶梯。本例最终矩阵满足行阶梯形全部条件。</a:t>
            </a:r>
          </a:p>
          <a:p>
            <a:r>
              <a:t>source_payload: {"content_perspective": "teacher_delivery", "knowledge_binding_status": null, "markdown": "给定增广矩阵  \n\n$$\n\\begin{bmatrix}\n0 &amp; 4 &amp; -2 &amp; | &amp; 8 \\\\\n3 &amp; -1 &amp; 5 &amp; | &amp; 7 \\\\\n0 &amp; 8 &amp; -4 &amp; | &amp; 16\n\\end{bmatrix}\n$$\n  \n需化为行阶梯形。首列首元素为零，违反“从左至右”处理原则，故执行行交换 $R_1 \\leftrightarrow R_2$，得  \n\n$$\n\\begin{bmatrix}\n3 &amp; -1 &amp; 5 &amp; | &amp; 7 \\\\\n0 &amp; 4 &amp; -2 &amp; | &amp; 8 \\\\\n0 &amp; 8 &amp; -4 &amp; | &amp; 16\n\\end{bmatrix}\n$$\n  \n此时主元位于 $(1,1)$。第二列首非零元为 $4$，位于第二行，符合主元定义。为消去其下方元素，执行倍加 $R_3 \\leftarrow R_3 - 2R_2$，因 $8 = 2 \\times 4$，计算得第三行元素为 $0 - 2 \\times 0 = 0$，$8 - 2 \\times 4 = 0$，$-4 - 2 \\times (-2) = 0$，常数项 $16 - 2 \\times 8 = 0$，结果为  \n\n$$\n\\begin{bmatrix}\n3 &amp; -1 &amp; 5 &amp; | &amp; 7 \\\\\n0 &amp; 4 &amp; -2 &amp; | &amp; 8 \\\\\n0 &amp; 0 &amp; 0 &amp; | &amp; 0\n\\end{bmatrix}\n$$\n  \n主元为 $(1,1)$ 与 $(2,2)$，第三行为零行，位于底部。验证：主元列严格递增（第1列→第2列），每行主元下方全零，无跳列操作，所有变换均为合法初等行变换。核对：若未交换行而直接对 $R_3$ 使用 $R_3 \\leftarrow R_3 - 2R_1$，将产生 $R_3$ 第一列为 $0 - 2 \\times 0 = 0$，第二列为 $8 - 2 \\times 4 = 0$，但第三列为 $-4 - 2 \\times (-2) = 0$，看似正确，实则破坏了“先处理当前列”的顺序——此时 $R_1$ 的主元在第1列，尚未处理第2列，却用其消去下方行，导致第2列出现虚假“零结构”，无法形成阶梯。本例最终矩阵满足行阶梯形全部条件。", "module_id": "math_worked_example", "module_instance_id": "tsb-ca885c64f21f", "planned_minutes": 2, "ppt_page_group_id": "L2-1-2:ppt-page-group:3", "summary": "给定增广矩阵 begin{bmatrix} 0 &amp; 4 &amp; 2 &amp; | &amp; 8 3 &amp; 1 &amp; 5 &amp; | &amp; 7 0 &amp; 8 &amp; 4 &amp; | &amp; 16 end{bmatrix} 需化为行阶梯形。首列首元素为零，违反“从左至右”处理原则，故", "title": "例题推演"}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[tsb-ca885c64f21f @ cbr_42efd0d0bb7e1e649e66ebf4]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给定增广矩阵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0 &amp; 4 &amp; -2 &amp; | &amp; 8 \\</a:t>
            </a:r>
          </a:p>
          <a:p>
            <a:r>
              <a:t>3 &amp; -1 &amp; 5 &amp; | &amp; 7 \\</a:t>
            </a:r>
          </a:p>
          <a:p>
            <a:r>
              <a:t>0 &amp; 8 &amp; -4 &amp; | &amp; 16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需化为行阶梯形。首列首元素为零，违反“从左至右”处理原则，故执行行交换 $R_1 \leftrightarrow R_2$，得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3 &amp; -1 &amp; 5 &amp; | &amp; 7 \\</a:t>
            </a:r>
          </a:p>
          <a:p>
            <a:r>
              <a:t>0 &amp; 4 &amp; -2 &amp; | &amp; 8 \\</a:t>
            </a:r>
          </a:p>
          <a:p>
            <a:r>
              <a:t>0 &amp; 8 &amp; -4 &amp; | &amp; 16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此时主元位于 $(1,1)$。第二列首非零元为 $4$，位于第二行，符合主元定义。为消去其下方元素，执行倍加 $R_3 \leftarrow R_3 - 2R_2$，因 $8 = 2 \times 4$，计算得第三行元素为 $0 - 2 \times 0 = 0$，$8 - 2 \times 4 = 0$，$-4 - 2 \times (-2) = 0$，常数项 $16 - 2 \times 8 = 0$，结果为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3 &amp; -1 &amp; 5 &amp; | &amp; 7 \\</a:t>
            </a:r>
          </a:p>
          <a:p>
            <a:r>
              <a:t>0 &amp; 4 &amp; -2 &amp; | &amp; 8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主元为 $(1,1)$ 与 $(2,2)$，第三行为零行，位于底部。验证：主元列严格递增（第1列→第2列），每行主元下方全零，无跳列操作，所有变换均为合法初等行变换。核对：若未交换行而直接对 $R_3$ 使用 $R_3 \leftarrow R_3 - 2R_1$，将产生 $R_3$ 第一列为 $0 - 2 \times 0 = 0$，第二列为 $8 - 2 \times 4 = 0$，但第三列为 $-4 - 2 \times (-2) = 0$，看似正确，实则破坏了“先处理当前列”的顺序——此时 $R_1$ 的主元在第1列，尚未处理第2列，却用其消去下方行，导致第2列出现虚假“零结构”，无法形成阶梯。本例最终矩阵满足行阶梯形全部条件。</a:t>
            </a:r>
          </a:p>
          <a:p>
            <a:r>
              <a:t>source_payload: {"content_perspective": "teacher_delivery", "knowledge_binding_status": null, "markdown": "给定增广矩阵  \n\n$$\n\\begin{bmatrix}\n0 &amp; 4 &amp; -2 &amp; | &amp; 8 \\\\\n3 &amp; -1 &amp; 5 &amp; | &amp; 7 \\\\\n0 &amp; 8 &amp; -4 &amp; | &amp; 16\n\\end{bmatrix}\n$$\n  \n需化为行阶梯形。首列首元素为零，违反“从左至右”处理原则，故执行行交换 $R_1 \\leftrightarrow R_2$，得  \n\n$$\n\\begin{bmatrix}\n3 &amp; -1 &amp; 5 &amp; | &amp; 7 \\\\\n0 &amp; 4 &amp; -2 &amp; | &amp; 8 \\\\\n0 &amp; 8 &amp; -4 &amp; | &amp; 16\n\\end{bmatrix}\n$$\n  \n此时主元位于 $(1,1)$。第二列首非零元为 $4$，位于第二行，符合主元定义。为消去其下方元素，执行倍加 $R_3 \\leftarrow R_3 - 2R_2$，因 $8 = 2 \\times 4$，计算得第三行元素为 $0 - 2 \\times 0 = 0$，$8 - 2 \\times 4 = 0$，$-4 - 2 \\times (-2) = 0$，常数项 $16 - 2 \\times 8 = 0$，结果为  \n\n$$\n\\begin{bmatrix}\n3 &amp; -1 &amp; 5 &amp; | &amp; 7 \\\\\n0 &amp; 4 &amp; -2 &amp; | &amp; 8 \\\\\n0 &amp; 0 &amp; 0 &amp; | &amp; 0\n\\end{bmatrix}\n$$\n  \n主元为 $(1,1)$ 与 $(2,2)$，第三行为零行，位于底部。验证：主元列严格递增（第1列→第2列），每行主元下方全零，无跳列操作，所有变换均为合法初等行变换。核对：若未交换行而直接对 $R_3$ 使用 $R_3 \\leftarrow R_3 - 2R_1$，将产生 $R_3$ 第一列为 $0 - 2 \\times 0 = 0$，第二列为 $8 - 2 \\times 4 = 0$，但第三列为 $-4 - 2 \\times (-2) = 0$，看似正确，实则破坏了“先处理当前列”的顺序——此时 $R_1$ 的主元在第1列，尚未处理第2列，却用其消去下方行，导致第2列出现虚假“零结构”，无法形成阶梯。本例最终矩阵满足行阶梯形全部条件。", "module_id": "math_worked_example", "module_instance_id": "tsb-ca885c64f21f", "planned_minutes": 2, "ppt_page_group_id": "L2-1-2:ppt-page-group:3", "summary": "给定增广矩阵 begin{bmatrix} 0 &amp; 4 &amp; 2 &amp; | &amp; 8 3 &amp; 1 &amp; 5 &amp; | &amp; 7 0 &amp; 8 &amp; 4 &amp; | &amp; 16 end{bmatrix} 需化为行阶梯形。首列首元素为零，违反“从左至右”处理原则，故", "title": "例题推演"}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[tsb-ca885c64f21f @ cbr_42efd0d0bb7e1e649e66ebf4]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给定增广矩阵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0 &amp; 4 &amp; -2 &amp; | &amp; 8 \\</a:t>
            </a:r>
          </a:p>
          <a:p>
            <a:r>
              <a:t>3 &amp; -1 &amp; 5 &amp; | &amp; 7 \\</a:t>
            </a:r>
          </a:p>
          <a:p>
            <a:r>
              <a:t>0 &amp; 8 &amp; -4 &amp; | &amp; 16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需化为行阶梯形。首列首元素为零，违反“从左至右”处理原则，故执行行交换 $R_1 \leftrightarrow R_2$，得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3 &amp; -1 &amp; 5 &amp; | &amp; 7 \\</a:t>
            </a:r>
          </a:p>
          <a:p>
            <a:r>
              <a:t>0 &amp; 4 &amp; -2 &amp; | &amp; 8 \\</a:t>
            </a:r>
          </a:p>
          <a:p>
            <a:r>
              <a:t>0 &amp; 8 &amp; -4 &amp; | &amp; 16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此时主元位于 $(1,1)$。第二列首非零元为 $4$，位于第二行，符合主元定义。为消去其下方元素，执行倍加 $R_3 \leftarrow R_3 - 2R_2$，因 $8 = 2 \times 4$，计算得第三行元素为 $0 - 2 \times 0 = 0$，$8 - 2 \times 4 = 0$，$-4 - 2 \times (-2) = 0$，常数项 $16 - 2 \times 8 = 0$，结果为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3 &amp; -1 &amp; 5 &amp; | &amp; 7 \\</a:t>
            </a:r>
          </a:p>
          <a:p>
            <a:r>
              <a:t>0 &amp; 4 &amp; -2 &amp; | &amp; 8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主元为 $(1,1)$ 与 $(2,2)$，第三行为零行，位于底部。验证：主元列严格递增（第1列→第2列），每行主元下方全零，无跳列操作，所有变换均为合法初等行变换。核对：若未交换行而直接对 $R_3$ 使用 $R_3 \leftarrow R_3 - 2R_1$，将产生 $R_3$ 第一列为 $0 - 2 \times 0 = 0$，第二列为 $8 - 2 \times 4 = 0$，但第三列为 $-4 - 2 \times (-2) = 0$，看似正确，实则破坏了“先处理当前列”的顺序——此时 $R_1$ 的主元在第1列，尚未处理第2列，却用其消去下方行，导致第2列出现虚假“零结构”，无法形成阶梯。本例最终矩阵满足行阶梯形全部条件。</a:t>
            </a:r>
          </a:p>
          <a:p>
            <a:r>
              <a:t>source_payload: {"content_perspective": "teacher_delivery", "knowledge_binding_status": null, "markdown": "给定增广矩阵  \n\n$$\n\\begin{bmatrix}\n0 &amp; 4 &amp; -2 &amp; | &amp; 8 \\\\\n3 &amp; -1 &amp; 5 &amp; | &amp; 7 \\\\\n0 &amp; 8 &amp; -4 &amp; | &amp; 16\n\\end{bmatrix}\n$$\n  \n需化为行阶梯形。首列首元素为零，违反“从左至右”处理原则，故执行行交换 $R_1 \\leftrightarrow R_2$，得  \n\n$$\n\\begin{bmatrix}\n3 &amp; -1 &amp; 5 &amp; | &amp; 7 \\\\\n0 &amp; 4 &amp; -2 &amp; | &amp; 8 \\\\\n0 &amp; 8 &amp; -4 &amp; | &amp; 16\n\\end{bmatrix}\n$$\n  \n此时主元位于 $(1,1)$。第二列首非零元为 $4$，位于第二行，符合主元定义。为消去其下方元素，执行倍加 $R_3 \\leftarrow R_3 - 2R_2$，因 $8 = 2 \\times 4$，计算得第三行元素为 $0 - 2 \\times 0 = 0$，$8 - 2 \\times 4 = 0$，$-4 - 2 \\times (-2) = 0$，常数项 $16 - 2 \\times 8 = 0$，结果为  \n\n$$\n\\begin{bmatrix}\n3 &amp; -1 &amp; 5 &amp; | &amp; 7 \\\\\n0 &amp; 4 &amp; -2 &amp; | &amp; 8 \\\\\n0 &amp; 0 &amp; 0 &amp; | &amp; 0\n\\end{bmatrix}\n$$\n  \n主元为 $(1,1)$ 与 $(2,2)$，第三行为零行，位于底部。验证：主元列严格递增（第1列→第2列），每行主元下方全零，无跳列操作，所有变换均为合法初等行变换。核对：若未交换行而直接对 $R_3$ 使用 $R_3 \\leftarrow R_3 - 2R_1$，将产生 $R_3$ 第一列为 $0 - 2 \\times 0 = 0$，第二列为 $8 - 2 \\times 4 = 0$，但第三列为 $-4 - 2 \\times (-2) = 0$，看似正确，实则破坏了“先处理当前列”的顺序——此时 $R_1$ 的主元在第1列，尚未处理第2列，却用其消去下方行，导致第2列出现虚假“零结构”，无法形成阶梯。本例最终矩阵满足行阶梯形全部条件。", "module_id": "math_worked_example", "module_instance_id": "tsb-ca885c64f21f", "planned_minutes": 2, "ppt_page_group_id": "L2-1-2:ppt-page-group:3", "summary": "给定增广矩阵 begin{bmatrix} 0 &amp; 4 &amp; 2 &amp; | &amp; 8 3 &amp; 1 &amp; 5 &amp; | &amp; 7 0 &amp; 8 &amp; 4 &amp; | &amp; 16 end{bmatrix} 需化为行阶梯形。首列首元素为零，违反“从左至右”处理原则，故", "title": "例题推演"}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[tsb-ca885c64f21f @ cbr_42efd0d0bb7e1e649e66ebf4]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给定增广矩阵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0 &amp; 4 &amp; -2 &amp; | &amp; 8 \\</a:t>
            </a:r>
          </a:p>
          <a:p>
            <a:r>
              <a:t>3 &amp; -1 &amp; 5 &amp; | &amp; 7 \\</a:t>
            </a:r>
          </a:p>
          <a:p>
            <a:r>
              <a:t>0 &amp; 8 &amp; -4 &amp; | &amp; 16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需化为行阶梯形。首列首元素为零，违反“从左至右”处理原则，故执行行交换 $R_1 \leftrightarrow R_2$，得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3 &amp; -1 &amp; 5 &amp; | &amp; 7 \\</a:t>
            </a:r>
          </a:p>
          <a:p>
            <a:r>
              <a:t>0 &amp; 4 &amp; -2 &amp; | &amp; 8 \\</a:t>
            </a:r>
          </a:p>
          <a:p>
            <a:r>
              <a:t>0 &amp; 8 &amp; -4 &amp; | &amp; 16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此时主元位于 $(1,1)$。第二列首非零元为 $4$，位于第二行，符合主元定义。为消去其下方元素，执行倍加 $R_3 \leftarrow R_3 - 2R_2$，因 $8 = 2 \times 4$，计算得第三行元素为 $0 - 2 \times 0 = 0$，$8 - 2 \times 4 = 0$，$-4 - 2 \times (-2) = 0$，常数项 $16 - 2 \times 8 = 0$，结果为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3 &amp; -1 &amp; 5 &amp; | &amp; 7 \\</a:t>
            </a:r>
          </a:p>
          <a:p>
            <a:r>
              <a:t>0 &amp; 4 &amp; -2 &amp; | &amp; 8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主元为 $(1,1)$ 与 $(2,2)$，第三行为零行，位于底部。验证：主元列严格递增（第1列→第2列），每行主元下方全零，无跳列操作，所有变换均为合法初等行变换。核对：若未交换行而直接对 $R_3$ 使用 $R_3 \leftarrow R_3 - 2R_1$，将产生 $R_3$ 第一列为 $0 - 2 \times 0 = 0$，第二列为 $8 - 2 \times 4 = 0$，但第三列为 $-4 - 2 \times (-2) = 0$，看似正确，实则破坏了“先处理当前列”的顺序——此时 $R_1$ 的主元在第1列，尚未处理第2列，却用其消去下方行，导致第2列出现虚假“零结构”，无法形成阶梯。本例最终矩阵满足行阶梯形全部条件。</a:t>
            </a:r>
          </a:p>
          <a:p>
            <a:r>
              <a:t>source_payload: {"content_perspective": "teacher_delivery", "knowledge_binding_status": null, "markdown": "给定增广矩阵  \n\n$$\n\\begin{bmatrix}\n0 &amp; 4 &amp; -2 &amp; | &amp; 8 \\\\\n3 &amp; -1 &amp; 5 &amp; | &amp; 7 \\\\\n0 &amp; 8 &amp; -4 &amp; | &amp; 16\n\\end{bmatrix}\n$$\n  \n需化为行阶梯形。首列首元素为零，违反“从左至右”处理原则，故执行行交换 $R_1 \\leftrightarrow R_2$，得  \n\n$$\n\\begin{bmatrix}\n3 &amp; -1 &amp; 5 &amp; | &amp; 7 \\\\\n0 &amp; 4 &amp; -2 &amp; | &amp; 8 \\\\\n0 &amp; 8 &amp; -4 &amp; | &amp; 16\n\\end{bmatrix}\n$$\n  \n此时主元位于 $(1,1)$。第二列首非零元为 $4$，位于第二行，符合主元定义。为消去其下方元素，执行倍加 $R_3 \\leftarrow R_3 - 2R_2$，因 $8 = 2 \\times 4$，计算得第三行元素为 $0 - 2 \\times 0 = 0$，$8 - 2 \\times 4 = 0$，$-4 - 2 \\times (-2) = 0$，常数项 $16 - 2 \\times 8 = 0$，结果为  \n\n$$\n\\begin{bmatrix}\n3 &amp; -1 &amp; 5 &amp; | &amp; 7 \\\\\n0 &amp; 4 &amp; -2 &amp; | &amp; 8 \\\\\n0 &amp; 0 &amp; 0 &amp; | &amp; 0\n\\end{bmatrix}\n$$\n  \n主元为 $(1,1)$ 与 $(2,2)$，第三行为零行，位于底部。验证：主元列严格递增（第1列→第2列），每行主元下方全零，无跳列操作，所有变换均为合法初等行变换。核对：若未交换行而直接对 $R_3$ 使用 $R_3 \\leftarrow R_3 - 2R_1$，将产生 $R_3$ 第一列为 $0 - 2 \\times 0 = 0$，第二列为 $8 - 2 \\times 4 = 0$，但第三列为 $-4 - 2 \\times (-2) = 0$，看似正确，实则破坏了“先处理当前列”的顺序——此时 $R_1$ 的主元在第1列，尚未处理第2列，却用其消去下方行，导致第2列出现虚假“零结构”，无法形成阶梯。本例最终矩阵满足行阶梯形全部条件。", "module_id": "math_worked_example", "module_instance_id": "tsb-ca885c64f21f", "planned_minutes": 2, "ppt_page_group_id": "L2-1-2:ppt-page-group:3", "summary": "给定增广矩阵 begin{bmatrix} 0 &amp; 4 &amp; 2 &amp; | &amp; 8 3 &amp; 1 &amp; 5 &amp; | &amp; 7 0 &amp; 8 &amp; 4 &amp; | &amp; 16 end{bmatrix} 需化为行阶梯形。首列首元素为零，违反“从左至右”处理原则，故", "title": "例题推演"}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[tsb-ca885c64f21f @ cbr_42efd0d0bb7e1e649e66ebf4]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给定增广矩阵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0 &amp; 4 &amp; -2 &amp; | &amp; 8 \\</a:t>
            </a:r>
          </a:p>
          <a:p>
            <a:r>
              <a:t>3 &amp; -1 &amp; 5 &amp; | &amp; 7 \\</a:t>
            </a:r>
          </a:p>
          <a:p>
            <a:r>
              <a:t>0 &amp; 8 &amp; -4 &amp; | &amp; 16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需化为行阶梯形。首列首元素为零，违反“从左至右”处理原则，故执行行交换 $R_1 \leftrightarrow R_2$，得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3 &amp; -1 &amp; 5 &amp; | &amp; 7 \\</a:t>
            </a:r>
          </a:p>
          <a:p>
            <a:r>
              <a:t>0 &amp; 4 &amp; -2 &amp; | &amp; 8 \\</a:t>
            </a:r>
          </a:p>
          <a:p>
            <a:r>
              <a:t>0 &amp; 8 &amp; -4 &amp; | &amp; 16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此时主元位于 $(1,1)$。第二列首非零元为 $4$，位于第二行，符合主元定义。为消去其下方元素，执行倍加 $R_3 \leftarrow R_3 - 2R_2$，因 $8 = 2 \times 4$，计算得第三行元素为 $0 - 2 \times 0 = 0$，$8 - 2 \times 4 = 0$，$-4 - 2 \times (-2) = 0$，常数项 $16 - 2 \times 8 = 0$，结果为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3 &amp; -1 &amp; 5 &amp; | &amp; 7 \\</a:t>
            </a:r>
          </a:p>
          <a:p>
            <a:r>
              <a:t>0 &amp; 4 &amp; -2 &amp; | &amp; 8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主元为 $(1,1)$ 与 $(2,2)$，第三行为零行，位于底部。验证：主元列严格递增（第1列→第2列），每行主元下方全零，无跳列操作，所有变换均为合法初等行变换。核对：若未交换行而直接对 $R_3$ 使用 $R_3 \leftarrow R_3 - 2R_1$，将产生 $R_3$ 第一列为 $0 - 2 \times 0 = 0$，第二列为 $8 - 2 \times 4 = 0$，但第三列为 $-4 - 2 \times (-2) = 0$，看似正确，实则破坏了“先处理当前列”的顺序——此时 $R_1$ 的主元在第1列，尚未处理第2列，却用其消去下方行，导致第2列出现虚假“零结构”，无法形成阶梯。本例最终矩阵满足行阶梯形全部条件。</a:t>
            </a:r>
          </a:p>
          <a:p>
            <a:r>
              <a:t>source_payload: {"content_perspective": "teacher_delivery", "knowledge_binding_status": null, "markdown": "给定增广矩阵  \n\n$$\n\\begin{bmatrix}\n0 &amp; 4 &amp; -2 &amp; | &amp; 8 \\\\\n3 &amp; -1 &amp; 5 &amp; | &amp; 7 \\\\\n0 &amp; 8 &amp; -4 &amp; | &amp; 16\n\\end{bmatrix}\n$$\n  \n需化为行阶梯形。首列首元素为零，违反“从左至右”处理原则，故执行行交换 $R_1 \\leftrightarrow R_2$，得  \n\n$$\n\\begin{bmatrix}\n3 &amp; -1 &amp; 5 &amp; | &amp; 7 \\\\\n0 &amp; 4 &amp; -2 &amp; | &amp; 8 \\\\\n0 &amp; 8 &amp; -4 &amp; | &amp; 16\n\\end{bmatrix}\n$$\n  \n此时主元位于 $(1,1)$。第二列首非零元为 $4$，位于第二行，符合主元定义。为消去其下方元素，执行倍加 $R_3 \\leftarrow R_3 - 2R_2$，因 $8 = 2 \\times 4$，计算得第三行元素为 $0 - 2 \\times 0 = 0$，$8 - 2 \\times 4 = 0$，$-4 - 2 \\times (-2) = 0$，常数项 $16 - 2 \\times 8 = 0$，结果为  \n\n$$\n\\begin{bmatrix}\n3 &amp; -1 &amp; 5 &amp; | &amp; 7 \\\\\n0 &amp; 4 &amp; -2 &amp; | &amp; 8 \\\\\n0 &amp; 0 &amp; 0 &amp; | &amp; 0\n\\end{bmatrix}\n$$\n  \n主元为 $(1,1)$ 与 $(2,2)$，第三行为零行，位于底部。验证：主元列严格递增（第1列→第2列），每行主元下方全零，无跳列操作，所有变换均为合法初等行变换。核对：若未交换行而直接对 $R_3$ 使用 $R_3 \\leftarrow R_3 - 2R_1$，将产生 $R_3$ 第一列为 $0 - 2 \\times 0 = 0$，第二列为 $8 - 2 \\times 4 = 0$，但第三列为 $-4 - 2 \\times (-2) = 0$，看似正确，实则破坏了“先处理当前列”的顺序——此时 $R_1$ 的主元在第1列，尚未处理第2列，却用其消去下方行，导致第2列出现虚假“零结构”，无法形成阶梯。本例最终矩阵满足行阶梯形全部条件。", "module_id": "math_worked_example", "module_instance_id": "tsb-ca885c64f21f", "planned_minutes": 2, "ppt_page_group_id": "L2-1-2:ppt-page-group:3", "summary": "给定增广矩阵 begin{bmatrix} 0 &amp; 4 &amp; 2 &amp; | &amp; 8 3 &amp; 1 &amp; 5 &amp; | &amp; 7 0 &amp; 8 &amp; 4 &amp; | &amp; 16 end{bmatrix} 需化为行阶梯形。首列首元素为零，违反“从左至右”处理原则，故", "title": "例题推演"}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[tsb-ca885c64f21f @ cbr_42efd0d0bb7e1e649e66ebf4]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给定增广矩阵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0 &amp; 4 &amp; -2 &amp; | &amp; 8 \\</a:t>
            </a:r>
          </a:p>
          <a:p>
            <a:r>
              <a:t>3 &amp; -1 &amp; 5 &amp; | &amp; 7 \\</a:t>
            </a:r>
          </a:p>
          <a:p>
            <a:r>
              <a:t>0 &amp; 8 &amp; -4 &amp; | &amp; 16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需化为行阶梯形。首列首元素为零，违反“从左至右”处理原则，故执行行交换 $R_1 \leftrightarrow R_2$，得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3 &amp; -1 &amp; 5 &amp; | &amp; 7 \\</a:t>
            </a:r>
          </a:p>
          <a:p>
            <a:r>
              <a:t>0 &amp; 4 &amp; -2 &amp; | &amp; 8 \\</a:t>
            </a:r>
          </a:p>
          <a:p>
            <a:r>
              <a:t>0 &amp; 8 &amp; -4 &amp; | &amp; 16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此时主元位于 $(1,1)$。第二列首非零元为 $4$，位于第二行，符合主元定义。为消去其下方元素，执行倍加 $R_3 \leftarrow R_3 - 2R_2$，因 $8 = 2 \times 4$，计算得第三行元素为 $0 - 2 \times 0 = 0$，$8 - 2 \times 4 = 0$，$-4 - 2 \times (-2) = 0$，常数项 $16 - 2 \times 8 = 0$，结果为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3 &amp; -1 &amp; 5 &amp; | &amp; 7 \\</a:t>
            </a:r>
          </a:p>
          <a:p>
            <a:r>
              <a:t>0 &amp; 4 &amp; -2 &amp; | &amp; 8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主元为 $(1,1)$ 与 $(2,2)$，第三行为零行，位于底部。验证：主元列严格递增（第1列→第2列），每行主元下方全零，无跳列操作，所有变换均为合法初等行变换。核对：若未交换行而直接对 $R_3$ 使用 $R_3 \leftarrow R_3 - 2R_1$，将产生 $R_3$ 第一列为 $0 - 2 \times 0 = 0$，第二列为 $8 - 2 \times 4 = 0$，但第三列为 $-4 - 2 \times (-2) = 0$，看似正确，实则破坏了“先处理当前列”的顺序——此时 $R_1$ 的主元在第1列，尚未处理第2列，却用其消去下方行，导致第2列出现虚假“零结构”，无法形成阶梯。本例最终矩阵满足行阶梯形全部条件。</a:t>
            </a:r>
          </a:p>
          <a:p>
            <a:r>
              <a:t>source_payload: {"content_perspective": "teacher_delivery", "knowledge_binding_status": null, "markdown": "给定增广矩阵  \n\n$$\n\\begin{bmatrix}\n0 &amp; 4 &amp; -2 &amp; | &amp; 8 \\\\\n3 &amp; -1 &amp; 5 &amp; | &amp; 7 \\\\\n0 &amp; 8 &amp; -4 &amp; | &amp; 16\n\\end{bmatrix}\n$$\n  \n需化为行阶梯形。首列首元素为零，违反“从左至右”处理原则，故执行行交换 $R_1 \\leftrightarrow R_2$，得  \n\n$$\n\\begin{bmatrix}\n3 &amp; -1 &amp; 5 &amp; | &amp; 7 \\\\\n0 &amp; 4 &amp; -2 &amp; | &amp; 8 \\\\\n0 &amp; 8 &amp; -4 &amp; | &amp; 16\n\\end{bmatrix}\n$$\n  \n此时主元位于 $(1,1)$。第二列首非零元为 $4$，位于第二行，符合主元定义。为消去其下方元素，执行倍加 $R_3 \\leftarrow R_3 - 2R_2$，因 $8 = 2 \\times 4$，计算得第三行元素为 $0 - 2 \\times 0 = 0$，$8 - 2 \\times 4 = 0$，$-4 - 2 \\times (-2) = 0$，常数项 $16 - 2 \\times 8 = 0$，结果为  \n\n$$\n\\begin{bmatrix}\n3 &amp; -1 &amp; 5 &amp; | &amp; 7 \\\\\n0 &amp; 4 &amp; -2 &amp; | &amp; 8 \\\\\n0 &amp; 0 &amp; 0 &amp; | &amp; 0\n\\end{bmatrix}\n$$\n  \n主元为 $(1,1)$ 与 $(2,2)$，第三行为零行，位于底部。验证：主元列严格递增（第1列→第2列），每行主元下方全零，无跳列操作，所有变换均为合法初等行变换。核对：若未交换行而直接对 $R_3$ 使用 $R_3 \\leftarrow R_3 - 2R_1$，将产生 $R_3$ 第一列为 $0 - 2 \\times 0 = 0$，第二列为 $8 - 2 \\times 4 = 0$，但第三列为 $-4 - 2 \\times (-2) = 0$，看似正确，实则破坏了“先处理当前列”的顺序——此时 $R_1$ 的主元在第1列，尚未处理第2列，却用其消去下方行，导致第2列出现虚假“零结构”，无法形成阶梯。本例最终矩阵满足行阶梯形全部条件。", "module_id": "math_worked_example", "module_instance_id": "tsb-ca885c64f21f", "planned_minutes": 2, "ppt_page_group_id": "L2-1-2:ppt-page-group:3", "summary": "给定增广矩阵 begin{bmatrix} 0 &amp; 4 &amp; 2 &amp; | &amp; 8 3 &amp; 1 &amp; 5 &amp; | &amp; 7 0 &amp; 8 &amp; 4 &amp; | &amp; 16 end{bmatrix} 需化为行阶梯形。首列首元素为零，违反“从左至右”处理原则，故", "title": "例题推演"}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[tsb-ca885c64f21f @ cbr_42efd0d0bb7e1e649e66ebf4]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给定增广矩阵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0 &amp; 4 &amp; -2 &amp; | &amp; 8 \\</a:t>
            </a:r>
          </a:p>
          <a:p>
            <a:r>
              <a:t>3 &amp; -1 &amp; 5 &amp; | &amp; 7 \\</a:t>
            </a:r>
          </a:p>
          <a:p>
            <a:r>
              <a:t>0 &amp; 8 &amp; -4 &amp; | &amp; 16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需化为行阶梯形。首列首元素为零，违反“从左至右”处理原则，故执行行交换 $R_1 \leftrightarrow R_2$，得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3 &amp; -1 &amp; 5 &amp; | &amp; 7 \\</a:t>
            </a:r>
          </a:p>
          <a:p>
            <a:r>
              <a:t>0 &amp; 4 &amp; -2 &amp; | &amp; 8 \\</a:t>
            </a:r>
          </a:p>
          <a:p>
            <a:r>
              <a:t>0 &amp; 8 &amp; -4 &amp; | &amp; 16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此时主元位于 $(1,1)$。第二列首非零元为 $4$，位于第二行，符合主元定义。为消去其下方元素，执行倍加 $R_3 \leftarrow R_3 - 2R_2$，因 $8 = 2 \times 4$，计算得第三行元素为 $0 - 2 \times 0 = 0$，$8 - 2 \times 4 = 0$，$-4 - 2 \times (-2) = 0$，常数项 $16 - 2 \times 8 = 0$，结果为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3 &amp; -1 &amp; 5 &amp; | &amp; 7 \\</a:t>
            </a:r>
          </a:p>
          <a:p>
            <a:r>
              <a:t>0 &amp; 4 &amp; -2 &amp; | &amp; 8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主元为 $(1,1)$ 与 $(2,2)$，第三行为零行，位于底部。验证：主元列严格递增（第1列→第2列），每行主元下方全零，无跳列操作，所有变换均为合法初等行变换。核对：若未交换行而直接对 $R_3$ 使用 $R_3 \leftarrow R_3 - 2R_1$，将产生 $R_3$ 第一列为 $0 - 2 \times 0 = 0$，第二列为 $8 - 2 \times 4 = 0$，但第三列为 $-4 - 2 \times (-2) = 0$，看似正确，实则破坏了“先处理当前列”的顺序——此时 $R_1$ 的主元在第1列，尚未处理第2列，却用其消去下方行，导致第2列出现虚假“零结构”，无法形成阶梯。本例最终矩阵满足行阶梯形全部条件。</a:t>
            </a:r>
          </a:p>
          <a:p>
            <a:r>
              <a:t>source_payload: {"content_perspective": "teacher_delivery", "knowledge_binding_status": null, "markdown": "给定增广矩阵  \n\n$$\n\\begin{bmatrix}\n0 &amp; 4 &amp; -2 &amp; | &amp; 8 \\\\\n3 &amp; -1 &amp; 5 &amp; | &amp; 7 \\\\\n0 &amp; 8 &amp; -4 &amp; | &amp; 16\n\\end{bmatrix}\n$$\n  \n需化为行阶梯形。首列首元素为零，违反“从左至右”处理原则，故执行行交换 $R_1 \\leftrightarrow R_2$，得  \n\n$$\n\\begin{bmatrix}\n3 &amp; -1 &amp; 5 &amp; | &amp; 7 \\\\\n0 &amp; 4 &amp; -2 &amp; | &amp; 8 \\\\\n0 &amp; 8 &amp; -4 &amp; | &amp; 16\n\\end{bmatrix}\n$$\n  \n此时主元位于 $(1,1)$。第二列首非零元为 $4$，位于第二行，符合主元定义。为消去其下方元素，执行倍加 $R_3 \\leftarrow R_3 - 2R_2$，因 $8 = 2 \\times 4$，计算得第三行元素为 $0 - 2 \\times 0 = 0$，$8 - 2 \\times 4 = 0$，$-4 - 2 \\times (-2) = 0$，常数项 $16 - 2 \\times 8 = 0$，结果为  \n\n$$\n\\begin{bmatrix}\n3 &amp; -1 &amp; 5 &amp; | &amp; 7 \\\\\n0 &amp; 4 &amp; -2 &amp; | &amp; 8 \\\\\n0 &amp; 0 &amp; 0 &amp; | &amp; 0\n\\end{bmatrix}\n$$\n  \n主元为 $(1,1)$ 与 $(2,2)$，第三行为零行，位于底部。验证：主元列严格递增（第1列→第2列），每行主元下方全零，无跳列操作，所有变换均为合法初等行变换。核对：若未交换行而直接对 $R_3$ 使用 $R_3 \\leftarrow R_3 - 2R_1$，将产生 $R_3$ 第一列为 $0 - 2 \\times 0 = 0$，第二列为 $8 - 2 \\times 4 = 0$，但第三列为 $-4 - 2 \\times (-2) = 0$，看似正确，实则破坏了“先处理当前列”的顺序——此时 $R_1$ 的主元在第1列，尚未处理第2列，却用其消去下方行，导致第2列出现虚假“零结构”，无法形成阶梯。本例最终矩阵满足行阶梯形全部条件。", "module_id": "math_worked_example", "module_instance_id": "tsb-ca885c64f21f", "planned_minutes": 2, "ppt_page_group_id": "L2-1-2:ppt-page-group:3", "summary": "给定增广矩阵 begin{bmatrix} 0 &amp; 4 &amp; 2 &amp; | &amp; 8 3 &amp; 1 &amp; 5 &amp; | &amp; 7 0 &amp; 8 &amp; 4 &amp; | &amp; 16 end{bmatrix} 需化为行阶梯形。首列首元素为零，违反“从左至右”处理原则，故", "title": "例题推演"}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[tsb-ca885c64f21f @ cbr_42efd0d0bb7e1e649e66ebf4]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给定增广矩阵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0 &amp; 4 &amp; -2 &amp; | &amp; 8 \\</a:t>
            </a:r>
          </a:p>
          <a:p>
            <a:r>
              <a:t>3 &amp; -1 &amp; 5 &amp; | &amp; 7 \\</a:t>
            </a:r>
          </a:p>
          <a:p>
            <a:r>
              <a:t>0 &amp; 8 &amp; -4 &amp; | &amp; 16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需化为行阶梯形。首列首元素为零，违反“从左至右”处理原则，故执行行交换 $R_1 \leftrightarrow R_2$，得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3 &amp; -1 &amp; 5 &amp; | &amp; 7 \\</a:t>
            </a:r>
          </a:p>
          <a:p>
            <a:r>
              <a:t>0 &amp; 4 &amp; -2 &amp; | &amp; 8 \\</a:t>
            </a:r>
          </a:p>
          <a:p>
            <a:r>
              <a:t>0 &amp; 8 &amp; -4 &amp; | &amp; 16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此时主元位于 $(1,1)$。第二列首非零元为 $4$，位于第二行，符合主元定义。为消去其下方元素，执行倍加 $R_3 \leftarrow R_3 - 2R_2$，因 $8 = 2 \times 4$，计算得第三行元素为 $0 - 2 \times 0 = 0$，$8 - 2 \times 4 = 0$，$-4 - 2 \times (-2) = 0$，常数项 $16 - 2 \times 8 = 0$，结果为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3 &amp; -1 &amp; 5 &amp; | &amp; 7 \\</a:t>
            </a:r>
          </a:p>
          <a:p>
            <a:r>
              <a:t>0 &amp; 4 &amp; -2 &amp; | &amp; 8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主元为 $(1,1)$ 与 $(2,2)$，第三行为零行，位于底部。验证：主元列严格递增（第1列→第2列），每行主元下方全零，无跳列操作，所有变换均为合法初等行变换。核对：若未交换行而直接对 $R_3$ 使用 $R_3 \leftarrow R_3 - 2R_1$，将产生 $R_3$ 第一列为 $0 - 2 \times 0 = 0$，第二列为 $8 - 2 \times 4 = 0$，但第三列为 $-4 - 2 \times (-2) = 0$，看似正确，实则破坏了“先处理当前列”的顺序——此时 $R_1$ 的主元在第1列，尚未处理第2列，却用其消去下方行，导致第2列出现虚假“零结构”，无法形成阶梯。本例最终矩阵满足行阶梯形全部条件。</a:t>
            </a:r>
          </a:p>
          <a:p>
            <a:r>
              <a:t>source_payload: {"content_perspective": "teacher_delivery", "knowledge_binding_status": null, "markdown": "给定增广矩阵  \n\n$$\n\\begin{bmatrix}\n0 &amp; 4 &amp; -2 &amp; | &amp; 8 \\\\\n3 &amp; -1 &amp; 5 &amp; | &amp; 7 \\\\\n0 &amp; 8 &amp; -4 &amp; | &amp; 16\n\\end{bmatrix}\n$$\n  \n需化为行阶梯形。首列首元素为零，违反“从左至右”处理原则，故执行行交换 $R_1 \\leftrightarrow R_2$，得  \n\n$$\n\\begin{bmatrix}\n3 &amp; -1 &amp; 5 &amp; | &amp; 7 \\\\\n0 &amp; 4 &amp; -2 &amp; | &amp; 8 \\\\\n0 &amp; 8 &amp; -4 &amp; | &amp; 16\n\\end{bmatrix}\n$$\n  \n此时主元位于 $(1,1)$。第二列首非零元为 $4$，位于第二行，符合主元定义。为消去其下方元素，执行倍加 $R_3 \\leftarrow R_3 - 2R_2$，因 $8 = 2 \\times 4$，计算得第三行元素为 $0 - 2 \\times 0 = 0$，$8 - 2 \\times 4 = 0$，$-4 - 2 \\times (-2) = 0$，常数项 $16 - 2 \\times 8 = 0$，结果为  \n\n$$\n\\begin{bmatrix}\n3 &amp; -1 &amp; 5 &amp; | &amp; 7 \\\\\n0 &amp; 4 &amp; -2 &amp; | &amp; 8 \\\\\n0 &amp; 0 &amp; 0 &amp; | &amp; 0\n\\end{bmatrix}\n$$\n  \n主元为 $(1,1)$ 与 $(2,2)$，第三行为零行，位于底部。验证：主元列严格递增（第1列→第2列），每行主元下方全零，无跳列操作，所有变换均为合法初等行变换。核对：若未交换行而直接对 $R_3$ 使用 $R_3 \\leftarrow R_3 - 2R_1$，将产生 $R_3$ 第一列为 $0 - 2 \\times 0 = 0$，第二列为 $8 - 2 \\times 4 = 0$，但第三列为 $-4 - 2 \\times (-2) = 0$，看似正确，实则破坏了“先处理当前列”的顺序——此时 $R_1$ 的主元在第1列，尚未处理第2列，却用其消去下方行，导致第2列出现虚假“零结构”，无法形成阶梯。本例最终矩阵满足行阶梯形全部条件。", "module_id": "math_worked_example", "module_instance_id": "tsb-ca885c64f21f", "planned_minutes": 2, "ppt_page_group_id": "L2-1-2:ppt-page-group:3", "summary": "给定增广矩阵 begin{bmatrix} 0 &amp; 4 &amp; 2 &amp; | &amp; 8 3 &amp; 1 &amp; 5 &amp; | &amp; 7 0 &amp; 8 &amp; 4 &amp; | &amp; 16 end{bmatrix} 需化为行阶梯形。首列首元素为零，违反“从左至右”处理原则，故", "title": "例题推演"}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[tsb-ca885c64f21f @ cbr_42efd0d0bb7e1e649e66ebf4]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给定增广矩阵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0 &amp; 4 &amp; -2 &amp; | &amp; 8 \\</a:t>
            </a:r>
          </a:p>
          <a:p>
            <a:r>
              <a:t>3 &amp; -1 &amp; 5 &amp; | &amp; 7 \\</a:t>
            </a:r>
          </a:p>
          <a:p>
            <a:r>
              <a:t>0 &amp; 8 &amp; -4 &amp; | &amp; 16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需化为行阶梯形。首列首元素为零，违反“从左至右”处理原则，故执行行交换 $R_1 \leftrightarrow R_2$，得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3 &amp; -1 &amp; 5 &amp; | &amp; 7 \\</a:t>
            </a:r>
          </a:p>
          <a:p>
            <a:r>
              <a:t>0 &amp; 4 &amp; -2 &amp; | &amp; 8 \\</a:t>
            </a:r>
          </a:p>
          <a:p>
            <a:r>
              <a:t>0 &amp; 8 &amp; -4 &amp; | &amp; 16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此时主元位于 $(1,1)$。第二列首非零元为 $4$，位于第二行，符合主元定义。为消去其下方元素，执行倍加 $R_3 \leftarrow R_3 - 2R_2$，因 $8 = 2 \times 4$，计算得第三行元素为 $0 - 2 \times 0 = 0$，$8 - 2 \times 4 = 0$，$-4 - 2 \times (-2) = 0$，常数项 $16 - 2 \times 8 = 0$，结果为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3 &amp; -1 &amp; 5 &amp; | &amp; 7 \\</a:t>
            </a:r>
          </a:p>
          <a:p>
            <a:r>
              <a:t>0 &amp; 4 &amp; -2 &amp; | &amp; 8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主元为 $(1,1)$ 与 $(2,2)$，第三行为零行，位于底部。验证：主元列严格递增（第1列→第2列），每行主元下方全零，无跳列操作，所有变换均为合法初等行变换。核对：若未交换行而直接对 $R_3$ 使用 $R_3 \leftarrow R_3 - 2R_1$，将产生 $R_3$ 第一列为 $0 - 2 \times 0 = 0$，第二列为 $8 - 2 \times 4 = 0$，但第三列为 $-4 - 2 \times (-2) = 0$，看似正确，实则破坏了“先处理当前列”的顺序——此时 $R_1$ 的主元在第1列，尚未处理第2列，却用其消去下方行，导致第2列出现虚假“零结构”，无法形成阶梯。本例最终矩阵满足行阶梯形全部条件。</a:t>
            </a:r>
          </a:p>
          <a:p>
            <a:r>
              <a:t>source_payload: {"content_perspective": "teacher_delivery", "knowledge_binding_status": null, "markdown": "给定增广矩阵  \n\n$$\n\\begin{bmatrix}\n0 &amp; 4 &amp; -2 &amp; | &amp; 8 \\\\\n3 &amp; -1 &amp; 5 &amp; | &amp; 7 \\\\\n0 &amp; 8 &amp; -4 &amp; | &amp; 16\n\\end{bmatrix}\n$$\n  \n需化为行阶梯形。首列首元素为零，违反“从左至右”处理原则，故执行行交换 $R_1 \\leftrightarrow R_2$，得  \n\n$$\n\\begin{bmatrix}\n3 &amp; -1 &amp; 5 &amp; | &amp; 7 \\\\\n0 &amp; 4 &amp; -2 &amp; | &amp; 8 \\\\\n0 &amp; 8 &amp; -4 &amp; | &amp; 16\n\\end{bmatrix}\n$$\n  \n此时主元位于 $(1,1)$。第二列首非零元为 $4$，位于第二行，符合主元定义。为消去其下方元素，执行倍加 $R_3 \\leftarrow R_3 - 2R_2$，因 $8 = 2 \\times 4$，计算得第三行元素为 $0 - 2 \\times 0 = 0$，$8 - 2 \\times 4 = 0$，$-4 - 2 \\times (-2) = 0$，常数项 $16 - 2 \\times 8 = 0$，结果为  \n\n$$\n\\begin{bmatrix}\n3 &amp; -1 &amp; 5 &amp; | &amp; 7 \\\\\n0 &amp; 4 &amp; -2 &amp; | &amp; 8 \\\\\n0 &amp; 0 &amp; 0 &amp; | &amp; 0\n\\end{bmatrix}\n$$\n  \n主元为 $(1,1)$ 与 $(2,2)$，第三行为零行，位于底部。验证：主元列严格递增（第1列→第2列），每行主元下方全零，无跳列操作，所有变换均为合法初等行变换。核对：若未交换行而直接对 $R_3$ 使用 $R_3 \\leftarrow R_3 - 2R_1$，将产生 $R_3$ 第一列为 $0 - 2 \\times 0 = 0$，第二列为 $8 - 2 \\times 4 = 0$，但第三列为 $-4 - 2 \\times (-2) = 0$，看似正确，实则破坏了“先处理当前列”的顺序——此时 $R_1$ 的主元在第1列，尚未处理第2列，却用其消去下方行，导致第2列出现虚假“零结构”，无法形成阶梯。本例最终矩阵满足行阶梯形全部条件。", "module_id": "math_worked_example", "module_instance_id": "tsb-ca885c64f21f", "planned_minutes": 2, "ppt_page_group_id": "L2-1-2:ppt-page-group:3", "summary": "给定增广矩阵 begin{bmatrix} 0 &amp; 4 &amp; 2 &amp; | &amp; 8 3 &amp; 1 &amp; 5 &amp; | &amp; 7 0 &amp; 8 &amp; 4 &amp; | &amp; 16 end{bmatrix} 需化为行阶梯形。首列首元素为零，违反“从左至右”处理原则，故", "title": "例题推演"}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[tsb-0dd50638f084 @ cbr_3e63e17f01ba26e0fccd964e]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在高斯消元过程中，主元的选择直接影响计算效率与数值稳定性。当首列存在零元素时，应优先通过行交换将非零元素移至主对角线位置，避免后续运算引入分数。例如，对矩阵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0 &amp; 2 &amp; 4 &amp; | &amp; 6 \\</a:t>
            </a:r>
          </a:p>
          <a:p>
            <a:r>
              <a:t>1 &amp; -1 &amp; 2 &amp; | &amp; 3 \\</a:t>
            </a:r>
          </a:p>
          <a:p>
            <a:r>
              <a:t>0 &amp; 4 &amp; 8 &amp; | &amp; 12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若直接对第三行执行 $ R_3 \leftarrow R_3 - 2R_1 $，因 $ R_1 $ 首元为零，该操作无效且破坏结构；正确策略是先执行 $ R_1 \leftrightarrow R_2 $，使首主元为1，再进行 $ R_3 \leftarrow R_3 - 2R_2 $，得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-1 &amp; 2 &amp; | &amp; 3 \\</a:t>
            </a:r>
          </a:p>
          <a:p>
            <a:r>
              <a:t>0 &amp; 2 &amp; 4 &amp; | &amp; 6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此过程避免了分数运算，并确保主元严格右移。判断依据为：主元必须为所在行最左非零元，且每列仅处理一次；若首列无非零元，则跳至次列，但必须从左至右逐列推进。结果核验：每步变换后确认主元位置递增、下方元素全零，且无跨列消元。若出现分数主元（如 $ \frac{1}{2} $），除非必要，应优先通过行交换获得整数主元以简化后续运算。</a:t>
            </a:r>
          </a:p>
          <a:p>
            <a:r>
              <a:t>source_payload: {"content_perspective": "teacher_delivery", "knowledge_binding_status": null, "markdown": "在高斯消元过程中，主元的选择直接影响计算效率与数值稳定性。当首列存在零元素时，应优先通过行交换将非零元素移至主对角线位置，避免后续运算引入分数。例如，对矩阵  \n\n$$\n\\begin{bmatrix}\n0 &amp; 2 &amp; 4 &amp; | &amp; 6 \\\\\n1 &amp; -1 &amp; 2 &amp; | &amp; 3 \\\\\n0 &amp; 4 &amp; 8 &amp; | &amp; 12\n\\end{bmatrix}\n$$\n  \n若直接对第三行执行 $ R_3 \\leftarrow R_3 - 2R_1 $，因 $ R_1 $ 首元为零，该操作无效且破坏结构；正确策略是先执行 $ R_1 \\leftrightarrow R_2 $，使首主元为1，再进行 $ R_3 \\leftarrow R_3 - 2R_2 $，得  \n\n$$\n\\begin{bmatrix}\n1 &amp; -1 &amp; 2 &amp; | &amp; 3 \\\\\n0 &amp; 2 &amp; 4 &amp; | &amp; 6 \\\\\n0 &amp; 0 &amp; 0 &amp; | &amp; 0\n\\end{bmatrix}\n$$\n  \n此过程避免了分数运算，并确保主元严格右移。判断依据为：主元必须为所在行最左非零元，且每列仅处理一次；若首列无非零元，则跳至次列，但必须从左至右逐列推进。结果核验：每步变换后确认主元位置递增、下方元素全零，且无跨列消元。若出现分数主元（如 $ \\frac{1}{2} $），除非必要，应优先通过行交换获得整数主元以简化后续运算。", "module_id": "math_problem_strategy", "module_instance_id": "tsb-0dd50638f084", "planned_minutes": 2, "ppt_page_group_id": "L2-1-2:ppt-page-group:3", "summary": "在高斯消元过程中，主元的选择直接影响计算效率与数值稳定性。当首列存在零元素时，应优先通过行交换将非零元素移至主对角线位置，避免后续运算引入分数。例如，对矩阵 begin{bmatrix} 0 &amp; 2 &amp; 4 &amp; | &amp; 6 1 &amp; 1 &amp; ", "title": "策略选择"}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[tsb-0dd50638f084 @ cbr_3e63e17f01ba26e0fccd964e]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在高斯消元过程中，主元的选择直接影响计算效率与数值稳定性。当首列存在零元素时，应优先通过行交换将非零元素移至主对角线位置，避免后续运算引入分数。例如，对矩阵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0 &amp; 2 &amp; 4 &amp; | &amp; 6 \\</a:t>
            </a:r>
          </a:p>
          <a:p>
            <a:r>
              <a:t>1 &amp; -1 &amp; 2 &amp; | &amp; 3 \\</a:t>
            </a:r>
          </a:p>
          <a:p>
            <a:r>
              <a:t>0 &amp; 4 &amp; 8 &amp; | &amp; 12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若直接对第三行执行 $ R_3 \leftarrow R_3 - 2R_1 $，因 $ R_1 $ 首元为零，该操作无效且破坏结构；正确策略是先执行 $ R_1 \leftrightarrow R_2 $，使首主元为1，再进行 $ R_3 \leftarrow R_3 - 2R_2 $，得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-1 &amp; 2 &amp; | &amp; 3 \\</a:t>
            </a:r>
          </a:p>
          <a:p>
            <a:r>
              <a:t>0 &amp; 2 &amp; 4 &amp; | &amp; 6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此过程避免了分数运算，并确保主元严格右移。判断依据为：主元必须为所在行最左非零元，且每列仅处理一次；若首列无非零元，则跳至次列，但必须从左至右逐列推进。结果核验：每步变换后确认主元位置递增、下方元素全零，且无跨列消元。若出现分数主元（如 $ \frac{1}{2} $），除非必要，应优先通过行交换获得整数主元以简化后续运算。</a:t>
            </a:r>
          </a:p>
          <a:p>
            <a:r>
              <a:t>source_payload: {"content_perspective": "teacher_delivery", "knowledge_binding_status": null, "markdown": "在高斯消元过程中，主元的选择直接影响计算效率与数值稳定性。当首列存在零元素时，应优先通过行交换将非零元素移至主对角线位置，避免后续运算引入分数。例如，对矩阵  \n\n$$\n\\begin{bmatrix}\n0 &amp; 2 &amp; 4 &amp; | &amp; 6 \\\\\n1 &amp; -1 &amp; 2 &amp; | &amp; 3 \\\\\n0 &amp; 4 &amp; 8 &amp; | &amp; 12\n\\end{bmatrix}\n$$\n  \n若直接对第三行执行 $ R_3 \\leftarrow R_3 - 2R_1 $，因 $ R_1 $ 首元为零，该操作无效且破坏结构；正确策略是先执行 $ R_1 \\leftrightarrow R_2 $，使首主元为1，再进行 $ R_3 \\leftarrow R_3 - 2R_2 $，得  \n\n$$\n\\begin{bmatrix}\n1 &amp; -1 &amp; 2 &amp; | &amp; 3 \\\\\n0 &amp; 2 &amp; 4 &amp; | &amp; 6 \\\\\n0 &amp; 0 &amp; 0 &amp; | &amp; 0\n\\end{bmatrix}\n$$\n  \n此过程避免了分数运算，并确保主元严格右移。判断依据为：主元必须为所在行最左非零元，且每列仅处理一次；若首列无非零元，则跳至次列，但必须从左至右逐列推进。结果核验：每步变换后确认主元位置递增、下方元素全零，且无跨列消元。若出现分数主元（如 $ \\frac{1}{2} $），除非必要，应优先通过行交换获得整数主元以简化后续运算。", "module_id": "math_problem_strategy", "module_instance_id": "tsb-0dd50638f084", "planned_minutes": 2, "ppt_page_group_id": "L2-1-2:ppt-page-group:3", "summary": "在高斯消元过程中，主元的选择直接影响计算效率与数值稳定性。当首列存在零元素时，应优先通过行交换将非零元素移至主对角线位置，避免后续运算引入分数。例如，对矩阵 begin{bmatrix} 0 &amp; 2 &amp; 4 &amp; | &amp; 6 1 &amp; 1 &amp; ", "title": "策略选择"}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[tsb-0dd50638f084 @ cbr_3e63e17f01ba26e0fccd964e]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在高斯消元过程中，主元的选择直接影响计算效率与数值稳定性。当首列存在零元素时，应优先通过行交换将非零元素移至主对角线位置，避免后续运算引入分数。例如，对矩阵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0 &amp; 2 &amp; 4 &amp; | &amp; 6 \\</a:t>
            </a:r>
          </a:p>
          <a:p>
            <a:r>
              <a:t>1 &amp; -1 &amp; 2 &amp; | &amp; 3 \\</a:t>
            </a:r>
          </a:p>
          <a:p>
            <a:r>
              <a:t>0 &amp; 4 &amp; 8 &amp; | &amp; 12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若直接对第三行执行 $ R_3 \leftarrow R_3 - 2R_1 $，因 $ R_1 $ 首元为零，该操作无效且破坏结构；正确策略是先执行 $ R_1 \leftrightarrow R_2 $，使首主元为1，再进行 $ R_3 \leftarrow R_3 - 2R_2 $，得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-1 &amp; 2 &amp; | &amp; 3 \\</a:t>
            </a:r>
          </a:p>
          <a:p>
            <a:r>
              <a:t>0 &amp; 2 &amp; 4 &amp; | &amp; 6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此过程避免了分数运算，并确保主元严格右移。判断依据为：主元必须为所在行最左非零元，且每列仅处理一次；若首列无非零元，则跳至次列，但必须从左至右逐列推进。结果核验：每步变换后确认主元位置递增、下方元素全零，且无跨列消元。若出现分数主元（如 $ \frac{1}{2} $），除非必要，应优先通过行交换获得整数主元以简化后续运算。</a:t>
            </a:r>
          </a:p>
          <a:p>
            <a:r>
              <a:t>source_payload: {"content_perspective": "teacher_delivery", "knowledge_binding_status": null, "markdown": "在高斯消元过程中，主元的选择直接影响计算效率与数值稳定性。当首列存在零元素时，应优先通过行交换将非零元素移至主对角线位置，避免后续运算引入分数。例如，对矩阵  \n\n$$\n\\begin{bmatrix}\n0 &amp; 2 &amp; 4 &amp; | &amp; 6 \\\\\n1 &amp; -1 &amp; 2 &amp; | &amp; 3 \\\\\n0 &amp; 4 &amp; 8 &amp; | &amp; 12\n\\end{bmatrix}\n$$\n  \n若直接对第三行执行 $ R_3 \\leftarrow R_3 - 2R_1 $，因 $ R_1 $ 首元为零，该操作无效且破坏结构；正确策略是先执行 $ R_1 \\leftrightarrow R_2 $，使首主元为1，再进行 $ R_3 \\leftarrow R_3 - 2R_2 $，得  \n\n$$\n\\begin{bmatrix}\n1 &amp; -1 &amp; 2 &amp; | &amp; 3 \\\\\n0 &amp; 2 &amp; 4 &amp; | &amp; 6 \\\\\n0 &amp; 0 &amp; 0 &amp; | &amp; 0\n\\end{bmatrix}\n$$\n  \n此过程避免了分数运算，并确保主元严格右移。判断依据为：主元必须为所在行最左非零元，且每列仅处理一次；若首列无非零元，则跳至次列，但必须从左至右逐列推进。结果核验：每步变换后确认主元位置递增、下方元素全零，且无跨列消元。若出现分数主元（如 $ \\frac{1}{2} $），除非必要，应优先通过行交换获得整数主元以简化后续运算。", "module_id": "math_problem_strategy", "module_instance_id": "tsb-0dd50638f084", "planned_minutes": 2, "ppt_page_group_id": "L2-1-2:ppt-page-group:3", "summary": "在高斯消元过程中，主元的选择直接影响计算效率与数值稳定性。当首列存在零元素时，应优先通过行交换将非零元素移至主对角线位置，避免后续运算引入分数。例如，对矩阵 begin{bmatrix} 0 &amp; 2 &amp; 4 &amp; | &amp; 6 1 &amp; 1 &amp; ", "title": "策略选择"}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[tsb-0dd50638f084 @ cbr_3e63e17f01ba26e0fccd964e]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在高斯消元过程中，主元的选择直接影响计算效率与数值稳定性。当首列存在零元素时，应优先通过行交换将非零元素移至主对角线位置，避免后续运算引入分数。例如，对矩阵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0 &amp; 2 &amp; 4 &amp; | &amp; 6 \\</a:t>
            </a:r>
          </a:p>
          <a:p>
            <a:r>
              <a:t>1 &amp; -1 &amp; 2 &amp; | &amp; 3 \\</a:t>
            </a:r>
          </a:p>
          <a:p>
            <a:r>
              <a:t>0 &amp; 4 &amp; 8 &amp; | &amp; 12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若直接对第三行执行 $ R_3 \leftarrow R_3 - 2R_1 $，因 $ R_1 $ 首元为零，该操作无效且破坏结构；正确策略是先执行 $ R_1 \leftrightarrow R_2 $，使首主元为1，再进行 $ R_3 \leftarrow R_3 - 2R_2 $，得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-1 &amp; 2 &amp; | &amp; 3 \\</a:t>
            </a:r>
          </a:p>
          <a:p>
            <a:r>
              <a:t>0 &amp; 2 &amp; 4 &amp; | &amp; 6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此过程避免了分数运算，并确保主元严格右移。判断依据为：主元必须为所在行最左非零元，且每列仅处理一次；若首列无非零元，则跳至次列，但必须从左至右逐列推进。结果核验：每步变换后确认主元位置递增、下方元素全零，且无跨列消元。若出现分数主元（如 $ \frac{1}{2} $），除非必要，应优先通过行交换获得整数主元以简化后续运算。</a:t>
            </a:r>
          </a:p>
          <a:p>
            <a:r>
              <a:t>source_payload: {"content_perspective": "teacher_delivery", "knowledge_binding_status": null, "markdown": "在高斯消元过程中，主元的选择直接影响计算效率与数值稳定性。当首列存在零元素时，应优先通过行交换将非零元素移至主对角线位置，避免后续运算引入分数。例如，对矩阵  \n\n$$\n\\begin{bmatrix}\n0 &amp; 2 &amp; 4 &amp; | &amp; 6 \\\\\n1 &amp; -1 &amp; 2 &amp; | &amp; 3 \\\\\n0 &amp; 4 &amp; 8 &amp; | &amp; 12\n\\end{bmatrix}\n$$\n  \n若直接对第三行执行 $ R_3 \\leftarrow R_3 - 2R_1 $，因 $ R_1 $ 首元为零，该操作无效且破坏结构；正确策略是先执行 $ R_1 \\leftrightarrow R_2 $，使首主元为1，再进行 $ R_3 \\leftarrow R_3 - 2R_2 $，得  \n\n$$\n\\begin{bmatrix}\n1 &amp; -1 &amp; 2 &amp; | &amp; 3 \\\\\n0 &amp; 2 &amp; 4 &amp; | &amp; 6 \\\\\n0 &amp; 0 &amp; 0 &amp; | &amp; 0\n\\end{bmatrix}\n$$\n  \n此过程避免了分数运算，并确保主元严格右移。判断依据为：主元必须为所在行最左非零元，且每列仅处理一次；若首列无非零元，则跳至次列，但必须从左至右逐列推进。结果核验：每步变换后确认主元位置递增、下方元素全零，且无跨列消元。若出现分数主元（如 $ \\frac{1}{2} $），除非必要，应优先通过行交换获得整数主元以简化后续运算。", "module_id": "math_problem_strategy", "module_instance_id": "tsb-0dd50638f084", "planned_minutes": 2, "ppt_page_group_id": "L2-1-2:ppt-page-group:3", "summary": "在高斯消元过程中，主元的选择直接影响计算效率与数值稳定性。当首列存在零元素时，应优先通过行交换将非零元素移至主对角线位置，避免后续运算引入分数。例如，对矩阵 begin{bmatrix} 0 &amp; 2 &amp; 4 &amp; | &amp; 6 1 &amp; 1 &amp; ", "title": "策略选择"}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[tsb-e217b6df95aa @ cbr_069a2bb8cabd017019f49020]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任务条件：给定增广矩阵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0 &amp; 0 &amp; 3 &amp; | &amp; 9 \\</a:t>
            </a:r>
          </a:p>
          <a:p>
            <a:r>
              <a:t>0 &amp; 2 &amp; -1 &amp; | &amp; 4 \\</a:t>
            </a:r>
          </a:p>
          <a:p>
            <a:r>
              <a:t>1 &amp; -3 &amp; 2 &amp; | &amp; 5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需将其化为行阶梯形，并准确标出所有主元位置。该矩阵首两列均存在全零列，且主元可能出现在第三列，需通过多次行交换调整行序。</a:t>
            </a:r>
          </a:p>
          <a:p/>
          <a:p>
            <a:r>
              <a:t>参考解法：首先观察首列全为零，无法构造主元，故跳至第二列。第二列首元素为零，但第二行第二列元素为2，非零，因此执行行交换 $R_1 \leftrightarrow R_3$，得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-3 &amp; 2 &amp; | &amp; 5 \\</a:t>
            </a:r>
          </a:p>
          <a:p>
            <a:r>
              <a:t>0 &amp; 2 &amp; -1 &amp; | &amp; 4 \\</a:t>
            </a:r>
          </a:p>
          <a:p>
            <a:r>
              <a:t>0 &amp; 0 &amp; 3 &amp; | &amp; 9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此时第一行首元为1，构成主元 $(1,1)$。第二行第二列元素为2，位于第一主元右侧，构成主元 $(2,2)$。第三行第三列元素为3，位于第二主元右侧，构成主元 $(3,3)$。三列主元严格右移，下方元素全为零，符合行阶梯形定义。无需倍加操作，因每列下方已为零。主元位置为 $(1,1)$、$(2,2)$、$(3,3)$。核验：若未交换行而尝试对 $R_2$ 执行 $R_2 \leftarrow R_2 - \frac{2}{3}R_3$，将违反“从左至右”顺序，因第三列尚未被处理；若错误地将 $R_2$ 与 $R_3$ 交换，会导致主元 $(2,3)$ 出现在 $(3,2)$ 之前，破坏列序递增性。最终矩阵满足行阶梯形全部条件：非零行在零行之上、每行主元严格右移、主元下方全零。</a:t>
            </a:r>
          </a:p>
          <a:p>
            <a:r>
              <a:t>source_payload: {"content_perspective": "teacher_delivery", "knowledge_binding_status": null, "markdown": "任务条件：给定增广矩阵  \n\n$$\n\\begin{bmatrix}\n0 &amp; 0 &amp; 3 &amp; | &amp; 9 \\\\\n0 &amp; 2 &amp; -1 &amp; | &amp; 4 \\\\\n1 &amp; -3 &amp; 2 &amp; | &amp; 5\n\\end{bmatrix}\n$$\n  \n需将其化为行阶梯形，并准确标出所有主元位置。该矩阵首两列均存在全零列，且主元可能出现在第三列，需通过多次行交换调整行序。\n\n参考解法：首先观察首列全为零，无法构造主元，故跳至第二列。第二列首元素为零，但第二行第二列元素为2，非零，因此执行行交换 $R_1 \\leftrightarrow R_3$，得  \n\n$$\n\\begin{bmatrix}\n1 &amp; -3 &amp; 2 &amp; | &amp; 5 \\\\\n0 &amp; 2 &amp; -1 &amp; | &amp; 4 \\\\\n0 &amp; 0 &amp; 3 &amp; | &amp; 9\n\\end{bmatrix}\n$$\n  \n此时第一行首元为1，构成主元 $(1,1)$。第二行第二列元素为2，位于第一主元右侧，构成主元 $(2,2)$。第三行第三列元素为3，位于第二主元右侧，构成主元 $(3,3)$。三列主元严格右移，下方元素全为零，符合行阶梯形定义。无需倍加操作，因每列下方已为零。主元位置为 $(1,1)$、$(2,2)$、$(3,3)$。核验：若未交换行而尝试对 $R_2$ 执行 $R_2 \\leftarrow R_2 - \\frac{2}{3}R_3$，将违反“从左至右”顺序，因第三列尚未被处理；若错误地将 $R_2$ 与 $R_3$ 交换，会导致主元 $(2,3)$ 出现在 $(3,2)$ 之前，破坏列序递增性。最终矩阵满足行阶梯形全部条件：非零行在零行之上、每行主元严格右移、主元下方全零。", "module_id": "math_variation", "module_instance_id": "tsb-e217b6df95aa", "planned_minutes": 2, "ppt_page_group_id": "L2-1-2:ppt-page-group:4", "summary": "任务条件：给定增广矩阵 begin{bmatrix} 0 &amp; 0 &amp; 3 &amp; | &amp; 9 0 &amp; 2 &amp; 1 &amp; | &amp; 4 1 &amp; 3 &amp; 2 &amp; | &amp; 5 end{bmatrix} 需将其化为行阶梯形，并准确标出所有主元位置。该矩阵首", "title": "变式练习"}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[tsb-e217b6df95aa @ cbr_069a2bb8cabd017019f49020]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任务条件：给定增广矩阵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0 &amp; 0 &amp; 3 &amp; | &amp; 9 \\</a:t>
            </a:r>
          </a:p>
          <a:p>
            <a:r>
              <a:t>0 &amp; 2 &amp; -1 &amp; | &amp; 4 \\</a:t>
            </a:r>
          </a:p>
          <a:p>
            <a:r>
              <a:t>1 &amp; -3 &amp; 2 &amp; | &amp; 5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需将其化为行阶梯形，并准确标出所有主元位置。该矩阵首两列均存在全零列，且主元可能出现在第三列，需通过多次行交换调整行序。</a:t>
            </a:r>
          </a:p>
          <a:p/>
          <a:p>
            <a:r>
              <a:t>参考解法：首先观察首列全为零，无法构造主元，故跳至第二列。第二列首元素为零，但第二行第二列元素为2，非零，因此执行行交换 $R_1 \leftrightarrow R_3$，得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-3 &amp; 2 &amp; | &amp; 5 \\</a:t>
            </a:r>
          </a:p>
          <a:p>
            <a:r>
              <a:t>0 &amp; 2 &amp; -1 &amp; | &amp; 4 \\</a:t>
            </a:r>
          </a:p>
          <a:p>
            <a:r>
              <a:t>0 &amp; 0 &amp; 3 &amp; | &amp; 9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此时第一行首元为1，构成主元 $(1,1)$。第二行第二列元素为2，位于第一主元右侧，构成主元 $(2,2)$。第三行第三列元素为3，位于第二主元右侧，构成主元 $(3,3)$。三列主元严格右移，下方元素全为零，符合行阶梯形定义。无需倍加操作，因每列下方已为零。主元位置为 $(1,1)$、$(2,2)$、$(3,3)$。核验：若未交换行而尝试对 $R_2$ 执行 $R_2 \leftarrow R_2 - \frac{2}{3}R_3$，将违反“从左至右”顺序，因第三列尚未被处理；若错误地将 $R_2$ 与 $R_3$ 交换，会导致主元 $(2,3)$ 出现在 $(3,2)$ 之前，破坏列序递增性。最终矩阵满足行阶梯形全部条件：非零行在零行之上、每行主元严格右移、主元下方全零。</a:t>
            </a:r>
          </a:p>
          <a:p>
            <a:r>
              <a:t>source_payload: {"content_perspective": "teacher_delivery", "knowledge_binding_status": null, "markdown": "任务条件：给定增广矩阵  \n\n$$\n\\begin{bmatrix}\n0 &amp; 0 &amp; 3 &amp; | &amp; 9 \\\\\n0 &amp; 2 &amp; -1 &amp; | &amp; 4 \\\\\n1 &amp; -3 &amp; 2 &amp; | &amp; 5\n\\end{bmatrix}\n$$\n  \n需将其化为行阶梯形，并准确标出所有主元位置。该矩阵首两列均存在全零列，且主元可能出现在第三列，需通过多次行交换调整行序。\n\n参考解法：首先观察首列全为零，无法构造主元，故跳至第二列。第二列首元素为零，但第二行第二列元素为2，非零，因此执行行交换 $R_1 \\leftrightarrow R_3$，得  \n\n$$\n\\begin{bmatrix}\n1 &amp; -3 &amp; 2 &amp; | &amp; 5 \\\\\n0 &amp; 2 &amp; -1 &amp; | &amp; 4 \\\\\n0 &amp; 0 &amp; 3 &amp; | &amp; 9\n\\end{bmatrix}\n$$\n  \n此时第一行首元为1，构成主元 $(1,1)$。第二行第二列元素为2，位于第一主元右侧，构成主元 $(2,2)$。第三行第三列元素为3，位于第二主元右侧，构成主元 $(3,3)$。三列主元严格右移，下方元素全为零，符合行阶梯形定义。无需倍加操作，因每列下方已为零。主元位置为 $(1,1)$、$(2,2)$、$(3,3)$。核验：若未交换行而尝试对 $R_2$ 执行 $R_2 \\leftarrow R_2 - \\frac{2}{3}R_3$，将违反“从左至右”顺序，因第三列尚未被处理；若错误地将 $R_2$ 与 $R_3$ 交换，会导致主元 $(2,3)$ 出现在 $(3,2)$ 之前，破坏列序递增性。最终矩阵满足行阶梯形全部条件：非零行在零行之上、每行主元严格右移、主元下方全零。", "module_id": "math_variation", "module_instance_id": "tsb-e217b6df95aa", "planned_minutes": 2, "ppt_page_group_id": "L2-1-2:ppt-page-group:4", "summary": "任务条件：给定增广矩阵 begin{bmatrix} 0 &amp; 0 &amp; 3 &amp; | &amp; 9 0 &amp; 2 &amp; 1 &amp; | &amp; 4 1 &amp; 3 &amp; 2 &amp; | &amp; 5 end{bmatrix} 需将其化为行阶梯形，并准确标出所有主元位置。该矩阵首", "title": "变式练习"}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[tsb-e217b6df95aa @ cbr_069a2bb8cabd017019f49020]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任务条件：给定增广矩阵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0 &amp; 0 &amp; 3 &amp; | &amp; 9 \\</a:t>
            </a:r>
          </a:p>
          <a:p>
            <a:r>
              <a:t>0 &amp; 2 &amp; -1 &amp; | &amp; 4 \\</a:t>
            </a:r>
          </a:p>
          <a:p>
            <a:r>
              <a:t>1 &amp; -3 &amp; 2 &amp; | &amp; 5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需将其化为行阶梯形，并准确标出所有主元位置。该矩阵首两列均存在全零列，且主元可能出现在第三列，需通过多次行交换调整行序。</a:t>
            </a:r>
          </a:p>
          <a:p/>
          <a:p>
            <a:r>
              <a:t>参考解法：首先观察首列全为零，无法构造主元，故跳至第二列。第二列首元素为零，但第二行第二列元素为2，非零，因此执行行交换 $R_1 \leftrightarrow R_3$，得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-3 &amp; 2 &amp; | &amp; 5 \\</a:t>
            </a:r>
          </a:p>
          <a:p>
            <a:r>
              <a:t>0 &amp; 2 &amp; -1 &amp; | &amp; 4 \\</a:t>
            </a:r>
          </a:p>
          <a:p>
            <a:r>
              <a:t>0 &amp; 0 &amp; 3 &amp; | &amp; 9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此时第一行首元为1，构成主元 $(1,1)$。第二行第二列元素为2，位于第一主元右侧，构成主元 $(2,2)$。第三行第三列元素为3，位于第二主元右侧，构成主元 $(3,3)$。三列主元严格右移，下方元素全为零，符合行阶梯形定义。无需倍加操作，因每列下方已为零。主元位置为 $(1,1)$、$(2,2)$、$(3,3)$。核验：若未交换行而尝试对 $R_2$ 执行 $R_2 \leftarrow R_2 - \frac{2}{3}R_3$，将违反“从左至右”顺序，因第三列尚未被处理；若错误地将 $R_2$ 与 $R_3$ 交换，会导致主元 $(2,3)$ 出现在 $(3,2)$ 之前，破坏列序递增性。最终矩阵满足行阶梯形全部条件：非零行在零行之上、每行主元严格右移、主元下方全零。</a:t>
            </a:r>
          </a:p>
          <a:p>
            <a:r>
              <a:t>source_payload: {"content_perspective": "teacher_delivery", "knowledge_binding_status": null, "markdown": "任务条件：给定增广矩阵  \n\n$$\n\\begin{bmatrix}\n0 &amp; 0 &amp; 3 &amp; | &amp; 9 \\\\\n0 &amp; 2 &amp; -1 &amp; | &amp; 4 \\\\\n1 &amp; -3 &amp; 2 &amp; | &amp; 5\n\\end{bmatrix}\n$$\n  \n需将其化为行阶梯形，并准确标出所有主元位置。该矩阵首两列均存在全零列，且主元可能出现在第三列，需通过多次行交换调整行序。\n\n参考解法：首先观察首列全为零，无法构造主元，故跳至第二列。第二列首元素为零，但第二行第二列元素为2，非零，因此执行行交换 $R_1 \\leftrightarrow R_3$，得  \n\n$$\n\\begin{bmatrix}\n1 &amp; -3 &amp; 2 &amp; | &amp; 5 \\\\\n0 &amp; 2 &amp; -1 &amp; | &amp; 4 \\\\\n0 &amp; 0 &amp; 3 &amp; | &amp; 9\n\\end{bmatrix}\n$$\n  \n此时第一行首元为1，构成主元 $(1,1)$。第二行第二列元素为2，位于第一主元右侧，构成主元 $(2,2)$。第三行第三列元素为3，位于第二主元右侧，构成主元 $(3,3)$。三列主元严格右移，下方元素全为零，符合行阶梯形定义。无需倍加操作，因每列下方已为零。主元位置为 $(1,1)$、$(2,2)$、$(3,3)$。核验：若未交换行而尝试对 $R_2$ 执行 $R_2 \\leftarrow R_2 - \\frac{2}{3}R_3$，将违反“从左至右”顺序，因第三列尚未被处理；若错误地将 $R_2$ 与 $R_3$ 交换，会导致主元 $(2,3)$ 出现在 $(3,2)$ 之前，破坏列序递增性。最终矩阵满足行阶梯形全部条件：非零行在零行之上、每行主元严格右移、主元下方全零。", "module_id": "math_variation", "module_instance_id": "tsb-e217b6df95aa", "planned_minutes": 2, "ppt_page_group_id": "L2-1-2:ppt-page-group:4", "summary": "任务条件：给定增广矩阵 begin{bmatrix} 0 &amp; 0 &amp; 3 &amp; | &amp; 9 0 &amp; 2 &amp; 1 &amp; | &amp; 4 1 &amp; 3 &amp; 2 &amp; | &amp; 5 end{bmatrix} 需将其化为行阶梯形，并准确标出所有主元位置。该矩阵首", "title": "变式练习"}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[tsb-e217b6df95aa @ cbr_069a2bb8cabd017019f49020]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任务条件：给定增广矩阵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0 &amp; 0 &amp; 3 &amp; | &amp; 9 \\</a:t>
            </a:r>
          </a:p>
          <a:p>
            <a:r>
              <a:t>0 &amp; 2 &amp; -1 &amp; | &amp; 4 \\</a:t>
            </a:r>
          </a:p>
          <a:p>
            <a:r>
              <a:t>1 &amp; -3 &amp; 2 &amp; | &amp; 5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需将其化为行阶梯形，并准确标出所有主元位置。该矩阵首两列均存在全零列，且主元可能出现在第三列，需通过多次行交换调整行序。</a:t>
            </a:r>
          </a:p>
          <a:p/>
          <a:p>
            <a:r>
              <a:t>参考解法：首先观察首列全为零，无法构造主元，故跳至第二列。第二列首元素为零，但第二行第二列元素为2，非零，因此执行行交换 $R_1 \leftrightarrow R_3$，得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-3 &amp; 2 &amp; | &amp; 5 \\</a:t>
            </a:r>
          </a:p>
          <a:p>
            <a:r>
              <a:t>0 &amp; 2 &amp; -1 &amp; | &amp; 4 \\</a:t>
            </a:r>
          </a:p>
          <a:p>
            <a:r>
              <a:t>0 &amp; 0 &amp; 3 &amp; | &amp; 9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此时第一行首元为1，构成主元 $(1,1)$。第二行第二列元素为2，位于第一主元右侧，构成主元 $(2,2)$。第三行第三列元素为3，位于第二主元右侧，构成主元 $(3,3)$。三列主元严格右移，下方元素全为零，符合行阶梯形定义。无需倍加操作，因每列下方已为零。主元位置为 $(1,1)$、$(2,2)$、$(3,3)$。核验：若未交换行而尝试对 $R_2$ 执行 $R_2 \leftarrow R_2 - \frac{2}{3}R_3$，将违反“从左至右”顺序，因第三列尚未被处理；若错误地将 $R_2$ 与 $R_3$ 交换，会导致主元 $(2,3)$ 出现在 $(3,2)$ 之前，破坏列序递增性。最终矩阵满足行阶梯形全部条件：非零行在零行之上、每行主元严格右移、主元下方全零。</a:t>
            </a:r>
          </a:p>
          <a:p>
            <a:r>
              <a:t>source_payload: {"content_perspective": "teacher_delivery", "knowledge_binding_status": null, "markdown": "任务条件：给定增广矩阵  \n\n$$\n\\begin{bmatrix}\n0 &amp; 0 &amp; 3 &amp; | &amp; 9 \\\\\n0 &amp; 2 &amp; -1 &amp; | &amp; 4 \\\\\n1 &amp; -3 &amp; 2 &amp; | &amp; 5\n\\end{bmatrix}\n$$\n  \n需将其化为行阶梯形，并准确标出所有主元位置。该矩阵首两列均存在全零列，且主元可能出现在第三列，需通过多次行交换调整行序。\n\n参考解法：首先观察首列全为零，无法构造主元，故跳至第二列。第二列首元素为零，但第二行第二列元素为2，非零，因此执行行交换 $R_1 \\leftrightarrow R_3$，得  \n\n$$\n\\begin{bmatrix}\n1 &amp; -3 &amp; 2 &amp; | &amp; 5 \\\\\n0 &amp; 2 &amp; -1 &amp; | &amp; 4 \\\\\n0 &amp; 0 &amp; 3 &amp; | &amp; 9\n\\end{bmatrix}\n$$\n  \n此时第一行首元为1，构成主元 $(1,1)$。第二行第二列元素为2，位于第一主元右侧，构成主元 $(2,2)$。第三行第三列元素为3，位于第二主元右侧，构成主元 $(3,3)$。三列主元严格右移，下方元素全为零，符合行阶梯形定义。无需倍加操作，因每列下方已为零。主元位置为 $(1,1)$、$(2,2)$、$(3,3)$。核验：若未交换行而尝试对 $R_2$ 执行 $R_2 \\leftarrow R_2 - \\frac{2}{3}R_3$，将违反“从左至右”顺序，因第三列尚未被处理；若错误地将 $R_2$ 与 $R_3$ 交换，会导致主元 $(2,3)$ 出现在 $(3,2)$ 之前，破坏列序递增性。最终矩阵满足行阶梯形全部条件：非零行在零行之上、每行主元严格右移、主元下方全零。", "module_id": "math_variation", "module_instance_id": "tsb-e217b6df95aa", "planned_minutes": 2, "ppt_page_group_id": "L2-1-2:ppt-page-group:4", "summary": "任务条件：给定增广矩阵 begin{bmatrix} 0 &amp; 0 &amp; 3 &amp; | &amp; 9 0 &amp; 2 &amp; 1 &amp; | &amp; 4 1 &amp; 3 &amp; 2 &amp; | &amp; 5 end{bmatrix} 需将其化为行阶梯形，并准确标出所有主元位置。该矩阵首", "title": "变式练习"}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[tsb-e217b6df95aa @ cbr_069a2bb8cabd017019f49020]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任务条件：给定增广矩阵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0 &amp; 0 &amp; 3 &amp; | &amp; 9 \\</a:t>
            </a:r>
          </a:p>
          <a:p>
            <a:r>
              <a:t>0 &amp; 2 &amp; -1 &amp; | &amp; 4 \\</a:t>
            </a:r>
          </a:p>
          <a:p>
            <a:r>
              <a:t>1 &amp; -3 &amp; 2 &amp; | &amp; 5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需将其化为行阶梯形，并准确标出所有主元位置。该矩阵首两列均存在全零列，且主元可能出现在第三列，需通过多次行交换调整行序。</a:t>
            </a:r>
          </a:p>
          <a:p/>
          <a:p>
            <a:r>
              <a:t>参考解法：首先观察首列全为零，无法构造主元，故跳至第二列。第二列首元素为零，但第二行第二列元素为2，非零，因此执行行交换 $R_1 \leftrightarrow R_3$，得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-3 &amp; 2 &amp; | &amp; 5 \\</a:t>
            </a:r>
          </a:p>
          <a:p>
            <a:r>
              <a:t>0 &amp; 2 &amp; -1 &amp; | &amp; 4 \\</a:t>
            </a:r>
          </a:p>
          <a:p>
            <a:r>
              <a:t>0 &amp; 0 &amp; 3 &amp; | &amp; 9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此时第一行首元为1，构成主元 $(1,1)$。第二行第二列元素为2，位于第一主元右侧，构成主元 $(2,2)$。第三行第三列元素为3，位于第二主元右侧，构成主元 $(3,3)$。三列主元严格右移，下方元素全为零，符合行阶梯形定义。无需倍加操作，因每列下方已为零。主元位置为 $(1,1)$、$(2,2)$、$(3,3)$。核验：若未交换行而尝试对 $R_2$ 执行 $R_2 \leftarrow R_2 - \frac{2}{3}R_3$，将违反“从左至右”顺序，因第三列尚未被处理；若错误地将 $R_2$ 与 $R_3$ 交换，会导致主元 $(2,3)$ 出现在 $(3,2)$ 之前，破坏列序递增性。最终矩阵满足行阶梯形全部条件：非零行在零行之上、每行主元严格右移、主元下方全零。</a:t>
            </a:r>
          </a:p>
          <a:p>
            <a:r>
              <a:t>source_payload: {"content_perspective": "teacher_delivery", "knowledge_binding_status": null, "markdown": "任务条件：给定增广矩阵  \n\n$$\n\\begin{bmatrix}\n0 &amp; 0 &amp; 3 &amp; | &amp; 9 \\\\\n0 &amp; 2 &amp; -1 &amp; | &amp; 4 \\\\\n1 &amp; -3 &amp; 2 &amp; | &amp; 5\n\\end{bmatrix}\n$$\n  \n需将其化为行阶梯形，并准确标出所有主元位置。该矩阵首两列均存在全零列，且主元可能出现在第三列，需通过多次行交换调整行序。\n\n参考解法：首先观察首列全为零，无法构造主元，故跳至第二列。第二列首元素为零，但第二行第二列元素为2，非零，因此执行行交换 $R_1 \\leftrightarrow R_3$，得  \n\n$$\n\\begin{bmatrix}\n1 &amp; -3 &amp; 2 &amp; | &amp; 5 \\\\\n0 &amp; 2 &amp; -1 &amp; | &amp; 4 \\\\\n0 &amp; 0 &amp; 3 &amp; | &amp; 9\n\\end{bmatrix}\n$$\n  \n此时第一行首元为1，构成主元 $(1,1)$。第二行第二列元素为2，位于第一主元右侧，构成主元 $(2,2)$。第三行第三列元素为3，位于第二主元右侧，构成主元 $(3,3)$。三列主元严格右移，下方元素全为零，符合行阶梯形定义。无需倍加操作，因每列下方已为零。主元位置为 $(1,1)$、$(2,2)$、$(3,3)$。核验：若未交换行而尝试对 $R_2$ 执行 $R_2 \\leftarrow R_2 - \\frac{2}{3}R_3$，将违反“从左至右”顺序，因第三列尚未被处理；若错误地将 $R_2$ 与 $R_3$ 交换，会导致主元 $(2,3)$ 出现在 $(3,2)$ 之前，破坏列序递增性。最终矩阵满足行阶梯形全部条件：非零行在零行之上、每行主元严格右移、主元下方全零。", "module_id": "math_variation", "module_instance_id": "tsb-e217b6df95aa", "planned_minutes": 2, "ppt_page_group_id": "L2-1-2:ppt-page-group:4", "summary": "任务条件：给定增广矩阵 begin{bmatrix} 0 &amp; 0 &amp; 3 &amp; | &amp; 9 0 &amp; 2 &amp; 1 &amp; | &amp; 4 1 &amp; 3 &amp; 2 &amp; | &amp; 5 end{bmatrix} 需将其化为行阶梯形，并准确标出所有主元位置。该矩阵首", "title": "变式练习"}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cpu_3e67d603fc8b520660030662</a:t>
            </a:r>
          </a:p>
          <a:p/>
          <a:p>
            <a:r>
              <a:t>source_section_ids: []</a:t>
            </a:r>
          </a:p>
          <a:p/>
          <a:p>
            <a:r>
              <a:t>[tsb-e217b6df95aa @ cbr_069a2bb8cabd017019f49020]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任务条件：给定增广矩阵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0 &amp; 0 &amp; 3 &amp; | &amp; 9 \\</a:t>
            </a:r>
          </a:p>
          <a:p>
            <a:r>
              <a:t>0 &amp; 2 &amp; -1 &amp; | &amp; 4 \\</a:t>
            </a:r>
          </a:p>
          <a:p>
            <a:r>
              <a:t>1 &amp; -3 &amp; 2 &amp; | &amp; 5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需将其化为行阶梯形，并准确标出所有主元位置。该矩阵首两列均存在全零列，且主元可能出现在第三列，需通过多次行交换调整行序。</a:t>
            </a:r>
          </a:p>
          <a:p/>
          <a:p>
            <a:r>
              <a:t>参考解法：首先观察首列全为零，无法构造主元，故跳至第二列。第二列首元素为零，但第二行第二列元素为2，非零，因此执行行交换 $R_1 \leftrightarrow R_3$，得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-3 &amp; 2 &amp; | &amp; 5 \\</a:t>
            </a:r>
          </a:p>
          <a:p>
            <a:r>
              <a:t>0 &amp; 2 &amp; -1 &amp; | &amp; 4 \\</a:t>
            </a:r>
          </a:p>
          <a:p>
            <a:r>
              <a:t>0 &amp; 0 &amp; 3 &amp; | &amp; 9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此时第一行首元为1，构成主元 $(1,1)$。第二行第二列元素为2，位于第一主元右侧，构成主元 $(2,2)$。第三行第三列元素为3，位于第二主元右侧，构成主元 $(3,3)$。三列主元严格右移，下方元素全为零，符合行阶梯形定义。无需倍加操作，因每列下方已为零。主元位置为 $(1,1)$、$(2,2)$、$(3,3)$。核验：若未交换行而尝试对 $R_2$ 执行 $R_2 \leftarrow R_2 - \frac{2}{3}R_3$，将违反“从左至右”顺序，因第三列尚未被处理；若错误地将 $R_2$ 与 $R_3$ 交换，会导致主元 $(2,3)$ 出现在 $(3,2)$ 之前，破坏列序递增性。最终矩阵满足行阶梯形全部条件：非零行在零行之上、每行主元严格右移、主元下方全零。</a:t>
            </a:r>
          </a:p>
          <a:p>
            <a:r>
              <a:t>source_payload: {"content_perspective": "teacher_delivery", "knowledge_binding_status": null, "markdown": "任务条件：给定增广矩阵  \n\n$$\n\\begin{bmatrix}\n0 &amp; 0 &amp; 3 &amp; | &amp; 9 \\\\\n0 &amp; 2 &amp; -1 &amp; | &amp; 4 \\\\\n1 &amp; -3 &amp; 2 &amp; | &amp; 5\n\\end{bmatrix}\n$$\n  \n需将其化为行阶梯形，并准确标出所有主元位置。该矩阵首两列均存在全零列，且主元可能出现在第三列，需通过多次行交换调整行序。\n\n参考解法：首先观察首列全为零，无法构造主元，故跳至第二列。第二列首元素为零，但第二行第二列元素为2，非零，因此执行行交换 $R_1 \\leftrightarrow R_3$，得  \n\n$$\n\\begin{bmatrix}\n1 &amp; -3 &amp; 2 &amp; | &amp; 5 \\\\\n0 &amp; 2 &amp; -1 &amp; | &amp; 4 \\\\\n0 &amp; 0 &amp; 3 &amp; | &amp; 9\n\\end{bmatrix}\n$$\n  \n此时第一行首元为1，构成主元 $(1,1)$。第二行第二列元素为2，位于第一主元右侧，构成主元 $(2,2)$。第三行第三列元素为3，位于第二主元右侧，构成主元 $(3,3)$。三列主元严格右移，下方元素全为零，符合行阶梯形定义。无需倍加操作，因每列下方已为零。主元位置为 $(1,1)$、$(2,2)$、$(3,3)$。核验：若未交换行而尝试对 $R_2$ 执行 $R_2 \\leftarrow R_2 - \\frac{2}{3}R_3$，将违反“从左至右”顺序，因第三列尚未被处理；若错误地将 $R_2$ 与 $R_3$ 交换，会导致主元 $(2,3)$ 出现在 $(3,2)$ 之前，破坏列序递增性。最终矩阵满足行阶梯形全部条件：非零行在零行之上、每行主元严格右移、主元下方全零。", "module_id": "math_variation", "module_instance_id": "tsb-e217b6df95aa", "planned_minutes": 2, "ppt_page_group_id": "L2-1-2:ppt-page-group:4", "summary": "任务条件：给定增广矩阵 begin{bmatrix} 0 &amp; 0 &amp; 3 &amp; | &amp; 9 0 &amp; 2 &amp; 1 &amp; | &amp; 4 1 &amp; 3 &amp; 2 &amp; | &amp; 5 end{bmatrix} 需将其化为行阶梯形，并准确标出所有主元位置。该矩阵首", "title": "变式练习"}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cpu_a22f62f86e93aaf796d9ab27</a:t>
            </a:r>
          </a:p>
          <a:p/>
          <a:p>
            <a:r>
              <a:t>source_section_ids: []</a:t>
            </a:r>
          </a:p>
          <a:p/>
          <a:p>
            <a:r>
              <a:t>[tsb-018d5e109b63 @ cbr_38eb750b918eb01ee65b9f6d]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本节旨在通过分析行阶梯形增广矩阵的结构特征，不进行数值求解，即可判断线性方程组的解的类型：无解、唯一解或无穷多解。学会后，能够对任意给定的行阶梯形增广矩阵，准确圈出所有非零行的首个非零元素（称为主元），并记录其所在列号；识别是否存在形如 $[0\ 0\ \cdots\ 0\ |\ b]$（其中 $b \neq 0$）的矛盾行，若存在则断言方程组无解；在无矛盾行的前提下，统计主元个数 $r$ 与未知数个数 $n$（即系数部分的列数，不包含增广列），若 $r = n$，则方程组有唯一解；若 $r &lt; n$，则方程组有无穷多解。例如，对矩阵 </a:t>
            </a:r>
          </a:p>
          <a:p>
            <a:r>
              <a:t>$$</a:t>
            </a:r>
          </a:p>
          <a:p>
            <a:r>
              <a:t>\begin{bmatrix} 1 &amp; 2 &amp; 0 &amp; 3 \\ 0 &amp; 0 &amp; 1 &amp; 4 \\ 0 &amp; 0 &amp; 0 &amp; 0 \end{bmatrix}</a:t>
            </a:r>
          </a:p>
          <a:p>
            <a:r>
              <a:t>$$</a:t>
            </a:r>
          </a:p>
          <a:p>
            <a:r>
              <a:t>，主元位于第1列和第3列，$r=2$，未知数 $n=3$，故有无穷多解；对矩阵 </a:t>
            </a:r>
          </a:p>
          <a:p>
            <a:r>
              <a:t>$$</a:t>
            </a:r>
          </a:p>
          <a:p>
            <a:r>
              <a:t>\begin{bmatrix} 1 &amp; 2 &amp; 3 &amp; | &amp; 4 \\ 0 &amp; 0 &amp; 0 &amp; | &amp; 1 \end{bmatrix}</a:t>
            </a:r>
          </a:p>
          <a:p>
            <a:r>
              <a:t>$$</a:t>
            </a:r>
          </a:p>
          <a:p>
            <a:r>
              <a:t>，最后一行形如 $0=1$，为矛盾行，直接判定无解；对矩阵 </a:t>
            </a:r>
          </a:p>
          <a:p>
            <a:r>
              <a:t>$$</a:t>
            </a:r>
          </a:p>
          <a:p>
            <a:r>
              <a:t>\begin{bmatrix} 1 &amp; 0 &amp; 0 &amp; | &amp; 2 \\ 0 &amp; 1 &amp; 0 &amp; | &amp; 3 \\ 0 &amp; 0 &amp; 1 &amp; | &amp; 5 \end{bmatrix}</a:t>
            </a:r>
          </a:p>
          <a:p>
            <a:r>
              <a:t>$$</a:t>
            </a:r>
          </a:p>
          <a:p>
            <a:r>
              <a:t>，主元数 $r=3$，未知数 $n=3$，故有唯一解。判断依据严格依赖主元位置、矛盾行识别与 $r$ 与 $n$ 的比较，不依赖数值大小或变量命名。</a:t>
            </a:r>
          </a:p>
          <a:p>
            <a:r>
              <a:t>source_payload: {"content_perspective": "teacher_delivery", "knowledge_binding_status": null, "markdown": "本节旨在通过分析行阶梯形增广矩阵的结构特征，不进行数值求解，即可判断线性方程组的解的类型：无解、唯一解或无穷多解。学会后，能够对任意给定的行阶梯形增广矩阵，准确圈出所有非零行的首个非零元素（称为主元），并记录其所在列号；识别是否存在形如 $[0\\ 0\\ \\cdots\\ 0\\ |\\ b]$（其中 $b \\neq 0$）的矛盾行，若存在则断言方程组无解；在无矛盾行的前提下，统计主元个数 $r$ 与未知数个数 $n$（即系数部分的列数，不包含增广列），若 $r = n$，则方程组有唯一解；若 $r &lt; n$，则方程组有无穷多解。例如，对矩阵 \n$$\n\\begin{bmatrix} 1 &amp; 2 &amp; 0 &amp; 3 \\\\ 0 &amp; 0 &amp; 1 &amp; 4 \\\\ 0 &amp; 0 &amp; 0 &amp; 0 \\end{bmatrix}\n$$\n，主元位于第1列和第3列，$r=2$，未知数 $n=3$，故有无穷多解；对矩阵 \n$$\n\\begin{bmatrix} 1 &amp; 2 &amp; 3 &amp; | &amp; 4 \\\\ 0 &amp; 0 &amp; 0 &amp; | &amp; 1 \\end{bmatrix}\n$$\n，最后一行形如 $0=1$，为矛盾行，直接判定无解；对矩阵 \n$$\n\\begin{bmatrix} 1 &amp; 0 &amp; 0 &amp; | &amp; 2 \\\\ 0 &amp; 1 &amp; 0 &amp; | &amp; 3 \\\\ 0 &amp; 0 &amp; 1 &amp; | &amp; 5 \\end{bmatrix}\n$$\n，主元数 $r=3$，未知数 $n=3$，故有唯一解。判断依据严格依赖主元位置、矛盾行识别与 $r$ 与 $n$ 的比较，不依赖数值大小或变量命名。", "module_id": "lesson_goal", "module_instance_id": "tsb-018d5e109b63", "planned_minutes": 2, "ppt_page_group_id": "L2-1-3:ppt-page-group:1", "summary": "本节旨在通过分析行阶梯形增广矩阵的结构特征，不进行数值求解，即可判断线性方程组的解的类型：无解、唯一解或无穷多解。学会后，能够对任意给定的行阶梯形增广矩阵，准确圈出所有非零行的首个非零元素（称为主元），并记录其所在列号；识别是否存在形如 [", "title": "本节任务"}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cpu_a22f62f86e93aaf796d9ab27</a:t>
            </a:r>
          </a:p>
          <a:p/>
          <a:p>
            <a:r>
              <a:t>source_section_ids: []</a:t>
            </a:r>
          </a:p>
          <a:p/>
          <a:p>
            <a:r>
              <a:t>[tsb-018d5e109b63 @ cbr_38eb750b918eb01ee65b9f6d]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本节旨在通过分析行阶梯形增广矩阵的结构特征，不进行数值求解，即可判断线性方程组的解的类型：无解、唯一解或无穷多解。学会后，能够对任意给定的行阶梯形增广矩阵，准确圈出所有非零行的首个非零元素（称为主元），并记录其所在列号；识别是否存在形如 $[0\ 0\ \cdots\ 0\ |\ b]$（其中 $b \neq 0$）的矛盾行，若存在则断言方程组无解；在无矛盾行的前提下，统计主元个数 $r$ 与未知数个数 $n$（即系数部分的列数，不包含增广列），若 $r = n$，则方程组有唯一解；若 $r &lt; n$，则方程组有无穷多解。例如，对矩阵 </a:t>
            </a:r>
          </a:p>
          <a:p>
            <a:r>
              <a:t>$$</a:t>
            </a:r>
          </a:p>
          <a:p>
            <a:r>
              <a:t>\begin{bmatrix} 1 &amp; 2 &amp; 0 &amp; 3 \\ 0 &amp; 0 &amp; 1 &amp; 4 \\ 0 &amp; 0 &amp; 0 &amp; 0 \end{bmatrix}</a:t>
            </a:r>
          </a:p>
          <a:p>
            <a:r>
              <a:t>$$</a:t>
            </a:r>
          </a:p>
          <a:p>
            <a:r>
              <a:t>，主元位于第1列和第3列，$r=2$，未知数 $n=3$，故有无穷多解；对矩阵 </a:t>
            </a:r>
          </a:p>
          <a:p>
            <a:r>
              <a:t>$$</a:t>
            </a:r>
          </a:p>
          <a:p>
            <a:r>
              <a:t>\begin{bmatrix} 1 &amp; 2 &amp; 3 &amp; | &amp; 4 \\ 0 &amp; 0 &amp; 0 &amp; | &amp; 1 \end{bmatrix}</a:t>
            </a:r>
          </a:p>
          <a:p>
            <a:r>
              <a:t>$$</a:t>
            </a:r>
          </a:p>
          <a:p>
            <a:r>
              <a:t>，最后一行形如 $0=1$，为矛盾行，直接判定无解；对矩阵 </a:t>
            </a:r>
          </a:p>
          <a:p>
            <a:r>
              <a:t>$$</a:t>
            </a:r>
          </a:p>
          <a:p>
            <a:r>
              <a:t>\begin{bmatrix} 1 &amp; 0 &amp; 0 &amp; | &amp; 2 \\ 0 &amp; 1 &amp; 0 &amp; | &amp; 3 \\ 0 &amp; 0 &amp; 1 &amp; | &amp; 5 \end{bmatrix}</a:t>
            </a:r>
          </a:p>
          <a:p>
            <a:r>
              <a:t>$$</a:t>
            </a:r>
          </a:p>
          <a:p>
            <a:r>
              <a:t>，主元数 $r=3$，未知数 $n=3$，故有唯一解。判断依据严格依赖主元位置、矛盾行识别与 $r$ 与 $n$ 的比较，不依赖数值大小或变量命名。</a:t>
            </a:r>
          </a:p>
          <a:p>
            <a:r>
              <a:t>source_payload: {"content_perspective": "teacher_delivery", "knowledge_binding_status": null, "markdown": "本节旨在通过分析行阶梯形增广矩阵的结构特征，不进行数值求解，即可判断线性方程组的解的类型：无解、唯一解或无穷多解。学会后，能够对任意给定的行阶梯形增广矩阵，准确圈出所有非零行的首个非零元素（称为主元），并记录其所在列号；识别是否存在形如 $[0\\ 0\\ \\cdots\\ 0\\ |\\ b]$（其中 $b \\neq 0$）的矛盾行，若存在则断言方程组无解；在无矛盾行的前提下，统计主元个数 $r$ 与未知数个数 $n$（即系数部分的列数，不包含增广列），若 $r = n$，则方程组有唯一解；若 $r &lt; n$，则方程组有无穷多解。例如，对矩阵 \n$$\n\\begin{bmatrix} 1 &amp; 2 &amp; 0 &amp; 3 \\\\ 0 &amp; 0 &amp; 1 &amp; 4 \\\\ 0 &amp; 0 &amp; 0 &amp; 0 \\end{bmatrix}\n$$\n，主元位于第1列和第3列，$r=2$，未知数 $n=3$，故有无穷多解；对矩阵 \n$$\n\\begin{bmatrix} 1 &amp; 2 &amp; 3 &amp; | &amp; 4 \\\\ 0 &amp; 0 &amp; 0 &amp; | &amp; 1 \\end{bmatrix}\n$$\n，最后一行形如 $0=1$，为矛盾行，直接判定无解；对矩阵 \n$$\n\\begin{bmatrix} 1 &amp; 0 &amp; 0 &amp; | &amp; 2 \\\\ 0 &amp; 1 &amp; 0 &amp; | &amp; 3 \\\\ 0 &amp; 0 &amp; 1 &amp; | &amp; 5 \\end{bmatrix}\n$$\n，主元数 $r=3$，未知数 $n=3$，故有唯一解。判断依据严格依赖主元位置、矛盾行识别与 $r$ 与 $n$ 的比较，不依赖数值大小或变量命名。", "module_id": "lesson_goal", "module_instance_id": "tsb-018d5e109b63", "planned_minutes": 2, "ppt_page_group_id": "L2-1-3:ppt-page-group:1", "summary": "本节旨在通过分析行阶梯形增广矩阵的结构特征，不进行数值求解，即可判断线性方程组的解的类型：无解、唯一解或无穷多解。学会后，能够对任意给定的行阶梯形增广矩阵，准确圈出所有非零行的首个非零元素（称为主元），并记录其所在列号；识别是否存在形如 [", "title": "本节任务"}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cpu_a22f62f86e93aaf796d9ab27</a:t>
            </a:r>
          </a:p>
          <a:p/>
          <a:p>
            <a:r>
              <a:t>source_section_ids: []</a:t>
            </a:r>
          </a:p>
          <a:p/>
          <a:p>
            <a:r>
              <a:t>[tsb-018d5e109b63 @ cbr_38eb750b918eb01ee65b9f6d]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本节旨在通过分析行阶梯形增广矩阵的结构特征，不进行数值求解，即可判断线性方程组的解的类型：无解、唯一解或无穷多解。学会后，能够对任意给定的行阶梯形增广矩阵，准确圈出所有非零行的首个非零元素（称为主元），并记录其所在列号；识别是否存在形如 $[0\ 0\ \cdots\ 0\ |\ b]$（其中 $b \neq 0$）的矛盾行，若存在则断言方程组无解；在无矛盾行的前提下，统计主元个数 $r$ 与未知数个数 $n$（即系数部分的列数，不包含增广列），若 $r = n$，则方程组有唯一解；若 $r &lt; n$，则方程组有无穷多解。例如，对矩阵 </a:t>
            </a:r>
          </a:p>
          <a:p>
            <a:r>
              <a:t>$$</a:t>
            </a:r>
          </a:p>
          <a:p>
            <a:r>
              <a:t>\begin{bmatrix} 1 &amp; 2 &amp; 0 &amp; 3 \\ 0 &amp; 0 &amp; 1 &amp; 4 \\ 0 &amp; 0 &amp; 0 &amp; 0 \end{bmatrix}</a:t>
            </a:r>
          </a:p>
          <a:p>
            <a:r>
              <a:t>$$</a:t>
            </a:r>
          </a:p>
          <a:p>
            <a:r>
              <a:t>，主元位于第1列和第3列，$r=2$，未知数 $n=3$，故有无穷多解；对矩阵 </a:t>
            </a:r>
          </a:p>
          <a:p>
            <a:r>
              <a:t>$$</a:t>
            </a:r>
          </a:p>
          <a:p>
            <a:r>
              <a:t>\begin{bmatrix} 1 &amp; 2 &amp; 3 &amp; | &amp; 4 \\ 0 &amp; 0 &amp; 0 &amp; | &amp; 1 \end{bmatrix}</a:t>
            </a:r>
          </a:p>
          <a:p>
            <a:r>
              <a:t>$$</a:t>
            </a:r>
          </a:p>
          <a:p>
            <a:r>
              <a:t>，最后一行形如 $0=1$，为矛盾行，直接判定无解；对矩阵 </a:t>
            </a:r>
          </a:p>
          <a:p>
            <a:r>
              <a:t>$$</a:t>
            </a:r>
          </a:p>
          <a:p>
            <a:r>
              <a:t>\begin{bmatrix} 1 &amp; 0 &amp; 0 &amp; | &amp; 2 \\ 0 &amp; 1 &amp; 0 &amp; | &amp; 3 \\ 0 &amp; 0 &amp; 1 &amp; | &amp; 5 \end{bmatrix}</a:t>
            </a:r>
          </a:p>
          <a:p>
            <a:r>
              <a:t>$$</a:t>
            </a:r>
          </a:p>
          <a:p>
            <a:r>
              <a:t>，主元数 $r=3$，未知数 $n=3$，故有唯一解。判断依据严格依赖主元位置、矛盾行识别与 $r$ 与 $n$ 的比较，不依赖数值大小或变量命名。</a:t>
            </a:r>
          </a:p>
          <a:p>
            <a:r>
              <a:t>source_payload: {"content_perspective": "teacher_delivery", "knowledge_binding_status": null, "markdown": "本节旨在通过分析行阶梯形增广矩阵的结构特征，不进行数值求解，即可判断线性方程组的解的类型：无解、唯一解或无穷多解。学会后，能够对任意给定的行阶梯形增广矩阵，准确圈出所有非零行的首个非零元素（称为主元），并记录其所在列号；识别是否存在形如 $[0\\ 0\\ \\cdots\\ 0\\ |\\ b]$（其中 $b \\neq 0$）的矛盾行，若存在则断言方程组无解；在无矛盾行的前提下，统计主元个数 $r$ 与未知数个数 $n$（即系数部分的列数，不包含增广列），若 $r = n$，则方程组有唯一解；若 $r &lt; n$，则方程组有无穷多解。例如，对矩阵 \n$$\n\\begin{bmatrix} 1 &amp; 2 &amp; 0 &amp; 3 \\\\ 0 &amp; 0 &amp; 1 &amp; 4 \\\\ 0 &amp; 0 &amp; 0 &amp; 0 \\end{bmatrix}\n$$\n，主元位于第1列和第3列，$r=2$，未知数 $n=3$，故有无穷多解；对矩阵 \n$$\n\\begin{bmatrix} 1 &amp; 2 &amp; 3 &amp; | &amp; 4 \\\\ 0 &amp; 0 &amp; 0 &amp; | &amp; 1 \\end{bmatrix}\n$$\n，最后一行形如 $0=1$，为矛盾行，直接判定无解；对矩阵 \n$$\n\\begin{bmatrix} 1 &amp; 0 &amp; 0 &amp; | &amp; 2 \\\\ 0 &amp; 1 &amp; 0 &amp; | &amp; 3 \\\\ 0 &amp; 0 &amp; 1 &amp; | &amp; 5 \\end{bmatrix}\n$$\n，主元数 $r=3$，未知数 $n=3$，故有唯一解。判断依据严格依赖主元位置、矛盾行识别与 $r$ 与 $n$ 的比较，不依赖数值大小或变量命名。", "module_id": "lesson_goal", "module_instance_id": "tsb-018d5e109b63", "planned_minutes": 2, "ppt_page_group_id": "L2-1-3:ppt-page-group:1", "summary": "本节旨在通过分析行阶梯形增广矩阵的结构特征，不进行数值求解，即可判断线性方程组的解的类型：无解、唯一解或无穷多解。学会后，能够对任意给定的行阶梯形增广矩阵，准确圈出所有非零行的首个非零元素（称为主元），并记录其所在列号；识别是否存在形如 [", "title": "本节任务"}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cpu_a22f62f86e93aaf796d9ab27</a:t>
            </a:r>
          </a:p>
          <a:p/>
          <a:p>
            <a:r>
              <a:t>source_section_ids: []</a:t>
            </a:r>
          </a:p>
          <a:p/>
          <a:p>
            <a:r>
              <a:t>[tsb-696df59f01f1 @ cbr_449a372ea05e8263b2cfd7f0]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在行阶梯形增广矩阵中，非零行的首个非零元素称为主元，其所在列称为枢轴列。主元必须满足：在其下方所有行中，同一列元素全为零，且主元位置随行号递增而严格右移。例如矩阵 </a:t>
            </a:r>
          </a:p>
          <a:p>
            <a:r>
              <a:t>$$</a:t>
            </a:r>
          </a:p>
          <a:p>
            <a:r>
              <a:t>\begin{bmatrix} 1 &amp; 2 &amp; 0 &amp; | &amp; 3 \\ 0 &amp; 0 &amp; 4 &amp; | &amp; 5 \\ 0 &amp; 0 &amp; 0 &amp; | &amp; 0 \end{bmatrix}</a:t>
            </a:r>
          </a:p>
          <a:p>
            <a:r>
              <a:t>$$</a:t>
            </a:r>
          </a:p>
          <a:p>
            <a:r>
              <a:t> 中，第一行主元位于第1列，第二行主元位于第3列，第三行为零行，不参与主元计数。若存在形如 $[0\ 0\ \cdots\ 0\ |\ b]$ 且 $b \neq 0$ 的行（如 </a:t>
            </a:r>
          </a:p>
          <a:p>
            <a:r>
              <a:t>$$</a:t>
            </a:r>
          </a:p>
          <a:p>
            <a:r>
              <a:t>\begin{bmatrix} 0 &amp; 0 &amp; | &amp; 1 \end{bmatrix}</a:t>
            </a:r>
          </a:p>
          <a:p>
            <a:r>
              <a:t>$$</a:t>
            </a:r>
          </a:p>
          <a:p>
            <a:r>
              <a:t>），则对应方程 $0 = b$ 为矛盾式，方程组无解，无需继续分析。若无此类行，则统计主元个数 $r$ 与未知数个数 $n$（即系数矩阵的列数，不含增广列）。当 $r = n$ 时，每个未知数均由唯一主元方程确定，解唯一；如 </a:t>
            </a:r>
          </a:p>
          <a:p>
            <a:r>
              <a:t>$$</a:t>
            </a:r>
          </a:p>
          <a:p>
            <a:r>
              <a:t>\begin{bmatrix} 1 &amp; 0 &amp; 0 &amp; | &amp; 2 \\ 0 &amp; 1 &amp; 0 &amp; | &amp; 3 \\ 0 &amp; 0 &amp; 1 &amp; | &amp; 5 \end{bmatrix}</a:t>
            </a:r>
          </a:p>
          <a:p>
            <a:r>
              <a:t>$$</a:t>
            </a:r>
          </a:p>
          <a:p>
            <a:r>
              <a:t> 中 $r=3, n=3$，解唯一。当 $r &lt; n$ 时，存在 $n - r$ 个自由变量，解不唯一，有无穷多解；如 </a:t>
            </a:r>
          </a:p>
          <a:p>
            <a:r>
              <a:t>$$</a:t>
            </a:r>
          </a:p>
          <a:p>
            <a:r>
              <a:t>\begin{bmatrix} 1 &amp; 2 &amp; 0 &amp; | &amp; 1 \\ 0 &amp; 0 &amp; 1 &amp; | &amp; 4 \\ 0 &amp; 0 &amp; 0 &amp; | &amp; 0 \end{bmatrix}</a:t>
            </a:r>
          </a:p>
          <a:p>
            <a:r>
              <a:t>$$</a:t>
            </a:r>
          </a:p>
          <a:p>
            <a:r>
              <a:t> 中 $r=2, n=3$，故有无穷多解。判断过程必须严格按主元识别→矛盾行检查→$r$ 与 $n$ 比较三步顺序执行，任何一步错误均导致结论失效。</a:t>
            </a:r>
          </a:p>
          <a:p>
            <a:r>
              <a:t>source_payload: {"content_perspective": "teacher_delivery", "knowledge_binding_status": null, "markdown": "在行阶梯形增广矩阵中，非零行的首个非零元素称为主元，其所在列称为枢轴列。主元必须满足：在其下方所有行中，同一列元素全为零，且主元位置随行号递增而严格右移。例如矩阵 \n$$\n\\begin{bmatrix} 1 &amp; 2 &amp; 0 &amp; | &amp; 3 \\\\ 0 &amp; 0 &amp; 4 &amp; | &amp; 5 \\\\ 0 &amp; 0 &amp; 0 &amp; | &amp; 0 \\end{bmatrix}\n$$\n 中，第一行主元位于第1列，第二行主元位于第3列，第三行为零行，不参与主元计数。若存在形如 $[0\\ 0\\ \\cdots\\ 0\\ |\\ b]$ 且 $b \\neq 0$ 的行（如 \n$$\n\\begin{bmatrix} 0 &amp; 0 &amp; | &amp; 1 \\end{bmatrix}\n$$\n），则对应方程 $0 = b$ 为矛盾式，方程组无解，无需继续分析。若无此类行，则统计主元个数 $r$ 与未知数个数 $n$（即系数矩阵的列数，不含增广列）。当 $r = n$ 时，每个未知数均由唯一主元方程确定，解唯一；如 \n$$\n\\begin{bmatrix} 1 &amp; 0 &amp; 0 &amp; | &amp; 2 \\\\ 0 &amp; 1 &amp; 0 &amp; | &amp; 3 \\\\ 0 &amp; 0 &amp; 1 &amp; | &amp; 5 \\end{bmatrix}\n$$\n 中 $r=3, n=3$，解唯一。当 $r &lt; n$ 时，存在 $n - r$ 个自由变量，解不唯一，有无穷多解；如 \n$$\n\\begin{bmatrix} 1 &amp; 2 &amp; 0 &amp; | &amp; 1 \\\\ 0 &amp; 0 &amp; 1 &amp; | &amp; 4 \\\\ 0 &amp; 0 &amp; 0 &amp; | &amp; 0 \\end{bmatrix}\n$$\n 中 $r=2, n=3$，故有无穷多解。判断过程必须严格按主元识别→矛盾行检查→$r$ 与 $n$ 比较三步顺序执行，任何一步错误均导致结论失效。", "module_id": "core_explanation", "module_instance_id": "tsb-696df59f01f1", "planned_minutes": 2, "ppt_page_group_id": "L2-1-3:ppt-page-group:1", "summary": "在行阶梯形增广矩阵中，非零行的首个非零元素称为主元，其所在列称为枢轴列。主元必须满足：在其下方所有行中，同一列元素全为零，且主元位置随行号递增而严格右移。例如矩阵 begin{bmatrix} 1 &amp; 2 &amp; 0 &amp; | &amp; 3 0 &amp; 0", "title": "核心教学"}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cpu_a22f62f86e93aaf796d9ab27</a:t>
            </a:r>
          </a:p>
          <a:p/>
          <a:p>
            <a:r>
              <a:t>source_section_ids: []</a:t>
            </a:r>
          </a:p>
          <a:p/>
          <a:p>
            <a:r>
              <a:t>[tsb-696df59f01f1 @ cbr_449a372ea05e8263b2cfd7f0]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在行阶梯形增广矩阵中，非零行的首个非零元素称为主元，其所在列称为枢轴列。主元必须满足：在其下方所有行中，同一列元素全为零，且主元位置随行号递增而严格右移。例如矩阵 </a:t>
            </a:r>
          </a:p>
          <a:p>
            <a:r>
              <a:t>$$</a:t>
            </a:r>
          </a:p>
          <a:p>
            <a:r>
              <a:t>\begin{bmatrix} 1 &amp; 2 &amp; 0 &amp; | &amp; 3 \\ 0 &amp; 0 &amp; 4 &amp; | &amp; 5 \\ 0 &amp; 0 &amp; 0 &amp; | &amp; 0 \end{bmatrix}</a:t>
            </a:r>
          </a:p>
          <a:p>
            <a:r>
              <a:t>$$</a:t>
            </a:r>
          </a:p>
          <a:p>
            <a:r>
              <a:t> 中，第一行主元位于第1列，第二行主元位于第3列，第三行为零行，不参与主元计数。若存在形如 $[0\ 0\ \cdots\ 0\ |\ b]$ 且 $b \neq 0$ 的行（如 </a:t>
            </a:r>
          </a:p>
          <a:p>
            <a:r>
              <a:t>$$</a:t>
            </a:r>
          </a:p>
          <a:p>
            <a:r>
              <a:t>\begin{bmatrix} 0 &amp; 0 &amp; | &amp; 1 \end{bmatrix}</a:t>
            </a:r>
          </a:p>
          <a:p>
            <a:r>
              <a:t>$$</a:t>
            </a:r>
          </a:p>
          <a:p>
            <a:r>
              <a:t>），则对应方程 $0 = b$ 为矛盾式，方程组无解，无需继续分析。若无此类行，则统计主元个数 $r$ 与未知数个数 $n$（即系数矩阵的列数，不含增广列）。当 $r = n$ 时，每个未知数均由唯一主元方程确定，解唯一；如 </a:t>
            </a:r>
          </a:p>
          <a:p>
            <a:r>
              <a:t>$$</a:t>
            </a:r>
          </a:p>
          <a:p>
            <a:r>
              <a:t>\begin{bmatrix} 1 &amp; 0 &amp; 0 &amp; | &amp; 2 \\ 0 &amp; 1 &amp; 0 &amp; | &amp; 3 \\ 0 &amp; 0 &amp; 1 &amp; | &amp; 5 \end{bmatrix}</a:t>
            </a:r>
          </a:p>
          <a:p>
            <a:r>
              <a:t>$$</a:t>
            </a:r>
          </a:p>
          <a:p>
            <a:r>
              <a:t> 中 $r=3, n=3$，解唯一。当 $r &lt; n$ 时，存在 $n - r$ 个自由变量，解不唯一，有无穷多解；如 </a:t>
            </a:r>
          </a:p>
          <a:p>
            <a:r>
              <a:t>$$</a:t>
            </a:r>
          </a:p>
          <a:p>
            <a:r>
              <a:t>\begin{bmatrix} 1 &amp; 2 &amp; 0 &amp; | &amp; 1 \\ 0 &amp; 0 &amp; 1 &amp; | &amp; 4 \\ 0 &amp; 0 &amp; 0 &amp; | &amp; 0 \end{bmatrix}</a:t>
            </a:r>
          </a:p>
          <a:p>
            <a:r>
              <a:t>$$</a:t>
            </a:r>
          </a:p>
          <a:p>
            <a:r>
              <a:t> 中 $r=2, n=3$，故有无穷多解。判断过程必须严格按主元识别→矛盾行检查→$r$ 与 $n$ 比较三步顺序执行，任何一步错误均导致结论失效。</a:t>
            </a:r>
          </a:p>
          <a:p>
            <a:r>
              <a:t>source_payload: {"content_perspective": "teacher_delivery", "knowledge_binding_status": null, "markdown": "在行阶梯形增广矩阵中，非零行的首个非零元素称为主元，其所在列称为枢轴列。主元必须满足：在其下方所有行中，同一列元素全为零，且主元位置随行号递增而严格右移。例如矩阵 \n$$\n\\begin{bmatrix} 1 &amp; 2 &amp; 0 &amp; | &amp; 3 \\\\ 0 &amp; 0 &amp; 4 &amp; | &amp; 5 \\\\ 0 &amp; 0 &amp; 0 &amp; | &amp; 0 \\end{bmatrix}\n$$\n 中，第一行主元位于第1列，第二行主元位于第3列，第三行为零行，不参与主元计数。若存在形如 $[0\\ 0\\ \\cdots\\ 0\\ |\\ b]$ 且 $b \\neq 0$ 的行（如 \n$$\n\\begin{bmatrix} 0 &amp; 0 &amp; | &amp; 1 \\end{bmatrix}\n$$\n），则对应方程 $0 = b$ 为矛盾式，方程组无解，无需继续分析。若无此类行，则统计主元个数 $r$ 与未知数个数 $n$（即系数矩阵的列数，不含增广列）。当 $r = n$ 时，每个未知数均由唯一主元方程确定，解唯一；如 \n$$\n\\begin{bmatrix} 1 &amp; 0 &amp; 0 &amp; | &amp; 2 \\\\ 0 &amp; 1 &amp; 0 &amp; | &amp; 3 \\\\ 0 &amp; 0 &amp; 1 &amp; | &amp; 5 \\end{bmatrix}\n$$\n 中 $r=3, n=3$，解唯一。当 $r &lt; n$ 时，存在 $n - r$ 个自由变量，解不唯一，有无穷多解；如 \n$$\n\\begin{bmatrix} 1 &amp; 2 &amp; 0 &amp; | &amp; 1 \\\\ 0 &amp; 0 &amp; 1 &amp; | &amp; 4 \\\\ 0 &amp; 0 &amp; 0 &amp; | &amp; 0 \\end{bmatrix}\n$$\n 中 $r=2, n=3$，故有无穷多解。判断过程必须严格按主元识别→矛盾行检查→$r$ 与 $n$ 比较三步顺序执行，任何一步错误均导致结论失效。", "module_id": "core_explanation", "module_instance_id": "tsb-696df59f01f1", "planned_minutes": 2, "ppt_page_group_id": "L2-1-3:ppt-page-group:1", "summary": "在行阶梯形增广矩阵中，非零行的首个非零元素称为主元，其所在列称为枢轴列。主元必须满足：在其下方所有行中，同一列元素全为零，且主元位置随行号递增而严格右移。例如矩阵 begin{bmatrix} 1 &amp; 2 &amp; 0 &amp; | &amp; 3 0 &amp; 0", "title": "核心教学"}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cpu_a22f62f86e93aaf796d9ab27</a:t>
            </a:r>
          </a:p>
          <a:p/>
          <a:p>
            <a:r>
              <a:t>source_section_ids: []</a:t>
            </a:r>
          </a:p>
          <a:p/>
          <a:p>
            <a:r>
              <a:t>[tsb-696df59f01f1 @ cbr_449a372ea05e8263b2cfd7f0]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在行阶梯形增广矩阵中，非零行的首个非零元素称为主元，其所在列称为枢轴列。主元必须满足：在其下方所有行中，同一列元素全为零，且主元位置随行号递增而严格右移。例如矩阵 </a:t>
            </a:r>
          </a:p>
          <a:p>
            <a:r>
              <a:t>$$</a:t>
            </a:r>
          </a:p>
          <a:p>
            <a:r>
              <a:t>\begin{bmatrix} 1 &amp; 2 &amp; 0 &amp; | &amp; 3 \\ 0 &amp; 0 &amp; 4 &amp; | &amp; 5 \\ 0 &amp; 0 &amp; 0 &amp; | &amp; 0 \end{bmatrix}</a:t>
            </a:r>
          </a:p>
          <a:p>
            <a:r>
              <a:t>$$</a:t>
            </a:r>
          </a:p>
          <a:p>
            <a:r>
              <a:t> 中，第一行主元位于第1列，第二行主元位于第3列，第三行为零行，不参与主元计数。若存在形如 $[0\ 0\ \cdots\ 0\ |\ b]$ 且 $b \neq 0$ 的行（如 </a:t>
            </a:r>
          </a:p>
          <a:p>
            <a:r>
              <a:t>$$</a:t>
            </a:r>
          </a:p>
          <a:p>
            <a:r>
              <a:t>\begin{bmatrix} 0 &amp; 0 &amp; | &amp; 1 \end{bmatrix}</a:t>
            </a:r>
          </a:p>
          <a:p>
            <a:r>
              <a:t>$$</a:t>
            </a:r>
          </a:p>
          <a:p>
            <a:r>
              <a:t>），则对应方程 $0 = b$ 为矛盾式，方程组无解，无需继续分析。若无此类行，则统计主元个数 $r$ 与未知数个数 $n$（即系数矩阵的列数，不含增广列）。当 $r = n$ 时，每个未知数均由唯一主元方程确定，解唯一；如 </a:t>
            </a:r>
          </a:p>
          <a:p>
            <a:r>
              <a:t>$$</a:t>
            </a:r>
          </a:p>
          <a:p>
            <a:r>
              <a:t>\begin{bmatrix} 1 &amp; 0 &amp; 0 &amp; | &amp; 2 \\ 0 &amp; 1 &amp; 0 &amp; | &amp; 3 \\ 0 &amp; 0 &amp; 1 &amp; | &amp; 5 \end{bmatrix}</a:t>
            </a:r>
          </a:p>
          <a:p>
            <a:r>
              <a:t>$$</a:t>
            </a:r>
          </a:p>
          <a:p>
            <a:r>
              <a:t> 中 $r=3, n=3$，解唯一。当 $r &lt; n$ 时，存在 $n - r$ 个自由变量，解不唯一，有无穷多解；如 </a:t>
            </a:r>
          </a:p>
          <a:p>
            <a:r>
              <a:t>$$</a:t>
            </a:r>
          </a:p>
          <a:p>
            <a:r>
              <a:t>\begin{bmatrix} 1 &amp; 2 &amp; 0 &amp; | &amp; 1 \\ 0 &amp; 0 &amp; 1 &amp; | &amp; 4 \\ 0 &amp; 0 &amp; 0 &amp; | &amp; 0 \end{bmatrix}</a:t>
            </a:r>
          </a:p>
          <a:p>
            <a:r>
              <a:t>$$</a:t>
            </a:r>
          </a:p>
          <a:p>
            <a:r>
              <a:t> 中 $r=2, n=3$，故有无穷多解。判断过程必须严格按主元识别→矛盾行检查→$r$ 与 $n$ 比较三步顺序执行，任何一步错误均导致结论失效。</a:t>
            </a:r>
          </a:p>
          <a:p>
            <a:r>
              <a:t>source_payload: {"content_perspective": "teacher_delivery", "knowledge_binding_status": null, "markdown": "在行阶梯形增广矩阵中，非零行的首个非零元素称为主元，其所在列称为枢轴列。主元必须满足：在其下方所有行中，同一列元素全为零，且主元位置随行号递增而严格右移。例如矩阵 \n$$\n\\begin{bmatrix} 1 &amp; 2 &amp; 0 &amp; | &amp; 3 \\\\ 0 &amp; 0 &amp; 4 &amp; | &amp; 5 \\\\ 0 &amp; 0 &amp; 0 &amp; | &amp; 0 \\end{bmatrix}\n$$\n 中，第一行主元位于第1列，第二行主元位于第3列，第三行为零行，不参与主元计数。若存在形如 $[0\\ 0\\ \\cdots\\ 0\\ |\\ b]$ 且 $b \\neq 0$ 的行（如 \n$$\n\\begin{bmatrix} 0 &amp; 0 &amp; | &amp; 1 \\end{bmatrix}\n$$\n），则对应方程 $0 = b$ 为矛盾式，方程组无解，无需继续分析。若无此类行，则统计主元个数 $r$ 与未知数个数 $n$（即系数矩阵的列数，不含增广列）。当 $r = n$ 时，每个未知数均由唯一主元方程确定，解唯一；如 \n$$\n\\begin{bmatrix} 1 &amp; 0 &amp; 0 &amp; | &amp; 2 \\\\ 0 &amp; 1 &amp; 0 &amp; | &amp; 3 \\\\ 0 &amp; 0 &amp; 1 &amp; | &amp; 5 \\end{bmatrix}\n$$\n 中 $r=3, n=3$，解唯一。当 $r &lt; n$ 时，存在 $n - r$ 个自由变量，解不唯一，有无穷多解；如 \n$$\n\\begin{bmatrix} 1 &amp; 2 &amp; 0 &amp; | &amp; 1 \\\\ 0 &amp; 0 &amp; 1 &amp; | &amp; 4 \\\\ 0 &amp; 0 &amp; 0 &amp; | &amp; 0 \\end{bmatrix}\n$$\n 中 $r=2, n=3$，故有无穷多解。判断过程必须严格按主元识别→矛盾行检查→$r$ 与 $n$ 比较三步顺序执行，任何一步错误均导致结论失效。", "module_id": "core_explanation", "module_instance_id": "tsb-696df59f01f1", "planned_minutes": 2, "ppt_page_group_id": "L2-1-3:ppt-page-group:1", "summary": "在行阶梯形增广矩阵中，非零行的首个非零元素称为主元，其所在列称为枢轴列。主元必须满足：在其下方所有行中，同一列元素全为零，且主元位置随行号递增而严格右移。例如矩阵 begin{bmatrix} 1 &amp; 2 &amp; 0 &amp; | &amp; 3 0 &amp; 0", "title": "核心教学"}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cpu_a22f62f86e93aaf796d9ab27</a:t>
            </a:r>
          </a:p>
          <a:p/>
          <a:p>
            <a:r>
              <a:t>source_section_ids: []</a:t>
            </a:r>
          </a:p>
          <a:p/>
          <a:p>
            <a:r>
              <a:t>[tsb-ce9cb73a7c20 @ cbr_f6d5f2d38f0aa38830aa620c]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任务条件：给定三个行阶梯形增广矩阵如下：</a:t>
            </a:r>
          </a:p>
          <a:p/>
          <a:p>
            <a:r>
              <a:t>$$</a:t>
            </a:r>
          </a:p>
          <a:p>
            <a:r>
              <a:t>A =</a:t>
            </a:r>
          </a:p>
          <a:p>
            <a:r>
              <a:t>\begin{bmatrix} 1 &amp; 3 &amp; 0 &amp; 2 &amp; | &amp; 5 \\ 0 &amp; 0 &amp; 1 &amp; -1 &amp; | &amp; 4 \\ 0 &amp; 0 &amp; 0 &amp; 0 &amp; | &amp; 0 \\ 0 &amp; 0 &amp; 0 &amp; 0 &amp; | &amp; 0 \end{bmatrix}</a:t>
            </a:r>
          </a:p>
          <a:p>
            <a:r>
              <a:t>, \quad</a:t>
            </a:r>
          </a:p>
          <a:p>
            <a:r>
              <a:t>B =</a:t>
            </a:r>
          </a:p>
          <a:p>
            <a:r>
              <a:t>\begin{bmatrix} 1 &amp; 2 &amp; 4 &amp; | &amp; 1 \\ 0 &amp; 0 &amp; 0 &amp; | &amp; 3 \\ 0 &amp; 0 &amp; 0 &amp; | &amp; 0 \end{bmatrix}</a:t>
            </a:r>
          </a:p>
          <a:p>
            <a:r>
              <a:t>, \quad</a:t>
            </a:r>
          </a:p>
          <a:p>
            <a:r>
              <a:t>C =</a:t>
            </a:r>
          </a:p>
          <a:p>
            <a:r>
              <a:t>\begin{bmatrix} 1 &amp; 0 &amp; 0 &amp; | &amp; 2 \\ 0 &amp; 1 &amp; 0 &amp; | &amp; -1 \\ 0 &amp; 0 &amp; 1 &amp; | &amp; 6 \end{bmatrix}</a:t>
            </a:r>
          </a:p>
          <a:p>
            <a:r>
              <a:t>$$</a:t>
            </a:r>
          </a:p>
          <a:p/>
          <a:p>
            <a:r>
              <a:t>输出要求：对每个矩阵，依次完成三项操作：（1）圈出所有非零行的主元，并标注其所在列号；（2）判断是否存在形如 $[0\ 0\ \cdots\ 0\ |\ b]$ 且 $b \neq 0$ 的矛盾行；（3）在无矛盾行前提下，统计主元个数 $r$ 与未知数个数 $n$（系数部分列数），比较 $r$ 与 $n$，判定解的类型并说明依据。</a:t>
            </a:r>
          </a:p>
          <a:p/>
          <a:p>
            <a:r>
              <a:t>参考解法：矩阵 $A$ 中，第一行主元在第1列，第二行主元在第3列，$r=2$，未知数 $n=4$，无矛盾行，故 $r &lt; n$，有无穷多解；矩阵 $B$ 中，第二行为 $[0\ 0\ 0\ |\ 3]$，即 $0=3$，为矛盾行，直接判定无解；矩阵 $C$ 中，三行主元分别位于第1、2、3列，$r=3$，$n=3$，无矛盾行，故有唯一解。验收标准：主元位置准确、矛盾行识别无误、$r$ 与 $n$ 计算正确、解类型判断与逻辑一致。</a:t>
            </a:r>
          </a:p>
          <a:p>
            <a:r>
              <a:t>source_payload: {"content_perspective": "teacher_delivery", "knowledge_binding_status": null, "markdown": "任务条件：给定三个行阶梯形增广矩阵如下：\n\n$$\nA =\n\\begin{bmatrix} 1 &amp; 3 &amp; 0 &amp; 2 &amp; | &amp; 5 \\\\ 0 &amp; 0 &amp; 1 &amp; -1 &amp; | &amp; 4 \\\\ 0 &amp; 0 &amp; 0 &amp; 0 &amp; | &amp; 0 \\\\ 0 &amp; 0 &amp; 0 &amp; 0 &amp; | &amp; 0 \\end{bmatrix}\n, \\quad\nB =\n\\begin{bmatrix} 1 &amp; 2 &amp; 4 &amp; | &amp; 1 \\\\ 0 &amp; 0 &amp; 0 &amp; | &amp; 3 \\\\ 0 &amp; 0 &amp; 0 &amp; | &amp; 0 \\end{bmatrix}\n, \\quad\nC =\n\\begin{bmatrix} 1 &amp; 0 &amp; 0 &amp; | &amp; 2 \\\\ 0 &amp; 1 &amp; 0 &amp; | &amp; -1 \\\\ 0 &amp; 0 &amp; 1 &amp; | &amp; 6 \\end{bmatrix}\n$$\n\n输出要求：对每个矩阵，依次完成三项操作：（1）圈出所有非零行的主元，并标注其所在列号；（2）判断是否存在形如 $[0\\ 0\\ \\cdots\\ 0\\ |\\ b]$ 且 $b \\neq 0$ 的矛盾行；（3）在无矛盾行前提下，统计主元个数 $r$ 与未知数个数 $n$（系数部分列数），比较 $r$ 与 $n$，判定解的类型并说明依据。\n\n参考解法：矩阵 $A$ 中，第一行主元在第1列，第二行主元在第3列，$r=2$，未知数 $n=4$，无矛盾行，故 $r &lt; n$，有无穷多解；矩阵 $B$ 中，第二行为 $[0\\ 0\\ 0\\ |\\ 3]$，即 $0=3$，为矛盾行，直接判定无解；矩阵 $C$ 中，三行主元分别位于第1、2、3列，$r=3$，$n=3$，无矛盾行，故有唯一解。验收标准：主元位置准确、矛盾行识别无误、$r$ 与 $n$ 计算正确、解类型判断与逻辑一致。", "module_id": "learner_action", "module_instance_id": "tsb-ce9cb73a7c20", "planned_minutes": 2, "ppt_page_group_id": "L2-1-3:ppt-page-group:2", "summary": "任务条件：给定三个行阶梯形增广矩阵如下： A = begin{bmatrix} 1 &amp; 3 &amp; 0 &amp; 2 &amp; | &amp; 5 0 &amp; 0 &amp; 1 &amp; 1 &amp; | &amp; 4 0 &amp; 0 &amp; 0 &amp; 0 &amp; | &amp; 0 0 &amp; 0 &amp; 0 &amp; 0 ", "title": "学习者行动"}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cpu_a22f62f86e93aaf796d9ab27</a:t>
            </a:r>
          </a:p>
          <a:p/>
          <a:p>
            <a:r>
              <a:t>source_section_ids: []</a:t>
            </a:r>
          </a:p>
          <a:p/>
          <a:p>
            <a:r>
              <a:t>[tsb-ce9cb73a7c20 @ cbr_f6d5f2d38f0aa38830aa620c]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任务条件：给定三个行阶梯形增广矩阵如下：</a:t>
            </a:r>
          </a:p>
          <a:p/>
          <a:p>
            <a:r>
              <a:t>$$</a:t>
            </a:r>
          </a:p>
          <a:p>
            <a:r>
              <a:t>A =</a:t>
            </a:r>
          </a:p>
          <a:p>
            <a:r>
              <a:t>\begin{bmatrix} 1 &amp; 3 &amp; 0 &amp; 2 &amp; | &amp; 5 \\ 0 &amp; 0 &amp; 1 &amp; -1 &amp; | &amp; 4 \\ 0 &amp; 0 &amp; 0 &amp; 0 &amp; | &amp; 0 \\ 0 &amp; 0 &amp; 0 &amp; 0 &amp; | &amp; 0 \end{bmatrix}</a:t>
            </a:r>
          </a:p>
          <a:p>
            <a:r>
              <a:t>, \quad</a:t>
            </a:r>
          </a:p>
          <a:p>
            <a:r>
              <a:t>B =</a:t>
            </a:r>
          </a:p>
          <a:p>
            <a:r>
              <a:t>\begin{bmatrix} 1 &amp; 2 &amp; 4 &amp; | &amp; 1 \\ 0 &amp; 0 &amp; 0 &amp; | &amp; 3 \\ 0 &amp; 0 &amp; 0 &amp; | &amp; 0 \end{bmatrix}</a:t>
            </a:r>
          </a:p>
          <a:p>
            <a:r>
              <a:t>, \quad</a:t>
            </a:r>
          </a:p>
          <a:p>
            <a:r>
              <a:t>C =</a:t>
            </a:r>
          </a:p>
          <a:p>
            <a:r>
              <a:t>\begin{bmatrix} 1 &amp; 0 &amp; 0 &amp; | &amp; 2 \\ 0 &amp; 1 &amp; 0 &amp; | &amp; -1 \\ 0 &amp; 0 &amp; 1 &amp; | &amp; 6 \end{bmatrix}</a:t>
            </a:r>
          </a:p>
          <a:p>
            <a:r>
              <a:t>$$</a:t>
            </a:r>
          </a:p>
          <a:p/>
          <a:p>
            <a:r>
              <a:t>输出要求：对每个矩阵，依次完成三项操作：（1）圈出所有非零行的主元，并标注其所在列号；（2）判断是否存在形如 $[0\ 0\ \cdots\ 0\ |\ b]$ 且 $b \neq 0$ 的矛盾行；（3）在无矛盾行前提下，统计主元个数 $r$ 与未知数个数 $n$（系数部分列数），比较 $r$ 与 $n$，判定解的类型并说明依据。</a:t>
            </a:r>
          </a:p>
          <a:p/>
          <a:p>
            <a:r>
              <a:t>参考解法：矩阵 $A$ 中，第一行主元在第1列，第二行主元在第3列，$r=2$，未知数 $n=4$，无矛盾行，故 $r &lt; n$，有无穷多解；矩阵 $B$ 中，第二行为 $[0\ 0\ 0\ |\ 3]$，即 $0=3$，为矛盾行，直接判定无解；矩阵 $C$ 中，三行主元分别位于第1、2、3列，$r=3$，$n=3$，无矛盾行，故有唯一解。验收标准：主元位置准确、矛盾行识别无误、$r$ 与 $n$ 计算正确、解类型判断与逻辑一致。</a:t>
            </a:r>
          </a:p>
          <a:p>
            <a:r>
              <a:t>source_payload: {"content_perspective": "teacher_delivery", "knowledge_binding_status": null, "markdown": "任务条件：给定三个行阶梯形增广矩阵如下：\n\n$$\nA =\n\\begin{bmatrix} 1 &amp; 3 &amp; 0 &amp; 2 &amp; | &amp; 5 \\\\ 0 &amp; 0 &amp; 1 &amp; -1 &amp; | &amp; 4 \\\\ 0 &amp; 0 &amp; 0 &amp; 0 &amp; | &amp; 0 \\\\ 0 &amp; 0 &amp; 0 &amp; 0 &amp; | &amp; 0 \\end{bmatrix}\n, \\quad\nB =\n\\begin{bmatrix} 1 &amp; 2 &amp; 4 &amp; | &amp; 1 \\\\ 0 &amp; 0 &amp; 0 &amp; | &amp; 3 \\\\ 0 &amp; 0 &amp; 0 &amp; | &amp; 0 \\end{bmatrix}\n, \\quad\nC =\n\\begin{bmatrix} 1 &amp; 0 &amp; 0 &amp; | &amp; 2 \\\\ 0 &amp; 1 &amp; 0 &amp; | &amp; -1 \\\\ 0 &amp; 0 &amp; 1 &amp; | &amp; 6 \\end{bmatrix}\n$$\n\n输出要求：对每个矩阵，依次完成三项操作：（1）圈出所有非零行的主元，并标注其所在列号；（2）判断是否存在形如 $[0\\ 0\\ \\cdots\\ 0\\ |\\ b]$ 且 $b \\neq 0$ 的矛盾行；（3）在无矛盾行前提下，统计主元个数 $r$ 与未知数个数 $n$（系数部分列数），比较 $r$ 与 $n$，判定解的类型并说明依据。\n\n参考解法：矩阵 $A$ 中，第一行主元在第1列，第二行主元在第3列，$r=2$，未知数 $n=4$，无矛盾行，故 $r &lt; n$，有无穷多解；矩阵 $B$ 中，第二行为 $[0\\ 0\\ 0\\ |\\ 3]$，即 $0=3$，为矛盾行，直接判定无解；矩阵 $C$ 中，三行主元分别位于第1、2、3列，$r=3$，$n=3$，无矛盾行，故有唯一解。验收标准：主元位置准确、矛盾行识别无误、$r$ 与 $n$ 计算正确、解类型判断与逻辑一致。", "module_id": "learner_action", "module_instance_id": "tsb-ce9cb73a7c20", "planned_minutes": 2, "ppt_page_group_id": "L2-1-3:ppt-page-group:2", "summary": "任务条件：给定三个行阶梯形增广矩阵如下： A = begin{bmatrix} 1 &amp; 3 &amp; 0 &amp; 2 &amp; | &amp; 5 0 &amp; 0 &amp; 1 &amp; 1 &amp; | &amp; 4 0 &amp; 0 &amp; 0 &amp; 0 &amp; | &amp; 0 0 &amp; 0 &amp; 0 &amp; 0 ", "title": "学习者行动"}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cpu_a22f62f86e93aaf796d9ab27</a:t>
            </a:r>
          </a:p>
          <a:p/>
          <a:p>
            <a:r>
              <a:t>source_section_ids: []</a:t>
            </a:r>
          </a:p>
          <a:p/>
          <a:p>
            <a:r>
              <a:t>[tsb-ce9cb73a7c20 @ cbr_f6d5f2d38f0aa38830aa620c]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任务条件：给定三个行阶梯形增广矩阵如下：</a:t>
            </a:r>
          </a:p>
          <a:p/>
          <a:p>
            <a:r>
              <a:t>$$</a:t>
            </a:r>
          </a:p>
          <a:p>
            <a:r>
              <a:t>A =</a:t>
            </a:r>
          </a:p>
          <a:p>
            <a:r>
              <a:t>\begin{bmatrix} 1 &amp; 3 &amp; 0 &amp; 2 &amp; | &amp; 5 \\ 0 &amp; 0 &amp; 1 &amp; -1 &amp; | &amp; 4 \\ 0 &amp; 0 &amp; 0 &amp; 0 &amp; | &amp; 0 \\ 0 &amp; 0 &amp; 0 &amp; 0 &amp; | &amp; 0 \end{bmatrix}</a:t>
            </a:r>
          </a:p>
          <a:p>
            <a:r>
              <a:t>, \quad</a:t>
            </a:r>
          </a:p>
          <a:p>
            <a:r>
              <a:t>B =</a:t>
            </a:r>
          </a:p>
          <a:p>
            <a:r>
              <a:t>\begin{bmatrix} 1 &amp; 2 &amp; 4 &amp; | &amp; 1 \\ 0 &amp; 0 &amp; 0 &amp; | &amp; 3 \\ 0 &amp; 0 &amp; 0 &amp; | &amp; 0 \end{bmatrix}</a:t>
            </a:r>
          </a:p>
          <a:p>
            <a:r>
              <a:t>, \quad</a:t>
            </a:r>
          </a:p>
          <a:p>
            <a:r>
              <a:t>C =</a:t>
            </a:r>
          </a:p>
          <a:p>
            <a:r>
              <a:t>\begin{bmatrix} 1 &amp; 0 &amp; 0 &amp; | &amp; 2 \\ 0 &amp; 1 &amp; 0 &amp; | &amp; -1 \\ 0 &amp; 0 &amp; 1 &amp; | &amp; 6 \end{bmatrix}</a:t>
            </a:r>
          </a:p>
          <a:p>
            <a:r>
              <a:t>$$</a:t>
            </a:r>
          </a:p>
          <a:p/>
          <a:p>
            <a:r>
              <a:t>输出要求：对每个矩阵，依次完成三项操作：（1）圈出所有非零行的主元，并标注其所在列号；（2）判断是否存在形如 $[0\ 0\ \cdots\ 0\ |\ b]$ 且 $b \neq 0$ 的矛盾行；（3）在无矛盾行前提下，统计主元个数 $r$ 与未知数个数 $n$（系数部分列数），比较 $r$ 与 $n$，判定解的类型并说明依据。</a:t>
            </a:r>
          </a:p>
          <a:p/>
          <a:p>
            <a:r>
              <a:t>参考解法：矩阵 $A$ 中，第一行主元在第1列，第二行主元在第3列，$r=2$，未知数 $n=4$，无矛盾行，故 $r &lt; n$，有无穷多解；矩阵 $B$ 中，第二行为 $[0\ 0\ 0\ |\ 3]$，即 $0=3$，为矛盾行，直接判定无解；矩阵 $C$ 中，三行主元分别位于第1、2、3列，$r=3$，$n=3$，无矛盾行，故有唯一解。验收标准：主元位置准确、矛盾行识别无误、$r$ 与 $n$ 计算正确、解类型判断与逻辑一致。</a:t>
            </a:r>
          </a:p>
          <a:p>
            <a:r>
              <a:t>source_payload: {"content_perspective": "teacher_delivery", "knowledge_binding_status": null, "markdown": "任务条件：给定三个行阶梯形增广矩阵如下：\n\n$$\nA =\n\\begin{bmatrix} 1 &amp; 3 &amp; 0 &amp; 2 &amp; | &amp; 5 \\\\ 0 &amp; 0 &amp; 1 &amp; -1 &amp; | &amp; 4 \\\\ 0 &amp; 0 &amp; 0 &amp; 0 &amp; | &amp; 0 \\\\ 0 &amp; 0 &amp; 0 &amp; 0 &amp; | &amp; 0 \\end{bmatrix}\n, \\quad\nB =\n\\begin{bmatrix} 1 &amp; 2 &amp; 4 &amp; | &amp; 1 \\\\ 0 &amp; 0 &amp; 0 &amp; | &amp; 3 \\\\ 0 &amp; 0 &amp; 0 &amp; | &amp; 0 \\end{bmatrix}\n, \\quad\nC =\n\\begin{bmatrix} 1 &amp; 0 &amp; 0 &amp; | &amp; 2 \\\\ 0 &amp; 1 &amp; 0 &amp; | &amp; -1 \\\\ 0 &amp; 0 &amp; 1 &amp; | &amp; 6 \\end{bmatrix}\n$$\n\n输出要求：对每个矩阵，依次完成三项操作：（1）圈出所有非零行的主元，并标注其所在列号；（2）判断是否存在形如 $[0\\ 0\\ \\cdots\\ 0\\ |\\ b]$ 且 $b \\neq 0$ 的矛盾行；（3）在无矛盾行前提下，统计主元个数 $r$ 与未知数个数 $n$（系数部分列数），比较 $r$ 与 $n$，判定解的类型并说明依据。\n\n参考解法：矩阵 $A$ 中，第一行主元在第1列，第二行主元在第3列，$r=2$，未知数 $n=4$，无矛盾行，故 $r &lt; n$，有无穷多解；矩阵 $B$ 中，第二行为 $[0\\ 0\\ 0\\ |\\ 3]$，即 $0=3$，为矛盾行，直接判定无解；矩阵 $C$ 中，三行主元分别位于第1、2、3列，$r=3$，$n=3$，无矛盾行，故有唯一解。验收标准：主元位置准确、矛盾行识别无误、$r$ 与 $n$ 计算正确、解类型判断与逻辑一致。", "module_id": "learner_action", "module_instance_id": "tsb-ce9cb73a7c20", "planned_minutes": 2, "ppt_page_group_id": "L2-1-3:ppt-page-group:2", "summary": "任务条件：给定三个行阶梯形增广矩阵如下： A = begin{bmatrix} 1 &amp; 3 &amp; 0 &amp; 2 &amp; | &amp; 5 0 &amp; 0 &amp; 1 &amp; 1 &amp; | &amp; 4 0 &amp; 0 &amp; 0 &amp; 0 &amp; | &amp; 0 0 &amp; 0 &amp; 0 &amp; 0 ", "title": "学习者行动"}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cpu_a22f62f86e93aaf796d9ab27</a:t>
            </a:r>
          </a:p>
          <a:p/>
          <a:p>
            <a:r>
              <a:t>source_section_ids: []</a:t>
            </a:r>
          </a:p>
          <a:p/>
          <a:p>
            <a:r>
              <a:t>[tsb-ce9cb73a7c20 @ cbr_f6d5f2d38f0aa38830aa620c]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任务条件：给定三个行阶梯形增广矩阵如下：</a:t>
            </a:r>
          </a:p>
          <a:p/>
          <a:p>
            <a:r>
              <a:t>$$</a:t>
            </a:r>
          </a:p>
          <a:p>
            <a:r>
              <a:t>A =</a:t>
            </a:r>
          </a:p>
          <a:p>
            <a:r>
              <a:t>\begin{bmatrix} 1 &amp; 3 &amp; 0 &amp; 2 &amp; | &amp; 5 \\ 0 &amp; 0 &amp; 1 &amp; -1 &amp; | &amp; 4 \\ 0 &amp; 0 &amp; 0 &amp; 0 &amp; | &amp; 0 \\ 0 &amp; 0 &amp; 0 &amp; 0 &amp; | &amp; 0 \end{bmatrix}</a:t>
            </a:r>
          </a:p>
          <a:p>
            <a:r>
              <a:t>, \quad</a:t>
            </a:r>
          </a:p>
          <a:p>
            <a:r>
              <a:t>B =</a:t>
            </a:r>
          </a:p>
          <a:p>
            <a:r>
              <a:t>\begin{bmatrix} 1 &amp; 2 &amp; 4 &amp; | &amp; 1 \\ 0 &amp; 0 &amp; 0 &amp; | &amp; 3 \\ 0 &amp; 0 &amp; 0 &amp; | &amp; 0 \end{bmatrix}</a:t>
            </a:r>
          </a:p>
          <a:p>
            <a:r>
              <a:t>, \quad</a:t>
            </a:r>
          </a:p>
          <a:p>
            <a:r>
              <a:t>C =</a:t>
            </a:r>
          </a:p>
          <a:p>
            <a:r>
              <a:t>\begin{bmatrix} 1 &amp; 0 &amp; 0 &amp; | &amp; 2 \\ 0 &amp; 1 &amp; 0 &amp; | &amp; -1 \\ 0 &amp; 0 &amp; 1 &amp; | &amp; 6 \end{bmatrix}</a:t>
            </a:r>
          </a:p>
          <a:p>
            <a:r>
              <a:t>$$</a:t>
            </a:r>
          </a:p>
          <a:p/>
          <a:p>
            <a:r>
              <a:t>输出要求：对每个矩阵，依次完成三项操作：（1）圈出所有非零行的主元，并标注其所在列号；（2）判断是否存在形如 $[0\ 0\ \cdots\ 0\ |\ b]$ 且 $b \neq 0$ 的矛盾行；（3）在无矛盾行前提下，统计主元个数 $r$ 与未知数个数 $n$（系数部分列数），比较 $r$ 与 $n$，判定解的类型并说明依据。</a:t>
            </a:r>
          </a:p>
          <a:p/>
          <a:p>
            <a:r>
              <a:t>参考解法：矩阵 $A$ 中，第一行主元在第1列，第二行主元在第3列，$r=2$，未知数 $n=4$，无矛盾行，故 $r &lt; n$，有无穷多解；矩阵 $B$ 中，第二行为 $[0\ 0\ 0\ |\ 3]$，即 $0=3$，为矛盾行，直接判定无解；矩阵 $C$ 中，三行主元分别位于第1、2、3列，$r=3$，$n=3$，无矛盾行，故有唯一解。验收标准：主元位置准确、矛盾行识别无误、$r$ 与 $n$ 计算正确、解类型判断与逻辑一致。</a:t>
            </a:r>
          </a:p>
          <a:p>
            <a:r>
              <a:t>source_payload: {"content_perspective": "teacher_delivery", "knowledge_binding_status": null, "markdown": "任务条件：给定三个行阶梯形增广矩阵如下：\n\n$$\nA =\n\\begin{bmatrix} 1 &amp; 3 &amp; 0 &amp; 2 &amp; | &amp; 5 \\\\ 0 &amp; 0 &amp; 1 &amp; -1 &amp; | &amp; 4 \\\\ 0 &amp; 0 &amp; 0 &amp; 0 &amp; | &amp; 0 \\\\ 0 &amp; 0 &amp; 0 &amp; 0 &amp; | &amp; 0 \\end{bmatrix}\n, \\quad\nB =\n\\begin{bmatrix} 1 &amp; 2 &amp; 4 &amp; | &amp; 1 \\\\ 0 &amp; 0 &amp; 0 &amp; | &amp; 3 \\\\ 0 &amp; 0 &amp; 0 &amp; | &amp; 0 \\end{bmatrix}\n, \\quad\nC =\n\\begin{bmatrix} 1 &amp; 0 &amp; 0 &amp; | &amp; 2 \\\\ 0 &amp; 1 &amp; 0 &amp; | &amp; -1 \\\\ 0 &amp; 0 &amp; 1 &amp; | &amp; 6 \\end{bmatrix}\n$$\n\n输出要求：对每个矩阵，依次完成三项操作：（1）圈出所有非零行的主元，并标注其所在列号；（2）判断是否存在形如 $[0\\ 0\\ \\cdots\\ 0\\ |\\ b]$ 且 $b \\neq 0$ 的矛盾行；（3）在无矛盾行前提下，统计主元个数 $r$ 与未知数个数 $n$（系数部分列数），比较 $r$ 与 $n$，判定解的类型并说明依据。\n\n参考解法：矩阵 $A$ 中，第一行主元在第1列，第二行主元在第3列，$r=2$，未知数 $n=4$，无矛盾行，故 $r &lt; n$，有无穷多解；矩阵 $B$ 中，第二行为 $[0\\ 0\\ 0\\ |\\ 3]$，即 $0=3$，为矛盾行，直接判定无解；矩阵 $C$ 中，三行主元分别位于第1、2、3列，$r=3$，$n=3$，无矛盾行，故有唯一解。验收标准：主元位置准确、矛盾行识别无误、$r$ 与 $n$ 计算正确、解类型判断与逻辑一致。", "module_id": "learner_action", "module_instance_id": "tsb-ce9cb73a7c20", "planned_minutes": 2, "ppt_page_group_id": "L2-1-3:ppt-page-group:2", "summary": "任务条件：给定三个行阶梯形增广矩阵如下： A = begin{bmatrix} 1 &amp; 3 &amp; 0 &amp; 2 &amp; | &amp; 5 0 &amp; 0 &amp; 1 &amp; 1 &amp; | &amp; 4 0 &amp; 0 &amp; 0 &amp; 0 &amp; | &amp; 0 0 &amp; 0 &amp; 0 &amp; 0 ", "title": "学习者行动"}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cpu_a22f62f86e93aaf796d9ab27</a:t>
            </a:r>
          </a:p>
          <a:p/>
          <a:p>
            <a:r>
              <a:t>source_section_ids: []</a:t>
            </a:r>
          </a:p>
          <a:p/>
          <a:p>
            <a:r>
              <a:t>[tsb-ce9cb73a7c20 @ cbr_f6d5f2d38f0aa38830aa620c]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任务条件：给定三个行阶梯形增广矩阵如下：</a:t>
            </a:r>
          </a:p>
          <a:p/>
          <a:p>
            <a:r>
              <a:t>$$</a:t>
            </a:r>
          </a:p>
          <a:p>
            <a:r>
              <a:t>A =</a:t>
            </a:r>
          </a:p>
          <a:p>
            <a:r>
              <a:t>\begin{bmatrix} 1 &amp; 3 &amp; 0 &amp; 2 &amp; | &amp; 5 \\ 0 &amp; 0 &amp; 1 &amp; -1 &amp; | &amp; 4 \\ 0 &amp; 0 &amp; 0 &amp; 0 &amp; | &amp; 0 \\ 0 &amp; 0 &amp; 0 &amp; 0 &amp; | &amp; 0 \end{bmatrix}</a:t>
            </a:r>
          </a:p>
          <a:p>
            <a:r>
              <a:t>, \quad</a:t>
            </a:r>
          </a:p>
          <a:p>
            <a:r>
              <a:t>B =</a:t>
            </a:r>
          </a:p>
          <a:p>
            <a:r>
              <a:t>\begin{bmatrix} 1 &amp; 2 &amp; 4 &amp; | &amp; 1 \\ 0 &amp; 0 &amp; 0 &amp; | &amp; 3 \\ 0 &amp; 0 &amp; 0 &amp; | &amp; 0 \end{bmatrix}</a:t>
            </a:r>
          </a:p>
          <a:p>
            <a:r>
              <a:t>, \quad</a:t>
            </a:r>
          </a:p>
          <a:p>
            <a:r>
              <a:t>C =</a:t>
            </a:r>
          </a:p>
          <a:p>
            <a:r>
              <a:t>\begin{bmatrix} 1 &amp; 0 &amp; 0 &amp; | &amp; 2 \\ 0 &amp; 1 &amp; 0 &amp; | &amp; -1 \\ 0 &amp; 0 &amp; 1 &amp; | &amp; 6 \end{bmatrix}</a:t>
            </a:r>
          </a:p>
          <a:p>
            <a:r>
              <a:t>$$</a:t>
            </a:r>
          </a:p>
          <a:p/>
          <a:p>
            <a:r>
              <a:t>输出要求：对每个矩阵，依次完成三项操作：（1）圈出所有非零行的主元，并标注其所在列号；（2）判断是否存在形如 $[0\ 0\ \cdots\ 0\ |\ b]$ 且 $b \neq 0$ 的矛盾行；（3）在无矛盾行前提下，统计主元个数 $r$ 与未知数个数 $n$（系数部分列数），比较 $r$ 与 $n$，判定解的类型并说明依据。</a:t>
            </a:r>
          </a:p>
          <a:p/>
          <a:p>
            <a:r>
              <a:t>参考解法：矩阵 $A$ 中，第一行主元在第1列，第二行主元在第3列，$r=2$，未知数 $n=4$，无矛盾行，故 $r &lt; n$，有无穷多解；矩阵 $B$ 中，第二行为 $[0\ 0\ 0\ |\ 3]$，即 $0=3$，为矛盾行，直接判定无解；矩阵 $C$ 中，三行主元分别位于第1、2、3列，$r=3$，$n=3$，无矛盾行，故有唯一解。验收标准：主元位置准确、矛盾行识别无误、$r$ 与 $n$ 计算正确、解类型判断与逻辑一致。</a:t>
            </a:r>
          </a:p>
          <a:p>
            <a:r>
              <a:t>source_payload: {"content_perspective": "teacher_delivery", "knowledge_binding_status": null, "markdown": "任务条件：给定三个行阶梯形增广矩阵如下：\n\n$$\nA =\n\\begin{bmatrix} 1 &amp; 3 &amp; 0 &amp; 2 &amp; | &amp; 5 \\\\ 0 &amp; 0 &amp; 1 &amp; -1 &amp; | &amp; 4 \\\\ 0 &amp; 0 &amp; 0 &amp; 0 &amp; | &amp; 0 \\\\ 0 &amp; 0 &amp; 0 &amp; 0 &amp; | &amp; 0 \\end{bmatrix}\n, \\quad\nB =\n\\begin{bmatrix} 1 &amp; 2 &amp; 4 &amp; | &amp; 1 \\\\ 0 &amp; 0 &amp; 0 &amp; | &amp; 3 \\\\ 0 &amp; 0 &amp; 0 &amp; | &amp; 0 \\end{bmatrix}\n, \\quad\nC =\n\\begin{bmatrix} 1 &amp; 0 &amp; 0 &amp; | &amp; 2 \\\\ 0 &amp; 1 &amp; 0 &amp; | &amp; -1 \\\\ 0 &amp; 0 &amp; 1 &amp; | &amp; 6 \\end{bmatrix}\n$$\n\n输出要求：对每个矩阵，依次完成三项操作：（1）圈出所有非零行的主元，并标注其所在列号；（2）判断是否存在形如 $[0\\ 0\\ \\cdots\\ 0\\ |\\ b]$ 且 $b \\neq 0$ 的矛盾行；（3）在无矛盾行前提下，统计主元个数 $r$ 与未知数个数 $n$（系数部分列数），比较 $r$ 与 $n$，判定解的类型并说明依据。\n\n参考解法：矩阵 $A$ 中，第一行主元在第1列，第二行主元在第3列，$r=2$，未知数 $n=4$，无矛盾行，故 $r &lt; n$，有无穷多解；矩阵 $B$ 中，第二行为 $[0\\ 0\\ 0\\ |\\ 3]$，即 $0=3$，为矛盾行，直接判定无解；矩阵 $C$ 中，三行主元分别位于第1、2、3列，$r=3$，$n=3$，无矛盾行，故有唯一解。验收标准：主元位置准确、矛盾行识别无误、$r$ 与 $n$ 计算正确、解类型判断与逻辑一致。", "module_id": "learner_action", "module_instance_id": "tsb-ce9cb73a7c20", "planned_minutes": 2, "ppt_page_group_id": "L2-1-3:ppt-page-group:2", "summary": "任务条件：给定三个行阶梯形增广矩阵如下： A = begin{bmatrix} 1 &amp; 3 &amp; 0 &amp; 2 &amp; | &amp; 5 0 &amp; 0 &amp; 1 &amp; 1 &amp; | &amp; 4 0 &amp; 0 &amp; 0 &amp; 0 &amp; | &amp; 0 0 &amp; 0 &amp; 0 &amp; 0 ", "title": "学习者行动"}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cpu_a22f62f86e93aaf796d9ab27</a:t>
            </a:r>
          </a:p>
          <a:p/>
          <a:p>
            <a:r>
              <a:t>source_section_ids: []</a:t>
            </a:r>
          </a:p>
          <a:p/>
          <a:p>
            <a:r>
              <a:t>[tsb-ce9cb73a7c20 @ cbr_f6d5f2d38f0aa38830aa620c]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任务条件：给定三个行阶梯形增广矩阵如下：</a:t>
            </a:r>
          </a:p>
          <a:p/>
          <a:p>
            <a:r>
              <a:t>$$</a:t>
            </a:r>
          </a:p>
          <a:p>
            <a:r>
              <a:t>A =</a:t>
            </a:r>
          </a:p>
          <a:p>
            <a:r>
              <a:t>\begin{bmatrix} 1 &amp; 3 &amp; 0 &amp; 2 &amp; | &amp; 5 \\ 0 &amp; 0 &amp; 1 &amp; -1 &amp; | &amp; 4 \\ 0 &amp; 0 &amp; 0 &amp; 0 &amp; | &amp; 0 \\ 0 &amp; 0 &amp; 0 &amp; 0 &amp; | &amp; 0 \end{bmatrix}</a:t>
            </a:r>
          </a:p>
          <a:p>
            <a:r>
              <a:t>, \quad</a:t>
            </a:r>
          </a:p>
          <a:p>
            <a:r>
              <a:t>B =</a:t>
            </a:r>
          </a:p>
          <a:p>
            <a:r>
              <a:t>\begin{bmatrix} 1 &amp; 2 &amp; 4 &amp; | &amp; 1 \\ 0 &amp; 0 &amp; 0 &amp; | &amp; 3 \\ 0 &amp; 0 &amp; 0 &amp; | &amp; 0 \end{bmatrix}</a:t>
            </a:r>
          </a:p>
          <a:p>
            <a:r>
              <a:t>, \quad</a:t>
            </a:r>
          </a:p>
          <a:p>
            <a:r>
              <a:t>C =</a:t>
            </a:r>
          </a:p>
          <a:p>
            <a:r>
              <a:t>\begin{bmatrix} 1 &amp; 0 &amp; 0 &amp; | &amp; 2 \\ 0 &amp; 1 &amp; 0 &amp; | &amp; -1 \\ 0 &amp; 0 &amp; 1 &amp; | &amp; 6 \end{bmatrix}</a:t>
            </a:r>
          </a:p>
          <a:p>
            <a:r>
              <a:t>$$</a:t>
            </a:r>
          </a:p>
          <a:p/>
          <a:p>
            <a:r>
              <a:t>输出要求：对每个矩阵，依次完成三项操作：（1）圈出所有非零行的主元，并标注其所在列号；（2）判断是否存在形如 $[0\ 0\ \cdots\ 0\ |\ b]$ 且 $b \neq 0$ 的矛盾行；（3）在无矛盾行前提下，统计主元个数 $r$ 与未知数个数 $n$（系数部分列数），比较 $r$ 与 $n$，判定解的类型并说明依据。</a:t>
            </a:r>
          </a:p>
          <a:p/>
          <a:p>
            <a:r>
              <a:t>参考解法：矩阵 $A$ 中，第一行主元在第1列，第二行主元在第3列，$r=2$，未知数 $n=4$，无矛盾行，故 $r &lt; n$，有无穷多解；矩阵 $B$ 中，第二行为 $[0\ 0\ 0\ |\ 3]$，即 $0=3$，为矛盾行，直接判定无解；矩阵 $C$ 中，三行主元分别位于第1、2、3列，$r=3$，$n=3$，无矛盾行，故有唯一解。验收标准：主元位置准确、矛盾行识别无误、$r$ 与 $n$ 计算正确、解类型判断与逻辑一致。</a:t>
            </a:r>
          </a:p>
          <a:p>
            <a:r>
              <a:t>source_payload: {"content_perspective": "teacher_delivery", "knowledge_binding_status": null, "markdown": "任务条件：给定三个行阶梯形增广矩阵如下：\n\n$$\nA =\n\\begin{bmatrix} 1 &amp; 3 &amp; 0 &amp; 2 &amp; | &amp; 5 \\\\ 0 &amp; 0 &amp; 1 &amp; -1 &amp; | &amp; 4 \\\\ 0 &amp; 0 &amp; 0 &amp; 0 &amp; | &amp; 0 \\\\ 0 &amp; 0 &amp; 0 &amp; 0 &amp; | &amp; 0 \\end{bmatrix}\n, \\quad\nB =\n\\begin{bmatrix} 1 &amp; 2 &amp; 4 &amp; | &amp; 1 \\\\ 0 &amp; 0 &amp; 0 &amp; | &amp; 3 \\\\ 0 &amp; 0 &amp; 0 &amp; | &amp; 0 \\end{bmatrix}\n, \\quad\nC =\n\\begin{bmatrix} 1 &amp; 0 &amp; 0 &amp; | &amp; 2 \\\\ 0 &amp; 1 &amp; 0 &amp; | &amp; -1 \\\\ 0 &amp; 0 &amp; 1 &amp; | &amp; 6 \\end{bmatrix}\n$$\n\n输出要求：对每个矩阵，依次完成三项操作：（1）圈出所有非零行的主元，并标注其所在列号；（2）判断是否存在形如 $[0\\ 0\\ \\cdots\\ 0\\ |\\ b]$ 且 $b \\neq 0$ 的矛盾行；（3）在无矛盾行前提下，统计主元个数 $r$ 与未知数个数 $n$（系数部分列数），比较 $r$ 与 $n$，判定解的类型并说明依据。\n\n参考解法：矩阵 $A$ 中，第一行主元在第1列，第二行主元在第3列，$r=2$，未知数 $n=4$，无矛盾行，故 $r &lt; n$，有无穷多解；矩阵 $B$ 中，第二行为 $[0\\ 0\\ 0\\ |\\ 3]$，即 $0=3$，为矛盾行，直接判定无解；矩阵 $C$ 中，三行主元分别位于第1、2、3列，$r=3$，$n=3$，无矛盾行，故有唯一解。验收标准：主元位置准确、矛盾行识别无误、$r$ 与 $n$ 计算正确、解类型判断与逻辑一致。", "module_id": "learner_action", "module_instance_id": "tsb-ce9cb73a7c20", "planned_minutes": 2, "ppt_page_group_id": "L2-1-3:ppt-page-group:2", "summary": "任务条件：给定三个行阶梯形增广矩阵如下： A = begin{bmatrix} 1 &amp; 3 &amp; 0 &amp; 2 &amp; | &amp; 5 0 &amp; 0 &amp; 1 &amp; 1 &amp; | &amp; 4 0 &amp; 0 &amp; 0 &amp; 0 &amp; | &amp; 0 0 &amp; 0 &amp; 0 &amp; 0 ", "title": "学习者行动"}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cpu_a22f62f86e93aaf796d9ab27</a:t>
            </a:r>
          </a:p>
          <a:p/>
          <a:p>
            <a:r>
              <a:t>source_section_ids: []</a:t>
            </a:r>
          </a:p>
          <a:p/>
          <a:p>
            <a:r>
              <a:t>[tsb-ce9cb73a7c20 @ cbr_f6d5f2d38f0aa38830aa620c]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任务条件：给定三个行阶梯形增广矩阵如下：</a:t>
            </a:r>
          </a:p>
          <a:p/>
          <a:p>
            <a:r>
              <a:t>$$</a:t>
            </a:r>
          </a:p>
          <a:p>
            <a:r>
              <a:t>A =</a:t>
            </a:r>
          </a:p>
          <a:p>
            <a:r>
              <a:t>\begin{bmatrix} 1 &amp; 3 &amp; 0 &amp; 2 &amp; | &amp; 5 \\ 0 &amp; 0 &amp; 1 &amp; -1 &amp; | &amp; 4 \\ 0 &amp; 0 &amp; 0 &amp; 0 &amp; | &amp; 0 \\ 0 &amp; 0 &amp; 0 &amp; 0 &amp; | &amp; 0 \end{bmatrix}</a:t>
            </a:r>
          </a:p>
          <a:p>
            <a:r>
              <a:t>, \quad</a:t>
            </a:r>
          </a:p>
          <a:p>
            <a:r>
              <a:t>B =</a:t>
            </a:r>
          </a:p>
          <a:p>
            <a:r>
              <a:t>\begin{bmatrix} 1 &amp; 2 &amp; 4 &amp; | &amp; 1 \\ 0 &amp; 0 &amp; 0 &amp; | &amp; 3 \\ 0 &amp; 0 &amp; 0 &amp; | &amp; 0 \end{bmatrix}</a:t>
            </a:r>
          </a:p>
          <a:p>
            <a:r>
              <a:t>, \quad</a:t>
            </a:r>
          </a:p>
          <a:p>
            <a:r>
              <a:t>C =</a:t>
            </a:r>
          </a:p>
          <a:p>
            <a:r>
              <a:t>\begin{bmatrix} 1 &amp; 0 &amp; 0 &amp; | &amp; 2 \\ 0 &amp; 1 &amp; 0 &amp; | &amp; -1 \\ 0 &amp; 0 &amp; 1 &amp; | &amp; 6 \end{bmatrix}</a:t>
            </a:r>
          </a:p>
          <a:p>
            <a:r>
              <a:t>$$</a:t>
            </a:r>
          </a:p>
          <a:p/>
          <a:p>
            <a:r>
              <a:t>输出要求：对每个矩阵，依次完成三项操作：（1）圈出所有非零行的主元，并标注其所在列号；（2）判断是否存在形如 $[0\ 0\ \cdots\ 0\ |\ b]$ 且 $b \neq 0$ 的矛盾行；（3）在无矛盾行前提下，统计主元个数 $r$ 与未知数个数 $n$（系数部分列数），比较 $r$ 与 $n$，判定解的类型并说明依据。</a:t>
            </a:r>
          </a:p>
          <a:p/>
          <a:p>
            <a:r>
              <a:t>参考解法：矩阵 $A$ 中，第一行主元在第1列，第二行主元在第3列，$r=2$，未知数 $n=4$，无矛盾行，故 $r &lt; n$，有无穷多解；矩阵 $B$ 中，第二行为 $[0\ 0\ 0\ |\ 3]$，即 $0=3$，为矛盾行，直接判定无解；矩阵 $C$ 中，三行主元分别位于第1、2、3列，$r=3$，$n=3$，无矛盾行，故有唯一解。验收标准：主元位置准确、矛盾行识别无误、$r$ 与 $n$ 计算正确、解类型判断与逻辑一致。</a:t>
            </a:r>
          </a:p>
          <a:p>
            <a:r>
              <a:t>source_payload: {"content_perspective": "teacher_delivery", "knowledge_binding_status": null, "markdown": "任务条件：给定三个行阶梯形增广矩阵如下：\n\n$$\nA =\n\\begin{bmatrix} 1 &amp; 3 &amp; 0 &amp; 2 &amp; | &amp; 5 \\\\ 0 &amp; 0 &amp; 1 &amp; -1 &amp; | &amp; 4 \\\\ 0 &amp; 0 &amp; 0 &amp; 0 &amp; | &amp; 0 \\\\ 0 &amp; 0 &amp; 0 &amp; 0 &amp; | &amp; 0 \\end{bmatrix}\n, \\quad\nB =\n\\begin{bmatrix} 1 &amp; 2 &amp; 4 &amp; | &amp; 1 \\\\ 0 &amp; 0 &amp; 0 &amp; | &amp; 3 \\\\ 0 &amp; 0 &amp; 0 &amp; | &amp; 0 \\end{bmatrix}\n, \\quad\nC =\n\\begin{bmatrix} 1 &amp; 0 &amp; 0 &amp; | &amp; 2 \\\\ 0 &amp; 1 &amp; 0 &amp; | &amp; -1 \\\\ 0 &amp; 0 &amp; 1 &amp; | &amp; 6 \\end{bmatrix}\n$$\n\n输出要求：对每个矩阵，依次完成三项操作：（1）圈出所有非零行的主元，并标注其所在列号；（2）判断是否存在形如 $[0\\ 0\\ \\cdots\\ 0\\ |\\ b]$ 且 $b \\neq 0$ 的矛盾行；（3）在无矛盾行前提下，统计主元个数 $r$ 与未知数个数 $n$（系数部分列数），比较 $r$ 与 $n$，判定解的类型并说明依据。\n\n参考解法：矩阵 $A$ 中，第一行主元在第1列，第二行主元在第3列，$r=2$，未知数 $n=4$，无矛盾行，故 $r &lt; n$，有无穷多解；矩阵 $B$ 中，第二行为 $[0\\ 0\\ 0\\ |\\ 3]$，即 $0=3$，为矛盾行，直接判定无解；矩阵 $C$ 中，三行主元分别位于第1、2、3列，$r=3$，$n=3$，无矛盾行，故有唯一解。验收标准：主元位置准确、矛盾行识别无误、$r$ 与 $n$ 计算正确、解类型判断与逻辑一致。", "module_id": "learner_action", "module_instance_id": "tsb-ce9cb73a7c20", "planned_minutes": 2, "ppt_page_group_id": "L2-1-3:ppt-page-group:2", "summary": "任务条件：给定三个行阶梯形增广矩阵如下： A = begin{bmatrix} 1 &amp; 3 &amp; 0 &amp; 2 &amp; | &amp; 5 0 &amp; 0 &amp; 1 &amp; 1 &amp; | &amp; 4 0 &amp; 0 &amp; 0 &amp; 0 &amp; | &amp; 0 0 &amp; 0 &amp; 0 &amp; 0 ", "title": "学习者行动"}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cpu_a22f62f86e93aaf796d9ab27</a:t>
            </a:r>
          </a:p>
          <a:p/>
          <a:p>
            <a:r>
              <a:t>source_section_ids: []</a:t>
            </a:r>
          </a:p>
          <a:p/>
          <a:p>
            <a:r>
              <a:t>[tsb-ce9cb73a7c20 @ cbr_f6d5f2d38f0aa38830aa620c]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任务条件：给定三个行阶梯形增广矩阵如下：</a:t>
            </a:r>
          </a:p>
          <a:p/>
          <a:p>
            <a:r>
              <a:t>$$</a:t>
            </a:r>
          </a:p>
          <a:p>
            <a:r>
              <a:t>A =</a:t>
            </a:r>
          </a:p>
          <a:p>
            <a:r>
              <a:t>\begin{bmatrix} 1 &amp; 3 &amp; 0 &amp; 2 &amp; | &amp; 5 \\ 0 &amp; 0 &amp; 1 &amp; -1 &amp; | &amp; 4 \\ 0 &amp; 0 &amp; 0 &amp; 0 &amp; | &amp; 0 \\ 0 &amp; 0 &amp; 0 &amp; 0 &amp; | &amp; 0 \end{bmatrix}</a:t>
            </a:r>
          </a:p>
          <a:p>
            <a:r>
              <a:t>, \quad</a:t>
            </a:r>
          </a:p>
          <a:p>
            <a:r>
              <a:t>B =</a:t>
            </a:r>
          </a:p>
          <a:p>
            <a:r>
              <a:t>\begin{bmatrix} 1 &amp; 2 &amp; 4 &amp; | &amp; 1 \\ 0 &amp; 0 &amp; 0 &amp; | &amp; 3 \\ 0 &amp; 0 &amp; 0 &amp; | &amp; 0 \end{bmatrix}</a:t>
            </a:r>
          </a:p>
          <a:p>
            <a:r>
              <a:t>, \quad</a:t>
            </a:r>
          </a:p>
          <a:p>
            <a:r>
              <a:t>C =</a:t>
            </a:r>
          </a:p>
          <a:p>
            <a:r>
              <a:t>\begin{bmatrix} 1 &amp; 0 &amp; 0 &amp; | &amp; 2 \\ 0 &amp; 1 &amp; 0 &amp; | &amp; -1 \\ 0 &amp; 0 &amp; 1 &amp; | &amp; 6 \end{bmatrix}</a:t>
            </a:r>
          </a:p>
          <a:p>
            <a:r>
              <a:t>$$</a:t>
            </a:r>
          </a:p>
          <a:p/>
          <a:p>
            <a:r>
              <a:t>输出要求：对每个矩阵，依次完成三项操作：（1）圈出所有非零行的主元，并标注其所在列号；（2）判断是否存在形如 $[0\ 0\ \cdots\ 0\ |\ b]$ 且 $b \neq 0$ 的矛盾行；（3）在无矛盾行前提下，统计主元个数 $r$ 与未知数个数 $n$（系数部分列数），比较 $r$ 与 $n$，判定解的类型并说明依据。</a:t>
            </a:r>
          </a:p>
          <a:p/>
          <a:p>
            <a:r>
              <a:t>参考解法：矩阵 $A$ 中，第一行主元在第1列，第二行主元在第3列，$r=2$，未知数 $n=4$，无矛盾行，故 $r &lt; n$，有无穷多解；矩阵 $B$ 中，第二行为 $[0\ 0\ 0\ |\ 3]$，即 $0=3$，为矛盾行，直接判定无解；矩阵 $C$ 中，三行主元分别位于第1、2、3列，$r=3$，$n=3$，无矛盾行，故有唯一解。验收标准：主元位置准确、矛盾行识别无误、$r$ 与 $n$ 计算正确、解类型判断与逻辑一致。</a:t>
            </a:r>
          </a:p>
          <a:p>
            <a:r>
              <a:t>source_payload: {"content_perspective": "teacher_delivery", "knowledge_binding_status": null, "markdown": "任务条件：给定三个行阶梯形增广矩阵如下：\n\n$$\nA =\n\\begin{bmatrix} 1 &amp; 3 &amp; 0 &amp; 2 &amp; | &amp; 5 \\\\ 0 &amp; 0 &amp; 1 &amp; -1 &amp; | &amp; 4 \\\\ 0 &amp; 0 &amp; 0 &amp; 0 &amp; | &amp; 0 \\\\ 0 &amp; 0 &amp; 0 &amp; 0 &amp; | &amp; 0 \\end{bmatrix}\n, \\quad\nB =\n\\begin{bmatrix} 1 &amp; 2 &amp; 4 &amp; | &amp; 1 \\\\ 0 &amp; 0 &amp; 0 &amp; | &amp; 3 \\\\ 0 &amp; 0 &amp; 0 &amp; | &amp; 0 \\end{bmatrix}\n, \\quad\nC =\n\\begin{bmatrix} 1 &amp; 0 &amp; 0 &amp; | &amp; 2 \\\\ 0 &amp; 1 &amp; 0 &amp; | &amp; -1 \\\\ 0 &amp; 0 &amp; 1 &amp; | &amp; 6 \\end{bmatrix}\n$$\n\n输出要求：对每个矩阵，依次完成三项操作：（1）圈出所有非零行的主元，并标注其所在列号；（2）判断是否存在形如 $[0\\ 0\\ \\cdots\\ 0\\ |\\ b]$ 且 $b \\neq 0$ 的矛盾行；（3）在无矛盾行前提下，统计主元个数 $r$ 与未知数个数 $n$（系数部分列数），比较 $r$ 与 $n$，判定解的类型并说明依据。\n\n参考解法：矩阵 $A$ 中，第一行主元在第1列，第二行主元在第3列，$r=2$，未知数 $n=4$，无矛盾行，故 $r &lt; n$，有无穷多解；矩阵 $B$ 中，第二行为 $[0\\ 0\\ 0\\ |\\ 3]$，即 $0=3$，为矛盾行，直接判定无解；矩阵 $C$ 中，三行主元分别位于第1、2、3列，$r=3$，$n=3$，无矛盾行，故有唯一解。验收标准：主元位置准确、矛盾行识别无误、$r$ 与 $n$ 计算正确、解类型判断与逻辑一致。", "module_id": "learner_action", "module_instance_id": "tsb-ce9cb73a7c20", "planned_minutes": 2, "ppt_page_group_id": "L2-1-3:ppt-page-group:2", "summary": "任务条件：给定三个行阶梯形增广矩阵如下： A = begin{bmatrix} 1 &amp; 3 &amp; 0 &amp; 2 &amp; | &amp; 5 0 &amp; 0 &amp; 1 &amp; 1 &amp; | &amp; 4 0 &amp; 0 &amp; 0 &amp; 0 &amp; | &amp; 0 0 &amp; 0 &amp; 0 &amp; 0 ", "title": "学习者行动"}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cpu_a22f62f86e93aaf796d9ab27</a:t>
            </a:r>
          </a:p>
          <a:p/>
          <a:p>
            <a:r>
              <a:t>source_section_ids: []</a:t>
            </a:r>
          </a:p>
          <a:p/>
          <a:p>
            <a:r>
              <a:t>[tsb-ce9cb73a7c20 @ cbr_f6d5f2d38f0aa38830aa620c]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任务条件：给定三个行阶梯形增广矩阵如下：</a:t>
            </a:r>
          </a:p>
          <a:p/>
          <a:p>
            <a:r>
              <a:t>$$</a:t>
            </a:r>
          </a:p>
          <a:p>
            <a:r>
              <a:t>A =</a:t>
            </a:r>
          </a:p>
          <a:p>
            <a:r>
              <a:t>\begin{bmatrix} 1 &amp; 3 &amp; 0 &amp; 2 &amp; | &amp; 5 \\ 0 &amp; 0 &amp; 1 &amp; -1 &amp; | &amp; 4 \\ 0 &amp; 0 &amp; 0 &amp; 0 &amp; | &amp; 0 \\ 0 &amp; 0 &amp; 0 &amp; 0 &amp; | &amp; 0 \end{bmatrix}</a:t>
            </a:r>
          </a:p>
          <a:p>
            <a:r>
              <a:t>, \quad</a:t>
            </a:r>
          </a:p>
          <a:p>
            <a:r>
              <a:t>B =</a:t>
            </a:r>
          </a:p>
          <a:p>
            <a:r>
              <a:t>\begin{bmatrix} 1 &amp; 2 &amp; 4 &amp; | &amp; 1 \\ 0 &amp; 0 &amp; 0 &amp; | &amp; 3 \\ 0 &amp; 0 &amp; 0 &amp; | &amp; 0 \end{bmatrix}</a:t>
            </a:r>
          </a:p>
          <a:p>
            <a:r>
              <a:t>, \quad</a:t>
            </a:r>
          </a:p>
          <a:p>
            <a:r>
              <a:t>C =</a:t>
            </a:r>
          </a:p>
          <a:p>
            <a:r>
              <a:t>\begin{bmatrix} 1 &amp; 0 &amp; 0 &amp; | &amp; 2 \\ 0 &amp; 1 &amp; 0 &amp; | &amp; -1 \\ 0 &amp; 0 &amp; 1 &amp; | &amp; 6 \end{bmatrix}</a:t>
            </a:r>
          </a:p>
          <a:p>
            <a:r>
              <a:t>$$</a:t>
            </a:r>
          </a:p>
          <a:p/>
          <a:p>
            <a:r>
              <a:t>输出要求：对每个矩阵，依次完成三项操作：（1）圈出所有非零行的主元，并标注其所在列号；（2）判断是否存在形如 $[0\ 0\ \cdots\ 0\ |\ b]$ 且 $b \neq 0$ 的矛盾行；（3）在无矛盾行前提下，统计主元个数 $r$ 与未知数个数 $n$（系数部分列数），比较 $r$ 与 $n$，判定解的类型并说明依据。</a:t>
            </a:r>
          </a:p>
          <a:p/>
          <a:p>
            <a:r>
              <a:t>参考解法：矩阵 $A$ 中，第一行主元在第1列，第二行主元在第3列，$r=2$，未知数 $n=4$，无矛盾行，故 $r &lt; n$，有无穷多解；矩阵 $B$ 中，第二行为 $[0\ 0\ 0\ |\ 3]$，即 $0=3$，为矛盾行，直接判定无解；矩阵 $C$ 中，三行主元分别位于第1、2、3列，$r=3$，$n=3$，无矛盾行，故有唯一解。验收标准：主元位置准确、矛盾行识别无误、$r$ 与 $n$ 计算正确、解类型判断与逻辑一致。</a:t>
            </a:r>
          </a:p>
          <a:p>
            <a:r>
              <a:t>source_payload: {"content_perspective": "teacher_delivery", "knowledge_binding_status": null, "markdown": "任务条件：给定三个行阶梯形增广矩阵如下：\n\n$$\nA =\n\\begin{bmatrix} 1 &amp; 3 &amp; 0 &amp; 2 &amp; | &amp; 5 \\\\ 0 &amp; 0 &amp; 1 &amp; -1 &amp; | &amp; 4 \\\\ 0 &amp; 0 &amp; 0 &amp; 0 &amp; | &amp; 0 \\\\ 0 &amp; 0 &amp; 0 &amp; 0 &amp; | &amp; 0 \\end{bmatrix}\n, \\quad\nB =\n\\begin{bmatrix} 1 &amp; 2 &amp; 4 &amp; | &amp; 1 \\\\ 0 &amp; 0 &amp; 0 &amp; | &amp; 3 \\\\ 0 &amp; 0 &amp; 0 &amp; | &amp; 0 \\end{bmatrix}\n, \\quad\nC =\n\\begin{bmatrix} 1 &amp; 0 &amp; 0 &amp; | &amp; 2 \\\\ 0 &amp; 1 &amp; 0 &amp; | &amp; -1 \\\\ 0 &amp; 0 &amp; 1 &amp; | &amp; 6 \\end{bmatrix}\n$$\n\n输出要求：对每个矩阵，依次完成三项操作：（1）圈出所有非零行的主元，并标注其所在列号；（2）判断是否存在形如 $[0\\ 0\\ \\cdots\\ 0\\ |\\ b]$ 且 $b \\neq 0$ 的矛盾行；（3）在无矛盾行前提下，统计主元个数 $r$ 与未知数个数 $n$（系数部分列数），比较 $r$ 与 $n$，判定解的类型并说明依据。\n\n参考解法：矩阵 $A$ 中，第一行主元在第1列，第二行主元在第3列，$r=2$，未知数 $n=4$，无矛盾行，故 $r &lt; n$，有无穷多解；矩阵 $B$ 中，第二行为 $[0\\ 0\\ 0\\ |\\ 3]$，即 $0=3$，为矛盾行，直接判定无解；矩阵 $C$ 中，三行主元分别位于第1、2、3列，$r=3$，$n=3$，无矛盾行，故有唯一解。验收标准：主元位置准确、矛盾行识别无误、$r$ 与 $n$ 计算正确、解类型判断与逻辑一致。", "module_id": "learner_action", "module_instance_id": "tsb-ce9cb73a7c20", "planned_minutes": 2, "ppt_page_group_id": "L2-1-3:ppt-page-group:2", "summary": "任务条件：给定三个行阶梯形增广矩阵如下： A = begin{bmatrix} 1 &amp; 3 &amp; 0 &amp; 2 &amp; | &amp; 5 0 &amp; 0 &amp; 1 &amp; 1 &amp; | &amp; 4 0 &amp; 0 &amp; 0 &amp; 0 &amp; | &amp; 0 0 &amp; 0 &amp; 0 &amp; 0 ", "title": "学习者行动"}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cpu_a22f62f86e93aaf796d9ab27</a:t>
            </a:r>
          </a:p>
          <a:p/>
          <a:p>
            <a:r>
              <a:t>source_section_ids: []</a:t>
            </a:r>
          </a:p>
          <a:p/>
          <a:p>
            <a:r>
              <a:t>[tsb-ce9cb73a7c20 @ cbr_f6d5f2d38f0aa38830aa620c]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任务条件：给定三个行阶梯形增广矩阵如下：</a:t>
            </a:r>
          </a:p>
          <a:p/>
          <a:p>
            <a:r>
              <a:t>$$</a:t>
            </a:r>
          </a:p>
          <a:p>
            <a:r>
              <a:t>A =</a:t>
            </a:r>
          </a:p>
          <a:p>
            <a:r>
              <a:t>\begin{bmatrix} 1 &amp; 3 &amp; 0 &amp; 2 &amp; | &amp; 5 \\ 0 &amp; 0 &amp; 1 &amp; -1 &amp; | &amp; 4 \\ 0 &amp; 0 &amp; 0 &amp; 0 &amp; | &amp; 0 \\ 0 &amp; 0 &amp; 0 &amp; 0 &amp; | &amp; 0 \end{bmatrix}</a:t>
            </a:r>
          </a:p>
          <a:p>
            <a:r>
              <a:t>, \quad</a:t>
            </a:r>
          </a:p>
          <a:p>
            <a:r>
              <a:t>B =</a:t>
            </a:r>
          </a:p>
          <a:p>
            <a:r>
              <a:t>\begin{bmatrix} 1 &amp; 2 &amp; 4 &amp; | &amp; 1 \\ 0 &amp; 0 &amp; 0 &amp; | &amp; 3 \\ 0 &amp; 0 &amp; 0 &amp; | &amp; 0 \end{bmatrix}</a:t>
            </a:r>
          </a:p>
          <a:p>
            <a:r>
              <a:t>, \quad</a:t>
            </a:r>
          </a:p>
          <a:p>
            <a:r>
              <a:t>C =</a:t>
            </a:r>
          </a:p>
          <a:p>
            <a:r>
              <a:t>\begin{bmatrix} 1 &amp; 0 &amp; 0 &amp; | &amp; 2 \\ 0 &amp; 1 &amp; 0 &amp; | &amp; -1 \\ 0 &amp; 0 &amp; 1 &amp; | &amp; 6 \end{bmatrix}</a:t>
            </a:r>
          </a:p>
          <a:p>
            <a:r>
              <a:t>$$</a:t>
            </a:r>
          </a:p>
          <a:p/>
          <a:p>
            <a:r>
              <a:t>输出要求：对每个矩阵，依次完成三项操作：（1）圈出所有非零行的主元，并标注其所在列号；（2）判断是否存在形如 $[0\ 0\ \cdots\ 0\ |\ b]$ 且 $b \neq 0$ 的矛盾行；（3）在无矛盾行前提下，统计主元个数 $r$ 与未知数个数 $n$（系数部分列数），比较 $r$ 与 $n$，判定解的类型并说明依据。</a:t>
            </a:r>
          </a:p>
          <a:p/>
          <a:p>
            <a:r>
              <a:t>参考解法：矩阵 $A$ 中，第一行主元在第1列，第二行主元在第3列，$r=2$，未知数 $n=4$，无矛盾行，故 $r &lt; n$，有无穷多解；矩阵 $B$ 中，第二行为 $[0\ 0\ 0\ |\ 3]$，即 $0=3$，为矛盾行，直接判定无解；矩阵 $C$ 中，三行主元分别位于第1、2、3列，$r=3$，$n=3$，无矛盾行，故有唯一解。验收标准：主元位置准确、矛盾行识别无误、$r$ 与 $n$ 计算正确、解类型判断与逻辑一致。</a:t>
            </a:r>
          </a:p>
          <a:p>
            <a:r>
              <a:t>source_payload: {"content_perspective": "teacher_delivery", "knowledge_binding_status": null, "markdown": "任务条件：给定三个行阶梯形增广矩阵如下：\n\n$$\nA =\n\\begin{bmatrix} 1 &amp; 3 &amp; 0 &amp; 2 &amp; | &amp; 5 \\\\ 0 &amp; 0 &amp; 1 &amp; -1 &amp; | &amp; 4 \\\\ 0 &amp; 0 &amp; 0 &amp; 0 &amp; | &amp; 0 \\\\ 0 &amp; 0 &amp; 0 &amp; 0 &amp; | &amp; 0 \\end{bmatrix}\n, \\quad\nB =\n\\begin{bmatrix} 1 &amp; 2 &amp; 4 &amp; | &amp; 1 \\\\ 0 &amp; 0 &amp; 0 &amp; | &amp; 3 \\\\ 0 &amp; 0 &amp; 0 &amp; | &amp; 0 \\end{bmatrix}\n, \\quad\nC =\n\\begin{bmatrix} 1 &amp; 0 &amp; 0 &amp; | &amp; 2 \\\\ 0 &amp; 1 &amp; 0 &amp; | &amp; -1 \\\\ 0 &amp; 0 &amp; 1 &amp; | &amp; 6 \\end{bmatrix}\n$$\n\n输出要求：对每个矩阵，依次完成三项操作：（1）圈出所有非零行的主元，并标注其所在列号；（2）判断是否存在形如 $[0\\ 0\\ \\cdots\\ 0\\ |\\ b]$ 且 $b \\neq 0$ 的矛盾行；（3）在无矛盾行前提下，统计主元个数 $r$ 与未知数个数 $n$（系数部分列数），比较 $r$ 与 $n$，判定解的类型并说明依据。\n\n参考解法：矩阵 $A$ 中，第一行主元在第1列，第二行主元在第3列，$r=2$，未知数 $n=4$，无矛盾行，故 $r &lt; n$，有无穷多解；矩阵 $B$ 中，第二行为 $[0\\ 0\\ 0\\ |\\ 3]$，即 $0=3$，为矛盾行，直接判定无解；矩阵 $C$ 中，三行主元分别位于第1、2、3列，$r=3$，$n=3$，无矛盾行，故有唯一解。验收标准：主元位置准确、矛盾行识别无误、$r$ 与 $n$ 计算正确、解类型判断与逻辑一致。", "module_id": "learner_action", "module_instance_id": "tsb-ce9cb73a7c20", "planned_minutes": 2, "ppt_page_group_id": "L2-1-3:ppt-page-group:2", "summary": "任务条件：给定三个行阶梯形增广矩阵如下： A = begin{bmatrix} 1 &amp; 3 &amp; 0 &amp; 2 &amp; | &amp; 5 0 &amp; 0 &amp; 1 &amp; 1 &amp; | &amp; 4 0 &amp; 0 &amp; 0 &amp; 0 &amp; | &amp; 0 0 &amp; 0 &amp; 0 &amp; 0 ", "title": "学习者行动"}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cpu_a22f62f86e93aaf796d9ab27</a:t>
            </a:r>
          </a:p>
          <a:p/>
          <a:p>
            <a:r>
              <a:t>source_section_ids: []</a:t>
            </a:r>
          </a:p>
          <a:p/>
          <a:p>
            <a:r>
              <a:t>[tsb-ce9cb73a7c20 @ cbr_f6d5f2d38f0aa38830aa620c]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任务条件：给定三个行阶梯形增广矩阵如下：</a:t>
            </a:r>
          </a:p>
          <a:p/>
          <a:p>
            <a:r>
              <a:t>$$</a:t>
            </a:r>
          </a:p>
          <a:p>
            <a:r>
              <a:t>A =</a:t>
            </a:r>
          </a:p>
          <a:p>
            <a:r>
              <a:t>\begin{bmatrix} 1 &amp; 3 &amp; 0 &amp; 2 &amp; | &amp; 5 \\ 0 &amp; 0 &amp; 1 &amp; -1 &amp; | &amp; 4 \\ 0 &amp; 0 &amp; 0 &amp; 0 &amp; | &amp; 0 \\ 0 &amp; 0 &amp; 0 &amp; 0 &amp; | &amp; 0 \end{bmatrix}</a:t>
            </a:r>
          </a:p>
          <a:p>
            <a:r>
              <a:t>, \quad</a:t>
            </a:r>
          </a:p>
          <a:p>
            <a:r>
              <a:t>B =</a:t>
            </a:r>
          </a:p>
          <a:p>
            <a:r>
              <a:t>\begin{bmatrix} 1 &amp; 2 &amp; 4 &amp; | &amp; 1 \\ 0 &amp; 0 &amp; 0 &amp; | &amp; 3 \\ 0 &amp; 0 &amp; 0 &amp; | &amp; 0 \end{bmatrix}</a:t>
            </a:r>
          </a:p>
          <a:p>
            <a:r>
              <a:t>, \quad</a:t>
            </a:r>
          </a:p>
          <a:p>
            <a:r>
              <a:t>C =</a:t>
            </a:r>
          </a:p>
          <a:p>
            <a:r>
              <a:t>\begin{bmatrix} 1 &amp; 0 &amp; 0 &amp; | &amp; 2 \\ 0 &amp; 1 &amp; 0 &amp; | &amp; -1 \\ 0 &amp; 0 &amp; 1 &amp; | &amp; 6 \end{bmatrix}</a:t>
            </a:r>
          </a:p>
          <a:p>
            <a:r>
              <a:t>$$</a:t>
            </a:r>
          </a:p>
          <a:p/>
          <a:p>
            <a:r>
              <a:t>输出要求：对每个矩阵，依次完成三项操作：（1）圈出所有非零行的主元，并标注其所在列号；（2）判断是否存在形如 $[0\ 0\ \cdots\ 0\ |\ b]$ 且 $b \neq 0$ 的矛盾行；（3）在无矛盾行前提下，统计主元个数 $r$ 与未知数个数 $n$（系数部分列数），比较 $r$ 与 $n$，判定解的类型并说明依据。</a:t>
            </a:r>
          </a:p>
          <a:p/>
          <a:p>
            <a:r>
              <a:t>参考解法：矩阵 $A$ 中，第一行主元在第1列，第二行主元在第3列，$r=2$，未知数 $n=4$，无矛盾行，故 $r &lt; n$，有无穷多解；矩阵 $B$ 中，第二行为 $[0\ 0\ 0\ |\ 3]$，即 $0=3$，为矛盾行，直接判定无解；矩阵 $C$ 中，三行主元分别位于第1、2、3列，$r=3$，$n=3$，无矛盾行，故有唯一解。验收标准：主元位置准确、矛盾行识别无误、$r$ 与 $n$ 计算正确、解类型判断与逻辑一致。</a:t>
            </a:r>
          </a:p>
          <a:p>
            <a:r>
              <a:t>source_payload: {"content_perspective": "teacher_delivery", "knowledge_binding_status": null, "markdown": "任务条件：给定三个行阶梯形增广矩阵如下：\n\n$$\nA =\n\\begin{bmatrix} 1 &amp; 3 &amp; 0 &amp; 2 &amp; | &amp; 5 \\\\ 0 &amp; 0 &amp; 1 &amp; -1 &amp; | &amp; 4 \\\\ 0 &amp; 0 &amp; 0 &amp; 0 &amp; | &amp; 0 \\\\ 0 &amp; 0 &amp; 0 &amp; 0 &amp; | &amp; 0 \\end{bmatrix}\n, \\quad\nB =\n\\begin{bmatrix} 1 &amp; 2 &amp; 4 &amp; | &amp; 1 \\\\ 0 &amp; 0 &amp; 0 &amp; | &amp; 3 \\\\ 0 &amp; 0 &amp; 0 &amp; | &amp; 0 \\end{bmatrix}\n, \\quad\nC =\n\\begin{bmatrix} 1 &amp; 0 &amp; 0 &amp; | &amp; 2 \\\\ 0 &amp; 1 &amp; 0 &amp; | &amp; -1 \\\\ 0 &amp; 0 &amp; 1 &amp; | &amp; 6 \\end{bmatrix}\n$$\n\n输出要求：对每个矩阵，依次完成三项操作：（1）圈出所有非零行的主元，并标注其所在列号；（2）判断是否存在形如 $[0\\ 0\\ \\cdots\\ 0\\ |\\ b]$ 且 $b \\neq 0$ 的矛盾行；（3）在无矛盾行前提下，统计主元个数 $r$ 与未知数个数 $n$（系数部分列数），比较 $r$ 与 $n$，判定解的类型并说明依据。\n\n参考解法：矩阵 $A$ 中，第一行主元在第1列，第二行主元在第3列，$r=2$，未知数 $n=4$，无矛盾行，故 $r &lt; n$，有无穷多解；矩阵 $B$ 中，第二行为 $[0\\ 0\\ 0\\ |\\ 3]$，即 $0=3$，为矛盾行，直接判定无解；矩阵 $C$ 中，三行主元分别位于第1、2、3列，$r=3$，$n=3$，无矛盾行，故有唯一解。验收标准：主元位置准确、矛盾行识别无误、$r$ 与 $n$ 计算正确、解类型判断与逻辑一致。", "module_id": "learner_action", "module_instance_id": "tsb-ce9cb73a7c20", "planned_minutes": 2, "ppt_page_group_id": "L2-1-3:ppt-page-group:2", "summary": "任务条件：给定三个行阶梯形增广矩阵如下： A = begin{bmatrix} 1 &amp; 3 &amp; 0 &amp; 2 &amp; | &amp; 5 0 &amp; 0 &amp; 1 &amp; 1 &amp; | &amp; 4 0 &amp; 0 &amp; 0 &amp; 0 &amp; | &amp; 0 0 &amp; 0 &amp; 0 &amp; 0 ", "title": "学习者行动"}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cpu_a22f62f86e93aaf796d9ab27</a:t>
            </a:r>
          </a:p>
          <a:p/>
          <a:p>
            <a:r>
              <a:t>source_section_ids: []</a:t>
            </a:r>
          </a:p>
          <a:p/>
          <a:p>
            <a:r>
              <a:t>[tsb-b5a5e1da4d13 @ cbr_4ecd1efcf0e1420321108df4]</a:t>
            </a:r>
          </a:p>
          <a:p>
            <a:r>
              <a:t>source_kind: review_checkpoint</a:t>
            </a:r>
          </a:p>
          <a:p>
            <a:r>
              <a:t>asset_refs: []</a:t>
            </a:r>
          </a:p>
          <a:p>
            <a:r>
              <a:t>对行阶梯形增广矩阵，主元判定的核对标准是：在每一非零行中，从左至右找到第一个非零元素，且该元素所在列在下方所有行中均为零。参考结论：矩阵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3 &amp; 0 &amp; 2 &amp; | &amp; 5 \\</a:t>
            </a:r>
          </a:p>
          <a:p>
            <a:r>
              <a:t>0 &amp; 0 &amp; 1 &amp; -1 &amp; | &amp; 3 \\</a:t>
            </a:r>
          </a:p>
          <a:p>
            <a:r>
              <a:t>0 &amp; 0 &amp; 0 &amp; 0 &amp; | &amp; 0 \\</a:t>
            </a:r>
          </a:p>
          <a:p>
            <a:r>
              <a:t>0 &amp; 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</a:t>
            </a:r>
          </a:p>
          <a:p/>
          <a:p>
            <a:r>
              <a:t>矛盾行识别的核对标准是：是否存在形如 $[0\ 0\ \cdots\ 0\ |\ b]$ 且 $b \neq 0$ 的行。参考结论：矩阵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2 &amp; 4 &amp; | &amp; 1 \\</a:t>
            </a:r>
          </a:p>
          <a:p>
            <a:r>
              <a:t>0 &amp; 0 &amp; 0 &amp; | &amp; 1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的第二行构成矛盾式 $0=1$，判定无解。典型错误是忽略增广列，仅看系数部分全零即认为可接受；修正依据是增广列的非零值使方程无解，再次验证应检查整行是否为“全零左部 + 非零右部”。</a:t>
            </a:r>
          </a:p>
          <a:p/>
          <a:p>
            <a:r>
              <a:t>解类型判定的核对标准是：无矛盾行时，比较主元数 $r$ 与未知数个数 $n$（系数矩阵列数）。参考结论：矩阵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0 &amp; 0 &amp; | &amp; 2 \\</a:t>
            </a:r>
          </a:p>
          <a:p>
            <a:r>
              <a:t>0 &amp; 1 &amp; 0 &amp; | &amp; -1 \\</a:t>
            </a:r>
          </a:p>
          <a:p>
            <a:r>
              <a:t>0 &amp; 0 &amp; 1 &amp; | &amp; 4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中 $r=3, n=3$，有唯一解。典型错误是将增广列计入 $n$，误判 $n=4$ 导致误认为无穷解；修正依据是未知数仅对应系数部分，增广列仅表示常数项，再次验证应数系数矩阵列数，排除竖线右侧。</a:t>
            </a:r>
          </a:p>
          <a:p>
            <a:r>
              <a:t>source_payload: {"content_perspective": "teacher_delivery", "feedback_structure": {"mode": "static_reference", "schema_version": "course_feedback_v1", "sections": [{"collapsed_by_default": true, "kind": "guidance", "markdown": "对行阶梯形增广矩阵，主元判定的核对标准是：在每一非零行中，从左至右找到第一个非零元素，且该元素所在列在下方所有行中均为零。参考结论：矩阵  \n\n$$\n\\begin{bmatrix}\n1 &amp; 3 &amp; 0 &amp; 2 &amp; | &amp; 5 \\\\\n0 &amp; 0 &amp; 1 &amp; -1 &amp; | &amp; 3 \\\\\n0 &amp; 0 &amp; 0 &amp; 0 &amp; | &amp; 0 \\\\\n0 &amp; 0 &amp; 0 &amp; 0 &amp; | &amp; 0\n\\end{bmatrix}\n$$\n\n  \n的主元位于第1列和第3列，主元数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\n\n矛盾行识别的核对标准是：是否存在形如 $[0\\ 0\\ \\cdots\\ 0\\ |\\ b]$ 且 $b \\neq 0$ 的行。参考结论：矩阵  \n\n$$\n\\begin{bmatrix}\n1 &amp; 2 &amp; 4 &amp; | &amp; 1 \\\\\n0 &amp; 0 &amp; 0 &amp; | &amp; 1 \\\\\n0 &amp; 0 &amp; 0 &amp; | &amp; 0\n\\end{bmatrix}\n$$\n\n  \n的第二行构成矛盾式 $0=1$，判定无解。典型错误是忽略增广列，仅看系数部分全零即认为可接受；修正依据是增广列的非零值使方程无解，再次验证应检查整行是否为“全零左部 + 非零右部”。\n\n解类型判定的核对标准是：无矛盾行时，比较主元数 $r$ 与未知数个数 $n$（系数矩阵列数）。参考结论：矩阵  \n\n$$\n\\begin{bmatrix}\n1 &amp; 0 &amp; 0 &amp; | &amp; 2 \\\\\n0 &amp; 1 &amp; 0 &amp; | &amp; -1 \\\\\n0 &amp; 0 &amp; 1 &amp; | &amp; 4\n\\end{bmatrix}\n$$\n\n  \n中 $r=3, n=3$，有唯一解。典型错误是将增广列计入 $n$，误判 $n=4$ 导致误认为无穷解；修正依据是未知数仅对应系数部分，增广列仅表示常数项，再次验证应数系数矩阵列数，排除竖线右侧。", "section_id": "feedback-section-f53ac175437c", "summary": "对行阶梯形增广矩阵，主元判定的核对标准是：在每一非零行中，从左至右找到第一个非零元素，且该元素所在列在下方所有行中均为零。参考结论：矩阵 begin{bmatrix} 1 &amp; 3 &amp; 0 &amp; ", "title": "参考与检查"}], "source_fingerprint": "90921eb352cb439d5122d142"}, "knowledge_binding_status": null, "markdown": "对行阶梯形增广矩阵，主元判定的核对标准是：在每一非零行中，从左至右找到第一个非零元素，且该元素所在列在下方所有行中均为零。参考结论：矩阵  \n\n$$\n\\begin{bmatrix}\n1 &amp; 3 &amp; 0 &amp; 2 &amp; | &amp; 5 \\\\\n0 &amp; 0 &amp; 1 &amp; -1 &amp; | &amp; 3 \\\\\n0 &amp; 0 &amp; 0 &amp; 0 &amp; | &amp; 0 \\\\\n0 &amp; 0 &amp; 0 &amp; 0 &amp; | &amp; 0\n\\end{bmatrix}\n$$\n\n  \n的主元位于第1列和第3列，主元数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\n\n矛盾行识别的核对标准是：是否存在形如 $[0\\ 0\\ \\cdots\\ 0\\ |\\ b]$ 且 $b \\neq 0$ 的行。参考结论：矩阵  \n\n$$\n\\begin{bmatrix}\n1 &amp; 2 &amp; 4 &amp; | &amp; 1 \\\\\n0 &amp; 0 &amp; 0 &amp; | &amp; 1 \\\\\n0 &amp; 0 &amp; 0 &amp; | &amp; 0\n\\end{bmatrix}\n$$\n\n  \n的第二行构成矛盾式 $0=1$，判定无解。典型错误是忽略增广列，仅看系数部分全零即认为可接受；修正依据是增广列的非零值使方程无解，再次验证应检查整行是否为“全零左部 + 非零右部”。\n\n解类型判定的核对标准是：无矛盾行时，比较主元数 $r$ 与未知数个数 $n$（系数矩阵列数）。参考结论：矩阵  \n\n$$\n\\begin{bmatrix}\n1 &amp; 0 &amp; 0 &amp; | &amp; 2 \\\\\n0 &amp; 1 &amp; 0 &amp; | &amp; -1 \\\\\n0 &amp; 0 &amp; 1 &amp; | &amp; 4\n\\end{bmatrix}\n$$\n\n  \n中 $r=3, n=3$，有唯一解。典型错误是将增广列计入 $n$，误判 $n=4$ 导致误认为无穷解；修正依据是未知数仅对应系数部分，增广列仅表示常数项，再次验证应数系数矩阵列数，排除竖线右侧。", "module_id": "feedback_check", "module_instance_id": "tsb-b5a5e1da4d13", "planned_minutes": 2, "ppt_page_group_id": "L2-1-3:ppt-page-group:2", "summary": "对行阶梯形增广矩阵，主元判定的核对标准是：在每一非零行中，从左至右找到第一个非零元素，且该元素所在列在下方所有行中均为零。参考结论：矩阵 begin{bmatrix} 1 &amp; 3 &amp; 0 &amp; 2 &amp; | &amp; 5 0 &amp; 0 &amp; 1 &amp; 1 ", "title": "检查与反馈"}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cpu_a22f62f86e93aaf796d9ab27</a:t>
            </a:r>
          </a:p>
          <a:p/>
          <a:p>
            <a:r>
              <a:t>source_section_ids: []</a:t>
            </a:r>
          </a:p>
          <a:p/>
          <a:p>
            <a:r>
              <a:t>[tsb-b5a5e1da4d13 @ cbr_4ecd1efcf0e1420321108df4]</a:t>
            </a:r>
          </a:p>
          <a:p>
            <a:r>
              <a:t>source_kind: review_checkpoint</a:t>
            </a:r>
          </a:p>
          <a:p>
            <a:r>
              <a:t>asset_refs: []</a:t>
            </a:r>
          </a:p>
          <a:p>
            <a:r>
              <a:t>对行阶梯形增广矩阵，主元判定的核对标准是：在每一非零行中，从左至右找到第一个非零元素，且该元素所在列在下方所有行中均为零。参考结论：矩阵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3 &amp; 0 &amp; 2 &amp; | &amp; 5 \\</a:t>
            </a:r>
          </a:p>
          <a:p>
            <a:r>
              <a:t>0 &amp; 0 &amp; 1 &amp; -1 &amp; | &amp; 3 \\</a:t>
            </a:r>
          </a:p>
          <a:p>
            <a:r>
              <a:t>0 &amp; 0 &amp; 0 &amp; 0 &amp; | &amp; 0 \\</a:t>
            </a:r>
          </a:p>
          <a:p>
            <a:r>
              <a:t>0 &amp; 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</a:t>
            </a:r>
          </a:p>
          <a:p/>
          <a:p>
            <a:r>
              <a:t>矛盾行识别的核对标准是：是否存在形如 $[0\ 0\ \cdots\ 0\ |\ b]$ 且 $b \neq 0$ 的行。参考结论：矩阵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2 &amp; 4 &amp; | &amp; 1 \\</a:t>
            </a:r>
          </a:p>
          <a:p>
            <a:r>
              <a:t>0 &amp; 0 &amp; 0 &amp; | &amp; 1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的第二行构成矛盾式 $0=1$，判定无解。典型错误是忽略增广列，仅看系数部分全零即认为可接受；修正依据是增广列的非零值使方程无解，再次验证应检查整行是否为“全零左部 + 非零右部”。</a:t>
            </a:r>
          </a:p>
          <a:p/>
          <a:p>
            <a:r>
              <a:t>解类型判定的核对标准是：无矛盾行时，比较主元数 $r$ 与未知数个数 $n$（系数矩阵列数）。参考结论：矩阵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0 &amp; 0 &amp; | &amp; 2 \\</a:t>
            </a:r>
          </a:p>
          <a:p>
            <a:r>
              <a:t>0 &amp; 1 &amp; 0 &amp; | &amp; -1 \\</a:t>
            </a:r>
          </a:p>
          <a:p>
            <a:r>
              <a:t>0 &amp; 0 &amp; 1 &amp; | &amp; 4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中 $r=3, n=3$，有唯一解。典型错误是将增广列计入 $n$，误判 $n=4$ 导致误认为无穷解；修正依据是未知数仅对应系数部分，增广列仅表示常数项，再次验证应数系数矩阵列数，排除竖线右侧。</a:t>
            </a:r>
          </a:p>
          <a:p>
            <a:r>
              <a:t>source_payload: {"content_perspective": "teacher_delivery", "feedback_structure": {"mode": "static_reference", "schema_version": "course_feedback_v1", "sections": [{"collapsed_by_default": true, "kind": "guidance", "markdown": "对行阶梯形增广矩阵，主元判定的核对标准是：在每一非零行中，从左至右找到第一个非零元素，且该元素所在列在下方所有行中均为零。参考结论：矩阵  \n\n$$\n\\begin{bmatrix}\n1 &amp; 3 &amp; 0 &amp; 2 &amp; | &amp; 5 \\\\\n0 &amp; 0 &amp; 1 &amp; -1 &amp; | &amp; 3 \\\\\n0 &amp; 0 &amp; 0 &amp; 0 &amp; | &amp; 0 \\\\\n0 &amp; 0 &amp; 0 &amp; 0 &amp; | &amp; 0\n\\end{bmatrix}\n$$\n\n  \n的主元位于第1列和第3列，主元数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\n\n矛盾行识别的核对标准是：是否存在形如 $[0\\ 0\\ \\cdots\\ 0\\ |\\ b]$ 且 $b \\neq 0$ 的行。参考结论：矩阵  \n\n$$\n\\begin{bmatrix}\n1 &amp; 2 &amp; 4 &amp; | &amp; 1 \\\\\n0 &amp; 0 &amp; 0 &amp; | &amp; 1 \\\\\n0 &amp; 0 &amp; 0 &amp; | &amp; 0\n\\end{bmatrix}\n$$\n\n  \n的第二行构成矛盾式 $0=1$，判定无解。典型错误是忽略增广列，仅看系数部分全零即认为可接受；修正依据是增广列的非零值使方程无解，再次验证应检查整行是否为“全零左部 + 非零右部”。\n\n解类型判定的核对标准是：无矛盾行时，比较主元数 $r$ 与未知数个数 $n$（系数矩阵列数）。参考结论：矩阵  \n\n$$\n\\begin{bmatrix}\n1 &amp; 0 &amp; 0 &amp; | &amp; 2 \\\\\n0 &amp; 1 &amp; 0 &amp; | &amp; -1 \\\\\n0 &amp; 0 &amp; 1 &amp; | &amp; 4\n\\end{bmatrix}\n$$\n\n  \n中 $r=3, n=3$，有唯一解。典型错误是将增广列计入 $n$，误判 $n=4$ 导致误认为无穷解；修正依据是未知数仅对应系数部分，增广列仅表示常数项，再次验证应数系数矩阵列数，排除竖线右侧。", "section_id": "feedback-section-f53ac175437c", "summary": "对行阶梯形增广矩阵，主元判定的核对标准是：在每一非零行中，从左至右找到第一个非零元素，且该元素所在列在下方所有行中均为零。参考结论：矩阵 begin{bmatrix} 1 &amp; 3 &amp; 0 &amp; ", "title": "参考与检查"}], "source_fingerprint": "90921eb352cb439d5122d142"}, "knowledge_binding_status": null, "markdown": "对行阶梯形增广矩阵，主元判定的核对标准是：在每一非零行中，从左至右找到第一个非零元素，且该元素所在列在下方所有行中均为零。参考结论：矩阵  \n\n$$\n\\begin{bmatrix}\n1 &amp; 3 &amp; 0 &amp; 2 &amp; | &amp; 5 \\\\\n0 &amp; 0 &amp; 1 &amp; -1 &amp; | &amp; 3 \\\\\n0 &amp; 0 &amp; 0 &amp; 0 &amp; | &amp; 0 \\\\\n0 &amp; 0 &amp; 0 &amp; 0 &amp; | &amp; 0\n\\end{bmatrix}\n$$\n\n  \n的主元位于第1列和第3列，主元数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\n\n矛盾行识别的核对标准是：是否存在形如 $[0\\ 0\\ \\cdots\\ 0\\ |\\ b]$ 且 $b \\neq 0$ 的行。参考结论：矩阵  \n\n$$\n\\begin{bmatrix}\n1 &amp; 2 &amp; 4 &amp; | &amp; 1 \\\\\n0 &amp; 0 &amp; 0 &amp; | &amp; 1 \\\\\n0 &amp; 0 &amp; 0 &amp; | &amp; 0\n\\end{bmatrix}\n$$\n\n  \n的第二行构成矛盾式 $0=1$，判定无解。典型错误是忽略增广列，仅看系数部分全零即认为可接受；修正依据是增广列的非零值使方程无解，再次验证应检查整行是否为“全零左部 + 非零右部”。\n\n解类型判定的核对标准是：无矛盾行时，比较主元数 $r$ 与未知数个数 $n$（系数矩阵列数）。参考结论：矩阵  \n\n$$\n\\begin{bmatrix}\n1 &amp; 0 &amp; 0 &amp; | &amp; 2 \\\\\n0 &amp; 1 &amp; 0 &amp; | &amp; -1 \\\\\n0 &amp; 0 &amp; 1 &amp; | &amp; 4\n\\end{bmatrix}\n$$\n\n  \n中 $r=3, n=3$，有唯一解。典型错误是将增广列计入 $n$，误判 $n=4$ 导致误认为无穷解；修正依据是未知数仅对应系数部分，增广列仅表示常数项，再次验证应数系数矩阵列数，排除竖线右侧。", "module_id": "feedback_check", "module_instance_id": "tsb-b5a5e1da4d13", "planned_minutes": 2, "ppt_page_group_id": "L2-1-3:ppt-page-group:2", "summary": "对行阶梯形增广矩阵，主元判定的核对标准是：在每一非零行中，从左至右找到第一个非零元素，且该元素所在列在下方所有行中均为零。参考结论：矩阵 begin{bmatrix} 1 &amp; 3 &amp; 0 &amp; 2 &amp; | &amp; 5 0 &amp; 0 &amp; 1 &amp; 1 ", "title": "检查与反馈"}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cpu_a22f62f86e93aaf796d9ab27</a:t>
            </a:r>
          </a:p>
          <a:p/>
          <a:p>
            <a:r>
              <a:t>source_section_ids: []</a:t>
            </a:r>
          </a:p>
          <a:p/>
          <a:p>
            <a:r>
              <a:t>[tsb-b5a5e1da4d13 @ cbr_4ecd1efcf0e1420321108df4]</a:t>
            </a:r>
          </a:p>
          <a:p>
            <a:r>
              <a:t>source_kind: review_checkpoint</a:t>
            </a:r>
          </a:p>
          <a:p>
            <a:r>
              <a:t>asset_refs: []</a:t>
            </a:r>
          </a:p>
          <a:p>
            <a:r>
              <a:t>对行阶梯形增广矩阵，主元判定的核对标准是：在每一非零行中，从左至右找到第一个非零元素，且该元素所在列在下方所有行中均为零。参考结论：矩阵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3 &amp; 0 &amp; 2 &amp; | &amp; 5 \\</a:t>
            </a:r>
          </a:p>
          <a:p>
            <a:r>
              <a:t>0 &amp; 0 &amp; 1 &amp; -1 &amp; | &amp; 3 \\</a:t>
            </a:r>
          </a:p>
          <a:p>
            <a:r>
              <a:t>0 &amp; 0 &amp; 0 &amp; 0 &amp; | &amp; 0 \\</a:t>
            </a:r>
          </a:p>
          <a:p>
            <a:r>
              <a:t>0 &amp; 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</a:t>
            </a:r>
          </a:p>
          <a:p/>
          <a:p>
            <a:r>
              <a:t>矛盾行识别的核对标准是：是否存在形如 $[0\ 0\ \cdots\ 0\ |\ b]$ 且 $b \neq 0$ 的行。参考结论：矩阵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2 &amp; 4 &amp; | &amp; 1 \\</a:t>
            </a:r>
          </a:p>
          <a:p>
            <a:r>
              <a:t>0 &amp; 0 &amp; 0 &amp; | &amp; 1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的第二行构成矛盾式 $0=1$，判定无解。典型错误是忽略增广列，仅看系数部分全零即认为可接受；修正依据是增广列的非零值使方程无解，再次验证应检查整行是否为“全零左部 + 非零右部”。</a:t>
            </a:r>
          </a:p>
          <a:p/>
          <a:p>
            <a:r>
              <a:t>解类型判定的核对标准是：无矛盾行时，比较主元数 $r$ 与未知数个数 $n$（系数矩阵列数）。参考结论：矩阵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0 &amp; 0 &amp; | &amp; 2 \\</a:t>
            </a:r>
          </a:p>
          <a:p>
            <a:r>
              <a:t>0 &amp; 1 &amp; 0 &amp; | &amp; -1 \\</a:t>
            </a:r>
          </a:p>
          <a:p>
            <a:r>
              <a:t>0 &amp; 0 &amp; 1 &amp; | &amp; 4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中 $r=3, n=3$，有唯一解。典型错误是将增广列计入 $n$，误判 $n=4$ 导致误认为无穷解；修正依据是未知数仅对应系数部分，增广列仅表示常数项，再次验证应数系数矩阵列数，排除竖线右侧。</a:t>
            </a:r>
          </a:p>
          <a:p>
            <a:r>
              <a:t>source_payload: {"content_perspective": "teacher_delivery", "feedback_structure": {"mode": "static_reference", "schema_version": "course_feedback_v1", "sections": [{"collapsed_by_default": true, "kind": "guidance", "markdown": "对行阶梯形增广矩阵，主元判定的核对标准是：在每一非零行中，从左至右找到第一个非零元素，且该元素所在列在下方所有行中均为零。参考结论：矩阵  \n\n$$\n\\begin{bmatrix}\n1 &amp; 3 &amp; 0 &amp; 2 &amp; | &amp; 5 \\\\\n0 &amp; 0 &amp; 1 &amp; -1 &amp; | &amp; 3 \\\\\n0 &amp; 0 &amp; 0 &amp; 0 &amp; | &amp; 0 \\\\\n0 &amp; 0 &amp; 0 &amp; 0 &amp; | &amp; 0\n\\end{bmatrix}\n$$\n\n  \n的主元位于第1列和第3列，主元数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\n\n矛盾行识别的核对标准是：是否存在形如 $[0\\ 0\\ \\cdots\\ 0\\ |\\ b]$ 且 $b \\neq 0$ 的行。参考结论：矩阵  \n\n$$\n\\begin{bmatrix}\n1 &amp; 2 &amp; 4 &amp; | &amp; 1 \\\\\n0 &amp; 0 &amp; 0 &amp; | &amp; 1 \\\\\n0 &amp; 0 &amp; 0 &amp; | &amp; 0\n\\end{bmatrix}\n$$\n\n  \n的第二行构成矛盾式 $0=1$，判定无解。典型错误是忽略增广列，仅看系数部分全零即认为可接受；修正依据是增广列的非零值使方程无解，再次验证应检查整行是否为“全零左部 + 非零右部”。\n\n解类型判定的核对标准是：无矛盾行时，比较主元数 $r$ 与未知数个数 $n$（系数矩阵列数）。参考结论：矩阵  \n\n$$\n\\begin{bmatrix}\n1 &amp; 0 &amp; 0 &amp; | &amp; 2 \\\\\n0 &amp; 1 &amp; 0 &amp; | &amp; -1 \\\\\n0 &amp; 0 &amp; 1 &amp; | &amp; 4\n\\end{bmatrix}\n$$\n\n  \n中 $r=3, n=3$，有唯一解。典型错误是将增广列计入 $n$，误判 $n=4$ 导致误认为无穷解；修正依据是未知数仅对应系数部分，增广列仅表示常数项，再次验证应数系数矩阵列数，排除竖线右侧。", "section_id": "feedback-section-f53ac175437c", "summary": "对行阶梯形增广矩阵，主元判定的核对标准是：在每一非零行中，从左至右找到第一个非零元素，且该元素所在列在下方所有行中均为零。参考结论：矩阵 begin{bmatrix} 1 &amp; 3 &amp; 0 &amp; ", "title": "参考与检查"}], "source_fingerprint": "90921eb352cb439d5122d142"}, "knowledge_binding_status": null, "markdown": "对行阶梯形增广矩阵，主元判定的核对标准是：在每一非零行中，从左至右找到第一个非零元素，且该元素所在列在下方所有行中均为零。参考结论：矩阵  \n\n$$\n\\begin{bmatrix}\n1 &amp; 3 &amp; 0 &amp; 2 &amp; | &amp; 5 \\\\\n0 &amp; 0 &amp; 1 &amp; -1 &amp; | &amp; 3 \\\\\n0 &amp; 0 &amp; 0 &amp; 0 &amp; | &amp; 0 \\\\\n0 &amp; 0 &amp; 0 &amp; 0 &amp; | &amp; 0\n\\end{bmatrix}\n$$\n\n  \n的主元位于第1列和第3列，主元数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\n\n矛盾行识别的核对标准是：是否存在形如 $[0\\ 0\\ \\cdots\\ 0\\ |\\ b]$ 且 $b \\neq 0$ 的行。参考结论：矩阵  \n\n$$\n\\begin{bmatrix}\n1 &amp; 2 &amp; 4 &amp; | &amp; 1 \\\\\n0 &amp; 0 &amp; 0 &amp; | &amp; 1 \\\\\n0 &amp; 0 &amp; 0 &amp; | &amp; 0\n\\end{bmatrix}\n$$\n\n  \n的第二行构成矛盾式 $0=1$，判定无解。典型错误是忽略增广列，仅看系数部分全零即认为可接受；修正依据是增广列的非零值使方程无解，再次验证应检查整行是否为“全零左部 + 非零右部”。\n\n解类型判定的核对标准是：无矛盾行时，比较主元数 $r$ 与未知数个数 $n$（系数矩阵列数）。参考结论：矩阵  \n\n$$\n\\begin{bmatrix}\n1 &amp; 0 &amp; 0 &amp; | &amp; 2 \\\\\n0 &amp; 1 &amp; 0 &amp; | &amp; -1 \\\\\n0 &amp; 0 &amp; 1 &amp; | &amp; 4\n\\end{bmatrix}\n$$\n\n  \n中 $r=3, n=3$，有唯一解。典型错误是将增广列计入 $n$，误判 $n=4$ 导致误认为无穷解；修正依据是未知数仅对应系数部分，增广列仅表示常数项，再次验证应数系数矩阵列数，排除竖线右侧。", "module_id": "feedback_check", "module_instance_id": "tsb-b5a5e1da4d13", "planned_minutes": 2, "ppt_page_group_id": "L2-1-3:ppt-page-group:2", "summary": "对行阶梯形增广矩阵，主元判定的核对标准是：在每一非零行中，从左至右找到第一个非零元素，且该元素所在列在下方所有行中均为零。参考结论：矩阵 begin{bmatrix} 1 &amp; 3 &amp; 0 &amp; 2 &amp; | &amp; 5 0 &amp; 0 &amp; 1 &amp; 1 ", "title": "检查与反馈"}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cpu_a22f62f86e93aaf796d9ab27</a:t>
            </a:r>
          </a:p>
          <a:p/>
          <a:p>
            <a:r>
              <a:t>source_section_ids: []</a:t>
            </a:r>
          </a:p>
          <a:p/>
          <a:p>
            <a:r>
              <a:t>[tsb-b5a5e1da4d13 @ cbr_4ecd1efcf0e1420321108df4]</a:t>
            </a:r>
          </a:p>
          <a:p>
            <a:r>
              <a:t>source_kind: review_checkpoint</a:t>
            </a:r>
          </a:p>
          <a:p>
            <a:r>
              <a:t>asset_refs: []</a:t>
            </a:r>
          </a:p>
          <a:p>
            <a:r>
              <a:t>对行阶梯形增广矩阵，主元判定的核对标准是：在每一非零行中，从左至右找到第一个非零元素，且该元素所在列在下方所有行中均为零。参考结论：矩阵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3 &amp; 0 &amp; 2 &amp; | &amp; 5 \\</a:t>
            </a:r>
          </a:p>
          <a:p>
            <a:r>
              <a:t>0 &amp; 0 &amp; 1 &amp; -1 &amp; | &amp; 3 \\</a:t>
            </a:r>
          </a:p>
          <a:p>
            <a:r>
              <a:t>0 &amp; 0 &amp; 0 &amp; 0 &amp; | &amp; 0 \\</a:t>
            </a:r>
          </a:p>
          <a:p>
            <a:r>
              <a:t>0 &amp; 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</a:t>
            </a:r>
          </a:p>
          <a:p/>
          <a:p>
            <a:r>
              <a:t>矛盾行识别的核对标准是：是否存在形如 $[0\ 0\ \cdots\ 0\ |\ b]$ 且 $b \neq 0$ 的行。参考结论：矩阵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2 &amp; 4 &amp; | &amp; 1 \\</a:t>
            </a:r>
          </a:p>
          <a:p>
            <a:r>
              <a:t>0 &amp; 0 &amp; 0 &amp; | &amp; 1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的第二行构成矛盾式 $0=1$，判定无解。典型错误是忽略增广列，仅看系数部分全零即认为可接受；修正依据是增广列的非零值使方程无解，再次验证应检查整行是否为“全零左部 + 非零右部”。</a:t>
            </a:r>
          </a:p>
          <a:p/>
          <a:p>
            <a:r>
              <a:t>解类型判定的核对标准是：无矛盾行时，比较主元数 $r$ 与未知数个数 $n$（系数矩阵列数）。参考结论：矩阵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0 &amp; 0 &amp; | &amp; 2 \\</a:t>
            </a:r>
          </a:p>
          <a:p>
            <a:r>
              <a:t>0 &amp; 1 &amp; 0 &amp; | &amp; -1 \\</a:t>
            </a:r>
          </a:p>
          <a:p>
            <a:r>
              <a:t>0 &amp; 0 &amp; 1 &amp; | &amp; 4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中 $r=3, n=3$，有唯一解。典型错误是将增广列计入 $n$，误判 $n=4$ 导致误认为无穷解；修正依据是未知数仅对应系数部分，增广列仅表示常数项，再次验证应数系数矩阵列数，排除竖线右侧。</a:t>
            </a:r>
          </a:p>
          <a:p>
            <a:r>
              <a:t>source_payload: {"content_perspective": "teacher_delivery", "feedback_structure": {"mode": "static_reference", "schema_version": "course_feedback_v1", "sections": [{"collapsed_by_default": true, "kind": "guidance", "markdown": "对行阶梯形增广矩阵，主元判定的核对标准是：在每一非零行中，从左至右找到第一个非零元素，且该元素所在列在下方所有行中均为零。参考结论：矩阵  \n\n$$\n\\begin{bmatrix}\n1 &amp; 3 &amp; 0 &amp; 2 &amp; | &amp; 5 \\\\\n0 &amp; 0 &amp; 1 &amp; -1 &amp; | &amp; 3 \\\\\n0 &amp; 0 &amp; 0 &amp; 0 &amp; | &amp; 0 \\\\\n0 &amp; 0 &amp; 0 &amp; 0 &amp; | &amp; 0\n\\end{bmatrix}\n$$\n\n  \n的主元位于第1列和第3列，主元数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\n\n矛盾行识别的核对标准是：是否存在形如 $[0\\ 0\\ \\cdots\\ 0\\ |\\ b]$ 且 $b \\neq 0$ 的行。参考结论：矩阵  \n\n$$\n\\begin{bmatrix}\n1 &amp; 2 &amp; 4 &amp; | &amp; 1 \\\\\n0 &amp; 0 &amp; 0 &amp; | &amp; 1 \\\\\n0 &amp; 0 &amp; 0 &amp; | &amp; 0\n\\end{bmatrix}\n$$\n\n  \n的第二行构成矛盾式 $0=1$，判定无解。典型错误是忽略增广列，仅看系数部分全零即认为可接受；修正依据是增广列的非零值使方程无解，再次验证应检查整行是否为“全零左部 + 非零右部”。\n\n解类型判定的核对标准是：无矛盾行时，比较主元数 $r$ 与未知数个数 $n$（系数矩阵列数）。参考结论：矩阵  \n\n$$\n\\begin{bmatrix}\n1 &amp; 0 &amp; 0 &amp; | &amp; 2 \\\\\n0 &amp; 1 &amp; 0 &amp; | &amp; -1 \\\\\n0 &amp; 0 &amp; 1 &amp; | &amp; 4\n\\end{bmatrix}\n$$\n\n  \n中 $r=3, n=3$，有唯一解。典型错误是将增广列计入 $n$，误判 $n=4$ 导致误认为无穷解；修正依据是未知数仅对应系数部分，增广列仅表示常数项，再次验证应数系数矩阵列数，排除竖线右侧。", "section_id": "feedback-section-f53ac175437c", "summary": "对行阶梯形增广矩阵，主元判定的核对标准是：在每一非零行中，从左至右找到第一个非零元素，且该元素所在列在下方所有行中均为零。参考结论：矩阵 begin{bmatrix} 1 &amp; 3 &amp; 0 &amp; ", "title": "参考与检查"}], "source_fingerprint": "90921eb352cb439d5122d142"}, "knowledge_binding_status": null, "markdown": "对行阶梯形增广矩阵，主元判定的核对标准是：在每一非零行中，从左至右找到第一个非零元素，且该元素所在列在下方所有行中均为零。参考结论：矩阵  \n\n$$\n\\begin{bmatrix}\n1 &amp; 3 &amp; 0 &amp; 2 &amp; | &amp; 5 \\\\\n0 &amp; 0 &amp; 1 &amp; -1 &amp; | &amp; 3 \\\\\n0 &amp; 0 &amp; 0 &amp; 0 &amp; | &amp; 0 \\\\\n0 &amp; 0 &amp; 0 &amp; 0 &amp; | &amp; 0\n\\end{bmatrix}\n$$\n\n  \n的主元位于第1列和第3列，主元数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\n\n矛盾行识别的核对标准是：是否存在形如 $[0\\ 0\\ \\cdots\\ 0\\ |\\ b]$ 且 $b \\neq 0$ 的行。参考结论：矩阵  \n\n$$\n\\begin{bmatrix}\n1 &amp; 2 &amp; 4 &amp; | &amp; 1 \\\\\n0 &amp; 0 &amp; 0 &amp; | &amp; 1 \\\\\n0 &amp; 0 &amp; 0 &amp; | &amp; 0\n\\end{bmatrix}\n$$\n\n  \n的第二行构成矛盾式 $0=1$，判定无解。典型错误是忽略增广列，仅看系数部分全零即认为可接受；修正依据是增广列的非零值使方程无解，再次验证应检查整行是否为“全零左部 + 非零右部”。\n\n解类型判定的核对标准是：无矛盾行时，比较主元数 $r$ 与未知数个数 $n$（系数矩阵列数）。参考结论：矩阵  \n\n$$\n\\begin{bmatrix}\n1 &amp; 0 &amp; 0 &amp; | &amp; 2 \\\\\n0 &amp; 1 &amp; 0 &amp; | &amp; -1 \\\\\n0 &amp; 0 &amp; 1 &amp; | &amp; 4\n\\end{bmatrix}\n$$\n\n  \n中 $r=3, n=3$，有唯一解。典型错误是将增广列计入 $n$，误判 $n=4$ 导致误认为无穷解；修正依据是未知数仅对应系数部分，增广列仅表示常数项，再次验证应数系数矩阵列数，排除竖线右侧。", "module_id": "feedback_check", "module_instance_id": "tsb-b5a5e1da4d13", "planned_minutes": 2, "ppt_page_group_id": "L2-1-3:ppt-page-group:2", "summary": "对行阶梯形增广矩阵，主元判定的核对标准是：在每一非零行中，从左至右找到第一个非零元素，且该元素所在列在下方所有行中均为零。参考结论：矩阵 begin{bmatrix} 1 &amp; 3 &amp; 0 &amp; 2 &amp; | &amp; 5 0 &amp; 0 &amp; 1 &amp; 1 ", "title": "检查与反馈"}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cpu_a22f62f86e93aaf796d9ab27</a:t>
            </a:r>
          </a:p>
          <a:p/>
          <a:p>
            <a:r>
              <a:t>source_section_ids: []</a:t>
            </a:r>
          </a:p>
          <a:p/>
          <a:p>
            <a:r>
              <a:t>[tsb-b5a5e1da4d13 @ cbr_4ecd1efcf0e1420321108df4]</a:t>
            </a:r>
          </a:p>
          <a:p>
            <a:r>
              <a:t>source_kind: review_checkpoint</a:t>
            </a:r>
          </a:p>
          <a:p>
            <a:r>
              <a:t>asset_refs: []</a:t>
            </a:r>
          </a:p>
          <a:p>
            <a:r>
              <a:t>对行阶梯形增广矩阵，主元判定的核对标准是：在每一非零行中，从左至右找到第一个非零元素，且该元素所在列在下方所有行中均为零。参考结论：矩阵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3 &amp; 0 &amp; 2 &amp; | &amp; 5 \\</a:t>
            </a:r>
          </a:p>
          <a:p>
            <a:r>
              <a:t>0 &amp; 0 &amp; 1 &amp; -1 &amp; | &amp; 3 \\</a:t>
            </a:r>
          </a:p>
          <a:p>
            <a:r>
              <a:t>0 &amp; 0 &amp; 0 &amp; 0 &amp; | &amp; 0 \\</a:t>
            </a:r>
          </a:p>
          <a:p>
            <a:r>
              <a:t>0 &amp; 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</a:t>
            </a:r>
          </a:p>
          <a:p/>
          <a:p>
            <a:r>
              <a:t>矛盾行识别的核对标准是：是否存在形如 $[0\ 0\ \cdots\ 0\ |\ b]$ 且 $b \neq 0$ 的行。参考结论：矩阵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2 &amp; 4 &amp; | &amp; 1 \\</a:t>
            </a:r>
          </a:p>
          <a:p>
            <a:r>
              <a:t>0 &amp; 0 &amp; 0 &amp; | &amp; 1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的第二行构成矛盾式 $0=1$，判定无解。典型错误是忽略增广列，仅看系数部分全零即认为可接受；修正依据是增广列的非零值使方程无解，再次验证应检查整行是否为“全零左部 + 非零右部”。</a:t>
            </a:r>
          </a:p>
          <a:p/>
          <a:p>
            <a:r>
              <a:t>解类型判定的核对标准是：无矛盾行时，比较主元数 $r$ 与未知数个数 $n$（系数矩阵列数）。参考结论：矩阵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0 &amp; 0 &amp; | &amp; 2 \\</a:t>
            </a:r>
          </a:p>
          <a:p>
            <a:r>
              <a:t>0 &amp; 1 &amp; 0 &amp; | &amp; -1 \\</a:t>
            </a:r>
          </a:p>
          <a:p>
            <a:r>
              <a:t>0 &amp; 0 &amp; 1 &amp; | &amp; 4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中 $r=3, n=3$，有唯一解。典型错误是将增广列计入 $n$，误判 $n=4$ 导致误认为无穷解；修正依据是未知数仅对应系数部分，增广列仅表示常数项，再次验证应数系数矩阵列数，排除竖线右侧。</a:t>
            </a:r>
          </a:p>
          <a:p>
            <a:r>
              <a:t>source_payload: {"content_perspective": "teacher_delivery", "feedback_structure": {"mode": "static_reference", "schema_version": "course_feedback_v1", "sections": [{"collapsed_by_default": true, "kind": "guidance", "markdown": "对行阶梯形增广矩阵，主元判定的核对标准是：在每一非零行中，从左至右找到第一个非零元素，且该元素所在列在下方所有行中均为零。参考结论：矩阵  \n\n$$\n\\begin{bmatrix}\n1 &amp; 3 &amp; 0 &amp; 2 &amp; | &amp; 5 \\\\\n0 &amp; 0 &amp; 1 &amp; -1 &amp; | &amp; 3 \\\\\n0 &amp; 0 &amp; 0 &amp; 0 &amp; | &amp; 0 \\\\\n0 &amp; 0 &amp; 0 &amp; 0 &amp; | &amp; 0\n\\end{bmatrix}\n$$\n\n  \n的主元位于第1列和第3列，主元数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\n\n矛盾行识别的核对标准是：是否存在形如 $[0\\ 0\\ \\cdots\\ 0\\ |\\ b]$ 且 $b \\neq 0$ 的行。参考结论：矩阵  \n\n$$\n\\begin{bmatrix}\n1 &amp; 2 &amp; 4 &amp; | &amp; 1 \\\\\n0 &amp; 0 &amp; 0 &amp; | &amp; 1 \\\\\n0 &amp; 0 &amp; 0 &amp; | &amp; 0\n\\end{bmatrix}\n$$\n\n  \n的第二行构成矛盾式 $0=1$，判定无解。典型错误是忽略增广列，仅看系数部分全零即认为可接受；修正依据是增广列的非零值使方程无解，再次验证应检查整行是否为“全零左部 + 非零右部”。\n\n解类型判定的核对标准是：无矛盾行时，比较主元数 $r$ 与未知数个数 $n$（系数矩阵列数）。参考结论：矩阵  \n\n$$\n\\begin{bmatrix}\n1 &amp; 0 &amp; 0 &amp; | &amp; 2 \\\\\n0 &amp; 1 &amp; 0 &amp; | &amp; -1 \\\\\n0 &amp; 0 &amp; 1 &amp; | &amp; 4\n\\end{bmatrix}\n$$\n\n  \n中 $r=3, n=3$，有唯一解。典型错误是将增广列计入 $n$，误判 $n=4$ 导致误认为无穷解；修正依据是未知数仅对应系数部分，增广列仅表示常数项，再次验证应数系数矩阵列数，排除竖线右侧。", "section_id": "feedback-section-f53ac175437c", "summary": "对行阶梯形增广矩阵，主元判定的核对标准是：在每一非零行中，从左至右找到第一个非零元素，且该元素所在列在下方所有行中均为零。参考结论：矩阵 begin{bmatrix} 1 &amp; 3 &amp; 0 &amp; ", "title": "参考与检查"}], "source_fingerprint": "90921eb352cb439d5122d142"}, "knowledge_binding_status": null, "markdown": "对行阶梯形增广矩阵，主元判定的核对标准是：在每一非零行中，从左至右找到第一个非零元素，且该元素所在列在下方所有行中均为零。参考结论：矩阵  \n\n$$\n\\begin{bmatrix}\n1 &amp; 3 &amp; 0 &amp; 2 &amp; | &amp; 5 \\\\\n0 &amp; 0 &amp; 1 &amp; -1 &amp; | &amp; 3 \\\\\n0 &amp; 0 &amp; 0 &amp; 0 &amp; | &amp; 0 \\\\\n0 &amp; 0 &amp; 0 &amp; 0 &amp; | &amp; 0\n\\end{bmatrix}\n$$\n\n  \n的主元位于第1列和第3列，主元数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\n\n矛盾行识别的核对标准是：是否存在形如 $[0\\ 0\\ \\cdots\\ 0\\ |\\ b]$ 且 $b \\neq 0$ 的行。参考结论：矩阵  \n\n$$\n\\begin{bmatrix}\n1 &amp; 2 &amp; 4 &amp; | &amp; 1 \\\\\n0 &amp; 0 &amp; 0 &amp; | &amp; 1 \\\\\n0 &amp; 0 &amp; 0 &amp; | &amp; 0\n\\end{bmatrix}\n$$\n\n  \n的第二行构成矛盾式 $0=1$，判定无解。典型错误是忽略增广列，仅看系数部分全零即认为可接受；修正依据是增广列的非零值使方程无解，再次验证应检查整行是否为“全零左部 + 非零右部”。\n\n解类型判定的核对标准是：无矛盾行时，比较主元数 $r$ 与未知数个数 $n$（系数矩阵列数）。参考结论：矩阵  \n\n$$\n\\begin{bmatrix}\n1 &amp; 0 &amp; 0 &amp; | &amp; 2 \\\\\n0 &amp; 1 &amp; 0 &amp; | &amp; -1 \\\\\n0 &amp; 0 &amp; 1 &amp; | &amp; 4\n\\end{bmatrix}\n$$\n\n  \n中 $r=3, n=3$，有唯一解。典型错误是将增广列计入 $n$，误判 $n=4$ 导致误认为无穷解；修正依据是未知数仅对应系数部分，增广列仅表示常数项，再次验证应数系数矩阵列数，排除竖线右侧。", "module_id": "feedback_check", "module_instance_id": "tsb-b5a5e1da4d13", "planned_minutes": 2, "ppt_page_group_id": "L2-1-3:ppt-page-group:2", "summary": "对行阶梯形增广矩阵，主元判定的核对标准是：在每一非零行中，从左至右找到第一个非零元素，且该元素所在列在下方所有行中均为零。参考结论：矩阵 begin{bmatrix} 1 &amp; 3 &amp; 0 &amp; 2 &amp; | &amp; 5 0 &amp; 0 &amp; 1 &amp; 1 ", "title": "检查与反馈"}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cpu_a22f62f86e93aaf796d9ab27</a:t>
            </a:r>
          </a:p>
          <a:p/>
          <a:p>
            <a:r>
              <a:t>source_section_ids: []</a:t>
            </a:r>
          </a:p>
          <a:p/>
          <a:p>
            <a:r>
              <a:t>[tsb-b5a5e1da4d13 @ cbr_4ecd1efcf0e1420321108df4]</a:t>
            </a:r>
          </a:p>
          <a:p>
            <a:r>
              <a:t>source_kind: review_checkpoint</a:t>
            </a:r>
          </a:p>
          <a:p>
            <a:r>
              <a:t>asset_refs: []</a:t>
            </a:r>
          </a:p>
          <a:p>
            <a:r>
              <a:t>对行阶梯形增广矩阵，主元判定的核对标准是：在每一非零行中，从左至右找到第一个非零元素，且该元素所在列在下方所有行中均为零。参考结论：矩阵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3 &amp; 0 &amp; 2 &amp; | &amp; 5 \\</a:t>
            </a:r>
          </a:p>
          <a:p>
            <a:r>
              <a:t>0 &amp; 0 &amp; 1 &amp; -1 &amp; | &amp; 3 \\</a:t>
            </a:r>
          </a:p>
          <a:p>
            <a:r>
              <a:t>0 &amp; 0 &amp; 0 &amp; 0 &amp; | &amp; 0 \\</a:t>
            </a:r>
          </a:p>
          <a:p>
            <a:r>
              <a:t>0 &amp; 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</a:t>
            </a:r>
          </a:p>
          <a:p/>
          <a:p>
            <a:r>
              <a:t>矛盾行识别的核对标准是：是否存在形如 $[0\ 0\ \cdots\ 0\ |\ b]$ 且 $b \neq 0$ 的行。参考结论：矩阵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2 &amp; 4 &amp; | &amp; 1 \\</a:t>
            </a:r>
          </a:p>
          <a:p>
            <a:r>
              <a:t>0 &amp; 0 &amp; 0 &amp; | &amp; 1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的第二行构成矛盾式 $0=1$，判定无解。典型错误是忽略增广列，仅看系数部分全零即认为可接受；修正依据是增广列的非零值使方程无解，再次验证应检查整行是否为“全零左部 + 非零右部”。</a:t>
            </a:r>
          </a:p>
          <a:p/>
          <a:p>
            <a:r>
              <a:t>解类型判定的核对标准是：无矛盾行时，比较主元数 $r$ 与未知数个数 $n$（系数矩阵列数）。参考结论：矩阵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0 &amp; 0 &amp; | &amp; 2 \\</a:t>
            </a:r>
          </a:p>
          <a:p>
            <a:r>
              <a:t>0 &amp; 1 &amp; 0 &amp; | &amp; -1 \\</a:t>
            </a:r>
          </a:p>
          <a:p>
            <a:r>
              <a:t>0 &amp; 0 &amp; 1 &amp; | &amp; 4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中 $r=3, n=3$，有唯一解。典型错误是将增广列计入 $n$，误判 $n=4$ 导致误认为无穷解；修正依据是未知数仅对应系数部分，增广列仅表示常数项，再次验证应数系数矩阵列数，排除竖线右侧。</a:t>
            </a:r>
          </a:p>
          <a:p>
            <a:r>
              <a:t>source_payload: {"content_perspective": "teacher_delivery", "feedback_structure": {"mode": "static_reference", "schema_version": "course_feedback_v1", "sections": [{"collapsed_by_default": true, "kind": "guidance", "markdown": "对行阶梯形增广矩阵，主元判定的核对标准是：在每一非零行中，从左至右找到第一个非零元素，且该元素所在列在下方所有行中均为零。参考结论：矩阵  \n\n$$\n\\begin{bmatrix}\n1 &amp; 3 &amp; 0 &amp; 2 &amp; | &amp; 5 \\\\\n0 &amp; 0 &amp; 1 &amp; -1 &amp; | &amp; 3 \\\\\n0 &amp; 0 &amp; 0 &amp; 0 &amp; | &amp; 0 \\\\\n0 &amp; 0 &amp; 0 &amp; 0 &amp; | &amp; 0\n\\end{bmatrix}\n$$\n\n  \n的主元位于第1列和第3列，主元数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\n\n矛盾行识别的核对标准是：是否存在形如 $[0\\ 0\\ \\cdots\\ 0\\ |\\ b]$ 且 $b \\neq 0$ 的行。参考结论：矩阵  \n\n$$\n\\begin{bmatrix}\n1 &amp; 2 &amp; 4 &amp; | &amp; 1 \\\\\n0 &amp; 0 &amp; 0 &amp; | &amp; 1 \\\\\n0 &amp; 0 &amp; 0 &amp; | &amp; 0\n\\end{bmatrix}\n$$\n\n  \n的第二行构成矛盾式 $0=1$，判定无解。典型错误是忽略增广列，仅看系数部分全零即认为可接受；修正依据是增广列的非零值使方程无解，再次验证应检查整行是否为“全零左部 + 非零右部”。\n\n解类型判定的核对标准是：无矛盾行时，比较主元数 $r$ 与未知数个数 $n$（系数矩阵列数）。参考结论：矩阵  \n\n$$\n\\begin{bmatrix}\n1 &amp; 0 &amp; 0 &amp; | &amp; 2 \\\\\n0 &amp; 1 &amp; 0 &amp; | &amp; -1 \\\\\n0 &amp; 0 &amp; 1 &amp; | &amp; 4\n\\end{bmatrix}\n$$\n\n  \n中 $r=3, n=3$，有唯一解。典型错误是将增广列计入 $n$，误判 $n=4$ 导致误认为无穷解；修正依据是未知数仅对应系数部分，增广列仅表示常数项，再次验证应数系数矩阵列数，排除竖线右侧。", "section_id": "feedback-section-f53ac175437c", "summary": "对行阶梯形增广矩阵，主元判定的核对标准是：在每一非零行中，从左至右找到第一个非零元素，且该元素所在列在下方所有行中均为零。参考结论：矩阵 begin{bmatrix} 1 &amp; 3 &amp; 0 &amp; ", "title": "参考与检查"}], "source_fingerprint": "90921eb352cb439d5122d142"}, "knowledge_binding_status": null, "markdown": "对行阶梯形增广矩阵，主元判定的核对标准是：在每一非零行中，从左至右找到第一个非零元素，且该元素所在列在下方所有行中均为零。参考结论：矩阵  \n\n$$\n\\begin{bmatrix}\n1 &amp; 3 &amp; 0 &amp; 2 &amp; | &amp; 5 \\\\\n0 &amp; 0 &amp; 1 &amp; -1 &amp; | &amp; 3 \\\\\n0 &amp; 0 &amp; 0 &amp; 0 &amp; | &amp; 0 \\\\\n0 &amp; 0 &amp; 0 &amp; 0 &amp; | &amp; 0\n\\end{bmatrix}\n$$\n\n  \n的主元位于第1列和第3列，主元数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\n\n矛盾行识别的核对标准是：是否存在形如 $[0\\ 0\\ \\cdots\\ 0\\ |\\ b]$ 且 $b \\neq 0$ 的行。参考结论：矩阵  \n\n$$\n\\begin{bmatrix}\n1 &amp; 2 &amp; 4 &amp; | &amp; 1 \\\\\n0 &amp; 0 &amp; 0 &amp; | &amp; 1 \\\\\n0 &amp; 0 &amp; 0 &amp; | &amp; 0\n\\end{bmatrix}\n$$\n\n  \n的第二行构成矛盾式 $0=1$，判定无解。典型错误是忽略增广列，仅看系数部分全零即认为可接受；修正依据是增广列的非零值使方程无解，再次验证应检查整行是否为“全零左部 + 非零右部”。\n\n解类型判定的核对标准是：无矛盾行时，比较主元数 $r$ 与未知数个数 $n$（系数矩阵列数）。参考结论：矩阵  \n\n$$\n\\begin{bmatrix}\n1 &amp; 0 &amp; 0 &amp; | &amp; 2 \\\\\n0 &amp; 1 &amp; 0 &amp; | &amp; -1 \\\\\n0 &amp; 0 &amp; 1 &amp; | &amp; 4\n\\end{bmatrix}\n$$\n\n  \n中 $r=3, n=3$，有唯一解。典型错误是将增广列计入 $n$，误判 $n=4$ 导致误认为无穷解；修正依据是未知数仅对应系数部分，增广列仅表示常数项，再次验证应数系数矩阵列数，排除竖线右侧。", "module_id": "feedback_check", "module_instance_id": "tsb-b5a5e1da4d13", "planned_minutes": 2, "ppt_page_group_id": "L2-1-3:ppt-page-group:2", "summary": "对行阶梯形增广矩阵，主元判定的核对标准是：在每一非零行中，从左至右找到第一个非零元素，且该元素所在列在下方所有行中均为零。参考结论：矩阵 begin{bmatrix} 1 &amp; 3 &amp; 0 &amp; 2 &amp; | &amp; 5 0 &amp; 0 &amp; 1 &amp; 1 ", "title": "检查与反馈"}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cpu_a22f62f86e93aaf796d9ab27</a:t>
            </a:r>
          </a:p>
          <a:p/>
          <a:p>
            <a:r>
              <a:t>source_section_ids: []</a:t>
            </a:r>
          </a:p>
          <a:p/>
          <a:p>
            <a:r>
              <a:t>[tsb-b5a5e1da4d13 @ cbr_4ecd1efcf0e1420321108df4]</a:t>
            </a:r>
          </a:p>
          <a:p>
            <a:r>
              <a:t>source_kind: review_checkpoint</a:t>
            </a:r>
          </a:p>
          <a:p>
            <a:r>
              <a:t>asset_refs: []</a:t>
            </a:r>
          </a:p>
          <a:p>
            <a:r>
              <a:t>对行阶梯形增广矩阵，主元判定的核对标准是：在每一非零行中，从左至右找到第一个非零元素，且该元素所在列在下方所有行中均为零。参考结论：矩阵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3 &amp; 0 &amp; 2 &amp; | &amp; 5 \\</a:t>
            </a:r>
          </a:p>
          <a:p>
            <a:r>
              <a:t>0 &amp; 0 &amp; 1 &amp; -1 &amp; | &amp; 3 \\</a:t>
            </a:r>
          </a:p>
          <a:p>
            <a:r>
              <a:t>0 &amp; 0 &amp; 0 &amp; 0 &amp; | &amp; 0 \\</a:t>
            </a:r>
          </a:p>
          <a:p>
            <a:r>
              <a:t>0 &amp; 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</a:t>
            </a:r>
          </a:p>
          <a:p/>
          <a:p>
            <a:r>
              <a:t>矛盾行识别的核对标准是：是否存在形如 $[0\ 0\ \cdots\ 0\ |\ b]$ 且 $b \neq 0$ 的行。参考结论：矩阵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2 &amp; 4 &amp; | &amp; 1 \\</a:t>
            </a:r>
          </a:p>
          <a:p>
            <a:r>
              <a:t>0 &amp; 0 &amp; 0 &amp; | &amp; 1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的第二行构成矛盾式 $0=1$，判定无解。典型错误是忽略增广列，仅看系数部分全零即认为可接受；修正依据是增广列的非零值使方程无解，再次验证应检查整行是否为“全零左部 + 非零右部”。</a:t>
            </a:r>
          </a:p>
          <a:p/>
          <a:p>
            <a:r>
              <a:t>解类型判定的核对标准是：无矛盾行时，比较主元数 $r$ 与未知数个数 $n$（系数矩阵列数）。参考结论：矩阵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0 &amp; 0 &amp; | &amp; 2 \\</a:t>
            </a:r>
          </a:p>
          <a:p>
            <a:r>
              <a:t>0 &amp; 1 &amp; 0 &amp; | &amp; -1 \\</a:t>
            </a:r>
          </a:p>
          <a:p>
            <a:r>
              <a:t>0 &amp; 0 &amp; 1 &amp; | &amp; 4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中 $r=3, n=3$，有唯一解。典型错误是将增广列计入 $n$，误判 $n=4$ 导致误认为无穷解；修正依据是未知数仅对应系数部分，增广列仅表示常数项，再次验证应数系数矩阵列数，排除竖线右侧。</a:t>
            </a:r>
          </a:p>
          <a:p>
            <a:r>
              <a:t>source_payload: {"content_perspective": "teacher_delivery", "feedback_structure": {"mode": "static_reference", "schema_version": "course_feedback_v1", "sections": [{"collapsed_by_default": true, "kind": "guidance", "markdown": "对行阶梯形增广矩阵，主元判定的核对标准是：在每一非零行中，从左至右找到第一个非零元素，且该元素所在列在下方所有行中均为零。参考结论：矩阵  \n\n$$\n\\begin{bmatrix}\n1 &amp; 3 &amp; 0 &amp; 2 &amp; | &amp; 5 \\\\\n0 &amp; 0 &amp; 1 &amp; -1 &amp; | &amp; 3 \\\\\n0 &amp; 0 &amp; 0 &amp; 0 &amp; | &amp; 0 \\\\\n0 &amp; 0 &amp; 0 &amp; 0 &amp; | &amp; 0\n\\end{bmatrix}\n$$\n\n  \n的主元位于第1列和第3列，主元数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\n\n矛盾行识别的核对标准是：是否存在形如 $[0\\ 0\\ \\cdots\\ 0\\ |\\ b]$ 且 $b \\neq 0$ 的行。参考结论：矩阵  \n\n$$\n\\begin{bmatrix}\n1 &amp; 2 &amp; 4 &amp; | &amp; 1 \\\\\n0 &amp; 0 &amp; 0 &amp; | &amp; 1 \\\\\n0 &amp; 0 &amp; 0 &amp; | &amp; 0\n\\end{bmatrix}\n$$\n\n  \n的第二行构成矛盾式 $0=1$，判定无解。典型错误是忽略增广列，仅看系数部分全零即认为可接受；修正依据是增广列的非零值使方程无解，再次验证应检查整行是否为“全零左部 + 非零右部”。\n\n解类型判定的核对标准是：无矛盾行时，比较主元数 $r$ 与未知数个数 $n$（系数矩阵列数）。参考结论：矩阵  \n\n$$\n\\begin{bmatrix}\n1 &amp; 0 &amp; 0 &amp; | &amp; 2 \\\\\n0 &amp; 1 &amp; 0 &amp; | &amp; -1 \\\\\n0 &amp; 0 &amp; 1 &amp; | &amp; 4\n\\end{bmatrix}\n$$\n\n  \n中 $r=3, n=3$，有唯一解。典型错误是将增广列计入 $n$，误判 $n=4$ 导致误认为无穷解；修正依据是未知数仅对应系数部分，增广列仅表示常数项，再次验证应数系数矩阵列数，排除竖线右侧。", "section_id": "feedback-section-f53ac175437c", "summary": "对行阶梯形增广矩阵，主元判定的核对标准是：在每一非零行中，从左至右找到第一个非零元素，且该元素所在列在下方所有行中均为零。参考结论：矩阵 begin{bmatrix} 1 &amp; 3 &amp; 0 &amp; ", "title": "参考与检查"}], "source_fingerprint": "90921eb352cb439d5122d142"}, "knowledge_binding_status": null, "markdown": "对行阶梯形增广矩阵，主元判定的核对标准是：在每一非零行中，从左至右找到第一个非零元素，且该元素所在列在下方所有行中均为零。参考结论：矩阵  \n\n$$\n\\begin{bmatrix}\n1 &amp; 3 &amp; 0 &amp; 2 &amp; | &amp; 5 \\\\\n0 &amp; 0 &amp; 1 &amp; -1 &amp; | &amp; 3 \\\\\n0 &amp; 0 &amp; 0 &amp; 0 &amp; | &amp; 0 \\\\\n0 &amp; 0 &amp; 0 &amp; 0 &amp; | &amp; 0\n\\end{bmatrix}\n$$\n\n  \n的主元位于第1列和第3列，主元数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\n\n矛盾行识别的核对标准是：是否存在形如 $[0\\ 0\\ \\cdots\\ 0\\ |\\ b]$ 且 $b \\neq 0$ 的行。参考结论：矩阵  \n\n$$\n\\begin{bmatrix}\n1 &amp; 2 &amp; 4 &amp; | &amp; 1 \\\\\n0 &amp; 0 &amp; 0 &amp; | &amp; 1 \\\\\n0 &amp; 0 &amp; 0 &amp; | &amp; 0\n\\end{bmatrix}\n$$\n\n  \n的第二行构成矛盾式 $0=1$，判定无解。典型错误是忽略增广列，仅看系数部分全零即认为可接受；修正依据是增广列的非零值使方程无解，再次验证应检查整行是否为“全零左部 + 非零右部”。\n\n解类型判定的核对标准是：无矛盾行时，比较主元数 $r$ 与未知数个数 $n$（系数矩阵列数）。参考结论：矩阵  \n\n$$\n\\begin{bmatrix}\n1 &amp; 0 &amp; 0 &amp; | &amp; 2 \\\\\n0 &amp; 1 &amp; 0 &amp; | &amp; -1 \\\\\n0 &amp; 0 &amp; 1 &amp; | &amp; 4\n\\end{bmatrix}\n$$\n\n  \n中 $r=3, n=3$，有唯一解。典型错误是将增广列计入 $n$，误判 $n=4$ 导致误认为无穷解；修正依据是未知数仅对应系数部分，增广列仅表示常数项，再次验证应数系数矩阵列数，排除竖线右侧。", "module_id": "feedback_check", "module_instance_id": "tsb-b5a5e1da4d13", "planned_minutes": 2, "ppt_page_group_id": "L2-1-3:ppt-page-group:2", "summary": "对行阶梯形增广矩阵，主元判定的核对标准是：在每一非零行中，从左至右找到第一个非零元素，且该元素所在列在下方所有行中均为零。参考结论：矩阵 begin{bmatrix} 1 &amp; 3 &amp; 0 &amp; 2 &amp; | &amp; 5 0 &amp; 0 &amp; 1 &amp; 1 ", "title": "检查与反馈"}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cpu_a22f62f86e93aaf796d9ab27</a:t>
            </a:r>
          </a:p>
          <a:p/>
          <a:p>
            <a:r>
              <a:t>source_section_ids: []</a:t>
            </a:r>
          </a:p>
          <a:p/>
          <a:p>
            <a:r>
              <a:t>[tsb-b5a5e1da4d13 @ cbr_4ecd1efcf0e1420321108df4]</a:t>
            </a:r>
          </a:p>
          <a:p>
            <a:r>
              <a:t>source_kind: review_checkpoint</a:t>
            </a:r>
          </a:p>
          <a:p>
            <a:r>
              <a:t>asset_refs: []</a:t>
            </a:r>
          </a:p>
          <a:p>
            <a:r>
              <a:t>对行阶梯形增广矩阵，主元判定的核对标准是：在每一非零行中，从左至右找到第一个非零元素，且该元素所在列在下方所有行中均为零。参考结论：矩阵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3 &amp; 0 &amp; 2 &amp; | &amp; 5 \\</a:t>
            </a:r>
          </a:p>
          <a:p>
            <a:r>
              <a:t>0 &amp; 0 &amp; 1 &amp; -1 &amp; | &amp; 3 \\</a:t>
            </a:r>
          </a:p>
          <a:p>
            <a:r>
              <a:t>0 &amp; 0 &amp; 0 &amp; 0 &amp; | &amp; 0 \\</a:t>
            </a:r>
          </a:p>
          <a:p>
            <a:r>
              <a:t>0 &amp; 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</a:t>
            </a:r>
          </a:p>
          <a:p/>
          <a:p>
            <a:r>
              <a:t>矛盾行识别的核对标准是：是否存在形如 $[0\ 0\ \cdots\ 0\ |\ b]$ 且 $b \neq 0$ 的行。参考结论：矩阵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2 &amp; 4 &amp; | &amp; 1 \\</a:t>
            </a:r>
          </a:p>
          <a:p>
            <a:r>
              <a:t>0 &amp; 0 &amp; 0 &amp; | &amp; 1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的第二行构成矛盾式 $0=1$，判定无解。典型错误是忽略增广列，仅看系数部分全零即认为可接受；修正依据是增广列的非零值使方程无解，再次验证应检查整行是否为“全零左部 + 非零右部”。</a:t>
            </a:r>
          </a:p>
          <a:p/>
          <a:p>
            <a:r>
              <a:t>解类型判定的核对标准是：无矛盾行时，比较主元数 $r$ 与未知数个数 $n$（系数矩阵列数）。参考结论：矩阵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0 &amp; 0 &amp; | &amp; 2 \\</a:t>
            </a:r>
          </a:p>
          <a:p>
            <a:r>
              <a:t>0 &amp; 1 &amp; 0 &amp; | &amp; -1 \\</a:t>
            </a:r>
          </a:p>
          <a:p>
            <a:r>
              <a:t>0 &amp; 0 &amp; 1 &amp; | &amp; 4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中 $r=3, n=3$，有唯一解。典型错误是将增广列计入 $n$，误判 $n=4$ 导致误认为无穷解；修正依据是未知数仅对应系数部分，增广列仅表示常数项，再次验证应数系数矩阵列数，排除竖线右侧。</a:t>
            </a:r>
          </a:p>
          <a:p>
            <a:r>
              <a:t>source_payload: {"content_perspective": "teacher_delivery", "feedback_structure": {"mode": "static_reference", "schema_version": "course_feedback_v1", "sections": [{"collapsed_by_default": true, "kind": "guidance", "markdown": "对行阶梯形增广矩阵，主元判定的核对标准是：在每一非零行中，从左至右找到第一个非零元素，且该元素所在列在下方所有行中均为零。参考结论：矩阵  \n\n$$\n\\begin{bmatrix}\n1 &amp; 3 &amp; 0 &amp; 2 &amp; | &amp; 5 \\\\\n0 &amp; 0 &amp; 1 &amp; -1 &amp; | &amp; 3 \\\\\n0 &amp; 0 &amp; 0 &amp; 0 &amp; | &amp; 0 \\\\\n0 &amp; 0 &amp; 0 &amp; 0 &amp; | &amp; 0\n\\end{bmatrix}\n$$\n\n  \n的主元位于第1列和第3列，主元数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\n\n矛盾行识别的核对标准是：是否存在形如 $[0\\ 0\\ \\cdots\\ 0\\ |\\ b]$ 且 $b \\neq 0$ 的行。参考结论：矩阵  \n\n$$\n\\begin{bmatrix}\n1 &amp; 2 &amp; 4 &amp; | &amp; 1 \\\\\n0 &amp; 0 &amp; 0 &amp; | &amp; 1 \\\\\n0 &amp; 0 &amp; 0 &amp; | &amp; 0\n\\end{bmatrix}\n$$\n\n  \n的第二行构成矛盾式 $0=1$，判定无解。典型错误是忽略增广列，仅看系数部分全零即认为可接受；修正依据是增广列的非零值使方程无解，再次验证应检查整行是否为“全零左部 + 非零右部”。\n\n解类型判定的核对标准是：无矛盾行时，比较主元数 $r$ 与未知数个数 $n$（系数矩阵列数）。参考结论：矩阵  \n\n$$\n\\begin{bmatrix}\n1 &amp; 0 &amp; 0 &amp; | &amp; 2 \\\\\n0 &amp; 1 &amp; 0 &amp; | &amp; -1 \\\\\n0 &amp; 0 &amp; 1 &amp; | &amp; 4\n\\end{bmatrix}\n$$\n\n  \n中 $r=3, n=3$，有唯一解。典型错误是将增广列计入 $n$，误判 $n=4$ 导致误认为无穷解；修正依据是未知数仅对应系数部分，增广列仅表示常数项，再次验证应数系数矩阵列数，排除竖线右侧。", "section_id": "feedback-section-f53ac175437c", "summary": "对行阶梯形增广矩阵，主元判定的核对标准是：在每一非零行中，从左至右找到第一个非零元素，且该元素所在列在下方所有行中均为零。参考结论：矩阵 begin{bmatrix} 1 &amp; 3 &amp; 0 &amp; ", "title": "参考与检查"}], "source_fingerprint": "90921eb352cb439d5122d142"}, "knowledge_binding_status": null, "markdown": "对行阶梯形增广矩阵，主元判定的核对标准是：在每一非零行中，从左至右找到第一个非零元素，且该元素所在列在下方所有行中均为零。参考结论：矩阵  \n\n$$\n\\begin{bmatrix}\n1 &amp; 3 &amp; 0 &amp; 2 &amp; | &amp; 5 \\\\\n0 &amp; 0 &amp; 1 &amp; -1 &amp; | &amp; 3 \\\\\n0 &amp; 0 &amp; 0 &amp; 0 &amp; | &amp; 0 \\\\\n0 &amp; 0 &amp; 0 &amp; 0 &amp; | &amp; 0\n\\end{bmatrix}\n$$\n\n  \n的主元位于第1列和第3列，主元数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\n\n矛盾行识别的核对标准是：是否存在形如 $[0\\ 0\\ \\cdots\\ 0\\ |\\ b]$ 且 $b \\neq 0$ 的行。参考结论：矩阵  \n\n$$\n\\begin{bmatrix}\n1 &amp; 2 &amp; 4 &amp; | &amp; 1 \\\\\n0 &amp; 0 &amp; 0 &amp; | &amp; 1 \\\\\n0 &amp; 0 &amp; 0 &amp; | &amp; 0\n\\end{bmatrix}\n$$\n\n  \n的第二行构成矛盾式 $0=1$，判定无解。典型错误是忽略增广列，仅看系数部分全零即认为可接受；修正依据是增广列的非零值使方程无解，再次验证应检查整行是否为“全零左部 + 非零右部”。\n\n解类型判定的核对标准是：无矛盾行时，比较主元数 $r$ 与未知数个数 $n$（系数矩阵列数）。参考结论：矩阵  \n\n$$\n\\begin{bmatrix}\n1 &amp; 0 &amp; 0 &amp; | &amp; 2 \\\\\n0 &amp; 1 &amp; 0 &amp; | &amp; -1 \\\\\n0 &amp; 0 &amp; 1 &amp; | &amp; 4\n\\end{bmatrix}\n$$\n\n  \n中 $r=3, n=3$，有唯一解。典型错误是将增广列计入 $n$，误判 $n=4$ 导致误认为无穷解；修正依据是未知数仅对应系数部分，增广列仅表示常数项，再次验证应数系数矩阵列数，排除竖线右侧。", "module_id": "feedback_check", "module_instance_id": "tsb-b5a5e1da4d13", "planned_minutes": 2, "ppt_page_group_id": "L2-1-3:ppt-page-group:2", "summary": "对行阶梯形增广矩阵，主元判定的核对标准是：在每一非零行中，从左至右找到第一个非零元素，且该元素所在列在下方所有行中均为零。参考结论：矩阵 begin{bmatrix} 1 &amp; 3 &amp; 0 &amp; 2 &amp; | &amp; 5 0 &amp; 0 &amp; 1 &amp; 1 ", "title": "检查与反馈"}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cpu_a22f62f86e93aaf796d9ab27</a:t>
            </a:r>
          </a:p>
          <a:p/>
          <a:p>
            <a:r>
              <a:t>source_section_ids: []</a:t>
            </a:r>
          </a:p>
          <a:p/>
          <a:p>
            <a:r>
              <a:t>[tsb-b5a5e1da4d13 @ cbr_4ecd1efcf0e1420321108df4]</a:t>
            </a:r>
          </a:p>
          <a:p>
            <a:r>
              <a:t>source_kind: review_checkpoint</a:t>
            </a:r>
          </a:p>
          <a:p>
            <a:r>
              <a:t>asset_refs: []</a:t>
            </a:r>
          </a:p>
          <a:p>
            <a:r>
              <a:t>对行阶梯形增广矩阵，主元判定的核对标准是：在每一非零行中，从左至右找到第一个非零元素，且该元素所在列在下方所有行中均为零。参考结论：矩阵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3 &amp; 0 &amp; 2 &amp; | &amp; 5 \\</a:t>
            </a:r>
          </a:p>
          <a:p>
            <a:r>
              <a:t>0 &amp; 0 &amp; 1 &amp; -1 &amp; | &amp; 3 \\</a:t>
            </a:r>
          </a:p>
          <a:p>
            <a:r>
              <a:t>0 &amp; 0 &amp; 0 &amp; 0 &amp; | &amp; 0 \\</a:t>
            </a:r>
          </a:p>
          <a:p>
            <a:r>
              <a:t>0 &amp; 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</a:t>
            </a:r>
          </a:p>
          <a:p/>
          <a:p>
            <a:r>
              <a:t>矛盾行识别的核对标准是：是否存在形如 $[0\ 0\ \cdots\ 0\ |\ b]$ 且 $b \neq 0$ 的行。参考结论：矩阵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2 &amp; 4 &amp; | &amp; 1 \\</a:t>
            </a:r>
          </a:p>
          <a:p>
            <a:r>
              <a:t>0 &amp; 0 &amp; 0 &amp; | &amp; 1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的第二行构成矛盾式 $0=1$，判定无解。典型错误是忽略增广列，仅看系数部分全零即认为可接受；修正依据是增广列的非零值使方程无解，再次验证应检查整行是否为“全零左部 + 非零右部”。</a:t>
            </a:r>
          </a:p>
          <a:p/>
          <a:p>
            <a:r>
              <a:t>解类型判定的核对标准是：无矛盾行时，比较主元数 $r$ 与未知数个数 $n$（系数矩阵列数）。参考结论：矩阵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0 &amp; 0 &amp; | &amp; 2 \\</a:t>
            </a:r>
          </a:p>
          <a:p>
            <a:r>
              <a:t>0 &amp; 1 &amp; 0 &amp; | &amp; -1 \\</a:t>
            </a:r>
          </a:p>
          <a:p>
            <a:r>
              <a:t>0 &amp; 0 &amp; 1 &amp; | &amp; 4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中 $r=3, n=3$，有唯一解。典型错误是将增广列计入 $n$，误判 $n=4$ 导致误认为无穷解；修正依据是未知数仅对应系数部分，增广列仅表示常数项，再次验证应数系数矩阵列数，排除竖线右侧。</a:t>
            </a:r>
          </a:p>
          <a:p>
            <a:r>
              <a:t>source_payload: {"content_perspective": "teacher_delivery", "feedback_structure": {"mode": "static_reference", "schema_version": "course_feedback_v1", "sections": [{"collapsed_by_default": true, "kind": "guidance", "markdown": "对行阶梯形增广矩阵，主元判定的核对标准是：在每一非零行中，从左至右找到第一个非零元素，且该元素所在列在下方所有行中均为零。参考结论：矩阵  \n\n$$\n\\begin{bmatrix}\n1 &amp; 3 &amp; 0 &amp; 2 &amp; | &amp; 5 \\\\\n0 &amp; 0 &amp; 1 &amp; -1 &amp; | &amp; 3 \\\\\n0 &amp; 0 &amp; 0 &amp; 0 &amp; | &amp; 0 \\\\\n0 &amp; 0 &amp; 0 &amp; 0 &amp; | &amp; 0\n\\end{bmatrix}\n$$\n\n  \n的主元位于第1列和第3列，主元数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\n\n矛盾行识别的核对标准是：是否存在形如 $[0\\ 0\\ \\cdots\\ 0\\ |\\ b]$ 且 $b \\neq 0$ 的行。参考结论：矩阵  \n\n$$\n\\begin{bmatrix}\n1 &amp; 2 &amp; 4 &amp; | &amp; 1 \\\\\n0 &amp; 0 &amp; 0 &amp; | &amp; 1 \\\\\n0 &amp; 0 &amp; 0 &amp; | &amp; 0\n\\end{bmatrix}\n$$\n\n  \n的第二行构成矛盾式 $0=1$，判定无解。典型错误是忽略增广列，仅看系数部分全零即认为可接受；修正依据是增广列的非零值使方程无解，再次验证应检查整行是否为“全零左部 + 非零右部”。\n\n解类型判定的核对标准是：无矛盾行时，比较主元数 $r$ 与未知数个数 $n$（系数矩阵列数）。参考结论：矩阵  \n\n$$\n\\begin{bmatrix}\n1 &amp; 0 &amp; 0 &amp; | &amp; 2 \\\\\n0 &amp; 1 &amp; 0 &amp; | &amp; -1 \\\\\n0 &amp; 0 &amp; 1 &amp; | &amp; 4\n\\end{bmatrix}\n$$\n\n  \n中 $r=3, n=3$，有唯一解。典型错误是将增广列计入 $n$，误判 $n=4$ 导致误认为无穷解；修正依据是未知数仅对应系数部分，增广列仅表示常数项，再次验证应数系数矩阵列数，排除竖线右侧。", "section_id": "feedback-section-f53ac175437c", "summary": "对行阶梯形增广矩阵，主元判定的核对标准是：在每一非零行中，从左至右找到第一个非零元素，且该元素所在列在下方所有行中均为零。参考结论：矩阵 begin{bmatrix} 1 &amp; 3 &amp; 0 &amp; ", "title": "参考与检查"}], "source_fingerprint": "90921eb352cb439d5122d142"}, "knowledge_binding_status": null, "markdown": "对行阶梯形增广矩阵，主元判定的核对标准是：在每一非零行中，从左至右找到第一个非零元素，且该元素所在列在下方所有行中均为零。参考结论：矩阵  \n\n$$\n\\begin{bmatrix}\n1 &amp; 3 &amp; 0 &amp; 2 &amp; | &amp; 5 \\\\\n0 &amp; 0 &amp; 1 &amp; -1 &amp; | &amp; 3 \\\\\n0 &amp; 0 &amp; 0 &amp; 0 &amp; | &amp; 0 \\\\\n0 &amp; 0 &amp; 0 &amp; 0 &amp; | &amp; 0\n\\end{bmatrix}\n$$\n\n  \n的主元位于第1列和第3列，主元数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\n\n矛盾行识别的核对标准是：是否存在形如 $[0\\ 0\\ \\cdots\\ 0\\ |\\ b]$ 且 $b \\neq 0$ 的行。参考结论：矩阵  \n\n$$\n\\begin{bmatrix}\n1 &amp; 2 &amp; 4 &amp; | &amp; 1 \\\\\n0 &amp; 0 &amp; 0 &amp; | &amp; 1 \\\\\n0 &amp; 0 &amp; 0 &amp; | &amp; 0\n\\end{bmatrix}\n$$\n\n  \n的第二行构成矛盾式 $0=1$，判定无解。典型错误是忽略增广列，仅看系数部分全零即认为可接受；修正依据是增广列的非零值使方程无解，再次验证应检查整行是否为“全零左部 + 非零右部”。\n\n解类型判定的核对标准是：无矛盾行时，比较主元数 $r$ 与未知数个数 $n$（系数矩阵列数）。参考结论：矩阵  \n\n$$\n\\begin{bmatrix}\n1 &amp; 0 &amp; 0 &amp; | &amp; 2 \\\\\n0 &amp; 1 &amp; 0 &amp; | &amp; -1 \\\\\n0 &amp; 0 &amp; 1 &amp; | &amp; 4\n\\end{bmatrix}\n$$\n\n  \n中 $r=3, n=3$，有唯一解。典型错误是将增广列计入 $n$，误判 $n=4$ 导致误认为无穷解；修正依据是未知数仅对应系数部分，增广列仅表示常数项，再次验证应数系数矩阵列数，排除竖线右侧。", "module_id": "feedback_check", "module_instance_id": "tsb-b5a5e1da4d13", "planned_minutes": 2, "ppt_page_group_id": "L2-1-3:ppt-page-group:2", "summary": "对行阶梯形增广矩阵，主元判定的核对标准是：在每一非零行中，从左至右找到第一个非零元素，且该元素所在列在下方所有行中均为零。参考结论：矩阵 begin{bmatrix} 1 &amp; 3 &amp; 0 &amp; 2 &amp; | &amp; 5 0 &amp; 0 &amp; 1 &amp; 1 ", "title": "检查与反馈"}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cpu_a22f62f86e93aaf796d9ab27</a:t>
            </a:r>
          </a:p>
          <a:p/>
          <a:p>
            <a:r>
              <a:t>source_section_ids: []</a:t>
            </a:r>
          </a:p>
          <a:p/>
          <a:p>
            <a:r>
              <a:t>[tsb-b5a5e1da4d13 @ cbr_4ecd1efcf0e1420321108df4]</a:t>
            </a:r>
          </a:p>
          <a:p>
            <a:r>
              <a:t>source_kind: review_checkpoint</a:t>
            </a:r>
          </a:p>
          <a:p>
            <a:r>
              <a:t>asset_refs: []</a:t>
            </a:r>
          </a:p>
          <a:p>
            <a:r>
              <a:t>对行阶梯形增广矩阵，主元判定的核对标准是：在每一非零行中，从左至右找到第一个非零元素，且该元素所在列在下方所有行中均为零。参考结论：矩阵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3 &amp; 0 &amp; 2 &amp; | &amp; 5 \\</a:t>
            </a:r>
          </a:p>
          <a:p>
            <a:r>
              <a:t>0 &amp; 0 &amp; 1 &amp; -1 &amp; | &amp; 3 \\</a:t>
            </a:r>
          </a:p>
          <a:p>
            <a:r>
              <a:t>0 &amp; 0 &amp; 0 &amp; 0 &amp; | &amp; 0 \\</a:t>
            </a:r>
          </a:p>
          <a:p>
            <a:r>
              <a:t>0 &amp; 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</a:t>
            </a:r>
          </a:p>
          <a:p/>
          <a:p>
            <a:r>
              <a:t>矛盾行识别的核对标准是：是否存在形如 $[0\ 0\ \cdots\ 0\ |\ b]$ 且 $b \neq 0$ 的行。参考结论：矩阵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2 &amp; 4 &amp; | &amp; 1 \\</a:t>
            </a:r>
          </a:p>
          <a:p>
            <a:r>
              <a:t>0 &amp; 0 &amp; 0 &amp; | &amp; 1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的第二行构成矛盾式 $0=1$，判定无解。典型错误是忽略增广列，仅看系数部分全零即认为可接受；修正依据是增广列的非零值使方程无解，再次验证应检查整行是否为“全零左部 + 非零右部”。</a:t>
            </a:r>
          </a:p>
          <a:p/>
          <a:p>
            <a:r>
              <a:t>解类型判定的核对标准是：无矛盾行时，比较主元数 $r$ 与未知数个数 $n$（系数矩阵列数）。参考结论：矩阵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0 &amp; 0 &amp; | &amp; 2 \\</a:t>
            </a:r>
          </a:p>
          <a:p>
            <a:r>
              <a:t>0 &amp; 1 &amp; 0 &amp; | &amp; -1 \\</a:t>
            </a:r>
          </a:p>
          <a:p>
            <a:r>
              <a:t>0 &amp; 0 &amp; 1 &amp; | &amp; 4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中 $r=3, n=3$，有唯一解。典型错误是将增广列计入 $n$，误判 $n=4$ 导致误认为无穷解；修正依据是未知数仅对应系数部分，增广列仅表示常数项，再次验证应数系数矩阵列数，排除竖线右侧。</a:t>
            </a:r>
          </a:p>
          <a:p>
            <a:r>
              <a:t>source_payload: {"content_perspective": "teacher_delivery", "feedback_structure": {"mode": "static_reference", "schema_version": "course_feedback_v1", "sections": [{"collapsed_by_default": true, "kind": "guidance", "markdown": "对行阶梯形增广矩阵，主元判定的核对标准是：在每一非零行中，从左至右找到第一个非零元素，且该元素所在列在下方所有行中均为零。参考结论：矩阵  \n\n$$\n\\begin{bmatrix}\n1 &amp; 3 &amp; 0 &amp; 2 &amp; | &amp; 5 \\\\\n0 &amp; 0 &amp; 1 &amp; -1 &amp; | &amp; 3 \\\\\n0 &amp; 0 &amp; 0 &amp; 0 &amp; | &amp; 0 \\\\\n0 &amp; 0 &amp; 0 &amp; 0 &amp; | &amp; 0\n\\end{bmatrix}\n$$\n\n  \n的主元位于第1列和第3列，主元数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\n\n矛盾行识别的核对标准是：是否存在形如 $[0\\ 0\\ \\cdots\\ 0\\ |\\ b]$ 且 $b \\neq 0$ 的行。参考结论：矩阵  \n\n$$\n\\begin{bmatrix}\n1 &amp; 2 &amp; 4 &amp; | &amp; 1 \\\\\n0 &amp; 0 &amp; 0 &amp; | &amp; 1 \\\\\n0 &amp; 0 &amp; 0 &amp; | &amp; 0\n\\end{bmatrix}\n$$\n\n  \n的第二行构成矛盾式 $0=1$，判定无解。典型错误是忽略增广列，仅看系数部分全零即认为可接受；修正依据是增广列的非零值使方程无解，再次验证应检查整行是否为“全零左部 + 非零右部”。\n\n解类型判定的核对标准是：无矛盾行时，比较主元数 $r$ 与未知数个数 $n$（系数矩阵列数）。参考结论：矩阵  \n\n$$\n\\begin{bmatrix}\n1 &amp; 0 &amp; 0 &amp; | &amp; 2 \\\\\n0 &amp; 1 &amp; 0 &amp; | &amp; -1 \\\\\n0 &amp; 0 &amp; 1 &amp; | &amp; 4\n\\end{bmatrix}\n$$\n\n  \n中 $r=3, n=3$，有唯一解。典型错误是将增广列计入 $n$，误判 $n=4$ 导致误认为无穷解；修正依据是未知数仅对应系数部分，增广列仅表示常数项，再次验证应数系数矩阵列数，排除竖线右侧。", "section_id": "feedback-section-f53ac175437c", "summary": "对行阶梯形增广矩阵，主元判定的核对标准是：在每一非零行中，从左至右找到第一个非零元素，且该元素所在列在下方所有行中均为零。参考结论：矩阵 begin{bmatrix} 1 &amp; 3 &amp; 0 &amp; ", "title": "参考与检查"}], "source_fingerprint": "90921eb352cb439d5122d142"}, "knowledge_binding_status": null, "markdown": "对行阶梯形增广矩阵，主元判定的核对标准是：在每一非零行中，从左至右找到第一个非零元素，且该元素所在列在下方所有行中均为零。参考结论：矩阵  \n\n$$\n\\begin{bmatrix}\n1 &amp; 3 &amp; 0 &amp; 2 &amp; | &amp; 5 \\\\\n0 &amp; 0 &amp; 1 &amp; -1 &amp; | &amp; 3 \\\\\n0 &amp; 0 &amp; 0 &amp; 0 &amp; | &amp; 0 \\\\\n0 &amp; 0 &amp; 0 &amp; 0 &amp; | &amp; 0\n\\end{bmatrix}\n$$\n\n  \n的主元位于第1列和第3列，主元数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\n\n矛盾行识别的核对标准是：是否存在形如 $[0\\ 0\\ \\cdots\\ 0\\ |\\ b]$ 且 $b \\neq 0$ 的行。参考结论：矩阵  \n\n$$\n\\begin{bmatrix}\n1 &amp; 2 &amp; 4 &amp; | &amp; 1 \\\\\n0 &amp; 0 &amp; 0 &amp; | &amp; 1 \\\\\n0 &amp; 0 &amp; 0 &amp; | &amp; 0\n\\end{bmatrix}\n$$\n\n  \n的第二行构成矛盾式 $0=1$，判定无解。典型错误是忽略增广列，仅看系数部分全零即认为可接受；修正依据是增广列的非零值使方程无解，再次验证应检查整行是否为“全零左部 + 非零右部”。\n\n解类型判定的核对标准是：无矛盾行时，比较主元数 $r$ 与未知数个数 $n$（系数矩阵列数）。参考结论：矩阵  \n\n$$\n\\begin{bmatrix}\n1 &amp; 0 &amp; 0 &amp; | &amp; 2 \\\\\n0 &amp; 1 &amp; 0 &amp; | &amp; -1 \\\\\n0 &amp; 0 &amp; 1 &amp; | &amp; 4\n\\end{bmatrix}\n$$\n\n  \n中 $r=3, n=3$，有唯一解。典型错误是将增广列计入 $n$，误判 $n=4$ 导致误认为无穷解；修正依据是未知数仅对应系数部分，增广列仅表示常数项，再次验证应数系数矩阵列数，排除竖线右侧。", "module_id": "feedback_check", "module_instance_id": "tsb-b5a5e1da4d13", "planned_minutes": 2, "ppt_page_group_id": "L2-1-3:ppt-page-group:2", "summary": "对行阶梯形增广矩阵，主元判定的核对标准是：在每一非零行中，从左至右找到第一个非零元素，且该元素所在列在下方所有行中均为零。参考结论：矩阵 begin{bmatrix} 1 &amp; 3 &amp; 0 &amp; 2 &amp; | &amp; 5 0 &amp; 0 &amp; 1 &amp; 1 ", "title": "检查与反馈"}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cpu_a22f62f86e93aaf796d9ab27</a:t>
            </a:r>
          </a:p>
          <a:p/>
          <a:p>
            <a:r>
              <a:t>source_section_ids: []</a:t>
            </a:r>
          </a:p>
          <a:p/>
          <a:p>
            <a:r>
              <a:t>[tsb-b5a5e1da4d13 @ cbr_4ecd1efcf0e1420321108df4]</a:t>
            </a:r>
          </a:p>
          <a:p>
            <a:r>
              <a:t>source_kind: review_checkpoint</a:t>
            </a:r>
          </a:p>
          <a:p>
            <a:r>
              <a:t>asset_refs: []</a:t>
            </a:r>
          </a:p>
          <a:p>
            <a:r>
              <a:t>对行阶梯形增广矩阵，主元判定的核对标准是：在每一非零行中，从左至右找到第一个非零元素，且该元素所在列在下方所有行中均为零。参考结论：矩阵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3 &amp; 0 &amp; 2 &amp; | &amp; 5 \\</a:t>
            </a:r>
          </a:p>
          <a:p>
            <a:r>
              <a:t>0 &amp; 0 &amp; 1 &amp; -1 &amp; | &amp; 3 \\</a:t>
            </a:r>
          </a:p>
          <a:p>
            <a:r>
              <a:t>0 &amp; 0 &amp; 0 &amp; 0 &amp; | &amp; 0 \\</a:t>
            </a:r>
          </a:p>
          <a:p>
            <a:r>
              <a:t>0 &amp; 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</a:t>
            </a:r>
          </a:p>
          <a:p/>
          <a:p>
            <a:r>
              <a:t>矛盾行识别的核对标准是：是否存在形如 $[0\ 0\ \cdots\ 0\ |\ b]$ 且 $b \neq 0$ 的行。参考结论：矩阵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2 &amp; 4 &amp; | &amp; 1 \\</a:t>
            </a:r>
          </a:p>
          <a:p>
            <a:r>
              <a:t>0 &amp; 0 &amp; 0 &amp; | &amp; 1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的第二行构成矛盾式 $0=1$，判定无解。典型错误是忽略增广列，仅看系数部分全零即认为可接受；修正依据是增广列的非零值使方程无解，再次验证应检查整行是否为“全零左部 + 非零右部”。</a:t>
            </a:r>
          </a:p>
          <a:p/>
          <a:p>
            <a:r>
              <a:t>解类型判定的核对标准是：无矛盾行时，比较主元数 $r$ 与未知数个数 $n$（系数矩阵列数）。参考结论：矩阵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0 &amp; 0 &amp; | &amp; 2 \\</a:t>
            </a:r>
          </a:p>
          <a:p>
            <a:r>
              <a:t>0 &amp; 1 &amp; 0 &amp; | &amp; -1 \\</a:t>
            </a:r>
          </a:p>
          <a:p>
            <a:r>
              <a:t>0 &amp; 0 &amp; 1 &amp; | &amp; 4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中 $r=3, n=3$，有唯一解。典型错误是将增广列计入 $n$，误判 $n=4$ 导致误认为无穷解；修正依据是未知数仅对应系数部分，增广列仅表示常数项，再次验证应数系数矩阵列数，排除竖线右侧。</a:t>
            </a:r>
          </a:p>
          <a:p>
            <a:r>
              <a:t>source_payload: {"content_perspective": "teacher_delivery", "feedback_structure": {"mode": "static_reference", "schema_version": "course_feedback_v1", "sections": [{"collapsed_by_default": true, "kind": "guidance", "markdown": "对行阶梯形增广矩阵，主元判定的核对标准是：在每一非零行中，从左至右找到第一个非零元素，且该元素所在列在下方所有行中均为零。参考结论：矩阵  \n\n$$\n\\begin{bmatrix}\n1 &amp; 3 &amp; 0 &amp; 2 &amp; | &amp; 5 \\\\\n0 &amp; 0 &amp; 1 &amp; -1 &amp; | &amp; 3 \\\\\n0 &amp; 0 &amp; 0 &amp; 0 &amp; | &amp; 0 \\\\\n0 &amp; 0 &amp; 0 &amp; 0 &amp; | &amp; 0\n\\end{bmatrix}\n$$\n\n  \n的主元位于第1列和第3列，主元数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\n\n矛盾行识别的核对标准是：是否存在形如 $[0\\ 0\\ \\cdots\\ 0\\ |\\ b]$ 且 $b \\neq 0$ 的行。参考结论：矩阵  \n\n$$\n\\begin{bmatrix}\n1 &amp; 2 &amp; 4 &amp; | &amp; 1 \\\\\n0 &amp; 0 &amp; 0 &amp; | &amp; 1 \\\\\n0 &amp; 0 &amp; 0 &amp; | &amp; 0\n\\end{bmatrix}\n$$\n\n  \n的第二行构成矛盾式 $0=1$，判定无解。典型错误是忽略增广列，仅看系数部分全零即认为可接受；修正依据是增广列的非零值使方程无解，再次验证应检查整行是否为“全零左部 + 非零右部”。\n\n解类型判定的核对标准是：无矛盾行时，比较主元数 $r$ 与未知数个数 $n$（系数矩阵列数）。参考结论：矩阵  \n\n$$\n\\begin{bmatrix}\n1 &amp; 0 &amp; 0 &amp; | &amp; 2 \\\\\n0 &amp; 1 &amp; 0 &amp; | &amp; -1 \\\\\n0 &amp; 0 &amp; 1 &amp; | &amp; 4\n\\end{bmatrix}\n$$\n\n  \n中 $r=3, n=3$，有唯一解。典型错误是将增广列计入 $n$，误判 $n=4$ 导致误认为无穷解；修正依据是未知数仅对应系数部分，增广列仅表示常数项，再次验证应数系数矩阵列数，排除竖线右侧。", "section_id": "feedback-section-f53ac175437c", "summary": "对行阶梯形增广矩阵，主元判定的核对标准是：在每一非零行中，从左至右找到第一个非零元素，且该元素所在列在下方所有行中均为零。参考结论：矩阵 begin{bmatrix} 1 &amp; 3 &amp; 0 &amp; ", "title": "参考与检查"}], "source_fingerprint": "90921eb352cb439d5122d142"}, "knowledge_binding_status": null, "markdown": "对行阶梯形增广矩阵，主元判定的核对标准是：在每一非零行中，从左至右找到第一个非零元素，且该元素所在列在下方所有行中均为零。参考结论：矩阵  \n\n$$\n\\begin{bmatrix}\n1 &amp; 3 &amp; 0 &amp; 2 &amp; | &amp; 5 \\\\\n0 &amp; 0 &amp; 1 &amp; -1 &amp; | &amp; 3 \\\\\n0 &amp; 0 &amp; 0 &amp; 0 &amp; | &amp; 0 \\\\\n0 &amp; 0 &amp; 0 &amp; 0 &amp; | &amp; 0\n\\end{bmatrix}\n$$\n\n  \n的主元位于第1列和第3列，主元数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\n\n矛盾行识别的核对标准是：是否存在形如 $[0\\ 0\\ \\cdots\\ 0\\ |\\ b]$ 且 $b \\neq 0$ 的行。参考结论：矩阵  \n\n$$\n\\begin{bmatrix}\n1 &amp; 2 &amp; 4 &amp; | &amp; 1 \\\\\n0 &amp; 0 &amp; 0 &amp; | &amp; 1 \\\\\n0 &amp; 0 &amp; 0 &amp; | &amp; 0\n\\end{bmatrix}\n$$\n\n  \n的第二行构成矛盾式 $0=1$，判定无解。典型错误是忽略增广列，仅看系数部分全零即认为可接受；修正依据是增广列的非零值使方程无解，再次验证应检查整行是否为“全零左部 + 非零右部”。\n\n解类型判定的核对标准是：无矛盾行时，比较主元数 $r$ 与未知数个数 $n$（系数矩阵列数）。参考结论：矩阵  \n\n$$\n\\begin{bmatrix}\n1 &amp; 0 &amp; 0 &amp; | &amp; 2 \\\\\n0 &amp; 1 &amp; 0 &amp; | &amp; -1 \\\\\n0 &amp; 0 &amp; 1 &amp; | &amp; 4\n\\end{bmatrix}\n$$\n\n  \n中 $r=3, n=3$，有唯一解。典型错误是将增广列计入 $n$，误判 $n=4$ 导致误认为无穷解；修正依据是未知数仅对应系数部分，增广列仅表示常数项，再次验证应数系数矩阵列数，排除竖线右侧。", "module_id": "feedback_check", "module_instance_id": "tsb-b5a5e1da4d13", "planned_minutes": 2, "ppt_page_group_id": "L2-1-3:ppt-page-group:2", "summary": "对行阶梯形增广矩阵，主元判定的核对标准是：在每一非零行中，从左至右找到第一个非零元素，且该元素所在列在下方所有行中均为零。参考结论：矩阵 begin{bmatrix} 1 &amp; 3 &amp; 0 &amp; 2 &amp; | &amp; 5 0 &amp; 0 &amp; 1 &amp; 1 ", "title": "检查与反馈"}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cpu_a22f62f86e93aaf796d9ab27</a:t>
            </a:r>
          </a:p>
          <a:p/>
          <a:p>
            <a:r>
              <a:t>source_section_ids: []</a:t>
            </a:r>
          </a:p>
          <a:p/>
          <a:p>
            <a:r>
              <a:t>[tsb-b5a5e1da4d13 @ cbr_4ecd1efcf0e1420321108df4]</a:t>
            </a:r>
          </a:p>
          <a:p>
            <a:r>
              <a:t>source_kind: review_checkpoint</a:t>
            </a:r>
          </a:p>
          <a:p>
            <a:r>
              <a:t>asset_refs: []</a:t>
            </a:r>
          </a:p>
          <a:p>
            <a:r>
              <a:t>对行阶梯形增广矩阵，主元判定的核对标准是：在每一非零行中，从左至右找到第一个非零元素，且该元素所在列在下方所有行中均为零。参考结论：矩阵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3 &amp; 0 &amp; 2 &amp; | &amp; 5 \\</a:t>
            </a:r>
          </a:p>
          <a:p>
            <a:r>
              <a:t>0 &amp; 0 &amp; 1 &amp; -1 &amp; | &amp; 3 \\</a:t>
            </a:r>
          </a:p>
          <a:p>
            <a:r>
              <a:t>0 &amp; 0 &amp; 0 &amp; 0 &amp; | &amp; 0 \\</a:t>
            </a:r>
          </a:p>
          <a:p>
            <a:r>
              <a:t>0 &amp; 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</a:t>
            </a:r>
          </a:p>
          <a:p/>
          <a:p>
            <a:r>
              <a:t>矛盾行识别的核对标准是：是否存在形如 $[0\ 0\ \cdots\ 0\ |\ b]$ 且 $b \neq 0$ 的行。参考结论：矩阵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2 &amp; 4 &amp; | &amp; 1 \\</a:t>
            </a:r>
          </a:p>
          <a:p>
            <a:r>
              <a:t>0 &amp; 0 &amp; 0 &amp; | &amp; 1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的第二行构成矛盾式 $0=1$，判定无解。典型错误是忽略增广列，仅看系数部分全零即认为可接受；修正依据是增广列的非零值使方程无解，再次验证应检查整行是否为“全零左部 + 非零右部”。</a:t>
            </a:r>
          </a:p>
          <a:p/>
          <a:p>
            <a:r>
              <a:t>解类型判定的核对标准是：无矛盾行时，比较主元数 $r$ 与未知数个数 $n$（系数矩阵列数）。参考结论：矩阵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0 &amp; 0 &amp; | &amp; 2 \\</a:t>
            </a:r>
          </a:p>
          <a:p>
            <a:r>
              <a:t>0 &amp; 1 &amp; 0 &amp; | &amp; -1 \\</a:t>
            </a:r>
          </a:p>
          <a:p>
            <a:r>
              <a:t>0 &amp; 0 &amp; 1 &amp; | &amp; 4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中 $r=3, n=3$，有唯一解。典型错误是将增广列计入 $n$，误判 $n=4$ 导致误认为无穷解；修正依据是未知数仅对应系数部分，增广列仅表示常数项，再次验证应数系数矩阵列数，排除竖线右侧。</a:t>
            </a:r>
          </a:p>
          <a:p>
            <a:r>
              <a:t>source_payload: {"content_perspective": "teacher_delivery", "feedback_structure": {"mode": "static_reference", "schema_version": "course_feedback_v1", "sections": [{"collapsed_by_default": true, "kind": "guidance", "markdown": "对行阶梯形增广矩阵，主元判定的核对标准是：在每一非零行中，从左至右找到第一个非零元素，且该元素所在列在下方所有行中均为零。参考结论：矩阵  \n\n$$\n\\begin{bmatrix}\n1 &amp; 3 &amp; 0 &amp; 2 &amp; | &amp; 5 \\\\\n0 &amp; 0 &amp; 1 &amp; -1 &amp; | &amp; 3 \\\\\n0 &amp; 0 &amp; 0 &amp; 0 &amp; | &amp; 0 \\\\\n0 &amp; 0 &amp; 0 &amp; 0 &amp; | &amp; 0\n\\end{bmatrix}\n$$\n\n  \n的主元位于第1列和第3列，主元数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\n\n矛盾行识别的核对标准是：是否存在形如 $[0\\ 0\\ \\cdots\\ 0\\ |\\ b]$ 且 $b \\neq 0$ 的行。参考结论：矩阵  \n\n$$\n\\begin{bmatrix}\n1 &amp; 2 &amp; 4 &amp; | &amp; 1 \\\\\n0 &amp; 0 &amp; 0 &amp; | &amp; 1 \\\\\n0 &amp; 0 &amp; 0 &amp; | &amp; 0\n\\end{bmatrix}\n$$\n\n  \n的第二行构成矛盾式 $0=1$，判定无解。典型错误是忽略增广列，仅看系数部分全零即认为可接受；修正依据是增广列的非零值使方程无解，再次验证应检查整行是否为“全零左部 + 非零右部”。\n\n解类型判定的核对标准是：无矛盾行时，比较主元数 $r$ 与未知数个数 $n$（系数矩阵列数）。参考结论：矩阵  \n\n$$\n\\begin{bmatrix}\n1 &amp; 0 &amp; 0 &amp; | &amp; 2 \\\\\n0 &amp; 1 &amp; 0 &amp; | &amp; -1 \\\\\n0 &amp; 0 &amp; 1 &amp; | &amp; 4\n\\end{bmatrix}\n$$\n\n  \n中 $r=3, n=3$，有唯一解。典型错误是将增广列计入 $n$，误判 $n=4$ 导致误认为无穷解；修正依据是未知数仅对应系数部分，增广列仅表示常数项，再次验证应数系数矩阵列数，排除竖线右侧。", "section_id": "feedback-section-f53ac175437c", "summary": "对行阶梯形增广矩阵，主元判定的核对标准是：在每一非零行中，从左至右找到第一个非零元素，且该元素所在列在下方所有行中均为零。参考结论：矩阵 begin{bmatrix} 1 &amp; 3 &amp; 0 &amp; ", "title": "参考与检查"}], "source_fingerprint": "90921eb352cb439d5122d142"}, "knowledge_binding_status": null, "markdown": "对行阶梯形增广矩阵，主元判定的核对标准是：在每一非零行中，从左至右找到第一个非零元素，且该元素所在列在下方所有行中均为零。参考结论：矩阵  \n\n$$\n\\begin{bmatrix}\n1 &amp; 3 &amp; 0 &amp; 2 &amp; | &amp; 5 \\\\\n0 &amp; 0 &amp; 1 &amp; -1 &amp; | &amp; 3 \\\\\n0 &amp; 0 &amp; 0 &amp; 0 &amp; | &amp; 0 \\\\\n0 &amp; 0 &amp; 0 &amp; 0 &amp; | &amp; 0\n\\end{bmatrix}\n$$\n\n  \n的主元位于第1列和第3列，主元数 $r=2$。典型错误是误将第2列的3视为主元，因前一列存在非零元，违反“首个非零”规则；修正依据是主元必须是行内最左非零元，且其下全零，再次验证应逐行从左扫描，跳过全零列。\n\n矛盾行识别的核对标准是：是否存在形如 $[0\\ 0\\ \\cdots\\ 0\\ |\\ b]$ 且 $b \\neq 0$ 的行。参考结论：矩阵  \n\n$$\n\\begin{bmatrix}\n1 &amp; 2 &amp; 4 &amp; | &amp; 1 \\\\\n0 &amp; 0 &amp; 0 &amp; | &amp; 1 \\\\\n0 &amp; 0 &amp; 0 &amp; | &amp; 0\n\\end{bmatrix}\n$$\n\n  \n的第二行构成矛盾式 $0=1$，判定无解。典型错误是忽略增广列，仅看系数部分全零即认为可接受；修正依据是增广列的非零值使方程无解，再次验证应检查整行是否为“全零左部 + 非零右部”。\n\n解类型判定的核对标准是：无矛盾行时，比较主元数 $r$ 与未知数个数 $n$（系数矩阵列数）。参考结论：矩阵  \n\n$$\n\\begin{bmatrix}\n1 &amp; 0 &amp; 0 &amp; | &amp; 2 \\\\\n0 &amp; 1 &amp; 0 &amp; | &amp; -1 \\\\\n0 &amp; 0 &amp; 1 &amp; | &amp; 4\n\\end{bmatrix}\n$$\n\n  \n中 $r=3, n=3$，有唯一解。典型错误是将增广列计入 $n$，误判 $n=4$ 导致误认为无穷解；修正依据是未知数仅对应系数部分，增广列仅表示常数项，再次验证应数系数矩阵列数，排除竖线右侧。", "module_id": "feedback_check", "module_instance_id": "tsb-b5a5e1da4d13", "planned_minutes": 2, "ppt_page_group_id": "L2-1-3:ppt-page-group:2", "summary": "对行阶梯形增广矩阵，主元判定的核对标准是：在每一非零行中，从左至右找到第一个非零元素，且该元素所在列在下方所有行中均为零。参考结论：矩阵 begin{bmatrix} 1 &amp; 3 &amp; 0 &amp; 2 &amp; | &amp; 5 0 &amp; 0 &amp; 1 &amp; 1 ", "title": "检查与反馈"}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cpu_56c8dbe826b8ca2abe32fa92</a:t>
            </a:r>
          </a:p>
          <a:p/>
          <a:p>
            <a:r>
              <a:t>source_section_ids: []</a:t>
            </a:r>
          </a:p>
          <a:p/>
          <a:p>
            <a:r>
              <a:t>[tsb-312b6c296aea @ cbr_c061520945517371c8accb85]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设 $ A \in \mathbb{R}^{m \times (n+1)} $ 为线性方程组的行阶梯形增广矩阵，其前 $ n $ 列为系数部分，第 $ n+1 $ 列为增广列。记非零行中首个非零元素（主元）的个数为 $ r $，即非零行数。若存在某一行形如 $ [0\ 0\ \cdots\ 0\ |\ b] $，其中 $ b \neq 0 $，则称该行为矛盾行，此时方程组无解。若不存在矛盾行，且 $ r = n $，则方程组有唯一解；若不存在矛盾行，且 $ r &lt; n $，则方程组有无穷多解。主元的判定需满足：在每行中，首个非零元素左侧全为零，且其所在列在下方行中对应位置均为零；全零行不参与主元计数。未知数个数 $ n $ 仅指系数矩阵的列数，不含增广列。核验方法：首先检查是否存在“左零右非零”行，若有则直接判定无解；若无，则统计非零行数 $ r $，并与 $ n $ 比较。例如矩阵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2 &amp; 0 &amp; | &amp; 3 \\</a:t>
            </a:r>
          </a:p>
          <a:p>
            <a:r>
              <a:t>0 &amp; 0 &amp; 1 &amp; | &amp; 4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中 $ r=2 $，$ n=3 $，无矛盾行，故有无穷多解；而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0 &amp; 0 &amp; | &amp; 1 \\</a:t>
            </a:r>
          </a:p>
          <a:p>
            <a:r>
              <a:t>0 &amp; 1 &amp; 0 &amp; | &amp; 2 \\</a:t>
            </a:r>
          </a:p>
          <a:p>
            <a:r>
              <a:t>0 &amp; 0 &amp; 0 &amp; | &amp; 1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中第三行为矛盾行，故无解。</a:t>
            </a:r>
          </a:p>
          <a:p>
            <a:r>
              <a:t>source_payload: {"content_perspective": "teacher_delivery", "knowledge_binding_status": null, "markdown": "设 $ A \\in \\mathbb{R}^{m \\times (n+1)} $ 为线性方程组的行阶梯形增广矩阵，其前 $ n $ 列为系数部分，第 $ n+1 $ 列为增广列。记非零行中首个非零元素（主元）的个数为 $ r $，即非零行数。若存在某一行形如 $ [0\\ 0\\ \\cdots\\ 0\\ |\\ b] $，其中 $ b \\neq 0 $，则称该行为矛盾行，此时方程组无解。若不存在矛盾行，且 $ r = n $，则方程组有唯一解；若不存在矛盾行，且 $ r &lt; n $，则方程组有无穷多解。主元的判定需满足：在每行中，首个非零元素左侧全为零，且其所在列在下方行中对应位置均为零；全零行不参与主元计数。未知数个数 $ n $ 仅指系数矩阵的列数，不含增广列。核验方法：首先检查是否存在“左零右非零”行，若有则直接判定无解；若无，则统计非零行数 $ r $，并与 $ n $ 比较。例如矩阵  \n\n$$\n\\begin{bmatrix}\n1 &amp; 2 &amp; 0 &amp; | &amp; 3 \\\\\n0 &amp; 0 &amp; 1 &amp; | &amp; 4 \\\\\n0 &amp; 0 &amp; 0 &amp; | &amp; 0\n\\end{bmatrix}\n$$\n\n  \n中 $ r=2 $，$ n=3 $，无矛盾行，故有无穷多解；而  \n\n$$\n\\begin{bmatrix}\n1 &amp; 0 &amp; 0 &amp; | &amp; 1 \\\\\n0 &amp; 1 &amp; 0 &amp; | &amp; 2 \\\\\n0 &amp; 0 &amp; 0 &amp; | &amp; 1\n\\end{bmatrix}\n$$\n\n  \n中第三行为矛盾行，故无解。", "module_id": "math_formalization", "module_instance_id": "tsb-312b6c296aea", "planned_minutes": 2, "ppt_page_group_id": "L2-1-3:ppt-page-group:3", "summary": "设 A in mathbb{R}^{m times (n+1)} 为线性方程组的行阶梯形增广矩阵，其前 n 列为系数部分，第 n+1 列为增广列。记非零行中首个非零元素（主元）的个数为 r ，即非零行数。若存在某一行形如 [0 0 cdot", "title": "正式定义"}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cpu_56c8dbe826b8ca2abe32fa92</a:t>
            </a:r>
          </a:p>
          <a:p/>
          <a:p>
            <a:r>
              <a:t>source_section_ids: []</a:t>
            </a:r>
          </a:p>
          <a:p/>
          <a:p>
            <a:r>
              <a:t>[tsb-312b6c296aea @ cbr_c061520945517371c8accb85]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设 $ A \in \mathbb{R}^{m \times (n+1)} $ 为线性方程组的行阶梯形增广矩阵，其前 $ n $ 列为系数部分，第 $ n+1 $ 列为增广列。记非零行中首个非零元素（主元）的个数为 $ r $，即非零行数。若存在某一行形如 $ [0\ 0\ \cdots\ 0\ |\ b] $，其中 $ b \neq 0 $，则称该行为矛盾行，此时方程组无解。若不存在矛盾行，且 $ r = n $，则方程组有唯一解；若不存在矛盾行，且 $ r &lt; n $，则方程组有无穷多解。主元的判定需满足：在每行中，首个非零元素左侧全为零，且其所在列在下方行中对应位置均为零；全零行不参与主元计数。未知数个数 $ n $ 仅指系数矩阵的列数，不含增广列。核验方法：首先检查是否存在“左零右非零”行，若有则直接判定无解；若无，则统计非零行数 $ r $，并与 $ n $ 比较。例如矩阵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2 &amp; 0 &amp; | &amp; 3 \\</a:t>
            </a:r>
          </a:p>
          <a:p>
            <a:r>
              <a:t>0 &amp; 0 &amp; 1 &amp; | &amp; 4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中 $ r=2 $，$ n=3 $，无矛盾行，故有无穷多解；而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0 &amp; 0 &amp; | &amp; 1 \\</a:t>
            </a:r>
          </a:p>
          <a:p>
            <a:r>
              <a:t>0 &amp; 1 &amp; 0 &amp; | &amp; 2 \\</a:t>
            </a:r>
          </a:p>
          <a:p>
            <a:r>
              <a:t>0 &amp; 0 &amp; 0 &amp; | &amp; 1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中第三行为矛盾行，故无解。</a:t>
            </a:r>
          </a:p>
          <a:p>
            <a:r>
              <a:t>source_payload: {"content_perspective": "teacher_delivery", "knowledge_binding_status": null, "markdown": "设 $ A \\in \\mathbb{R}^{m \\times (n+1)} $ 为线性方程组的行阶梯形增广矩阵，其前 $ n $ 列为系数部分，第 $ n+1 $ 列为增广列。记非零行中首个非零元素（主元）的个数为 $ r $，即非零行数。若存在某一行形如 $ [0\\ 0\\ \\cdots\\ 0\\ |\\ b] $，其中 $ b \\neq 0 $，则称该行为矛盾行，此时方程组无解。若不存在矛盾行，且 $ r = n $，则方程组有唯一解；若不存在矛盾行，且 $ r &lt; n $，则方程组有无穷多解。主元的判定需满足：在每行中，首个非零元素左侧全为零，且其所在列在下方行中对应位置均为零；全零行不参与主元计数。未知数个数 $ n $ 仅指系数矩阵的列数，不含增广列。核验方法：首先检查是否存在“左零右非零”行，若有则直接判定无解；若无，则统计非零行数 $ r $，并与 $ n $ 比较。例如矩阵  \n\n$$\n\\begin{bmatrix}\n1 &amp; 2 &amp; 0 &amp; | &amp; 3 \\\\\n0 &amp; 0 &amp; 1 &amp; | &amp; 4 \\\\\n0 &amp; 0 &amp; 0 &amp; | &amp; 0\n\\end{bmatrix}\n$$\n\n  \n中 $ r=2 $，$ n=3 $，无矛盾行，故有无穷多解；而  \n\n$$\n\\begin{bmatrix}\n1 &amp; 0 &amp; 0 &amp; | &amp; 1 \\\\\n0 &amp; 1 &amp; 0 &amp; | &amp; 2 \\\\\n0 &amp; 0 &amp; 0 &amp; | &amp; 1\n\\end{bmatrix}\n$$\n\n  \n中第三行为矛盾行，故无解。", "module_id": "math_formalization", "module_instance_id": "tsb-312b6c296aea", "planned_minutes": 2, "ppt_page_group_id": "L2-1-3:ppt-page-group:3", "summary": "设 A in mathbb{R}^{m times (n+1)} 为线性方程组的行阶梯形增广矩阵，其前 n 列为系数部分，第 n+1 列为增广列。记非零行中首个非零元素（主元）的个数为 r ，即非零行数。若存在某一行形如 [0 0 cdot", "title": "正式定义"}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cpu_56c8dbe826b8ca2abe32fa92</a:t>
            </a:r>
          </a:p>
          <a:p/>
          <a:p>
            <a:r>
              <a:t>source_section_ids: []</a:t>
            </a:r>
          </a:p>
          <a:p/>
          <a:p>
            <a:r>
              <a:t>[tsb-312b6c296aea @ cbr_c061520945517371c8accb85]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设 $ A \in \mathbb{R}^{m \times (n+1)} $ 为线性方程组的行阶梯形增广矩阵，其前 $ n $ 列为系数部分，第 $ n+1 $ 列为增广列。记非零行中首个非零元素（主元）的个数为 $ r $，即非零行数。若存在某一行形如 $ [0\ 0\ \cdots\ 0\ |\ b] $，其中 $ b \neq 0 $，则称该行为矛盾行，此时方程组无解。若不存在矛盾行，且 $ r = n $，则方程组有唯一解；若不存在矛盾行，且 $ r &lt; n $，则方程组有无穷多解。主元的判定需满足：在每行中，首个非零元素左侧全为零，且其所在列在下方行中对应位置均为零；全零行不参与主元计数。未知数个数 $ n $ 仅指系数矩阵的列数，不含增广列。核验方法：首先检查是否存在“左零右非零”行，若有则直接判定无解；若无，则统计非零行数 $ r $，并与 $ n $ 比较。例如矩阵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2 &amp; 0 &amp; | &amp; 3 \\</a:t>
            </a:r>
          </a:p>
          <a:p>
            <a:r>
              <a:t>0 &amp; 0 &amp; 1 &amp; | &amp; 4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中 $ r=2 $，$ n=3 $，无矛盾行，故有无穷多解；而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0 &amp; 0 &amp; | &amp; 1 \\</a:t>
            </a:r>
          </a:p>
          <a:p>
            <a:r>
              <a:t>0 &amp; 1 &amp; 0 &amp; | &amp; 2 \\</a:t>
            </a:r>
          </a:p>
          <a:p>
            <a:r>
              <a:t>0 &amp; 0 &amp; 0 &amp; | &amp; 1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中第三行为矛盾行，故无解。</a:t>
            </a:r>
          </a:p>
          <a:p>
            <a:r>
              <a:t>source_payload: {"content_perspective": "teacher_delivery", "knowledge_binding_status": null, "markdown": "设 $ A \\in \\mathbb{R}^{m \\times (n+1)} $ 为线性方程组的行阶梯形增广矩阵，其前 $ n $ 列为系数部分，第 $ n+1 $ 列为增广列。记非零行中首个非零元素（主元）的个数为 $ r $，即非零行数。若存在某一行形如 $ [0\\ 0\\ \\cdots\\ 0\\ |\\ b] $，其中 $ b \\neq 0 $，则称该行为矛盾行，此时方程组无解。若不存在矛盾行，且 $ r = n $，则方程组有唯一解；若不存在矛盾行，且 $ r &lt; n $，则方程组有无穷多解。主元的判定需满足：在每行中，首个非零元素左侧全为零，且其所在列在下方行中对应位置均为零；全零行不参与主元计数。未知数个数 $ n $ 仅指系数矩阵的列数，不含增广列。核验方法：首先检查是否存在“左零右非零”行，若有则直接判定无解；若无，则统计非零行数 $ r $，并与 $ n $ 比较。例如矩阵  \n\n$$\n\\begin{bmatrix}\n1 &amp; 2 &amp; 0 &amp; | &amp; 3 \\\\\n0 &amp; 0 &amp; 1 &amp; | &amp; 4 \\\\\n0 &amp; 0 &amp; 0 &amp; | &amp; 0\n\\end{bmatrix}\n$$\n\n  \n中 $ r=2 $，$ n=3 $，无矛盾行，故有无穷多解；而  \n\n$$\n\\begin{bmatrix}\n1 &amp; 0 &amp; 0 &amp; | &amp; 1 \\\\\n0 &amp; 1 &amp; 0 &amp; | &amp; 2 \\\\\n0 &amp; 0 &amp; 0 &amp; | &amp; 1\n\\end{bmatrix}\n$$\n\n  \n中第三行为矛盾行，故无解。", "module_id": "math_formalization", "module_instance_id": "tsb-312b6c296aea", "planned_minutes": 2, "ppt_page_group_id": "L2-1-3:ppt-page-group:3", "summary": "设 A in mathbb{R}^{m times (n+1)} 为线性方程组的行阶梯形增广矩阵，其前 n 列为系数部分，第 n+1 列为增广列。记非零行中首个非零元素（主元）的个数为 r ，即非零行数。若存在某一行形如 [0 0 cdot", "title": "正式定义"}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cpu_56c8dbe826b8ca2abe32fa92</a:t>
            </a:r>
          </a:p>
          <a:p/>
          <a:p>
            <a:r>
              <a:t>source_section_ids: []</a:t>
            </a:r>
          </a:p>
          <a:p/>
          <a:p>
            <a:r>
              <a:t>[tsb-312b6c296aea @ cbr_c061520945517371c8accb85]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设 $ A \in \mathbb{R}^{m \times (n+1)} $ 为线性方程组的行阶梯形增广矩阵，其前 $ n $ 列为系数部分，第 $ n+1 $ 列为增广列。记非零行中首个非零元素（主元）的个数为 $ r $，即非零行数。若存在某一行形如 $ [0\ 0\ \cdots\ 0\ |\ b] $，其中 $ b \neq 0 $，则称该行为矛盾行，此时方程组无解。若不存在矛盾行，且 $ r = n $，则方程组有唯一解；若不存在矛盾行，且 $ r &lt; n $，则方程组有无穷多解。主元的判定需满足：在每行中，首个非零元素左侧全为零，且其所在列在下方行中对应位置均为零；全零行不参与主元计数。未知数个数 $ n $ 仅指系数矩阵的列数，不含增广列。核验方法：首先检查是否存在“左零右非零”行，若有则直接判定无解；若无，则统计非零行数 $ r $，并与 $ n $ 比较。例如矩阵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2 &amp; 0 &amp; | &amp; 3 \\</a:t>
            </a:r>
          </a:p>
          <a:p>
            <a:r>
              <a:t>0 &amp; 0 &amp; 1 &amp; | &amp; 4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中 $ r=2 $，$ n=3 $，无矛盾行，故有无穷多解；而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0 &amp; 0 &amp; | &amp; 1 \\</a:t>
            </a:r>
          </a:p>
          <a:p>
            <a:r>
              <a:t>0 &amp; 1 &amp; 0 &amp; | &amp; 2 \\</a:t>
            </a:r>
          </a:p>
          <a:p>
            <a:r>
              <a:t>0 &amp; 0 &amp; 0 &amp; | &amp; 1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中第三行为矛盾行，故无解。</a:t>
            </a:r>
          </a:p>
          <a:p>
            <a:r>
              <a:t>source_payload: {"content_perspective": "teacher_delivery", "knowledge_binding_status": null, "markdown": "设 $ A \\in \\mathbb{R}^{m \\times (n+1)} $ 为线性方程组的行阶梯形增广矩阵，其前 $ n $ 列为系数部分，第 $ n+1 $ 列为增广列。记非零行中首个非零元素（主元）的个数为 $ r $，即非零行数。若存在某一行形如 $ [0\\ 0\\ \\cdots\\ 0\\ |\\ b] $，其中 $ b \\neq 0 $，则称该行为矛盾行，此时方程组无解。若不存在矛盾行，且 $ r = n $，则方程组有唯一解；若不存在矛盾行，且 $ r &lt; n $，则方程组有无穷多解。主元的判定需满足：在每行中，首个非零元素左侧全为零，且其所在列在下方行中对应位置均为零；全零行不参与主元计数。未知数个数 $ n $ 仅指系数矩阵的列数，不含增广列。核验方法：首先检查是否存在“左零右非零”行，若有则直接判定无解；若无，则统计非零行数 $ r $，并与 $ n $ 比较。例如矩阵  \n\n$$\n\\begin{bmatrix}\n1 &amp; 2 &amp; 0 &amp; | &amp; 3 \\\\\n0 &amp; 0 &amp; 1 &amp; | &amp; 4 \\\\\n0 &amp; 0 &amp; 0 &amp; | &amp; 0\n\\end{bmatrix}\n$$\n\n  \n中 $ r=2 $，$ n=3 $，无矛盾行，故有无穷多解；而  \n\n$$\n\\begin{bmatrix}\n1 &amp; 0 &amp; 0 &amp; | &amp; 1 \\\\\n0 &amp; 1 &amp; 0 &amp; | &amp; 2 \\\\\n0 &amp; 0 &amp; 0 &amp; | &amp; 1\n\\end{bmatrix}\n$$\n\n  \n中第三行为矛盾行，故无解。", "module_id": "math_formalization", "module_instance_id": "tsb-312b6c296aea", "planned_minutes": 2, "ppt_page_group_id": "L2-1-3:ppt-page-group:3", "summary": "设 A in mathbb{R}^{m times (n+1)} 为线性方程组的行阶梯形增广矩阵，其前 n 列为系数部分，第 n+1 列为增广列。记非零行中首个非零元素（主元）的个数为 r ，即非零行数。若存在某一行形如 [0 0 cdot", "title": "正式定义"}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cpu_56c8dbe826b8ca2abe32fa92</a:t>
            </a:r>
          </a:p>
          <a:p/>
          <a:p>
            <a:r>
              <a:t>source_section_ids: []</a:t>
            </a:r>
          </a:p>
          <a:p/>
          <a:p>
            <a:r>
              <a:t>[tsb-312b6c296aea @ cbr_c061520945517371c8accb85]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设 $ A \in \mathbb{R}^{m \times (n+1)} $ 为线性方程组的行阶梯形增广矩阵，其前 $ n $ 列为系数部分，第 $ n+1 $ 列为增广列。记非零行中首个非零元素（主元）的个数为 $ r $，即非零行数。若存在某一行形如 $ [0\ 0\ \cdots\ 0\ |\ b] $，其中 $ b \neq 0 $，则称该行为矛盾行，此时方程组无解。若不存在矛盾行，且 $ r = n $，则方程组有唯一解；若不存在矛盾行，且 $ r &lt; n $，则方程组有无穷多解。主元的判定需满足：在每行中，首个非零元素左侧全为零，且其所在列在下方行中对应位置均为零；全零行不参与主元计数。未知数个数 $ n $ 仅指系数矩阵的列数，不含增广列。核验方法：首先检查是否存在“左零右非零”行，若有则直接判定无解；若无，则统计非零行数 $ r $，并与 $ n $ 比较。例如矩阵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2 &amp; 0 &amp; | &amp; 3 \\</a:t>
            </a:r>
          </a:p>
          <a:p>
            <a:r>
              <a:t>0 &amp; 0 &amp; 1 &amp; | &amp; 4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中 $ r=2 $，$ n=3 $，无矛盾行，故有无穷多解；而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0 &amp; 0 &amp; | &amp; 1 \\</a:t>
            </a:r>
          </a:p>
          <a:p>
            <a:r>
              <a:t>0 &amp; 1 &amp; 0 &amp; | &amp; 2 \\</a:t>
            </a:r>
          </a:p>
          <a:p>
            <a:r>
              <a:t>0 &amp; 0 &amp; 0 &amp; | &amp; 1</a:t>
            </a:r>
          </a:p>
          <a:p>
            <a:r>
              <a:t>\end{bmatrix}</a:t>
            </a:r>
          </a:p>
          <a:p>
            <a:r>
              <a:t>$$</a:t>
            </a:r>
          </a:p>
          <a:p/>
          <a:p>
            <a:r>
              <a:t>  </a:t>
            </a:r>
          </a:p>
          <a:p>
            <a:r>
              <a:t>中第三行为矛盾行，故无解。</a:t>
            </a:r>
          </a:p>
          <a:p>
            <a:r>
              <a:t>source_payload: {"content_perspective": "teacher_delivery", "knowledge_binding_status": null, "markdown": "设 $ A \\in \\mathbb{R}^{m \\times (n+1)} $ 为线性方程组的行阶梯形增广矩阵，其前 $ n $ 列为系数部分，第 $ n+1 $ 列为增广列。记非零行中首个非零元素（主元）的个数为 $ r $，即非零行数。若存在某一行形如 $ [0\\ 0\\ \\cdots\\ 0\\ |\\ b] $，其中 $ b \\neq 0 $，则称该行为矛盾行，此时方程组无解。若不存在矛盾行，且 $ r = n $，则方程组有唯一解；若不存在矛盾行，且 $ r &lt; n $，则方程组有无穷多解。主元的判定需满足：在每行中，首个非零元素左侧全为零，且其所在列在下方行中对应位置均为零；全零行不参与主元计数。未知数个数 $ n $ 仅指系数矩阵的列数，不含增广列。核验方法：首先检查是否存在“左零右非零”行，若有则直接判定无解；若无，则统计非零行数 $ r $，并与 $ n $ 比较。例如矩阵  \n\n$$\n\\begin{bmatrix}\n1 &amp; 2 &amp; 0 &amp; | &amp; 3 \\\\\n0 &amp; 0 &amp; 1 &amp; | &amp; 4 \\\\\n0 &amp; 0 &amp; 0 &amp; | &amp; 0\n\\end{bmatrix}\n$$\n\n  \n中 $ r=2 $，$ n=3 $，无矛盾行，故有无穷多解；而  \n\n$$\n\\begin{bmatrix}\n1 &amp; 0 &amp; 0 &amp; | &amp; 1 \\\\\n0 &amp; 1 &amp; 0 &amp; | &amp; 2 \\\\\n0 &amp; 0 &amp; 0 &amp; | &amp; 1\n\\end{bmatrix}\n$$\n\n  \n中第三行为矛盾行，故无解。", "module_id": "math_formalization", "module_instance_id": "tsb-312b6c296aea", "planned_minutes": 2, "ppt_page_group_id": "L2-1-3:ppt-page-group:3", "summary": "设 A in mathbb{R}^{m times (n+1)} 为线性方程组的行阶梯形增广矩阵，其前 n 列为系数部分，第 n+1 列为增广列。记非零行中首个非零元素（主元）的个数为 r ，即非零行数。若存在某一行形如 [0 0 cdot", "title": "正式定义"}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cpu_56c8dbe826b8ca2abe32fa92</a:t>
            </a:r>
          </a:p>
          <a:p/>
          <a:p>
            <a:r>
              <a:t>source_section_ids: []</a:t>
            </a:r>
          </a:p>
          <a:p/>
          <a:p>
            <a:r>
              <a:t>[tsb-2b67216f9ea5 @ cbr_42ad854844f343eb9c517f1c]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行阶梯形增广矩阵中，若存在某行形如 </a:t>
            </a:r>
          </a:p>
          <a:p>
            <a:r>
              <a:t>$$</a:t>
            </a:r>
          </a:p>
          <a:p>
            <a:r>
              <a:t>\begin{bmatrix} 0 &amp; 0 &amp; \cdots &amp; 0 &amp; | &amp; b \end{bmatrix}</a:t>
            </a:r>
          </a:p>
          <a:p>
            <a:r>
              <a:t>$$</a:t>
            </a:r>
          </a:p>
          <a:p>
            <a:r>
              <a:t>，其中 $ b \neq 0 $，则对应方程为 $ 0 = b $，这在实数域中恒不成立，构成逻辑矛盾，故方程组无解。此判据不依赖于其他行，仅需存在一行满足“系数全零、常数非零”即足以断言无解。</a:t>
            </a:r>
          </a:p>
          <a:p/>
          <a:p>
            <a:r>
              <a:t>若无此类矛盾行，则方程组有解。设系数矩阵有 $ n $ 列，非零行数（即主元个数）为 $ r $。每个主元对应一个可唯一解出的变量，其余 $ n - r $ 个变量无主元约束，可自由取值，称为自由变量。例如矩阵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2 &amp; 0 &amp; | &amp; 3 \\</a:t>
            </a:r>
          </a:p>
          <a:p>
            <a:r>
              <a:t>0 &amp; 0 &amp; 1 &amp; | &amp; 4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中 $ r = 2 $，$ n = 3 $，自由变量为第二列对应变量，可设为参数 $ t \in \mathbb{R} $，则解集为 $ x_1 = 3 - 2t $, $ x_2 = t $, $ x_3 = 4 $，形成一维解空间，故有无穷多解。</a:t>
            </a:r>
          </a:p>
          <a:p/>
          <a:p>
            <a:r>
              <a:t>当 $ r = n $ 时，无自由变量，每个变量均由主元方程唯一确定，解唯一。例如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0 &amp; | &amp; 1 \\</a:t>
            </a:r>
          </a:p>
          <a:p>
            <a:r>
              <a:t>0 &amp; 1 &amp; | &amp; 2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中 $ r = n = 2 $，解为 $ x_1 = 1, x_2 = 2 $，唯一。解的类型由主元数与未知数个数的相对关系决定，且必须以无矛盾行为前提。</a:t>
            </a:r>
          </a:p>
          <a:p>
            <a:r>
              <a:t>source_payload: {"content_perspective": "teacher_delivery", "knowledge_binding_status": null, "markdown": "行阶梯形增广矩阵中，若存在某行形如 \n$$\n\\begin{bmatrix} 0 &amp; 0 &amp; \\cdots &amp; 0 &amp; | &amp; b \\end{bmatrix}\n$$\n，其中 $ b \\neq 0 $，则对应方程为 $ 0 = b $，这在实数域中恒不成立，构成逻辑矛盾，故方程组无解。此判据不依赖于其他行，仅需存在一行满足“系数全零、常数非零”即足以断言无解。\n\n若无此类矛盾行，则方程组有解。设系数矩阵有 $ n $ 列，非零行数（即主元个数）为 $ r $。每个主元对应一个可唯一解出的变量，其余 $ n - r $ 个变量无主元约束，可自由取值，称为自由变量。例如矩阵  \n\n$$\n\\begin{bmatrix}\n1 &amp; 2 &amp; 0 &amp; | &amp; 3 \\\\\n0 &amp; 0 &amp; 1 &amp; | &amp; 4 \\\\\n0 &amp; 0 &amp; 0 &amp; | &amp; 0\n\\end{bmatrix}\n$$\n  \n中 $ r = 2 $，$ n = 3 $，自由变量为第二列对应变量，可设为参数 $ t \\in \\mathbb{R} $，则解集为 $ x_1 = 3 - 2t $, $ x_2 = t $, $ x_3 = 4 $，形成一维解空间，故有无穷多解。\n\n当 $ r = n $ 时，无自由变量，每个变量均由主元方程唯一确定，解唯一。例如  \n\n$$\n\\begin{bmatrix}\n1 &amp; 0 &amp; | &amp; 1 \\\\\n0 &amp; 1 &amp; | &amp; 2\n\\end{bmatrix}\n$$\n  \n中 $ r = n = 2 $，解为 $ x_1 = 1, x_2 = 2 $，唯一。解的类型由主元数与未知数个数的相对关系决定，且必须以无矛盾行为前提。", "module_id": "math_proof", "module_instance_id": "tsb-2b67216f9ea5", "planned_minutes": 2, "ppt_page_group_id": "L2-1-3:ppt-page-group:3", "summary": "行阶梯形增广矩阵中，若存在某行形如 begin{bmatrix} 0 &amp; 0 &amp; cdots &amp; 0 &amp; | &amp; b end{bmatrix} ，其中 b neq 0 ，则对应方程为 0 = b ，这在实数域中恒不成立，构成逻辑矛盾，故方程", "title": "证明与推导"}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cpu_56c8dbe826b8ca2abe32fa92</a:t>
            </a:r>
          </a:p>
          <a:p/>
          <a:p>
            <a:r>
              <a:t>source_section_ids: []</a:t>
            </a:r>
          </a:p>
          <a:p/>
          <a:p>
            <a:r>
              <a:t>[tsb-2b67216f9ea5 @ cbr_42ad854844f343eb9c517f1c]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行阶梯形增广矩阵中，若存在某行形如 </a:t>
            </a:r>
          </a:p>
          <a:p>
            <a:r>
              <a:t>$$</a:t>
            </a:r>
          </a:p>
          <a:p>
            <a:r>
              <a:t>\begin{bmatrix} 0 &amp; 0 &amp; \cdots &amp; 0 &amp; | &amp; b \end{bmatrix}</a:t>
            </a:r>
          </a:p>
          <a:p>
            <a:r>
              <a:t>$$</a:t>
            </a:r>
          </a:p>
          <a:p>
            <a:r>
              <a:t>，其中 $ b \neq 0 $，则对应方程为 $ 0 = b $，这在实数域中恒不成立，构成逻辑矛盾，故方程组无解。此判据不依赖于其他行，仅需存在一行满足“系数全零、常数非零”即足以断言无解。</a:t>
            </a:r>
          </a:p>
          <a:p/>
          <a:p>
            <a:r>
              <a:t>若无此类矛盾行，则方程组有解。设系数矩阵有 $ n $ 列，非零行数（即主元个数）为 $ r $。每个主元对应一个可唯一解出的变量，其余 $ n - r $ 个变量无主元约束，可自由取值，称为自由变量。例如矩阵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2 &amp; 0 &amp; | &amp; 3 \\</a:t>
            </a:r>
          </a:p>
          <a:p>
            <a:r>
              <a:t>0 &amp; 0 &amp; 1 &amp; | &amp; 4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中 $ r = 2 $，$ n = 3 $，自由变量为第二列对应变量，可设为参数 $ t \in \mathbb{R} $，则解集为 $ x_1 = 3 - 2t $, $ x_2 = t $, $ x_3 = 4 $，形成一维解空间，故有无穷多解。</a:t>
            </a:r>
          </a:p>
          <a:p/>
          <a:p>
            <a:r>
              <a:t>当 $ r = n $ 时，无自由变量，每个变量均由主元方程唯一确定，解唯一。例如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0 &amp; | &amp; 1 \\</a:t>
            </a:r>
          </a:p>
          <a:p>
            <a:r>
              <a:t>0 &amp; 1 &amp; | &amp; 2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中 $ r = n = 2 $，解为 $ x_1 = 1, x_2 = 2 $，唯一。解的类型由主元数与未知数个数的相对关系决定，且必须以无矛盾行为前提。</a:t>
            </a:r>
          </a:p>
          <a:p>
            <a:r>
              <a:t>source_payload: {"content_perspective": "teacher_delivery", "knowledge_binding_status": null, "markdown": "行阶梯形增广矩阵中，若存在某行形如 \n$$\n\\begin{bmatrix} 0 &amp; 0 &amp; \\cdots &amp; 0 &amp; | &amp; b \\end{bmatrix}\n$$\n，其中 $ b \\neq 0 $，则对应方程为 $ 0 = b $，这在实数域中恒不成立，构成逻辑矛盾，故方程组无解。此判据不依赖于其他行，仅需存在一行满足“系数全零、常数非零”即足以断言无解。\n\n若无此类矛盾行，则方程组有解。设系数矩阵有 $ n $ 列，非零行数（即主元个数）为 $ r $。每个主元对应一个可唯一解出的变量，其余 $ n - r $ 个变量无主元约束，可自由取值，称为自由变量。例如矩阵  \n\n$$\n\\begin{bmatrix}\n1 &amp; 2 &amp; 0 &amp; | &amp; 3 \\\\\n0 &amp; 0 &amp; 1 &amp; | &amp; 4 \\\\\n0 &amp; 0 &amp; 0 &amp; | &amp; 0\n\\end{bmatrix}\n$$\n  \n中 $ r = 2 $，$ n = 3 $，自由变量为第二列对应变量，可设为参数 $ t \\in \\mathbb{R} $，则解集为 $ x_1 = 3 - 2t $, $ x_2 = t $, $ x_3 = 4 $，形成一维解空间，故有无穷多解。\n\n当 $ r = n $ 时，无自由变量，每个变量均由主元方程唯一确定，解唯一。例如  \n\n$$\n\\begin{bmatrix}\n1 &amp; 0 &amp; | &amp; 1 \\\\\n0 &amp; 1 &amp; | &amp; 2\n\\end{bmatrix}\n$$\n  \n中 $ r = n = 2 $，解为 $ x_1 = 1, x_2 = 2 $，唯一。解的类型由主元数与未知数个数的相对关系决定，且必须以无矛盾行为前提。", "module_id": "math_proof", "module_instance_id": "tsb-2b67216f9ea5", "planned_minutes": 2, "ppt_page_group_id": "L2-1-3:ppt-page-group:3", "summary": "行阶梯形增广矩阵中，若存在某行形如 begin{bmatrix} 0 &amp; 0 &amp; cdots &amp; 0 &amp; | &amp; b end{bmatrix} ，其中 b neq 0 ，则对应方程为 0 = b ，这在实数域中恒不成立，构成逻辑矛盾，故方程", "title": "证明与推导"}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cpu_56c8dbe826b8ca2abe32fa92</a:t>
            </a:r>
          </a:p>
          <a:p/>
          <a:p>
            <a:r>
              <a:t>source_section_ids: []</a:t>
            </a:r>
          </a:p>
          <a:p/>
          <a:p>
            <a:r>
              <a:t>[tsb-2b67216f9ea5 @ cbr_42ad854844f343eb9c517f1c]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行阶梯形增广矩阵中，若存在某行形如 </a:t>
            </a:r>
          </a:p>
          <a:p>
            <a:r>
              <a:t>$$</a:t>
            </a:r>
          </a:p>
          <a:p>
            <a:r>
              <a:t>\begin{bmatrix} 0 &amp; 0 &amp; \cdots &amp; 0 &amp; | &amp; b \end{bmatrix}</a:t>
            </a:r>
          </a:p>
          <a:p>
            <a:r>
              <a:t>$$</a:t>
            </a:r>
          </a:p>
          <a:p>
            <a:r>
              <a:t>，其中 $ b \neq 0 $，则对应方程为 $ 0 = b $，这在实数域中恒不成立，构成逻辑矛盾，故方程组无解。此判据不依赖于其他行，仅需存在一行满足“系数全零、常数非零”即足以断言无解。</a:t>
            </a:r>
          </a:p>
          <a:p/>
          <a:p>
            <a:r>
              <a:t>若无此类矛盾行，则方程组有解。设系数矩阵有 $ n $ 列，非零行数（即主元个数）为 $ r $。每个主元对应一个可唯一解出的变量，其余 $ n - r $ 个变量无主元约束，可自由取值，称为自由变量。例如矩阵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2 &amp; 0 &amp; | &amp; 3 \\</a:t>
            </a:r>
          </a:p>
          <a:p>
            <a:r>
              <a:t>0 &amp; 0 &amp; 1 &amp; | &amp; 4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中 $ r = 2 $，$ n = 3 $，自由变量为第二列对应变量，可设为参数 $ t \in \mathbb{R} $，则解集为 $ x_1 = 3 - 2t $, $ x_2 = t $, $ x_3 = 4 $，形成一维解空间，故有无穷多解。</a:t>
            </a:r>
          </a:p>
          <a:p/>
          <a:p>
            <a:r>
              <a:t>当 $ r = n $ 时，无自由变量，每个变量均由主元方程唯一确定，解唯一。例如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0 &amp; | &amp; 1 \\</a:t>
            </a:r>
          </a:p>
          <a:p>
            <a:r>
              <a:t>0 &amp; 1 &amp; | &amp; 2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中 $ r = n = 2 $，解为 $ x_1 = 1, x_2 = 2 $，唯一。解的类型由主元数与未知数个数的相对关系决定，且必须以无矛盾行为前提。</a:t>
            </a:r>
          </a:p>
          <a:p>
            <a:r>
              <a:t>source_payload: {"content_perspective": "teacher_delivery", "knowledge_binding_status": null, "markdown": "行阶梯形增广矩阵中，若存在某行形如 \n$$\n\\begin{bmatrix} 0 &amp; 0 &amp; \\cdots &amp; 0 &amp; | &amp; b \\end{bmatrix}\n$$\n，其中 $ b \\neq 0 $，则对应方程为 $ 0 = b $，这在实数域中恒不成立，构成逻辑矛盾，故方程组无解。此判据不依赖于其他行，仅需存在一行满足“系数全零、常数非零”即足以断言无解。\n\n若无此类矛盾行，则方程组有解。设系数矩阵有 $ n $ 列，非零行数（即主元个数）为 $ r $。每个主元对应一个可唯一解出的变量，其余 $ n - r $ 个变量无主元约束，可自由取值，称为自由变量。例如矩阵  \n\n$$\n\\begin{bmatrix}\n1 &amp; 2 &amp; 0 &amp; | &amp; 3 \\\\\n0 &amp; 0 &amp; 1 &amp; | &amp; 4 \\\\\n0 &amp; 0 &amp; 0 &amp; | &amp; 0\n\\end{bmatrix}\n$$\n  \n中 $ r = 2 $，$ n = 3 $，自由变量为第二列对应变量，可设为参数 $ t \\in \\mathbb{R} $，则解集为 $ x_1 = 3 - 2t $, $ x_2 = t $, $ x_3 = 4 $，形成一维解空间，故有无穷多解。\n\n当 $ r = n $ 时，无自由变量，每个变量均由主元方程唯一确定，解唯一。例如  \n\n$$\n\\begin{bmatrix}\n1 &amp; 0 &amp; | &amp; 1 \\\\\n0 &amp; 1 &amp; | &amp; 2\n\\end{bmatrix}\n$$\n  \n中 $ r = n = 2 $，解为 $ x_1 = 1, x_2 = 2 $，唯一。解的类型由主元数与未知数个数的相对关系决定，且必须以无矛盾行为前提。", "module_id": "math_proof", "module_instance_id": "tsb-2b67216f9ea5", "planned_minutes": 2, "ppt_page_group_id": "L2-1-3:ppt-page-group:3", "summary": "行阶梯形增广矩阵中，若存在某行形如 begin{bmatrix} 0 &amp; 0 &amp; cdots &amp; 0 &amp; | &amp; b end{bmatrix} ，其中 b neq 0 ，则对应方程为 0 = b ，这在实数域中恒不成立，构成逻辑矛盾，故方程", "title": "证明与推导"}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cpu_56c8dbe826b8ca2abe32fa92</a:t>
            </a:r>
          </a:p>
          <a:p/>
          <a:p>
            <a:r>
              <a:t>source_section_ids: []</a:t>
            </a:r>
          </a:p>
          <a:p/>
          <a:p>
            <a:r>
              <a:t>[tsb-2b67216f9ea5 @ cbr_42ad854844f343eb9c517f1c]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行阶梯形增广矩阵中，若存在某行形如 </a:t>
            </a:r>
          </a:p>
          <a:p>
            <a:r>
              <a:t>$$</a:t>
            </a:r>
          </a:p>
          <a:p>
            <a:r>
              <a:t>\begin{bmatrix} 0 &amp; 0 &amp; \cdots &amp; 0 &amp; | &amp; b \end{bmatrix}</a:t>
            </a:r>
          </a:p>
          <a:p>
            <a:r>
              <a:t>$$</a:t>
            </a:r>
          </a:p>
          <a:p>
            <a:r>
              <a:t>，其中 $ b \neq 0 $，则对应方程为 $ 0 = b $，这在实数域中恒不成立，构成逻辑矛盾，故方程组无解。此判据不依赖于其他行，仅需存在一行满足“系数全零、常数非零”即足以断言无解。</a:t>
            </a:r>
          </a:p>
          <a:p/>
          <a:p>
            <a:r>
              <a:t>若无此类矛盾行，则方程组有解。设系数矩阵有 $ n $ 列，非零行数（即主元个数）为 $ r $。每个主元对应一个可唯一解出的变量，其余 $ n - r $ 个变量无主元约束，可自由取值，称为自由变量。例如矩阵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2 &amp; 0 &amp; | &amp; 3 \\</a:t>
            </a:r>
          </a:p>
          <a:p>
            <a:r>
              <a:t>0 &amp; 0 &amp; 1 &amp; | &amp; 4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中 $ r = 2 $，$ n = 3 $，自由变量为第二列对应变量，可设为参数 $ t \in \mathbb{R} $，则解集为 $ x_1 = 3 - 2t $, $ x_2 = t $, $ x_3 = 4 $，形成一维解空间，故有无穷多解。</a:t>
            </a:r>
          </a:p>
          <a:p/>
          <a:p>
            <a:r>
              <a:t>当 $ r = n $ 时，无自由变量，每个变量均由主元方程唯一确定，解唯一。例如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0 &amp; | &amp; 1 \\</a:t>
            </a:r>
          </a:p>
          <a:p>
            <a:r>
              <a:t>0 &amp; 1 &amp; | &amp; 2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中 $ r = n = 2 $，解为 $ x_1 = 1, x_2 = 2 $，唯一。解的类型由主元数与未知数个数的相对关系决定，且必须以无矛盾行为前提。</a:t>
            </a:r>
          </a:p>
          <a:p>
            <a:r>
              <a:t>source_payload: {"content_perspective": "teacher_delivery", "knowledge_binding_status": null, "markdown": "行阶梯形增广矩阵中，若存在某行形如 \n$$\n\\begin{bmatrix} 0 &amp; 0 &amp; \\cdots &amp; 0 &amp; | &amp; b \\end{bmatrix}\n$$\n，其中 $ b \\neq 0 $，则对应方程为 $ 0 = b $，这在实数域中恒不成立，构成逻辑矛盾，故方程组无解。此判据不依赖于其他行，仅需存在一行满足“系数全零、常数非零”即足以断言无解。\n\n若无此类矛盾行，则方程组有解。设系数矩阵有 $ n $ 列，非零行数（即主元个数）为 $ r $。每个主元对应一个可唯一解出的变量，其余 $ n - r $ 个变量无主元约束，可自由取值，称为自由变量。例如矩阵  \n\n$$\n\\begin{bmatrix}\n1 &amp; 2 &amp; 0 &amp; | &amp; 3 \\\\\n0 &amp; 0 &amp; 1 &amp; | &amp; 4 \\\\\n0 &amp; 0 &amp; 0 &amp; | &amp; 0\n\\end{bmatrix}\n$$\n  \n中 $ r = 2 $，$ n = 3 $，自由变量为第二列对应变量，可设为参数 $ t \\in \\mathbb{R} $，则解集为 $ x_1 = 3 - 2t $, $ x_2 = t $, $ x_3 = 4 $，形成一维解空间，故有无穷多解。\n\n当 $ r = n $ 时，无自由变量，每个变量均由主元方程唯一确定，解唯一。例如  \n\n$$\n\\begin{bmatrix}\n1 &amp; 0 &amp; | &amp; 1 \\\\\n0 &amp; 1 &amp; | &amp; 2\n\\end{bmatrix}\n$$\n  \n中 $ r = n = 2 $，解为 $ x_1 = 1, x_2 = 2 $，唯一。解的类型由主元数与未知数个数的相对关系决定，且必须以无矛盾行为前提。", "module_id": "math_proof", "module_instance_id": "tsb-2b67216f9ea5", "planned_minutes": 2, "ppt_page_group_id": "L2-1-3:ppt-page-group:3", "summary": "行阶梯形增广矩阵中，若存在某行形如 begin{bmatrix} 0 &amp; 0 &amp; cdots &amp; 0 &amp; | &amp; b end{bmatrix} ，其中 b neq 0 ，则对应方程为 0 = b ，这在实数域中恒不成立，构成逻辑矛盾，故方程", "title": "证明与推导"}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cpu_56c8dbe826b8ca2abe32fa92</a:t>
            </a:r>
          </a:p>
          <a:p/>
          <a:p>
            <a:r>
              <a:t>source_section_ids: []</a:t>
            </a:r>
          </a:p>
          <a:p/>
          <a:p>
            <a:r>
              <a:t>[tsb-2b67216f9ea5 @ cbr_42ad854844f343eb9c517f1c]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行阶梯形增广矩阵中，若存在某行形如 </a:t>
            </a:r>
          </a:p>
          <a:p>
            <a:r>
              <a:t>$$</a:t>
            </a:r>
          </a:p>
          <a:p>
            <a:r>
              <a:t>\begin{bmatrix} 0 &amp; 0 &amp; \cdots &amp; 0 &amp; | &amp; b \end{bmatrix}</a:t>
            </a:r>
          </a:p>
          <a:p>
            <a:r>
              <a:t>$$</a:t>
            </a:r>
          </a:p>
          <a:p>
            <a:r>
              <a:t>，其中 $ b \neq 0 $，则对应方程为 $ 0 = b $，这在实数域中恒不成立，构成逻辑矛盾，故方程组无解。此判据不依赖于其他行，仅需存在一行满足“系数全零、常数非零”即足以断言无解。</a:t>
            </a:r>
          </a:p>
          <a:p/>
          <a:p>
            <a:r>
              <a:t>若无此类矛盾行，则方程组有解。设系数矩阵有 $ n $ 列，非零行数（即主元个数）为 $ r $。每个主元对应一个可唯一解出的变量，其余 $ n - r $ 个变量无主元约束，可自由取值，称为自由变量。例如矩阵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2 &amp; 0 &amp; | &amp; 3 \\</a:t>
            </a:r>
          </a:p>
          <a:p>
            <a:r>
              <a:t>0 &amp; 0 &amp; 1 &amp; | &amp; 4 \\</a:t>
            </a:r>
          </a:p>
          <a:p>
            <a:r>
              <a:t>0 &amp; 0 &amp; 0 &amp; | &amp; 0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中 $ r = 2 $，$ n = 3 $，自由变量为第二列对应变量，可设为参数 $ t \in \mathbb{R} $，则解集为 $ x_1 = 3 - 2t $, $ x_2 = t $, $ x_3 = 4 $，形成一维解空间，故有无穷多解。</a:t>
            </a:r>
          </a:p>
          <a:p/>
          <a:p>
            <a:r>
              <a:t>当 $ r = n $ 时，无自由变量，每个变量均由主元方程唯一确定，解唯一。例如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0 &amp; | &amp; 1 \\</a:t>
            </a:r>
          </a:p>
          <a:p>
            <a:r>
              <a:t>0 &amp; 1 &amp; | &amp; 2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中 $ r = n = 2 $，解为 $ x_1 = 1, x_2 = 2 $，唯一。解的类型由主元数与未知数个数的相对关系决定，且必须以无矛盾行为前提。</a:t>
            </a:r>
          </a:p>
          <a:p>
            <a:r>
              <a:t>source_payload: {"content_perspective": "teacher_delivery", "knowledge_binding_status": null, "markdown": "行阶梯形增广矩阵中，若存在某行形如 \n$$\n\\begin{bmatrix} 0 &amp; 0 &amp; \\cdots &amp; 0 &amp; | &amp; b \\end{bmatrix}\n$$\n，其中 $ b \\neq 0 $，则对应方程为 $ 0 = b $，这在实数域中恒不成立，构成逻辑矛盾，故方程组无解。此判据不依赖于其他行，仅需存在一行满足“系数全零、常数非零”即足以断言无解。\n\n若无此类矛盾行，则方程组有解。设系数矩阵有 $ n $ 列，非零行数（即主元个数）为 $ r $。每个主元对应一个可唯一解出的变量，其余 $ n - r $ 个变量无主元约束，可自由取值，称为自由变量。例如矩阵  \n\n$$\n\\begin{bmatrix}\n1 &amp; 2 &amp; 0 &amp; | &amp; 3 \\\\\n0 &amp; 0 &amp; 1 &amp; | &amp; 4 \\\\\n0 &amp; 0 &amp; 0 &amp; | &amp; 0\n\\end{bmatrix}\n$$\n  \n中 $ r = 2 $，$ n = 3 $，自由变量为第二列对应变量，可设为参数 $ t \\in \\mathbb{R} $，则解集为 $ x_1 = 3 - 2t $, $ x_2 = t $, $ x_3 = 4 $，形成一维解空间，故有无穷多解。\n\n当 $ r = n $ 时，无自由变量，每个变量均由主元方程唯一确定，解唯一。例如  \n\n$$\n\\begin{bmatrix}\n1 &amp; 0 &amp; | &amp; 1 \\\\\n0 &amp; 1 &amp; | &amp; 2\n\\end{bmatrix}\n$$\n  \n中 $ r = n = 2 $，解为 $ x_1 = 1, x_2 = 2 $，唯一。解的类型由主元数与未知数个数的相对关系决定，且必须以无矛盾行为前提。", "module_id": "math_proof", "module_instance_id": "tsb-2b67216f9ea5", "planned_minutes": 2, "ppt_page_group_id": "L2-1-3:ppt-page-group:3", "summary": "行阶梯形增广矩阵中，若存在某行形如 begin{bmatrix} 0 &amp; 0 &amp; cdots &amp; 0 &amp; | &amp; b end{bmatrix} ，其中 b neq 0 ，则对应方程为 0 = b ，这在实数域中恒不成立，构成逻辑矛盾，故方程", "title": "证明与推导"}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cpu_56c8dbe826b8ca2abe32fa92</a:t>
            </a:r>
          </a:p>
          <a:p/>
          <a:p>
            <a:r>
              <a:t>source_section_ids: []</a:t>
            </a:r>
          </a:p>
          <a:p/>
          <a:p>
            <a:r>
              <a:t>[tsb-82eb987681c9 @ cbr_2d47a9893416fc8115139589]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行阶梯形增广矩阵的解的类型由两个相互独立的条件决定：是否存在矛盾行，以及在无矛盾行前提下主元数 $ r $ 与未知数个数 $ n $ 的关系。首先，若存在某一行其系数部分全为零而增广列非零，即形如 $ [0\ 0\ \cdots\ 0\ |\ b] $ 且 $ b \neq 0 $，则该行对应方程 $ 0 = b $，与实数域公理矛盾，故方程组无解。此判据无需进一步计算，为强否定条件。若不存在此类行，则所有非零行均满足“左非右可零”，可继续分析解的存在性与唯一性。此时统计非零行数 $ r $，即主元个数；未知数个数 $ n $ 为系数矩阵的列数，不包含增广列。若 $ r = n $，则每个未知数均被一个主元方程唯一约束，无自由变量，解唯一。例如矩阵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0 &amp; 0 &amp; | &amp; 1 \\</a:t>
            </a:r>
          </a:p>
          <a:p>
            <a:r>
              <a:t>0 &amp; 1 &amp; 0 &amp; | &amp; 2 \\</a:t>
            </a:r>
          </a:p>
          <a:p>
            <a:r>
              <a:t>0 &amp; 0 &amp; 1 &amp; | &amp; 3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中 $ r = 3 $, $ n = 3 $，解为 $ x_1=1, x_2=2, x_3=3 $。若 $ r &lt; n $，则存在 $ n - r $ 个自由变量，解集为 $ n - r $ 维仿射空间，故有无穷多解。例如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2 &amp; 0 &amp; | &amp; 4 \\</a:t>
            </a:r>
          </a:p>
          <a:p>
            <a:r>
              <a:t>0 &amp; 0 &amp; 1 &amp; | &amp; 5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中 $ r = 2 $, $ n = 3 $，自由变量为 $ x_2 $，解为 $ x_1 = 4 - 2x_2, x_3 = 5 $，参数化后为无穷多解。核验时必须确认增广列未被计入 $ n $，且无“左零右非零”行，否则结论无效。</a:t>
            </a:r>
          </a:p>
          <a:p>
            <a:r>
              <a:t>source_payload: {"content_perspective": "teacher_delivery", "knowledge_binding_status": null, "markdown": "行阶梯形增广矩阵的解的类型由两个相互独立的条件决定：是否存在矛盾行，以及在无矛盾行前提下主元数 $ r $ 与未知数个数 $ n $ 的关系。首先，若存在某一行其系数部分全为零而增广列非零，即形如 $ [0\\ 0\\ \\cdots\\ 0\\ |\\ b] $ 且 $ b \\neq 0 $，则该行对应方程 $ 0 = b $，与实数域公理矛盾，故方程组无解。此判据无需进一步计算，为强否定条件。若不存在此类行，则所有非零行均满足“左非右可零”，可继续分析解的存在性与唯一性。此时统计非零行数 $ r $，即主元个数；未知数个数 $ n $ 为系数矩阵的列数，不包含增广列。若 $ r = n $，则每个未知数均被一个主元方程唯一约束，无自由变量，解唯一。例如矩阵  \n\n$$\n\\begin{bmatrix}\n1 &amp; 0 &amp; 0 &amp; | &amp; 1 \\\\\n0 &amp; 1 &amp; 0 &amp; | &amp; 2 \\\\\n0 &amp; 0 &amp; 1 &amp; | &amp; 3\n\\end{bmatrix}\n$$\n  \n中 $ r = 3 $, $ n = 3 $，解为 $ x_1=1, x_2=2, x_3=3 $。若 $ r &lt; n $，则存在 $ n - r $ 个自由变量，解集为 $ n - r $ 维仿射空间，故有无穷多解。例如  \n\n$$\n\\begin{bmatrix}\n1 &amp; 2 &amp; 0 &amp; | &amp; 4 \\\\\n0 &amp; 0 &amp; 1 &amp; | &amp; 5\n\\end{bmatrix}\n$$\n  \n中 $ r = 2 $, $ n = 3 $，自由变量为 $ x_2 $，解为 $ x_1 = 4 - 2x_2, x_3 = 5 $，参数化后为无穷多解。核验时必须确认增广列未被计入 $ n $，且无“左零右非零”行，否则结论无效。", "module_id": "math_reasoning_discourse", "module_instance_id": "tsb-82eb987681c9", "planned_minutes": 2, "ppt_page_group_id": "L2-1-3:ppt-page-group:4", "summary": "行阶梯形增广矩阵的解的类型由两个相互独立的条件决定：是否存在矛盾行，以及在无矛盾行前提下主元数 r 与未知数个数 n 的关系。首先，若存在某一行其系数部分全为零而增广列非零，即形如 [0 0 cdots 0 | b] 且 b neq 0 ，", "title": "数学论证"}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cpu_56c8dbe826b8ca2abe32fa92</a:t>
            </a:r>
          </a:p>
          <a:p/>
          <a:p>
            <a:r>
              <a:t>source_section_ids: []</a:t>
            </a:r>
          </a:p>
          <a:p/>
          <a:p>
            <a:r>
              <a:t>[tsb-82eb987681c9 @ cbr_2d47a9893416fc8115139589]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行阶梯形增广矩阵的解的类型由两个相互独立的条件决定：是否存在矛盾行，以及在无矛盾行前提下主元数 $ r $ 与未知数个数 $ n $ 的关系。首先，若存在某一行其系数部分全为零而增广列非零，即形如 $ [0\ 0\ \cdots\ 0\ |\ b] $ 且 $ b \neq 0 $，则该行对应方程 $ 0 = b $，与实数域公理矛盾，故方程组无解。此判据无需进一步计算，为强否定条件。若不存在此类行，则所有非零行均满足“左非右可零”，可继续分析解的存在性与唯一性。此时统计非零行数 $ r $，即主元个数；未知数个数 $ n $ 为系数矩阵的列数，不包含增广列。若 $ r = n $，则每个未知数均被一个主元方程唯一约束，无自由变量，解唯一。例如矩阵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0 &amp; 0 &amp; | &amp; 1 \\</a:t>
            </a:r>
          </a:p>
          <a:p>
            <a:r>
              <a:t>0 &amp; 1 &amp; 0 &amp; | &amp; 2 \\</a:t>
            </a:r>
          </a:p>
          <a:p>
            <a:r>
              <a:t>0 &amp; 0 &amp; 1 &amp; | &amp; 3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中 $ r = 3 $, $ n = 3 $，解为 $ x_1=1, x_2=2, x_3=3 $。若 $ r &lt; n $，则存在 $ n - r $ 个自由变量，解集为 $ n - r $ 维仿射空间，故有无穷多解。例如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2 &amp; 0 &amp; | &amp; 4 \\</a:t>
            </a:r>
          </a:p>
          <a:p>
            <a:r>
              <a:t>0 &amp; 0 &amp; 1 &amp; | &amp; 5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中 $ r = 2 $, $ n = 3 $，自由变量为 $ x_2 $，解为 $ x_1 = 4 - 2x_2, x_3 = 5 $，参数化后为无穷多解。核验时必须确认增广列未被计入 $ n $，且无“左零右非零”行，否则结论无效。</a:t>
            </a:r>
          </a:p>
          <a:p>
            <a:r>
              <a:t>source_payload: {"content_perspective": "teacher_delivery", "knowledge_binding_status": null, "markdown": "行阶梯形增广矩阵的解的类型由两个相互独立的条件决定：是否存在矛盾行，以及在无矛盾行前提下主元数 $ r $ 与未知数个数 $ n $ 的关系。首先，若存在某一行其系数部分全为零而增广列非零，即形如 $ [0\\ 0\\ \\cdots\\ 0\\ |\\ b] $ 且 $ b \\neq 0 $，则该行对应方程 $ 0 = b $，与实数域公理矛盾，故方程组无解。此判据无需进一步计算，为强否定条件。若不存在此类行，则所有非零行均满足“左非右可零”，可继续分析解的存在性与唯一性。此时统计非零行数 $ r $，即主元个数；未知数个数 $ n $ 为系数矩阵的列数，不包含增广列。若 $ r = n $，则每个未知数均被一个主元方程唯一约束，无自由变量，解唯一。例如矩阵  \n\n$$\n\\begin{bmatrix}\n1 &amp; 0 &amp; 0 &amp; | &amp; 1 \\\\\n0 &amp; 1 &amp; 0 &amp; | &amp; 2 \\\\\n0 &amp; 0 &amp; 1 &amp; | &amp; 3\n\\end{bmatrix}\n$$\n  \n中 $ r = 3 $, $ n = 3 $，解为 $ x_1=1, x_2=2, x_3=3 $。若 $ r &lt; n $，则存在 $ n - r $ 个自由变量，解集为 $ n - r $ 维仿射空间，故有无穷多解。例如  \n\n$$\n\\begin{bmatrix}\n1 &amp; 2 &amp; 0 &amp; | &amp; 4 \\\\\n0 &amp; 0 &amp; 1 &amp; | &amp; 5\n\\end{bmatrix}\n$$\n  \n中 $ r = 2 $, $ n = 3 $，自由变量为 $ x_2 $，解为 $ x_1 = 4 - 2x_2, x_3 = 5 $，参数化后为无穷多解。核验时必须确认增广列未被计入 $ n $，且无“左零右非零”行，否则结论无效。", "module_id": "math_reasoning_discourse", "module_instance_id": "tsb-82eb987681c9", "planned_minutes": 2, "ppt_page_group_id": "L2-1-3:ppt-page-group:4", "summary": "行阶梯形增广矩阵的解的类型由两个相互独立的条件决定：是否存在矛盾行，以及在无矛盾行前提下主元数 r 与未知数个数 n 的关系。首先，若存在某一行其系数部分全为零而增广列非零，即形如 [0 0 cdots 0 | b] 且 b neq 0 ，", "title": "数学论证"}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cpu_56c8dbe826b8ca2abe32fa92</a:t>
            </a:r>
          </a:p>
          <a:p/>
          <a:p>
            <a:r>
              <a:t>source_section_ids: []</a:t>
            </a:r>
          </a:p>
          <a:p/>
          <a:p>
            <a:r>
              <a:t>[tsb-82eb987681c9 @ cbr_2d47a9893416fc8115139589]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行阶梯形增广矩阵的解的类型由两个相互独立的条件决定：是否存在矛盾行，以及在无矛盾行前提下主元数 $ r $ 与未知数个数 $ n $ 的关系。首先，若存在某一行其系数部分全为零而增广列非零，即形如 $ [0\ 0\ \cdots\ 0\ |\ b] $ 且 $ b \neq 0 $，则该行对应方程 $ 0 = b $，与实数域公理矛盾，故方程组无解。此判据无需进一步计算，为强否定条件。若不存在此类行，则所有非零行均满足“左非右可零”，可继续分析解的存在性与唯一性。此时统计非零行数 $ r $，即主元个数；未知数个数 $ n $ 为系数矩阵的列数，不包含增广列。若 $ r = n $，则每个未知数均被一个主元方程唯一约束，无自由变量，解唯一。例如矩阵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0 &amp; 0 &amp; | &amp; 1 \\</a:t>
            </a:r>
          </a:p>
          <a:p>
            <a:r>
              <a:t>0 &amp; 1 &amp; 0 &amp; | &amp; 2 \\</a:t>
            </a:r>
          </a:p>
          <a:p>
            <a:r>
              <a:t>0 &amp; 0 &amp; 1 &amp; | &amp; 3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中 $ r = 3 $, $ n = 3 $，解为 $ x_1=1, x_2=2, x_3=3 $。若 $ r &lt; n $，则存在 $ n - r $ 个自由变量，解集为 $ n - r $ 维仿射空间，故有无穷多解。例如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2 &amp; 0 &amp; | &amp; 4 \\</a:t>
            </a:r>
          </a:p>
          <a:p>
            <a:r>
              <a:t>0 &amp; 0 &amp; 1 &amp; | &amp; 5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中 $ r = 2 $, $ n = 3 $，自由变量为 $ x_2 $，解为 $ x_1 = 4 - 2x_2, x_3 = 5 $，参数化后为无穷多解。核验时必须确认增广列未被计入 $ n $，且无“左零右非零”行，否则结论无效。</a:t>
            </a:r>
          </a:p>
          <a:p>
            <a:r>
              <a:t>source_payload: {"content_perspective": "teacher_delivery", "knowledge_binding_status": null, "markdown": "行阶梯形增广矩阵的解的类型由两个相互独立的条件决定：是否存在矛盾行，以及在无矛盾行前提下主元数 $ r $ 与未知数个数 $ n $ 的关系。首先，若存在某一行其系数部分全为零而增广列非零，即形如 $ [0\\ 0\\ \\cdots\\ 0\\ |\\ b] $ 且 $ b \\neq 0 $，则该行对应方程 $ 0 = b $，与实数域公理矛盾，故方程组无解。此判据无需进一步计算，为强否定条件。若不存在此类行，则所有非零行均满足“左非右可零”，可继续分析解的存在性与唯一性。此时统计非零行数 $ r $，即主元个数；未知数个数 $ n $ 为系数矩阵的列数，不包含增广列。若 $ r = n $，则每个未知数均被一个主元方程唯一约束，无自由变量，解唯一。例如矩阵  \n\n$$\n\\begin{bmatrix}\n1 &amp; 0 &amp; 0 &amp; | &amp; 1 \\\\\n0 &amp; 1 &amp; 0 &amp; | &amp; 2 \\\\\n0 &amp; 0 &amp; 1 &amp; | &amp; 3\n\\end{bmatrix}\n$$\n  \n中 $ r = 3 $, $ n = 3 $，解为 $ x_1=1, x_2=2, x_3=3 $。若 $ r &lt; n $，则存在 $ n - r $ 个自由变量，解集为 $ n - r $ 维仿射空间，故有无穷多解。例如  \n\n$$\n\\begin{bmatrix}\n1 &amp; 2 &amp; 0 &amp; | &amp; 4 \\\\\n0 &amp; 0 &amp; 1 &amp; | &amp; 5\n\\end{bmatrix}\n$$\n  \n中 $ r = 2 $, $ n = 3 $，自由变量为 $ x_2 $，解为 $ x_1 = 4 - 2x_2, x_3 = 5 $，参数化后为无穷多解。核验时必须确认增广列未被计入 $ n $，且无“左零右非零”行，否则结论无效。", "module_id": "math_reasoning_discourse", "module_instance_id": "tsb-82eb987681c9", "planned_minutes": 2, "ppt_page_group_id": "L2-1-3:ppt-page-group:4", "summary": "行阶梯形增广矩阵的解的类型由两个相互独立的条件决定：是否存在矛盾行，以及在无矛盾行前提下主元数 r 与未知数个数 n 的关系。首先，若存在某一行其系数部分全为零而增广列非零，即形如 [0 0 cdots 0 | b] 且 b neq 0 ，", "title": "数学论证"}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cpu_56c8dbe826b8ca2abe32fa92</a:t>
            </a:r>
          </a:p>
          <a:p/>
          <a:p>
            <a:r>
              <a:t>source_section_ids: []</a:t>
            </a:r>
          </a:p>
          <a:p/>
          <a:p>
            <a:r>
              <a:t>[tsb-82eb987681c9 @ cbr_2d47a9893416fc8115139589]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行阶梯形增广矩阵的解的类型由两个相互独立的条件决定：是否存在矛盾行，以及在无矛盾行前提下主元数 $ r $ 与未知数个数 $ n $ 的关系。首先，若存在某一行其系数部分全为零而增广列非零，即形如 $ [0\ 0\ \cdots\ 0\ |\ b] $ 且 $ b \neq 0 $，则该行对应方程 $ 0 = b $，与实数域公理矛盾，故方程组无解。此判据无需进一步计算，为强否定条件。若不存在此类行，则所有非零行均满足“左非右可零”，可继续分析解的存在性与唯一性。此时统计非零行数 $ r $，即主元个数；未知数个数 $ n $ 为系数矩阵的列数，不包含增广列。若 $ r = n $，则每个未知数均被一个主元方程唯一约束，无自由变量，解唯一。例如矩阵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0 &amp; 0 &amp; | &amp; 1 \\</a:t>
            </a:r>
          </a:p>
          <a:p>
            <a:r>
              <a:t>0 &amp; 1 &amp; 0 &amp; | &amp; 2 \\</a:t>
            </a:r>
          </a:p>
          <a:p>
            <a:r>
              <a:t>0 &amp; 0 &amp; 1 &amp; | &amp; 3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中 $ r = 3 $, $ n = 3 $，解为 $ x_1=1, x_2=2, x_3=3 $。若 $ r &lt; n $，则存在 $ n - r $ 个自由变量，解集为 $ n - r $ 维仿射空间，故有无穷多解。例如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2 &amp; 0 &amp; | &amp; 4 \\</a:t>
            </a:r>
          </a:p>
          <a:p>
            <a:r>
              <a:t>0 &amp; 0 &amp; 1 &amp; | &amp; 5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中 $ r = 2 $, $ n = 3 $，自由变量为 $ x_2 $，解为 $ x_1 = 4 - 2x_2, x_3 = 5 $，参数化后为无穷多解。核验时必须确认增广列未被计入 $ n $，且无“左零右非零”行，否则结论无效。</a:t>
            </a:r>
          </a:p>
          <a:p>
            <a:r>
              <a:t>source_payload: {"content_perspective": "teacher_delivery", "knowledge_binding_status": null, "markdown": "行阶梯形增广矩阵的解的类型由两个相互独立的条件决定：是否存在矛盾行，以及在无矛盾行前提下主元数 $ r $ 与未知数个数 $ n $ 的关系。首先，若存在某一行其系数部分全为零而增广列非零，即形如 $ [0\\ 0\\ \\cdots\\ 0\\ |\\ b] $ 且 $ b \\neq 0 $，则该行对应方程 $ 0 = b $，与实数域公理矛盾，故方程组无解。此判据无需进一步计算，为强否定条件。若不存在此类行，则所有非零行均满足“左非右可零”，可继续分析解的存在性与唯一性。此时统计非零行数 $ r $，即主元个数；未知数个数 $ n $ 为系数矩阵的列数，不包含增广列。若 $ r = n $，则每个未知数均被一个主元方程唯一约束，无自由变量，解唯一。例如矩阵  \n\n$$\n\\begin{bmatrix}\n1 &amp; 0 &amp; 0 &amp; | &amp; 1 \\\\\n0 &amp; 1 &amp; 0 &amp; | &amp; 2 \\\\\n0 &amp; 0 &amp; 1 &amp; | &amp; 3\n\\end{bmatrix}\n$$\n  \n中 $ r = 3 $, $ n = 3 $，解为 $ x_1=1, x_2=2, x_3=3 $。若 $ r &lt; n $，则存在 $ n - r $ 个自由变量，解集为 $ n - r $ 维仿射空间，故有无穷多解。例如  \n\n$$\n\\begin{bmatrix}\n1 &amp; 2 &amp; 0 &amp; | &amp; 4 \\\\\n0 &amp; 0 &amp; 1 &amp; | &amp; 5\n\\end{bmatrix}\n$$\n  \n中 $ r = 2 $, $ n = 3 $，自由变量为 $ x_2 $，解为 $ x_1 = 4 - 2x_2, x_3 = 5 $，参数化后为无穷多解。核验时必须确认增广列未被计入 $ n $，且无“左零右非零”行，否则结论无效。", "module_id": "math_reasoning_discourse", "module_instance_id": "tsb-82eb987681c9", "planned_minutes": 2, "ppt_page_group_id": "L2-1-3:ppt-page-group:4", "summary": "行阶梯形增广矩阵的解的类型由两个相互独立的条件决定：是否存在矛盾行，以及在无矛盾行前提下主元数 r 与未知数个数 n 的关系。首先，若存在某一行其系数部分全为零而增广列非零，即形如 [0 0 cdots 0 | b] 且 b neq 0 ，", "title": "数学论证"}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cpu_56c8dbe826b8ca2abe32fa92</a:t>
            </a:r>
          </a:p>
          <a:p/>
          <a:p>
            <a:r>
              <a:t>source_section_ids: []</a:t>
            </a:r>
          </a:p>
          <a:p/>
          <a:p>
            <a:r>
              <a:t>[tsb-82eb987681c9 @ cbr_2d47a9893416fc8115139589]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行阶梯形增广矩阵的解的类型由两个相互独立的条件决定：是否存在矛盾行，以及在无矛盾行前提下主元数 $ r $ 与未知数个数 $ n $ 的关系。首先，若存在某一行其系数部分全为零而增广列非零，即形如 $ [0\ 0\ \cdots\ 0\ |\ b] $ 且 $ b \neq 0 $，则该行对应方程 $ 0 = b $，与实数域公理矛盾，故方程组无解。此判据无需进一步计算，为强否定条件。若不存在此类行，则所有非零行均满足“左非右可零”，可继续分析解的存在性与唯一性。此时统计非零行数 $ r $，即主元个数；未知数个数 $ n $ 为系数矩阵的列数，不包含增广列。若 $ r = n $，则每个未知数均被一个主元方程唯一约束，无自由变量，解唯一。例如矩阵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0 &amp; 0 &amp; | &amp; 1 \\</a:t>
            </a:r>
          </a:p>
          <a:p>
            <a:r>
              <a:t>0 &amp; 1 &amp; 0 &amp; | &amp; 2 \\</a:t>
            </a:r>
          </a:p>
          <a:p>
            <a:r>
              <a:t>0 &amp; 0 &amp; 1 &amp; | &amp; 3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中 $ r = 3 $, $ n = 3 $，解为 $ x_1=1, x_2=2, x_3=3 $。若 $ r &lt; n $，则存在 $ n - r $ 个自由变量，解集为 $ n - r $ 维仿射空间，故有无穷多解。例如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2 &amp; 0 &amp; | &amp; 4 \\</a:t>
            </a:r>
          </a:p>
          <a:p>
            <a:r>
              <a:t>0 &amp; 0 &amp; 1 &amp; | &amp; 5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中 $ r = 2 $, $ n = 3 $，自由变量为 $ x_2 $，解为 $ x_1 = 4 - 2x_2, x_3 = 5 $，参数化后为无穷多解。核验时必须确认增广列未被计入 $ n $，且无“左零右非零”行，否则结论无效。</a:t>
            </a:r>
          </a:p>
          <a:p>
            <a:r>
              <a:t>source_payload: {"content_perspective": "teacher_delivery", "knowledge_binding_status": null, "markdown": "行阶梯形增广矩阵的解的类型由两个相互独立的条件决定：是否存在矛盾行，以及在无矛盾行前提下主元数 $ r $ 与未知数个数 $ n $ 的关系。首先，若存在某一行其系数部分全为零而增广列非零，即形如 $ [0\\ 0\\ \\cdots\\ 0\\ |\\ b] $ 且 $ b \\neq 0 $，则该行对应方程 $ 0 = b $，与实数域公理矛盾，故方程组无解。此判据无需进一步计算，为强否定条件。若不存在此类行，则所有非零行均满足“左非右可零”，可继续分析解的存在性与唯一性。此时统计非零行数 $ r $，即主元个数；未知数个数 $ n $ 为系数矩阵的列数，不包含增广列。若 $ r = n $，则每个未知数均被一个主元方程唯一约束，无自由变量，解唯一。例如矩阵  \n\n$$\n\\begin{bmatrix}\n1 &amp; 0 &amp; 0 &amp; | &amp; 1 \\\\\n0 &amp; 1 &amp; 0 &amp; | &amp; 2 \\\\\n0 &amp; 0 &amp; 1 &amp; | &amp; 3\n\\end{bmatrix}\n$$\n  \n中 $ r = 3 $, $ n = 3 $，解为 $ x_1=1, x_2=2, x_3=3 $。若 $ r &lt; n $，则存在 $ n - r $ 个自由变量，解集为 $ n - r $ 维仿射空间，故有无穷多解。例如  \n\n$$\n\\begin{bmatrix}\n1 &amp; 2 &amp; 0 &amp; | &amp; 4 \\\\\n0 &amp; 0 &amp; 1 &amp; | &amp; 5\n\\end{bmatrix}\n$$\n  \n中 $ r = 2 $, $ n = 3 $，自由变量为 $ x_2 $，解为 $ x_1 = 4 - 2x_2, x_3 = 5 $，参数化后为无穷多解。核验时必须确认增广列未被计入 $ n $，且无“左零右非零”行，否则结论无效。", "module_id": "math_reasoning_discourse", "module_instance_id": "tsb-82eb987681c9", "planned_minutes": 2, "ppt_page_group_id": "L2-1-3:ppt-page-group:4", "summary": "行阶梯形增广矩阵的解的类型由两个相互独立的条件决定：是否存在矛盾行，以及在无矛盾行前提下主元数 r 与未知数个数 n 的关系。首先，若存在某一行其系数部分全为零而增广列非零，即形如 [0 0 cdots 0 | b] 且 b neq 0 ，", "title": "数学论证"}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cpu_56c8dbe826b8ca2abe32fa92</a:t>
            </a:r>
          </a:p>
          <a:p/>
          <a:p>
            <a:r>
              <a:t>source_section_ids: []</a:t>
            </a:r>
          </a:p>
          <a:p/>
          <a:p>
            <a:r>
              <a:t>[tsb-82eb987681c9 @ cbr_2d47a9893416fc8115139589]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行阶梯形增广矩阵的解的类型由两个相互独立的条件决定：是否存在矛盾行，以及在无矛盾行前提下主元数 $ r $ 与未知数个数 $ n $ 的关系。首先，若存在某一行其系数部分全为零而增广列非零，即形如 $ [0\ 0\ \cdots\ 0\ |\ b] $ 且 $ b \neq 0 $，则该行对应方程 $ 0 = b $，与实数域公理矛盾，故方程组无解。此判据无需进一步计算，为强否定条件。若不存在此类行，则所有非零行均满足“左非右可零”，可继续分析解的存在性与唯一性。此时统计非零行数 $ r $，即主元个数；未知数个数 $ n $ 为系数矩阵的列数，不包含增广列。若 $ r = n $，则每个未知数均被一个主元方程唯一约束，无自由变量，解唯一。例如矩阵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0 &amp; 0 &amp; | &amp; 1 \\</a:t>
            </a:r>
          </a:p>
          <a:p>
            <a:r>
              <a:t>0 &amp; 1 &amp; 0 &amp; | &amp; 2 \\</a:t>
            </a:r>
          </a:p>
          <a:p>
            <a:r>
              <a:t>0 &amp; 0 &amp; 1 &amp; | &amp; 3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中 $ r = 3 $, $ n = 3 $，解为 $ x_1=1, x_2=2, x_3=3 $。若 $ r &lt; n $，则存在 $ n - r $ 个自由变量，解集为 $ n - r $ 维仿射空间，故有无穷多解。例如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2 &amp; 0 &amp; | &amp; 4 \\</a:t>
            </a:r>
          </a:p>
          <a:p>
            <a:r>
              <a:t>0 &amp; 0 &amp; 1 &amp; | &amp; 5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中 $ r = 2 $, $ n = 3 $，自由变量为 $ x_2 $，解为 $ x_1 = 4 - 2x_2, x_3 = 5 $，参数化后为无穷多解。核验时必须确认增广列未被计入 $ n $，且无“左零右非零”行，否则结论无效。</a:t>
            </a:r>
          </a:p>
          <a:p>
            <a:r>
              <a:t>source_payload: {"content_perspective": "teacher_delivery", "knowledge_binding_status": null, "markdown": "行阶梯形增广矩阵的解的类型由两个相互独立的条件决定：是否存在矛盾行，以及在无矛盾行前提下主元数 $ r $ 与未知数个数 $ n $ 的关系。首先，若存在某一行其系数部分全为零而增广列非零，即形如 $ [0\\ 0\\ \\cdots\\ 0\\ |\\ b] $ 且 $ b \\neq 0 $，则该行对应方程 $ 0 = b $，与实数域公理矛盾，故方程组无解。此判据无需进一步计算，为强否定条件。若不存在此类行，则所有非零行均满足“左非右可零”，可继续分析解的存在性与唯一性。此时统计非零行数 $ r $，即主元个数；未知数个数 $ n $ 为系数矩阵的列数，不包含增广列。若 $ r = n $，则每个未知数均被一个主元方程唯一约束，无自由变量，解唯一。例如矩阵  \n\n$$\n\\begin{bmatrix}\n1 &amp; 0 &amp; 0 &amp; | &amp; 1 \\\\\n0 &amp; 1 &amp; 0 &amp; | &amp; 2 \\\\\n0 &amp; 0 &amp; 1 &amp; | &amp; 3\n\\end{bmatrix}\n$$\n  \n中 $ r = 3 $, $ n = 3 $，解为 $ x_1=1, x_2=2, x_3=3 $。若 $ r &lt; n $，则存在 $ n - r $ 个自由变量，解集为 $ n - r $ 维仿射空间，故有无穷多解。例如  \n\n$$\n\\begin{bmatrix}\n1 &amp; 2 &amp; 0 &amp; | &amp; 4 \\\\\n0 &amp; 0 &amp; 1 &amp; | &amp; 5\n\\end{bmatrix}\n$$\n  \n中 $ r = 2 $, $ n = 3 $，自由变量为 $ x_2 $，解为 $ x_1 = 4 - 2x_2, x_3 = 5 $，参数化后为无穷多解。核验时必须确认增广列未被计入 $ n $，且无“左零右非零”行，否则结论无效。", "module_id": "math_reasoning_discourse", "module_instance_id": "tsb-82eb987681c9", "planned_minutes": 2, "ppt_page_group_id": "L2-1-3:ppt-page-group:4", "summary": "行阶梯形增广矩阵的解的类型由两个相互独立的条件决定：是否存在矛盾行，以及在无矛盾行前提下主元数 r 与未知数个数 n 的关系。首先，若存在某一行其系数部分全为零而增广列非零，即形如 [0 0 cdots 0 | b] 且 b neq 0 ，", "title": "数学论证"}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source_document_revision: cdr_1e15accdce76bfd789ea722d</a:t>
            </a:r>
          </a:p>
          <a:p/>
          <a:p>
            <a:r>
              <a:t>teaching_unit_id: cpu_56c8dbe826b8ca2abe32fa92</a:t>
            </a:r>
          </a:p>
          <a:p/>
          <a:p>
            <a:r>
              <a:t>source_section_ids: []</a:t>
            </a:r>
          </a:p>
          <a:p/>
          <a:p>
            <a:r>
              <a:t>[tsb-82eb987681c9 @ cbr_2d47a9893416fc8115139589]</a:t>
            </a:r>
          </a:p>
          <a:p>
            <a:r>
              <a:t>source_kind: rich_text</a:t>
            </a:r>
          </a:p>
          <a:p>
            <a:r>
              <a:t>asset_refs: []</a:t>
            </a:r>
          </a:p>
          <a:p>
            <a:r>
              <a:t>行阶梯形增广矩阵的解的类型由两个相互独立的条件决定：是否存在矛盾行，以及在无矛盾行前提下主元数 $ r $ 与未知数个数 $ n $ 的关系。首先，若存在某一行其系数部分全为零而增广列非零，即形如 $ [0\ 0\ \cdots\ 0\ |\ b] $ 且 $ b \neq 0 $，则该行对应方程 $ 0 = b $，与实数域公理矛盾，故方程组无解。此判据无需进一步计算，为强否定条件。若不存在此类行，则所有非零行均满足“左非右可零”，可继续分析解的存在性与唯一性。此时统计非零行数 $ r $，即主元个数；未知数个数 $ n $ 为系数矩阵的列数，不包含增广列。若 $ r = n $，则每个未知数均被一个主元方程唯一约束，无自由变量，解唯一。例如矩阵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0 &amp; 0 &amp; | &amp; 1 \\</a:t>
            </a:r>
          </a:p>
          <a:p>
            <a:r>
              <a:t>0 &amp; 1 &amp; 0 &amp; | &amp; 2 \\</a:t>
            </a:r>
          </a:p>
          <a:p>
            <a:r>
              <a:t>0 &amp; 0 &amp; 1 &amp; | &amp; 3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中 $ r = 3 $, $ n = 3 $，解为 $ x_1=1, x_2=2, x_3=3 $。若 $ r &lt; n $，则存在 $ n - r $ 个自由变量，解集为 $ n - r $ 维仿射空间，故有无穷多解。例如  </a:t>
            </a:r>
          </a:p>
          <a:p/>
          <a:p>
            <a:r>
              <a:t>$$</a:t>
            </a:r>
          </a:p>
          <a:p>
            <a:r>
              <a:t>\begin{bmatrix}</a:t>
            </a:r>
          </a:p>
          <a:p>
            <a:r>
              <a:t>1 &amp; 2 &amp; 0 &amp; | &amp; 4 \\</a:t>
            </a:r>
          </a:p>
          <a:p>
            <a:r>
              <a:t>0 &amp; 0 &amp; 1 &amp; | &amp; 5</a:t>
            </a:r>
          </a:p>
          <a:p>
            <a:r>
              <a:t>\end{bmatrix}</a:t>
            </a:r>
          </a:p>
          <a:p>
            <a:r>
              <a:t>$$</a:t>
            </a:r>
          </a:p>
          <a:p>
            <a:r>
              <a:t>  </a:t>
            </a:r>
          </a:p>
          <a:p>
            <a:r>
              <a:t>中 $ r = 2 $, $ n = 3 $，自由变量为 $ x_2 $，解为 $ x_1 = 4 - 2x_2, x_3 = 5 $，参数化后为无穷多解。核验时必须确认增广列未被计入 $ n $，且无“左零右非零”行，否则结论无效。</a:t>
            </a:r>
          </a:p>
          <a:p>
            <a:r>
              <a:t>source_payload: {"content_perspective": "teacher_delivery", "knowledge_binding_status": null, "markdown": "行阶梯形增广矩阵的解的类型由两个相互独立的条件决定：是否存在矛盾行，以及在无矛盾行前提下主元数 $ r $ 与未知数个数 $ n $ 的关系。首先，若存在某一行其系数部分全为零而增广列非零，即形如 $ [0\\ 0\\ \\cdots\\ 0\\ |\\ b] $ 且 $ b \\neq 0 $，则该行对应方程 $ 0 = b $，与实数域公理矛盾，故方程组无解。此判据无需进一步计算，为强否定条件。若不存在此类行，则所有非零行均满足“左非右可零”，可继续分析解的存在性与唯一性。此时统计非零行数 $ r $，即主元个数；未知数个数 $ n $ 为系数矩阵的列数，不包含增广列。若 $ r = n $，则每个未知数均被一个主元方程唯一约束，无自由变量，解唯一。例如矩阵  \n\n$$\n\\begin{bmatrix}\n1 &amp; 0 &amp; 0 &amp; | &amp; 1 \\\\\n0 &amp; 1 &amp; 0 &amp; | &amp; 2 \\\\\n0 &amp; 0 &amp; 1 &amp; | &amp; 3\n\\end{bmatrix}\n$$\n  \n中 $ r = 3 $, $ n = 3 $，解为 $ x_1=1, x_2=2, x_3=3 $。若 $ r &lt; n $，则存在 $ n - r $ 个自由变量，解集为 $ n - r $ 维仿射空间，故有无穷多解。例如  \n\n$$\n\\begin{bmatrix}\n1 &amp; 2 &amp; 0 &amp; | &amp; 4 \\\\\n0 &amp; 0 &amp; 1 &amp; | &amp; 5\n\\end{bmatrix}\n$$\n  \n中 $ r = 2 $, $ n = 3 $，自由变量为 $ x_2 $，解为 $ x_1 = 4 - 2x_2, x_3 = 5 $，参数化后为无穷多解。核验时必须确认增广列未被计入 $ n $，且无“左零右非零”行，否则结论无效。", "module_id": "math_reasoning_discourse", "module_instance_id": "tsb-82eb987681c9", "planned_minutes": 2, "ppt_page_group_id": "L2-1-3:ppt-page-group:4", "summary": "行阶梯形增广矩阵的解的类型由两个相互独立的条件决定：是否存在矛盾行，以及在无矛盾行前提下主元数 r 与未知数个数 n 的关系。首先，若存在某一行其系数部分全为零而增广列非零，即形如 [0 0 cdots 0 | b] 且 b neq 0 ，", "title": "数学论证"}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方程与矩阵的对应关系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三元以下线性方程组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增广矩阵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仅含系数的矩阵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3124200"/>
            <a:ext cx="1854200" cy="16129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矩阵结构</a:t>
            </a:r>
          </a:p>
        </p:txBody>
      </p:sp>
      <p:sp>
        <p:nvSpPr>
          <p:cNvPr id="7" name="teaching:dimension-1"/>
          <p:cNvSpPr/>
          <p:nvPr/>
        </p:nvSpPr>
        <p:spPr>
          <a:xfrm>
            <a:off x="533400" y="4787900"/>
            <a:ext cx="1854200" cy="9525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零占位规则</a:t>
            </a:r>
          </a:p>
        </p:txBody>
      </p:sp>
      <p:sp>
        <p:nvSpPr>
          <p:cNvPr id="8" name="teaching:question"/>
          <p:cNvSpPr/>
          <p:nvPr/>
        </p:nvSpPr>
        <p:spPr>
          <a:xfrm>
            <a:off x="533400" y="1104900"/>
            <a:ext cx="111252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为何增广矩阵需保留常数项列？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方程与矩阵的对应关系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三元以下线性方程组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增广矩阵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仅含系数的矩阵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3124200"/>
            <a:ext cx="1854200" cy="16129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矩阵结构</a:t>
            </a:r>
          </a:p>
        </p:txBody>
      </p:sp>
      <p:sp>
        <p:nvSpPr>
          <p:cNvPr id="7" name="teaching:dimension-1"/>
          <p:cNvSpPr/>
          <p:nvPr/>
        </p:nvSpPr>
        <p:spPr>
          <a:xfrm>
            <a:off x="533400" y="4787900"/>
            <a:ext cx="1854200" cy="9525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零占位规则</a:t>
            </a:r>
          </a:p>
        </p:txBody>
      </p:sp>
      <p:sp>
        <p:nvSpPr>
          <p:cNvPr id="8" name="teaching:cell-0-0"/>
          <p:cNvSpPr/>
          <p:nvPr/>
        </p:nvSpPr>
        <p:spPr>
          <a:xfrm>
            <a:off x="2438400" y="3124200"/>
            <a:ext cx="4559300" cy="16129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⎡ 2 3 -1 5 ⎤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⎢ 1 -1 0 2 ⎥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⎣ 0 4 5 -1 ⎦</a:t>
            </a:r>
          </a:p>
        </p:txBody>
      </p:sp>
      <p:sp>
        <p:nvSpPr>
          <p:cNvPr id="9" name="teaching:cell-1-0"/>
          <p:cNvSpPr/>
          <p:nvPr/>
        </p:nvSpPr>
        <p:spPr>
          <a:xfrm>
            <a:off x="7048500" y="3124200"/>
            <a:ext cx="4559300" cy="16129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⎡ 2 3 -1 ⎤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⎢ 1 -1 0 ⎥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⎣ 0 4 5 ⎦</a:t>
            </a:r>
          </a:p>
        </p:txBody>
      </p:sp>
      <p:sp>
        <p:nvSpPr>
          <p:cNvPr id="10" name="teaching:question"/>
          <p:cNvSpPr/>
          <p:nvPr/>
        </p:nvSpPr>
        <p:spPr>
          <a:xfrm>
            <a:off x="533400" y="1104900"/>
            <a:ext cx="111252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为何增广矩阵需保留常数项列？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方程与矩阵的对应关系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三元以下线性方程组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增广矩阵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仅含系数的矩阵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3124200"/>
            <a:ext cx="1854200" cy="16129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矩阵结构</a:t>
            </a:r>
          </a:p>
        </p:txBody>
      </p:sp>
      <p:sp>
        <p:nvSpPr>
          <p:cNvPr id="7" name="teaching:dimension-1"/>
          <p:cNvSpPr/>
          <p:nvPr/>
        </p:nvSpPr>
        <p:spPr>
          <a:xfrm>
            <a:off x="533400" y="4787900"/>
            <a:ext cx="1854200" cy="9525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零占位规则</a:t>
            </a:r>
          </a:p>
        </p:txBody>
      </p:sp>
      <p:sp>
        <p:nvSpPr>
          <p:cNvPr id="8" name="teaching:cell-0-0"/>
          <p:cNvSpPr/>
          <p:nvPr/>
        </p:nvSpPr>
        <p:spPr>
          <a:xfrm>
            <a:off x="2438400" y="3124200"/>
            <a:ext cx="4559300" cy="16129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⎡ 2 3 -1 5 ⎤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⎢ 1 -1 0 2 ⎥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⎣ 0 4 5 -1 ⎦</a:t>
            </a:r>
          </a:p>
        </p:txBody>
      </p:sp>
      <p:sp>
        <p:nvSpPr>
          <p:cNvPr id="9" name="teaching:cell-1-0"/>
          <p:cNvSpPr/>
          <p:nvPr/>
        </p:nvSpPr>
        <p:spPr>
          <a:xfrm>
            <a:off x="7048500" y="3124200"/>
            <a:ext cx="4559300" cy="16129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⎡ 2 3 -1 ⎤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⎢ 1 -1 0 ⎥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⎣ 0 4 5 ⎦</a:t>
            </a:r>
          </a:p>
        </p:txBody>
      </p:sp>
      <p:sp>
        <p:nvSpPr>
          <p:cNvPr id="10" name="teaching:cell-2-0"/>
          <p:cNvSpPr/>
          <p:nvPr/>
        </p:nvSpPr>
        <p:spPr>
          <a:xfrm>
            <a:off x="2438400" y="4787900"/>
            <a:ext cx="4559300" cy="9525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缺项必补零，否则破坏方程等价性</a:t>
            </a:r>
          </a:p>
        </p:txBody>
      </p:sp>
      <p:sp>
        <p:nvSpPr>
          <p:cNvPr id="11" name="teaching:cell-3-0"/>
          <p:cNvSpPr/>
          <p:nvPr/>
        </p:nvSpPr>
        <p:spPr>
          <a:xfrm>
            <a:off x="7048500" y="4787900"/>
            <a:ext cx="4559300" cy="9525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以零作为占位系数</a:t>
            </a:r>
          </a:p>
        </p:txBody>
      </p:sp>
      <p:sp>
        <p:nvSpPr>
          <p:cNvPr id="12" name="teaching:question"/>
          <p:cNvSpPr/>
          <p:nvPr/>
        </p:nvSpPr>
        <p:spPr>
          <a:xfrm>
            <a:off x="533400" y="1104900"/>
            <a:ext cx="111252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为何增广矩阵需保留常数项列？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方程与矩阵的对应关系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三元以下线性方程组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增广矩阵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仅含系数的矩阵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3124200"/>
            <a:ext cx="1854200" cy="16129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矩阵结构</a:t>
            </a:r>
          </a:p>
        </p:txBody>
      </p:sp>
      <p:sp>
        <p:nvSpPr>
          <p:cNvPr id="7" name="teaching:dimension-1"/>
          <p:cNvSpPr/>
          <p:nvPr/>
        </p:nvSpPr>
        <p:spPr>
          <a:xfrm>
            <a:off x="533400" y="4787900"/>
            <a:ext cx="1854200" cy="9525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零占位规则</a:t>
            </a:r>
          </a:p>
        </p:txBody>
      </p:sp>
      <p:sp>
        <p:nvSpPr>
          <p:cNvPr id="8" name="teaching:cell-0-0"/>
          <p:cNvSpPr/>
          <p:nvPr/>
        </p:nvSpPr>
        <p:spPr>
          <a:xfrm>
            <a:off x="2438400" y="3124200"/>
            <a:ext cx="4559300" cy="16129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⎡ 2 3 -1 5 ⎤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⎢ 1 -1 0 2 ⎥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⎣ 0 4 5 -1 ⎦</a:t>
            </a:r>
          </a:p>
        </p:txBody>
      </p:sp>
      <p:sp>
        <p:nvSpPr>
          <p:cNvPr id="9" name="teaching:cell-1-0"/>
          <p:cNvSpPr/>
          <p:nvPr/>
        </p:nvSpPr>
        <p:spPr>
          <a:xfrm>
            <a:off x="7048500" y="3124200"/>
            <a:ext cx="4559300" cy="16129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⎡ 2 3 -1 ⎤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⎢ 1 -1 0 ⎥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⎣ 0 4 5 ⎦</a:t>
            </a:r>
          </a:p>
        </p:txBody>
      </p:sp>
      <p:sp>
        <p:nvSpPr>
          <p:cNvPr id="10" name="teaching:cell-2-0"/>
          <p:cNvSpPr/>
          <p:nvPr/>
        </p:nvSpPr>
        <p:spPr>
          <a:xfrm>
            <a:off x="2438400" y="4787900"/>
            <a:ext cx="4559300" cy="9525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缺项必补零，否则破坏方程等价性</a:t>
            </a:r>
          </a:p>
        </p:txBody>
      </p:sp>
      <p:sp>
        <p:nvSpPr>
          <p:cNvPr id="11" name="teaching:cell-3-0"/>
          <p:cNvSpPr/>
          <p:nvPr/>
        </p:nvSpPr>
        <p:spPr>
          <a:xfrm>
            <a:off x="7048500" y="4787900"/>
            <a:ext cx="4559300" cy="9525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以零作为占位系数</a:t>
            </a:r>
          </a:p>
        </p:txBody>
      </p:sp>
      <p:sp>
        <p:nvSpPr>
          <p:cNvPr id="12" name="teaching:question"/>
          <p:cNvSpPr/>
          <p:nvPr/>
        </p:nvSpPr>
        <p:spPr>
          <a:xfrm>
            <a:off x="533400" y="1104900"/>
            <a:ext cx="111252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为何增广矩阵需保留常数项列？</a:t>
            </a:r>
          </a:p>
        </p:txBody>
      </p:sp>
      <p:sp>
        <p:nvSpPr>
          <p:cNvPr id="13" name="teaching:conclusion"/>
          <p:cNvSpPr/>
          <p:nvPr/>
        </p:nvSpPr>
        <p:spPr>
          <a:xfrm>
            <a:off x="533400" y="5943600"/>
            <a:ext cx="11125200" cy="711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保留等式右侧的约束信息，是判断解存在性与唯一性的前提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系数矩阵与增广矩阵的区别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按变量顺序 x, y, z 对齐系数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系数矩阵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增广矩阵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3124200"/>
            <a:ext cx="1854200" cy="14478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矩阵结构</a:t>
            </a:r>
          </a:p>
        </p:txBody>
      </p:sp>
      <p:sp>
        <p:nvSpPr>
          <p:cNvPr id="7" name="teaching:dimension-1"/>
          <p:cNvSpPr/>
          <p:nvPr/>
        </p:nvSpPr>
        <p:spPr>
          <a:xfrm>
            <a:off x="533400" y="4622800"/>
            <a:ext cx="1854200" cy="11176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判定解存在性</a:t>
            </a:r>
          </a:p>
        </p:txBody>
      </p:sp>
      <p:sp>
        <p:nvSpPr>
          <p:cNvPr id="8" name="teaching:cell-0-0"/>
          <p:cNvSpPr/>
          <p:nvPr/>
        </p:nvSpPr>
        <p:spPr>
          <a:xfrm>
            <a:off x="2438400" y="3124200"/>
            <a:ext cx="4559300" cy="14478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⎡ 2 3 -1 ⎤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⎢ 1 -1 0 ⎥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⎣ 0 4 5 ⎦</a:t>
            </a:r>
          </a:p>
        </p:txBody>
      </p:sp>
      <p:sp>
        <p:nvSpPr>
          <p:cNvPr id="9" name="teaching:cell-1-0"/>
          <p:cNvSpPr/>
          <p:nvPr/>
        </p:nvSpPr>
        <p:spPr>
          <a:xfrm>
            <a:off x="7048500" y="3124200"/>
            <a:ext cx="4559300" cy="14478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⎡ 2 3 -1 5 ⎤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⎢ 1 -1 0 2 ⎥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⎣ 0 4 5 -1 ⎦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系数矩阵与增广矩阵的区别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按变量顺序 x, y, z 对齐系数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系数矩阵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增广矩阵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3124200"/>
            <a:ext cx="1854200" cy="14478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矩阵结构</a:t>
            </a:r>
          </a:p>
        </p:txBody>
      </p:sp>
      <p:sp>
        <p:nvSpPr>
          <p:cNvPr id="7" name="teaching:dimension-1"/>
          <p:cNvSpPr/>
          <p:nvPr/>
        </p:nvSpPr>
        <p:spPr>
          <a:xfrm>
            <a:off x="533400" y="4622800"/>
            <a:ext cx="1854200" cy="11176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判定解存在性</a:t>
            </a:r>
          </a:p>
        </p:txBody>
      </p:sp>
      <p:sp>
        <p:nvSpPr>
          <p:cNvPr id="8" name="teaching:cell-0-0"/>
          <p:cNvSpPr/>
          <p:nvPr/>
        </p:nvSpPr>
        <p:spPr>
          <a:xfrm>
            <a:off x="2438400" y="3124200"/>
            <a:ext cx="4559300" cy="14478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⎡ 2 3 -1 ⎤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⎢ 1 -1 0 ⎥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⎣ 0 4 5 ⎦</a:t>
            </a:r>
          </a:p>
        </p:txBody>
      </p:sp>
      <p:sp>
        <p:nvSpPr>
          <p:cNvPr id="9" name="teaching:cell-1-0"/>
          <p:cNvSpPr/>
          <p:nvPr/>
        </p:nvSpPr>
        <p:spPr>
          <a:xfrm>
            <a:off x="7048500" y="3124200"/>
            <a:ext cx="4559300" cy="14478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⎡ 2 3 -1 5 ⎤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⎢ 1 -1 0 2 ⎥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⎣ 0 4 5 -1 ⎦</a:t>
            </a:r>
          </a:p>
        </p:txBody>
      </p:sp>
      <p:sp>
        <p:nvSpPr>
          <p:cNvPr id="10" name="teaching:question"/>
          <p:cNvSpPr/>
          <p:nvPr/>
        </p:nvSpPr>
        <p:spPr>
          <a:xfrm>
            <a:off x="533400" y="1104900"/>
            <a:ext cx="111252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为何系数矩阵无法判断解的存在性？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系数矩阵与增广矩阵的区别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按变量顺序 x, y, z 对齐系数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系数矩阵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增广矩阵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3124200"/>
            <a:ext cx="1854200" cy="14478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矩阵结构</a:t>
            </a:r>
          </a:p>
        </p:txBody>
      </p:sp>
      <p:sp>
        <p:nvSpPr>
          <p:cNvPr id="7" name="teaching:dimension-1"/>
          <p:cNvSpPr/>
          <p:nvPr/>
        </p:nvSpPr>
        <p:spPr>
          <a:xfrm>
            <a:off x="533400" y="4622800"/>
            <a:ext cx="1854200" cy="11176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判定解存在性</a:t>
            </a:r>
          </a:p>
        </p:txBody>
      </p:sp>
      <p:sp>
        <p:nvSpPr>
          <p:cNvPr id="8" name="teaching:cell-0-0"/>
          <p:cNvSpPr/>
          <p:nvPr/>
        </p:nvSpPr>
        <p:spPr>
          <a:xfrm>
            <a:off x="2438400" y="3124200"/>
            <a:ext cx="4559300" cy="14478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⎡ 2 3 -1 ⎤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⎢ 1 -1 0 ⎥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⎣ 0 4 5 ⎦</a:t>
            </a:r>
          </a:p>
        </p:txBody>
      </p:sp>
      <p:sp>
        <p:nvSpPr>
          <p:cNvPr id="9" name="teaching:cell-1-0"/>
          <p:cNvSpPr/>
          <p:nvPr/>
        </p:nvSpPr>
        <p:spPr>
          <a:xfrm>
            <a:off x="7048500" y="3124200"/>
            <a:ext cx="4559300" cy="14478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⎡ 2 3 -1 5 ⎤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⎢ 1 -1 0 2 ⎥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⎣ 0 4 5 -1 ⎦</a:t>
            </a:r>
          </a:p>
        </p:txBody>
      </p:sp>
      <p:sp>
        <p:nvSpPr>
          <p:cNvPr id="10" name="teaching:cell-2-0"/>
          <p:cNvSpPr/>
          <p:nvPr/>
        </p:nvSpPr>
        <p:spPr>
          <a:xfrm>
            <a:off x="2438400" y="4622800"/>
            <a:ext cx="4559300" cy="11176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丢失等号右侧信息，无法判断解是否存</a:t>
            </a:r>
            <a:br/>
            <a:r>
              <a:t>在</a:t>
            </a:r>
          </a:p>
        </p:txBody>
      </p:sp>
      <p:sp>
        <p:nvSpPr>
          <p:cNvPr id="11" name="teaching:cell-3-0"/>
          <p:cNvSpPr/>
          <p:nvPr/>
        </p:nvSpPr>
        <p:spPr>
          <a:xfrm>
            <a:off x="7048500" y="4622800"/>
            <a:ext cx="4559300" cy="11176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保留方程的完整约束</a:t>
            </a:r>
          </a:p>
        </p:txBody>
      </p:sp>
      <p:sp>
        <p:nvSpPr>
          <p:cNvPr id="12" name="teaching:question"/>
          <p:cNvSpPr/>
          <p:nvPr/>
        </p:nvSpPr>
        <p:spPr>
          <a:xfrm>
            <a:off x="533400" y="1104900"/>
            <a:ext cx="111252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为何系数矩阵无法判断解的存在性？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系数矩阵与增广矩阵的区别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按变量顺序 x, y, z 对齐系数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系数矩阵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增广矩阵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3124200"/>
            <a:ext cx="1854200" cy="14478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矩阵结构</a:t>
            </a:r>
          </a:p>
        </p:txBody>
      </p:sp>
      <p:sp>
        <p:nvSpPr>
          <p:cNvPr id="7" name="teaching:dimension-1"/>
          <p:cNvSpPr/>
          <p:nvPr/>
        </p:nvSpPr>
        <p:spPr>
          <a:xfrm>
            <a:off x="533400" y="4622800"/>
            <a:ext cx="1854200" cy="11176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判定解存在性</a:t>
            </a:r>
          </a:p>
        </p:txBody>
      </p:sp>
      <p:sp>
        <p:nvSpPr>
          <p:cNvPr id="8" name="teaching:cell-0-0"/>
          <p:cNvSpPr/>
          <p:nvPr/>
        </p:nvSpPr>
        <p:spPr>
          <a:xfrm>
            <a:off x="2438400" y="3124200"/>
            <a:ext cx="4559300" cy="14478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⎡ 2 3 -1 ⎤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⎢ 1 -1 0 ⎥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⎣ 0 4 5 ⎦</a:t>
            </a:r>
          </a:p>
        </p:txBody>
      </p:sp>
      <p:sp>
        <p:nvSpPr>
          <p:cNvPr id="9" name="teaching:cell-1-0"/>
          <p:cNvSpPr/>
          <p:nvPr/>
        </p:nvSpPr>
        <p:spPr>
          <a:xfrm>
            <a:off x="7048500" y="3124200"/>
            <a:ext cx="4559300" cy="14478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⎡ 2 3 -1 5 ⎤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⎢ 1 -1 0 2 ⎥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⎣ 0 4 5 -1 ⎦</a:t>
            </a:r>
          </a:p>
        </p:txBody>
      </p:sp>
      <p:sp>
        <p:nvSpPr>
          <p:cNvPr id="10" name="teaching:cell-2-0"/>
          <p:cNvSpPr/>
          <p:nvPr/>
        </p:nvSpPr>
        <p:spPr>
          <a:xfrm>
            <a:off x="2438400" y="4622800"/>
            <a:ext cx="4559300" cy="11176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丢失等号右侧信息，无法判断解是否存</a:t>
            </a:r>
            <a:br/>
            <a:r>
              <a:t>在</a:t>
            </a:r>
          </a:p>
        </p:txBody>
      </p:sp>
      <p:sp>
        <p:nvSpPr>
          <p:cNvPr id="11" name="teaching:cell-3-0"/>
          <p:cNvSpPr/>
          <p:nvPr/>
        </p:nvSpPr>
        <p:spPr>
          <a:xfrm>
            <a:off x="7048500" y="4622800"/>
            <a:ext cx="4559300" cy="11176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保留方程的完整约束</a:t>
            </a:r>
          </a:p>
        </p:txBody>
      </p:sp>
      <p:sp>
        <p:nvSpPr>
          <p:cNvPr id="12" name="teaching:question"/>
          <p:cNvSpPr/>
          <p:nvPr/>
        </p:nvSpPr>
        <p:spPr>
          <a:xfrm>
            <a:off x="533400" y="1104900"/>
            <a:ext cx="111252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为何系数矩阵无法判断解的存在性？</a:t>
            </a:r>
          </a:p>
        </p:txBody>
      </p:sp>
      <p:sp>
        <p:nvSpPr>
          <p:cNvPr id="13" name="teaching:conclusion"/>
          <p:cNvSpPr/>
          <p:nvPr/>
        </p:nvSpPr>
        <p:spPr>
          <a:xfrm>
            <a:off x="533400" y="5943600"/>
            <a:ext cx="11125200" cy="711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无解结构仅在增广矩阵中可识别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提取增广矩阵</a:t>
            </a:r>
          </a:p>
        </p:txBody>
      </p:sp>
      <p:sp>
        <p:nvSpPr>
          <p:cNvPr id="3" name="teaching:sys"/>
          <p:cNvSpPr/>
          <p:nvPr/>
        </p:nvSpPr>
        <p:spPr>
          <a:xfrm>
            <a:off x="609600" y="1422400"/>
            <a:ext cx="109728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⎧ 3x - 2y + z = 4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⎨ x + 4z = -1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⎩ - y + 5z = 6</a:t>
            </a:r>
          </a:p>
        </p:txBody>
      </p:sp>
      <p:sp>
        <p:nvSpPr>
          <p:cNvPr id="4" name="teaching:task"/>
          <p:cNvSpPr/>
          <p:nvPr/>
        </p:nvSpPr>
        <p:spPr>
          <a:xfrm>
            <a:off x="609600" y="3352800"/>
            <a:ext cx="10972800" cy="1168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按变量顺序对齐并提取增广矩阵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提取增广矩阵</a:t>
            </a:r>
          </a:p>
        </p:txBody>
      </p:sp>
      <p:sp>
        <p:nvSpPr>
          <p:cNvPr id="3" name="teaching:sys"/>
          <p:cNvSpPr/>
          <p:nvPr/>
        </p:nvSpPr>
        <p:spPr>
          <a:xfrm>
            <a:off x="609600" y="1422400"/>
            <a:ext cx="109728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⎧ 3x - 2y + z = 4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⎨ x + 4z = -1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⎩ - y + 5z = 6</a:t>
            </a:r>
          </a:p>
        </p:txBody>
      </p:sp>
      <p:sp>
        <p:nvSpPr>
          <p:cNvPr id="4" name="teaching:task"/>
          <p:cNvSpPr/>
          <p:nvPr/>
        </p:nvSpPr>
        <p:spPr>
          <a:xfrm>
            <a:off x="609600" y="3352800"/>
            <a:ext cx="10972800" cy="1168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按变量顺序对齐并提取增广矩阵</a:t>
            </a:r>
          </a:p>
        </p:txBody>
      </p:sp>
      <p:sp>
        <p:nvSpPr>
          <p:cNvPr id="5" name="teaching:aug"/>
          <p:cNvSpPr/>
          <p:nvPr/>
        </p:nvSpPr>
        <p:spPr>
          <a:xfrm>
            <a:off x="609600" y="4622800"/>
            <a:ext cx="109728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⎡ 3 -2 1 4 ⎤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⎢ 1 0 4 -1 ⎥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⎣ 0 -1 5 6 ⎦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识别行阶梯形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非零行首非零元逐行严格右移，且全零行在底部。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30226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(A)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5511800" y="2463800"/>
            <a:ext cx="30226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(B)</a:t>
            </a:r>
          </a:p>
        </p:txBody>
      </p:sp>
      <p:sp>
        <p:nvSpPr>
          <p:cNvPr id="6" name="teaching:subject-2"/>
          <p:cNvSpPr/>
          <p:nvPr/>
        </p:nvSpPr>
        <p:spPr>
          <a:xfrm>
            <a:off x="8585200" y="2463800"/>
            <a:ext cx="30226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(C)</a:t>
            </a:r>
          </a:p>
        </p:txBody>
      </p:sp>
      <p:sp>
        <p:nvSpPr>
          <p:cNvPr id="7" name="teaching:dimension-0"/>
          <p:cNvSpPr/>
          <p:nvPr/>
        </p:nvSpPr>
        <p:spPr>
          <a:xfrm>
            <a:off x="533400" y="3124200"/>
            <a:ext cx="1854200" cy="26162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候选矩阵</a:t>
            </a:r>
          </a:p>
        </p:txBody>
      </p:sp>
      <p:sp>
        <p:nvSpPr>
          <p:cNvPr id="8" name="teaching:cell-0-0"/>
          <p:cNvSpPr/>
          <p:nvPr/>
        </p:nvSpPr>
        <p:spPr>
          <a:xfrm>
            <a:off x="2438400" y="3124200"/>
            <a:ext cx="3022600" cy="2616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⎡ 1 0 4 -1 ⎤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⎢ 0 -1 5 6 ⎥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⎣ 3 -2 1 4 ⎦</a:t>
            </a:r>
          </a:p>
        </p:txBody>
      </p:sp>
      <p:sp>
        <p:nvSpPr>
          <p:cNvPr id="9" name="teaching:cell-1-0"/>
          <p:cNvSpPr/>
          <p:nvPr/>
        </p:nvSpPr>
        <p:spPr>
          <a:xfrm>
            <a:off x="5511800" y="3124200"/>
            <a:ext cx="3022600" cy="2616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⎡ 3 -2 1 4 ⎤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⎢ 0 -1 5 6 ⎥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⎣ 0 0 4 -1 ⎦</a:t>
            </a:r>
          </a:p>
        </p:txBody>
      </p:sp>
      <p:sp>
        <p:nvSpPr>
          <p:cNvPr id="10" name="teaching:cell-2-0"/>
          <p:cNvSpPr/>
          <p:nvPr/>
        </p:nvSpPr>
        <p:spPr>
          <a:xfrm>
            <a:off x="8585200" y="3124200"/>
            <a:ext cx="3022600" cy="2616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⎡ 1 4 0 -1 ⎤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⎢ 0 -1 5 6 ⎥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⎣ 0 0 0 3 ⎦</a:t>
            </a:r>
          </a:p>
        </p:txBody>
      </p:sp>
      <p:sp>
        <p:nvSpPr>
          <p:cNvPr id="11" name="teaching:question"/>
          <p:cNvSpPr/>
          <p:nvPr/>
        </p:nvSpPr>
        <p:spPr>
          <a:xfrm>
            <a:off x="533400" y="1104900"/>
            <a:ext cx="111252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哪一个符合行阶梯形的直观特征？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识别行阶梯形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非零行首非零元逐行严格右移，且全零行在底部。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30226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(A)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5511800" y="2463800"/>
            <a:ext cx="30226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(B)</a:t>
            </a:r>
          </a:p>
        </p:txBody>
      </p:sp>
      <p:sp>
        <p:nvSpPr>
          <p:cNvPr id="6" name="teaching:subject-2"/>
          <p:cNvSpPr/>
          <p:nvPr/>
        </p:nvSpPr>
        <p:spPr>
          <a:xfrm>
            <a:off x="8585200" y="2463800"/>
            <a:ext cx="30226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(C)</a:t>
            </a:r>
          </a:p>
        </p:txBody>
      </p:sp>
      <p:sp>
        <p:nvSpPr>
          <p:cNvPr id="7" name="teaching:dimension-0"/>
          <p:cNvSpPr/>
          <p:nvPr/>
        </p:nvSpPr>
        <p:spPr>
          <a:xfrm>
            <a:off x="533400" y="3124200"/>
            <a:ext cx="1854200" cy="26162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候选矩阵</a:t>
            </a:r>
          </a:p>
        </p:txBody>
      </p:sp>
      <p:sp>
        <p:nvSpPr>
          <p:cNvPr id="8" name="teaching:cell-0-0"/>
          <p:cNvSpPr/>
          <p:nvPr/>
        </p:nvSpPr>
        <p:spPr>
          <a:xfrm>
            <a:off x="2438400" y="3124200"/>
            <a:ext cx="3022600" cy="2616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⎡ 1 0 4 -1 ⎤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⎢ 0 -1 5 6 ⎥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⎣ 3 -2 1 4 ⎦</a:t>
            </a:r>
          </a:p>
        </p:txBody>
      </p:sp>
      <p:sp>
        <p:nvSpPr>
          <p:cNvPr id="9" name="teaching:cell-1-0"/>
          <p:cNvSpPr/>
          <p:nvPr/>
        </p:nvSpPr>
        <p:spPr>
          <a:xfrm>
            <a:off x="5511800" y="3124200"/>
            <a:ext cx="3022600" cy="2616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⎡ 3 -2 1 4 ⎤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⎢ 0 -1 5 6 ⎥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⎣ 0 0 4 -1 ⎦</a:t>
            </a:r>
          </a:p>
        </p:txBody>
      </p:sp>
      <p:sp>
        <p:nvSpPr>
          <p:cNvPr id="10" name="teaching:cell-2-0"/>
          <p:cNvSpPr/>
          <p:nvPr/>
        </p:nvSpPr>
        <p:spPr>
          <a:xfrm>
            <a:off x="8585200" y="3124200"/>
            <a:ext cx="3022600" cy="2616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⎡ 1 4 0 -1 ⎤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⎢ 0 -1 5 6 ⎥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⎣ 0 0 0 3 ⎦</a:t>
            </a:r>
          </a:p>
        </p:txBody>
      </p:sp>
      <p:sp>
        <p:nvSpPr>
          <p:cNvPr id="11" name="teaching:question"/>
          <p:cNvSpPr/>
          <p:nvPr/>
        </p:nvSpPr>
        <p:spPr>
          <a:xfrm>
            <a:off x="533400" y="1104900"/>
            <a:ext cx="111252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哪一个符合行阶梯形的直观特征？</a:t>
            </a:r>
          </a:p>
        </p:txBody>
      </p:sp>
      <p:sp>
        <p:nvSpPr>
          <p:cNvPr id="12" name="teaching:conclusion"/>
          <p:cNvSpPr/>
          <p:nvPr/>
        </p:nvSpPr>
        <p:spPr>
          <a:xfrm>
            <a:off x="533400" y="5943600"/>
            <a:ext cx="11125200" cy="711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矩阵 (B) 主元位置依次为第1列、第2列、第3列，呈严格右移台阶状，符合定义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常见错误与修正：零占位规则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按 x, y, z 顺序，缺项零占位，常数末列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正确增广矩阵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错误增广矩阵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3124200"/>
            <a:ext cx="1854200" cy="26162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矩阵形式</a:t>
            </a:r>
          </a:p>
        </p:txBody>
      </p:sp>
      <p:sp>
        <p:nvSpPr>
          <p:cNvPr id="7" name="teaching:cell-0-0"/>
          <p:cNvSpPr/>
          <p:nvPr/>
        </p:nvSpPr>
        <p:spPr>
          <a:xfrm>
            <a:off x="2438400" y="3124200"/>
            <a:ext cx="4559300" cy="2616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⎡ 2 3 -1 5 ⎤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⎢ 1 -1 0 2 ⎥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⎣ 0 4 5 -1 ⎦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常见错误与修正：零占位规则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按 x, y, z 顺序，缺项零占位，常数末列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正确增广矩阵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错误增广矩阵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3124200"/>
            <a:ext cx="1854200" cy="26162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矩阵形式</a:t>
            </a:r>
          </a:p>
        </p:txBody>
      </p:sp>
      <p:sp>
        <p:nvSpPr>
          <p:cNvPr id="7" name="teaching:cell-0-0"/>
          <p:cNvSpPr/>
          <p:nvPr/>
        </p:nvSpPr>
        <p:spPr>
          <a:xfrm>
            <a:off x="2438400" y="3124200"/>
            <a:ext cx="4559300" cy="2616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⎡ 2 3 -1 5 ⎤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⎢ 1 -1 0 2 ⎥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⎣ 0 4 5 -1 ⎦</a:t>
            </a:r>
          </a:p>
        </p:txBody>
      </p:sp>
      <p:sp>
        <p:nvSpPr>
          <p:cNvPr id="8" name="teaching:cell-1-0"/>
          <p:cNvSpPr/>
          <p:nvPr/>
        </p:nvSpPr>
        <p:spPr>
          <a:xfrm>
            <a:off x="7048500" y="3124200"/>
            <a:ext cx="4559300" cy="2616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⎡ 2 3 -1 5 ⎤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⎢ 1 -1 0 2 ⎥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⎣ 4 5 -1   ⎦</a:t>
            </a:r>
          </a:p>
        </p:txBody>
      </p:sp>
      <p:sp>
        <p:nvSpPr>
          <p:cNvPr id="9" name="teaching:question"/>
          <p:cNvSpPr/>
          <p:nvPr/>
        </p:nvSpPr>
        <p:spPr>
          <a:xfrm>
            <a:off x="533400" y="1104900"/>
            <a:ext cx="111252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哪一行维度不一致？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常见错误与修正：零占位规则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按 x, y, z 顺序，缺项零占位，常数末列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正确增广矩阵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错误增广矩阵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3124200"/>
            <a:ext cx="1854200" cy="26162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矩阵形式</a:t>
            </a:r>
          </a:p>
        </p:txBody>
      </p:sp>
      <p:sp>
        <p:nvSpPr>
          <p:cNvPr id="7" name="teaching:cell-0-0"/>
          <p:cNvSpPr/>
          <p:nvPr/>
        </p:nvSpPr>
        <p:spPr>
          <a:xfrm>
            <a:off x="2438400" y="3124200"/>
            <a:ext cx="4559300" cy="2616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⎡ 2 3 -1 5 ⎤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⎢ 1 -1 0 2 ⎥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⎣ 0 4 5 -1 ⎦</a:t>
            </a:r>
          </a:p>
        </p:txBody>
      </p:sp>
      <p:sp>
        <p:nvSpPr>
          <p:cNvPr id="8" name="teaching:cell-1-0"/>
          <p:cNvSpPr/>
          <p:nvPr/>
        </p:nvSpPr>
        <p:spPr>
          <a:xfrm>
            <a:off x="7048500" y="3124200"/>
            <a:ext cx="4559300" cy="2616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⎡ 2 3 -1 5 ⎤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⎢ 1 -1 0 2 ⎥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⎣ 4 5 -1   ⎦</a:t>
            </a:r>
          </a:p>
        </p:txBody>
      </p:sp>
      <p:sp>
        <p:nvSpPr>
          <p:cNvPr id="9" name="teaching:question"/>
          <p:cNvSpPr/>
          <p:nvPr/>
        </p:nvSpPr>
        <p:spPr>
          <a:xfrm>
            <a:off x="533400" y="1104900"/>
            <a:ext cx="111252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哪一行维度不一致？</a:t>
            </a:r>
          </a:p>
        </p:txBody>
      </p:sp>
      <p:sp>
        <p:nvSpPr>
          <p:cNvPr id="10" name="teaching:conclusion"/>
          <p:cNvSpPr/>
          <p:nvPr/>
        </p:nvSpPr>
        <p:spPr>
          <a:xfrm>
            <a:off x="533400" y="5943600"/>
            <a:ext cx="11125200" cy="711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缺项零占位是保持维度一致的必要操作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几何直观：平面约束与自由度削减</a:t>
            </a:r>
          </a:p>
        </p:txBody>
      </p:sp>
      <p:sp>
        <p:nvSpPr>
          <p:cNvPr id="3" name="teaching:node-plane"/>
          <p:cNvSpPr/>
          <p:nvPr/>
        </p:nvSpPr>
        <p:spPr>
          <a:xfrm>
            <a:off x="635000" y="3238500"/>
            <a:ext cx="233045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方程 = 三维空间平</a:t>
            </a:r>
            <a:br/>
            <a:r>
              <a:t>面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几何直观：平面约束与自由度削减</a:t>
            </a:r>
          </a:p>
        </p:txBody>
      </p:sp>
      <p:sp>
        <p:nvSpPr>
          <p:cNvPr id="3" name="teaching:node-plane"/>
          <p:cNvSpPr/>
          <p:nvPr/>
        </p:nvSpPr>
        <p:spPr>
          <a:xfrm>
            <a:off x="635000" y="3238500"/>
            <a:ext cx="233045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方程 = 三维空间平</a:t>
            </a:r>
            <a:br/>
            <a:r>
              <a:t>面</a:t>
            </a:r>
          </a:p>
        </p:txBody>
      </p:sp>
      <p:sp>
        <p:nvSpPr>
          <p:cNvPr id="4" name="teaching:node-constraint"/>
          <p:cNvSpPr/>
          <p:nvPr/>
        </p:nvSpPr>
        <p:spPr>
          <a:xfrm>
            <a:off x="3498850" y="2425700"/>
            <a:ext cx="233045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变量缺失 = 平面与</a:t>
            </a:r>
            <a:br/>
            <a:r>
              <a:t>轴平行</a:t>
            </a:r>
          </a:p>
        </p:txBody>
      </p:sp>
      <p:cxnSp>
        <p:nvCxnSpPr>
          <p:cNvPr id="5" name="relation:relation-0"/>
          <p:cNvCxnSpPr>
            <a:stCxn id="3" idx="3"/>
            <a:endCxn id="4" idx="1"/>
          </p:cNvCxnSpPr>
          <p:nvPr/>
        </p:nvCxnSpPr>
        <p:spPr>
          <a:xfrm flipV="1">
            <a:off x="2965450" y="3111500"/>
            <a:ext cx="533400" cy="812800"/>
          </a:xfrm>
          <a:prstGeom prst="line">
            <a:avLst/>
          </a:prstGeom>
          <a:ln w="21590">
            <a:solidFill>
              <a:srgbClr val="305AC7"/>
            </a:solidFill>
            <a:tailEnd type="triangle"/>
          </a:ln>
          <a:effectLst/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几何直观：平面约束与自由度削减</a:t>
            </a:r>
          </a:p>
        </p:txBody>
      </p:sp>
      <p:sp>
        <p:nvSpPr>
          <p:cNvPr id="3" name="teaching:node-plane"/>
          <p:cNvSpPr/>
          <p:nvPr/>
        </p:nvSpPr>
        <p:spPr>
          <a:xfrm>
            <a:off x="635000" y="3238500"/>
            <a:ext cx="233045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方程 = 三维空间平</a:t>
            </a:r>
            <a:br/>
            <a:r>
              <a:t>面</a:t>
            </a:r>
          </a:p>
        </p:txBody>
      </p:sp>
      <p:sp>
        <p:nvSpPr>
          <p:cNvPr id="4" name="teaching:node-constraint"/>
          <p:cNvSpPr/>
          <p:nvPr/>
        </p:nvSpPr>
        <p:spPr>
          <a:xfrm>
            <a:off x="3498850" y="2425700"/>
            <a:ext cx="233045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变量缺失 = 平面与</a:t>
            </a:r>
            <a:br/>
            <a:r>
              <a:t>轴平行</a:t>
            </a:r>
          </a:p>
        </p:txBody>
      </p:sp>
      <p:sp>
        <p:nvSpPr>
          <p:cNvPr id="5" name="teaching:node-simplify"/>
          <p:cNvSpPr/>
          <p:nvPr/>
        </p:nvSpPr>
        <p:spPr>
          <a:xfrm>
            <a:off x="3498850" y="4051300"/>
            <a:ext cx="233045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消元 = 简化相对位</a:t>
            </a:r>
            <a:br/>
            <a:r>
              <a:t>置</a:t>
            </a:r>
          </a:p>
        </p:txBody>
      </p:sp>
      <p:cxnSp>
        <p:nvCxnSpPr>
          <p:cNvPr id="6" name="relation:relation-0"/>
          <p:cNvCxnSpPr>
            <a:stCxn id="3" idx="3"/>
            <a:endCxn id="4" idx="1"/>
          </p:cNvCxnSpPr>
          <p:nvPr/>
        </p:nvCxnSpPr>
        <p:spPr>
          <a:xfrm flipV="1">
            <a:off x="2965450" y="3111500"/>
            <a:ext cx="533400" cy="812800"/>
          </a:xfrm>
          <a:prstGeom prst="line">
            <a:avLst/>
          </a:prstGeom>
          <a:ln w="21590">
            <a:solidFill>
              <a:srgbClr val="305AC7"/>
            </a:solidFill>
            <a:tailEnd type="triangle"/>
          </a:ln>
          <a:effectLst/>
        </p:spPr>
      </p:cxnSp>
      <p:cxnSp>
        <p:nvCxnSpPr>
          <p:cNvPr id="7" name="relation:relation-1"/>
          <p:cNvCxnSpPr>
            <a:stCxn id="3" idx="3"/>
            <a:endCxn id="5" idx="1"/>
          </p:cNvCxnSpPr>
          <p:nvPr/>
        </p:nvCxnSpPr>
        <p:spPr>
          <a:xfrm>
            <a:off x="2965450" y="3924300"/>
            <a:ext cx="533400" cy="812800"/>
          </a:xfrm>
          <a:prstGeom prst="line">
            <a:avLst/>
          </a:prstGeom>
          <a:ln w="21590">
            <a:solidFill>
              <a:srgbClr val="305AC7"/>
            </a:solidFill>
            <a:tailEnd type="triangle"/>
          </a:ln>
          <a:effectLst/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几何直观：平面约束与自由度削减</a:t>
            </a:r>
          </a:p>
        </p:txBody>
      </p:sp>
      <p:sp>
        <p:nvSpPr>
          <p:cNvPr id="3" name="teaching:node-plane"/>
          <p:cNvSpPr/>
          <p:nvPr/>
        </p:nvSpPr>
        <p:spPr>
          <a:xfrm>
            <a:off x="635000" y="3238500"/>
            <a:ext cx="233045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方程 = 三维空间平</a:t>
            </a:r>
            <a:br/>
            <a:r>
              <a:t>面</a:t>
            </a:r>
          </a:p>
        </p:txBody>
      </p:sp>
      <p:sp>
        <p:nvSpPr>
          <p:cNvPr id="4" name="teaching:node-constraint"/>
          <p:cNvSpPr/>
          <p:nvPr/>
        </p:nvSpPr>
        <p:spPr>
          <a:xfrm>
            <a:off x="3498850" y="2425700"/>
            <a:ext cx="233045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变量缺失 = 平面与</a:t>
            </a:r>
            <a:br/>
            <a:r>
              <a:t>轴平行</a:t>
            </a:r>
          </a:p>
        </p:txBody>
      </p:sp>
      <p:sp>
        <p:nvSpPr>
          <p:cNvPr id="5" name="teaching:node-simplify"/>
          <p:cNvSpPr/>
          <p:nvPr/>
        </p:nvSpPr>
        <p:spPr>
          <a:xfrm>
            <a:off x="3498850" y="4051300"/>
            <a:ext cx="233045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消元 = 简化相对位</a:t>
            </a:r>
            <a:br/>
            <a:r>
              <a:t>置</a:t>
            </a:r>
          </a:p>
        </p:txBody>
      </p:sp>
      <p:sp>
        <p:nvSpPr>
          <p:cNvPr id="6" name="teaching:node-step"/>
          <p:cNvSpPr/>
          <p:nvPr/>
        </p:nvSpPr>
        <p:spPr>
          <a:xfrm>
            <a:off x="6362700" y="3238500"/>
            <a:ext cx="233045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台阶状：自由度逐</a:t>
            </a:r>
            <a:br/>
            <a:r>
              <a:t>级削减</a:t>
            </a:r>
          </a:p>
        </p:txBody>
      </p:sp>
      <p:cxnSp>
        <p:nvCxnSpPr>
          <p:cNvPr id="7" name="relation:relation-0"/>
          <p:cNvCxnSpPr>
            <a:stCxn id="3" idx="3"/>
            <a:endCxn id="4" idx="1"/>
          </p:cNvCxnSpPr>
          <p:nvPr/>
        </p:nvCxnSpPr>
        <p:spPr>
          <a:xfrm flipV="1">
            <a:off x="2965450" y="3111500"/>
            <a:ext cx="533400" cy="812800"/>
          </a:xfrm>
          <a:prstGeom prst="line">
            <a:avLst/>
          </a:prstGeom>
          <a:ln w="21590">
            <a:solidFill>
              <a:srgbClr val="305AC7"/>
            </a:solidFill>
            <a:tailEnd type="triangle"/>
          </a:ln>
          <a:effectLst/>
        </p:spPr>
      </p:cxnSp>
      <p:cxnSp>
        <p:nvCxnSpPr>
          <p:cNvPr id="8" name="relation:relation-1"/>
          <p:cNvCxnSpPr>
            <a:stCxn id="3" idx="3"/>
            <a:endCxn id="5" idx="1"/>
          </p:cNvCxnSpPr>
          <p:nvPr/>
        </p:nvCxnSpPr>
        <p:spPr>
          <a:xfrm>
            <a:off x="2965450" y="3924300"/>
            <a:ext cx="533400" cy="812800"/>
          </a:xfrm>
          <a:prstGeom prst="line">
            <a:avLst/>
          </a:prstGeom>
          <a:ln w="21590">
            <a:solidFill>
              <a:srgbClr val="305AC7"/>
            </a:solidFill>
            <a:tailEnd type="triangle"/>
          </a:ln>
          <a:effectLst/>
        </p:spPr>
      </p:cxnSp>
      <p:cxnSp>
        <p:nvCxnSpPr>
          <p:cNvPr id="9" name="relation:relation-2"/>
          <p:cNvCxnSpPr>
            <a:stCxn id="5" idx="3"/>
            <a:endCxn id="6" idx="1"/>
          </p:cNvCxnSpPr>
          <p:nvPr/>
        </p:nvCxnSpPr>
        <p:spPr>
          <a:xfrm flipV="1">
            <a:off x="5829300" y="3924300"/>
            <a:ext cx="533400" cy="812800"/>
          </a:xfrm>
          <a:prstGeom prst="line">
            <a:avLst/>
          </a:prstGeom>
          <a:ln w="21590">
            <a:solidFill>
              <a:srgbClr val="305AC7"/>
            </a:solidFill>
            <a:tailEnd type="triangle"/>
          </a:ln>
          <a:effectLst/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几何直观：平面约束与自由度削减</a:t>
            </a:r>
          </a:p>
        </p:txBody>
      </p:sp>
      <p:sp>
        <p:nvSpPr>
          <p:cNvPr id="3" name="teaching:node-plane"/>
          <p:cNvSpPr/>
          <p:nvPr/>
        </p:nvSpPr>
        <p:spPr>
          <a:xfrm>
            <a:off x="635000" y="3238500"/>
            <a:ext cx="233045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方程 = 三维空间平</a:t>
            </a:r>
            <a:br/>
            <a:r>
              <a:t>面</a:t>
            </a:r>
          </a:p>
        </p:txBody>
      </p:sp>
      <p:sp>
        <p:nvSpPr>
          <p:cNvPr id="4" name="teaching:node-constraint"/>
          <p:cNvSpPr/>
          <p:nvPr/>
        </p:nvSpPr>
        <p:spPr>
          <a:xfrm>
            <a:off x="3498850" y="2425700"/>
            <a:ext cx="233045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变量缺失 = 平面与</a:t>
            </a:r>
            <a:br/>
            <a:r>
              <a:t>轴平行</a:t>
            </a:r>
          </a:p>
        </p:txBody>
      </p:sp>
      <p:sp>
        <p:nvSpPr>
          <p:cNvPr id="5" name="teaching:node-simplify"/>
          <p:cNvSpPr/>
          <p:nvPr/>
        </p:nvSpPr>
        <p:spPr>
          <a:xfrm>
            <a:off x="3498850" y="4051300"/>
            <a:ext cx="233045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消元 = 简化相对位</a:t>
            </a:r>
            <a:br/>
            <a:r>
              <a:t>置</a:t>
            </a:r>
          </a:p>
        </p:txBody>
      </p:sp>
      <p:sp>
        <p:nvSpPr>
          <p:cNvPr id="6" name="teaching:node-step"/>
          <p:cNvSpPr/>
          <p:nvPr/>
        </p:nvSpPr>
        <p:spPr>
          <a:xfrm>
            <a:off x="6362700" y="3238500"/>
            <a:ext cx="233045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台阶状：自由度逐</a:t>
            </a:r>
            <a:br/>
            <a:r>
              <a:t>级削减</a:t>
            </a:r>
          </a:p>
        </p:txBody>
      </p:sp>
      <p:sp>
        <p:nvSpPr>
          <p:cNvPr id="7" name="teaching:node-contradiction"/>
          <p:cNvSpPr/>
          <p:nvPr/>
        </p:nvSpPr>
        <p:spPr>
          <a:xfrm>
            <a:off x="9226550" y="3238500"/>
            <a:ext cx="233045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矛盾 = 无共同交点</a:t>
            </a:r>
          </a:p>
        </p:txBody>
      </p:sp>
      <p:cxnSp>
        <p:nvCxnSpPr>
          <p:cNvPr id="8" name="relation:relation-0"/>
          <p:cNvCxnSpPr>
            <a:stCxn id="3" idx="3"/>
            <a:endCxn id="4" idx="1"/>
          </p:cNvCxnSpPr>
          <p:nvPr/>
        </p:nvCxnSpPr>
        <p:spPr>
          <a:xfrm flipV="1">
            <a:off x="2965450" y="3111500"/>
            <a:ext cx="533400" cy="812800"/>
          </a:xfrm>
          <a:prstGeom prst="line">
            <a:avLst/>
          </a:prstGeom>
          <a:ln w="21590">
            <a:solidFill>
              <a:srgbClr val="305AC7"/>
            </a:solidFill>
            <a:tailEnd type="triangle"/>
          </a:ln>
          <a:effectLst/>
        </p:spPr>
      </p:cxnSp>
      <p:cxnSp>
        <p:nvCxnSpPr>
          <p:cNvPr id="9" name="relation:relation-1"/>
          <p:cNvCxnSpPr>
            <a:stCxn id="3" idx="3"/>
            <a:endCxn id="5" idx="1"/>
          </p:cNvCxnSpPr>
          <p:nvPr/>
        </p:nvCxnSpPr>
        <p:spPr>
          <a:xfrm>
            <a:off x="2965450" y="3924300"/>
            <a:ext cx="533400" cy="812800"/>
          </a:xfrm>
          <a:prstGeom prst="line">
            <a:avLst/>
          </a:prstGeom>
          <a:ln w="21590">
            <a:solidFill>
              <a:srgbClr val="305AC7"/>
            </a:solidFill>
            <a:tailEnd type="triangle"/>
          </a:ln>
          <a:effectLst/>
        </p:spPr>
      </p:cxnSp>
      <p:cxnSp>
        <p:nvCxnSpPr>
          <p:cNvPr id="10" name="relation:relation-2"/>
          <p:cNvCxnSpPr>
            <a:stCxn id="5" idx="3"/>
            <a:endCxn id="6" idx="1"/>
          </p:cNvCxnSpPr>
          <p:nvPr/>
        </p:nvCxnSpPr>
        <p:spPr>
          <a:xfrm flipV="1">
            <a:off x="5829300" y="3924300"/>
            <a:ext cx="533400" cy="812800"/>
          </a:xfrm>
          <a:prstGeom prst="line">
            <a:avLst/>
          </a:prstGeom>
          <a:ln w="21590">
            <a:solidFill>
              <a:srgbClr val="305AC7"/>
            </a:solidFill>
            <a:tailEnd type="triangle"/>
          </a:ln>
          <a:effectLst/>
        </p:spPr>
      </p:cxnSp>
      <p:cxnSp>
        <p:nvCxnSpPr>
          <p:cNvPr id="11" name="relation:relation-3"/>
          <p:cNvCxnSpPr>
            <a:stCxn id="6" idx="3"/>
            <a:endCxn id="7" idx="1"/>
          </p:cNvCxnSpPr>
          <p:nvPr/>
        </p:nvCxnSpPr>
        <p:spPr>
          <a:xfrm>
            <a:off x="8693150" y="3924300"/>
            <a:ext cx="533400" cy="0"/>
          </a:xfrm>
          <a:prstGeom prst="line">
            <a:avLst/>
          </a:prstGeom>
          <a:ln w="21590">
            <a:solidFill>
              <a:srgbClr val="305AC7"/>
            </a:solidFill>
            <a:tailEnd type="triangle"/>
          </a:ln>
          <a:effectLst/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一般形式：从符号到结构化表征</a:t>
            </a:r>
          </a:p>
        </p:txBody>
      </p:sp>
      <p:sp>
        <p:nvSpPr>
          <p:cNvPr id="3" name="teaching:sys_label"/>
          <p:cNvSpPr/>
          <p:nvPr/>
        </p:nvSpPr>
        <p:spPr>
          <a:xfrm>
            <a:off x="609600" y="1422400"/>
            <a:ext cx="10972800" cy="533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一般形式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一般形式：从符号到结构化表征</a:t>
            </a:r>
          </a:p>
        </p:txBody>
      </p:sp>
      <p:sp>
        <p:nvSpPr>
          <p:cNvPr id="3" name="teaching:sys_label"/>
          <p:cNvSpPr/>
          <p:nvPr/>
        </p:nvSpPr>
        <p:spPr>
          <a:xfrm>
            <a:off x="609600" y="1422400"/>
            <a:ext cx="10972800" cy="533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一般形式</a:t>
            </a:r>
          </a:p>
        </p:txBody>
      </p:sp>
      <p:sp>
        <p:nvSpPr>
          <p:cNvPr id="4" name="teaching:sys_eq"/>
          <p:cNvSpPr/>
          <p:nvPr/>
        </p:nvSpPr>
        <p:spPr>
          <a:xfrm>
            <a:off x="609600" y="2057400"/>
            <a:ext cx="10972800" cy="1524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⎧ a₁₁x₁ + a₁₂x₂ + ⋯ + a₁ₙxₙ = b₁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⎨ a₂₁x₁ + a₂₂x₂ + ⋯ + a₂ₙxₙ = b₂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⎨ ⋮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⎩ aₘ₁x₁ + aₘ₂x₂ + ⋯ + aₘₙxₙ = bₘ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一般形式：从符号到结构化表征</a:t>
            </a:r>
          </a:p>
        </p:txBody>
      </p:sp>
      <p:sp>
        <p:nvSpPr>
          <p:cNvPr id="3" name="teaching:sys_label"/>
          <p:cNvSpPr/>
          <p:nvPr/>
        </p:nvSpPr>
        <p:spPr>
          <a:xfrm>
            <a:off x="609600" y="1422400"/>
            <a:ext cx="10972800" cy="533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一般形式</a:t>
            </a:r>
          </a:p>
        </p:txBody>
      </p:sp>
      <p:sp>
        <p:nvSpPr>
          <p:cNvPr id="4" name="teaching:sys_eq"/>
          <p:cNvSpPr/>
          <p:nvPr/>
        </p:nvSpPr>
        <p:spPr>
          <a:xfrm>
            <a:off x="609600" y="2057400"/>
            <a:ext cx="10972800" cy="1524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⎧ a₁₁x₁ + a₁₂x₂ + ⋯ + a₁ₙxₙ = b₁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⎨ a₂₁x₁ + a₂₂x₂ + ⋯ + a₂ₙxₙ = b₂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⎨ ⋮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⎩ aₘ₁x₁ + aₘ₂x₂ + ⋯ + aₘₙxₙ = bₘ</a:t>
            </a:r>
          </a:p>
        </p:txBody>
      </p:sp>
      <p:sp>
        <p:nvSpPr>
          <p:cNvPr id="5" name="teaching:coef_rule"/>
          <p:cNvSpPr/>
          <p:nvPr/>
        </p:nvSpPr>
        <p:spPr>
          <a:xfrm>
            <a:off x="609600" y="3683000"/>
            <a:ext cx="10972800" cy="533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系数矩阵 A 由所有 aᵢⱼ 构成，大小为 m × 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一般形式：从符号到结构化表征</a:t>
            </a:r>
          </a:p>
        </p:txBody>
      </p:sp>
      <p:sp>
        <p:nvSpPr>
          <p:cNvPr id="3" name="teaching:sys_label"/>
          <p:cNvSpPr/>
          <p:nvPr/>
        </p:nvSpPr>
        <p:spPr>
          <a:xfrm>
            <a:off x="609600" y="1422400"/>
            <a:ext cx="10972800" cy="533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一般形式</a:t>
            </a:r>
          </a:p>
        </p:txBody>
      </p:sp>
      <p:sp>
        <p:nvSpPr>
          <p:cNvPr id="4" name="teaching:sys_eq"/>
          <p:cNvSpPr/>
          <p:nvPr/>
        </p:nvSpPr>
        <p:spPr>
          <a:xfrm>
            <a:off x="609600" y="2057400"/>
            <a:ext cx="10972800" cy="1524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⎧ a₁₁x₁ + a₁₂x₂ + ⋯ + a₁ₙxₙ = b₁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⎨ a₂₁x₁ + a₂₂x₂ + ⋯ + a₂ₙxₙ = b₂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⎨ ⋮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⎩ aₘ₁x₁ + aₘ₂x₂ + ⋯ + aₘₙxₙ = bₘ</a:t>
            </a:r>
          </a:p>
        </p:txBody>
      </p:sp>
      <p:sp>
        <p:nvSpPr>
          <p:cNvPr id="5" name="teaching:coef_rule"/>
          <p:cNvSpPr/>
          <p:nvPr/>
        </p:nvSpPr>
        <p:spPr>
          <a:xfrm>
            <a:off x="609600" y="3683000"/>
            <a:ext cx="10972800" cy="533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系数矩阵 A 由所有 aᵢⱼ 构成，大小为 m × n</a:t>
            </a:r>
          </a:p>
        </p:txBody>
      </p:sp>
      <p:sp>
        <p:nvSpPr>
          <p:cNvPr id="6" name="teaching:aug_rule"/>
          <p:cNvSpPr/>
          <p:nvPr/>
        </p:nvSpPr>
        <p:spPr>
          <a:xfrm>
            <a:off x="609600" y="4318000"/>
            <a:ext cx="10972800" cy="533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增广矩阵在 A 右侧附加常数列 [b₁, b₂, …, bₘ]^T，形成 m × (n+1) 矩阵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一般形式：从符号到结构化表征</a:t>
            </a:r>
          </a:p>
        </p:txBody>
      </p:sp>
      <p:sp>
        <p:nvSpPr>
          <p:cNvPr id="3" name="teaching:sys_label"/>
          <p:cNvSpPr/>
          <p:nvPr/>
        </p:nvSpPr>
        <p:spPr>
          <a:xfrm>
            <a:off x="609600" y="1422400"/>
            <a:ext cx="10972800" cy="533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一般形式</a:t>
            </a:r>
          </a:p>
        </p:txBody>
      </p:sp>
      <p:sp>
        <p:nvSpPr>
          <p:cNvPr id="4" name="teaching:sys_eq"/>
          <p:cNvSpPr/>
          <p:nvPr/>
        </p:nvSpPr>
        <p:spPr>
          <a:xfrm>
            <a:off x="609600" y="2057400"/>
            <a:ext cx="10972800" cy="1524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⎧ a₁₁x₁ + a₁₂x₂ + ⋯ + a₁ₙxₙ = b₁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⎨ a₂₁x₁ + a₂₂x₂ + ⋯ + a₂ₙxₙ = b₂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⎨ ⋮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⎩ aₘ₁x₁ + aₘ₂x₂ + ⋯ + aₘₙxₙ = bₘ</a:t>
            </a:r>
          </a:p>
        </p:txBody>
      </p:sp>
      <p:sp>
        <p:nvSpPr>
          <p:cNvPr id="5" name="teaching:coef_rule"/>
          <p:cNvSpPr/>
          <p:nvPr/>
        </p:nvSpPr>
        <p:spPr>
          <a:xfrm>
            <a:off x="609600" y="3683000"/>
            <a:ext cx="10972800" cy="533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系数矩阵 A 由所有 aᵢⱼ 构成，大小为 m × n</a:t>
            </a:r>
          </a:p>
        </p:txBody>
      </p:sp>
      <p:sp>
        <p:nvSpPr>
          <p:cNvPr id="6" name="teaching:aug_rule"/>
          <p:cNvSpPr/>
          <p:nvPr/>
        </p:nvSpPr>
        <p:spPr>
          <a:xfrm>
            <a:off x="609600" y="4318000"/>
            <a:ext cx="10972800" cy="533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增广矩阵在 A 右侧附加常数列 [b₁, b₂, …, bₘ]^T，形成 m × (n+1) 矩阵</a:t>
            </a:r>
          </a:p>
        </p:txBody>
      </p:sp>
      <p:sp>
        <p:nvSpPr>
          <p:cNvPr id="7" name="teaching:zero_note"/>
          <p:cNvSpPr/>
          <p:nvPr/>
        </p:nvSpPr>
        <p:spPr>
          <a:xfrm>
            <a:off x="609600" y="4953000"/>
            <a:ext cx="10972800" cy="533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缺项必须以零占位以维持变量维度一致性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一般形式：从符号到结构化表征</a:t>
            </a:r>
          </a:p>
        </p:txBody>
      </p:sp>
      <p:sp>
        <p:nvSpPr>
          <p:cNvPr id="3" name="teaching:sys_label"/>
          <p:cNvSpPr/>
          <p:nvPr/>
        </p:nvSpPr>
        <p:spPr>
          <a:xfrm>
            <a:off x="609600" y="1422400"/>
            <a:ext cx="10972800" cy="533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一般形式</a:t>
            </a:r>
          </a:p>
        </p:txBody>
      </p:sp>
      <p:sp>
        <p:nvSpPr>
          <p:cNvPr id="4" name="teaching:sys_eq"/>
          <p:cNvSpPr/>
          <p:nvPr/>
        </p:nvSpPr>
        <p:spPr>
          <a:xfrm>
            <a:off x="609600" y="2057400"/>
            <a:ext cx="10972800" cy="1524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⎧ a₁₁x₁ + a₁₂x₂ + ⋯ + a₁ₙxₙ = b₁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⎨ a₂₁x₁ + a₂₂x₂ + ⋯ + a₂ₙxₙ = b₂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⎨ ⋮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⎩ aₘ₁x₁ + aₘ₂x₂ + ⋯ + aₘₙxₙ = bₘ</a:t>
            </a:r>
          </a:p>
        </p:txBody>
      </p:sp>
      <p:sp>
        <p:nvSpPr>
          <p:cNvPr id="5" name="teaching:coef_rule"/>
          <p:cNvSpPr/>
          <p:nvPr/>
        </p:nvSpPr>
        <p:spPr>
          <a:xfrm>
            <a:off x="609600" y="3683000"/>
            <a:ext cx="10972800" cy="533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系数矩阵 A 由所有 aᵢⱼ 构成，大小为 m × n</a:t>
            </a:r>
          </a:p>
        </p:txBody>
      </p:sp>
      <p:sp>
        <p:nvSpPr>
          <p:cNvPr id="6" name="teaching:aug_rule"/>
          <p:cNvSpPr/>
          <p:nvPr/>
        </p:nvSpPr>
        <p:spPr>
          <a:xfrm>
            <a:off x="609600" y="4318000"/>
            <a:ext cx="10972800" cy="533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增广矩阵在 A 右侧附加常数列 [b₁, b₂, …, bₘ]^T，形成 m × (n+1) 矩阵</a:t>
            </a:r>
          </a:p>
        </p:txBody>
      </p:sp>
      <p:sp>
        <p:nvSpPr>
          <p:cNvPr id="7" name="teaching:zero_note"/>
          <p:cNvSpPr/>
          <p:nvPr/>
        </p:nvSpPr>
        <p:spPr>
          <a:xfrm>
            <a:off x="609600" y="4953000"/>
            <a:ext cx="10972800" cy="533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缺项必须以零占位以维持变量维度一致性</a:t>
            </a:r>
          </a:p>
        </p:txBody>
      </p:sp>
      <p:sp>
        <p:nvSpPr>
          <p:cNvPr id="8" name="teaching:example_eq"/>
          <p:cNvSpPr/>
          <p:nvPr/>
        </p:nvSpPr>
        <p:spPr>
          <a:xfrm>
            <a:off x="609600" y="5588000"/>
            <a:ext cx="10972800" cy="8636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例如方程组 x + 4z = -1 在 x,y,z 顺序下应写作 [1, 0, 4 ∣ -1]，若省略 y 的零系数，则破坏了三维空</a:t>
            </a:r>
            <a:br/>
            <a:r>
              <a:t>间的结构映射。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行阶梯形的三大结构条件</a:t>
            </a:r>
          </a:p>
        </p:txBody>
      </p:sp>
      <p:sp>
        <p:nvSpPr>
          <p:cNvPr id="3" name="teaching:cond_root"/>
          <p:cNvSpPr/>
          <p:nvPr/>
        </p:nvSpPr>
        <p:spPr>
          <a:xfrm>
            <a:off x="635000" y="2171700"/>
            <a:ext cx="2667000" cy="6858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行阶梯形矩阵</a:t>
            </a:r>
          </a:p>
        </p:txBody>
      </p:sp>
      <p:sp>
        <p:nvSpPr>
          <p:cNvPr id="4" name="teaching:cond_1"/>
          <p:cNvSpPr/>
          <p:nvPr/>
        </p:nvSpPr>
        <p:spPr>
          <a:xfrm>
            <a:off x="635000" y="3111500"/>
            <a:ext cx="2667000" cy="6858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条件（1）</a:t>
            </a:r>
          </a:p>
        </p:txBody>
      </p:sp>
      <p:sp>
        <p:nvSpPr>
          <p:cNvPr id="5" name="teaching:cond_1_text"/>
          <p:cNvSpPr/>
          <p:nvPr/>
        </p:nvSpPr>
        <p:spPr>
          <a:xfrm>
            <a:off x="8890000" y="2171700"/>
            <a:ext cx="2667000" cy="999066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所有非零行位于零行</a:t>
            </a:r>
            <a:br/>
            <a:r>
              <a:t>之上</a:t>
            </a:r>
          </a:p>
        </p:txBody>
      </p:sp>
      <p:sp>
        <p:nvSpPr>
          <p:cNvPr id="6" name="teaching:cond_2"/>
          <p:cNvSpPr/>
          <p:nvPr/>
        </p:nvSpPr>
        <p:spPr>
          <a:xfrm>
            <a:off x="635000" y="4051300"/>
            <a:ext cx="2667000" cy="6858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条件（2）</a:t>
            </a:r>
          </a:p>
        </p:txBody>
      </p:sp>
      <p:sp>
        <p:nvSpPr>
          <p:cNvPr id="7" name="teaching:cond_2_text"/>
          <p:cNvSpPr/>
          <p:nvPr/>
        </p:nvSpPr>
        <p:spPr>
          <a:xfrm>
            <a:off x="8890000" y="3424766"/>
            <a:ext cx="2667000" cy="999066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主元严格位于上一行</a:t>
            </a:r>
            <a:br/>
            <a:r>
              <a:t>主元右侧</a:t>
            </a:r>
          </a:p>
        </p:txBody>
      </p:sp>
      <p:sp>
        <p:nvSpPr>
          <p:cNvPr id="8" name="teaching:cond_3"/>
          <p:cNvSpPr/>
          <p:nvPr/>
        </p:nvSpPr>
        <p:spPr>
          <a:xfrm>
            <a:off x="635000" y="4991100"/>
            <a:ext cx="2667000" cy="6858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条件（3）</a:t>
            </a:r>
          </a:p>
        </p:txBody>
      </p:sp>
      <p:sp>
        <p:nvSpPr>
          <p:cNvPr id="9" name="teaching:cond_3_text"/>
          <p:cNvSpPr/>
          <p:nvPr/>
        </p:nvSpPr>
        <p:spPr>
          <a:xfrm>
            <a:off x="8890000" y="4677833"/>
            <a:ext cx="2667000" cy="999066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主元下方所有元素为</a:t>
            </a:r>
            <a:br/>
            <a:r>
              <a:t>零</a:t>
            </a:r>
          </a:p>
        </p:txBody>
      </p:sp>
      <p:cxnSp>
        <p:nvCxnSpPr>
          <p:cNvPr id="10" name="relation:relation-0"/>
          <p:cNvCxnSpPr>
            <a:stCxn id="3" idx="3"/>
            <a:endCxn id="5" idx="1"/>
          </p:cNvCxnSpPr>
          <p:nvPr/>
        </p:nvCxnSpPr>
        <p:spPr>
          <a:xfrm>
            <a:off x="3302000" y="2514600"/>
            <a:ext cx="5588000" cy="156633"/>
          </a:xfrm>
          <a:prstGeom prst="line">
            <a:avLst/>
          </a:prstGeom>
          <a:ln w="21590">
            <a:solidFill>
              <a:srgbClr val="305AC7"/>
            </a:solidFill>
            <a:tailEnd type="triangle"/>
          </a:ln>
          <a:effectLst/>
        </p:spPr>
      </p:cxnSp>
      <p:cxnSp>
        <p:nvCxnSpPr>
          <p:cNvPr id="11" name="relation:relation-1"/>
          <p:cNvCxnSpPr>
            <a:stCxn id="3" idx="3"/>
            <a:endCxn id="7" idx="1"/>
          </p:cNvCxnSpPr>
          <p:nvPr/>
        </p:nvCxnSpPr>
        <p:spPr>
          <a:xfrm>
            <a:off x="3302000" y="2514600"/>
            <a:ext cx="5588000" cy="1409699"/>
          </a:xfrm>
          <a:prstGeom prst="line">
            <a:avLst/>
          </a:prstGeom>
          <a:ln w="21590">
            <a:solidFill>
              <a:srgbClr val="305AC7"/>
            </a:solidFill>
            <a:tailEnd type="triangle"/>
          </a:ln>
          <a:effectLst/>
        </p:spPr>
      </p:cxnSp>
      <p:cxnSp>
        <p:nvCxnSpPr>
          <p:cNvPr id="12" name="relation:relation-2"/>
          <p:cNvCxnSpPr>
            <a:stCxn id="3" idx="2"/>
            <a:endCxn id="9" idx="0"/>
          </p:cNvCxnSpPr>
          <p:nvPr/>
        </p:nvCxnSpPr>
        <p:spPr>
          <a:xfrm>
            <a:off x="1968500" y="2857500"/>
            <a:ext cx="8255000" cy="1820333"/>
          </a:xfrm>
          <a:prstGeom prst="line">
            <a:avLst/>
          </a:prstGeom>
          <a:ln w="21590">
            <a:solidFill>
              <a:srgbClr val="305AC7"/>
            </a:solidFill>
            <a:tailEnd type="triangle"/>
          </a:ln>
          <a:effectLst/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行交换演示：建立首个主元</a:t>
            </a:r>
          </a:p>
        </p:txBody>
      </p:sp>
      <p:sp>
        <p:nvSpPr>
          <p:cNvPr id="3" name="teaching:cond-task"/>
          <p:cNvSpPr/>
          <p:nvPr/>
        </p:nvSpPr>
        <p:spPr>
          <a:xfrm>
            <a:off x="609600" y="1422400"/>
            <a:ext cx="10972800" cy="1168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执行行交换：交换 R₁ 与 R₂</a:t>
            </a:r>
          </a:p>
        </p:txBody>
      </p:sp>
      <p:sp>
        <p:nvSpPr>
          <p:cNvPr id="4" name="teaching:mat-init"/>
          <p:cNvSpPr/>
          <p:nvPr/>
        </p:nvSpPr>
        <p:spPr>
          <a:xfrm>
            <a:off x="609600" y="2692400"/>
            <a:ext cx="109728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⎡ 0 2 4 |  6 ⎤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⎢ 1 -1 2 |  3 ⎥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⎣ 0 4 8 | 12 ⎦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行交换演示：建立首个主元</a:t>
            </a:r>
          </a:p>
        </p:txBody>
      </p:sp>
      <p:sp>
        <p:nvSpPr>
          <p:cNvPr id="3" name="teaching:cond-task"/>
          <p:cNvSpPr/>
          <p:nvPr/>
        </p:nvSpPr>
        <p:spPr>
          <a:xfrm>
            <a:off x="609600" y="1422400"/>
            <a:ext cx="10972800" cy="1168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执行行交换：交换 R₁ 与 R₂</a:t>
            </a:r>
          </a:p>
        </p:txBody>
      </p:sp>
      <p:sp>
        <p:nvSpPr>
          <p:cNvPr id="4" name="teaching:mat-init"/>
          <p:cNvSpPr/>
          <p:nvPr/>
        </p:nvSpPr>
        <p:spPr>
          <a:xfrm>
            <a:off x="609600" y="2692400"/>
            <a:ext cx="109728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⎡ 0 2 4 |  6 ⎤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⎢ 1 -1 2 |  3 ⎥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⎣ 0 4 8 | 12 ⎦</a:t>
            </a:r>
          </a:p>
        </p:txBody>
      </p:sp>
      <p:sp>
        <p:nvSpPr>
          <p:cNvPr id="5" name="teaching:mat-step1"/>
          <p:cNvSpPr/>
          <p:nvPr/>
        </p:nvSpPr>
        <p:spPr>
          <a:xfrm>
            <a:off x="609600" y="4622800"/>
            <a:ext cx="109728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⎡ 1 -1 2 |  3 ⎤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⎢ 0 2 4 |  6 ⎥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⎣ 0 4 8 | 12 ⎦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行倍加演示：消去主元下方元素</a:t>
            </a:r>
          </a:p>
        </p:txBody>
      </p:sp>
      <p:sp>
        <p:nvSpPr>
          <p:cNvPr id="3" name="teaching:cond-task"/>
          <p:cNvSpPr/>
          <p:nvPr/>
        </p:nvSpPr>
        <p:spPr>
          <a:xfrm>
            <a:off x="609600" y="1422400"/>
            <a:ext cx="10972800" cy="1168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执行行倍加：R₃ ← R₃ - 2R₂</a:t>
            </a:r>
          </a:p>
        </p:txBody>
      </p:sp>
      <p:sp>
        <p:nvSpPr>
          <p:cNvPr id="4" name="teaching:mat-before"/>
          <p:cNvSpPr/>
          <p:nvPr/>
        </p:nvSpPr>
        <p:spPr>
          <a:xfrm>
            <a:off x="609600" y="2692400"/>
            <a:ext cx="109728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⎡ 1 -1 2 |  3 ⎤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⎢ 0 2 4 |  6 ⎥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⎣ 0 4 8 | 12 ⎦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行倍加演示：消去主元下方元素</a:t>
            </a:r>
          </a:p>
        </p:txBody>
      </p:sp>
      <p:sp>
        <p:nvSpPr>
          <p:cNvPr id="3" name="teaching:cond-task"/>
          <p:cNvSpPr/>
          <p:nvPr/>
        </p:nvSpPr>
        <p:spPr>
          <a:xfrm>
            <a:off x="609600" y="1422400"/>
            <a:ext cx="10972800" cy="1168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执行行倍加：R₃ ← R₃ - 2R₂</a:t>
            </a:r>
          </a:p>
        </p:txBody>
      </p:sp>
      <p:sp>
        <p:nvSpPr>
          <p:cNvPr id="4" name="teaching:mat-before"/>
          <p:cNvSpPr/>
          <p:nvPr/>
        </p:nvSpPr>
        <p:spPr>
          <a:xfrm>
            <a:off x="609600" y="2692400"/>
            <a:ext cx="109728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⎡ 1 -1 2 |  3 ⎤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⎢ 0 2 4 |  6 ⎥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⎣ 0 4 8 | 12 ⎦</a:t>
            </a:r>
          </a:p>
        </p:txBody>
      </p:sp>
      <p:sp>
        <p:nvSpPr>
          <p:cNvPr id="5" name="teaching:mat-final"/>
          <p:cNvSpPr/>
          <p:nvPr/>
        </p:nvSpPr>
        <p:spPr>
          <a:xfrm>
            <a:off x="609600" y="4622800"/>
            <a:ext cx="109728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⎡ 1 -1 2 | 3 ⎤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⎢ 0 2 4 | 6 ⎥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⎣ 0 0 0 | 0 ⎦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标出主元：验证行阶梯形结构</a:t>
            </a:r>
          </a:p>
        </p:txBody>
      </p:sp>
      <p:sp>
        <p:nvSpPr>
          <p:cNvPr id="3" name="teaching:question-pivot"/>
          <p:cNvSpPr/>
          <p:nvPr/>
        </p:nvSpPr>
        <p:spPr>
          <a:xfrm>
            <a:off x="609600" y="1422400"/>
            <a:ext cx="10972800" cy="138853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行交换与行倍加后，主元在何处？</a:t>
            </a:r>
          </a:p>
        </p:txBody>
      </p:sp>
      <p:sp>
        <p:nvSpPr>
          <p:cNvPr id="4" name="teaching:mat-final"/>
          <p:cNvSpPr/>
          <p:nvPr/>
        </p:nvSpPr>
        <p:spPr>
          <a:xfrm>
            <a:off x="609600" y="2912533"/>
            <a:ext cx="10972800" cy="204893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⎡ 1 -1 2 | 3 ⎤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⎢ 0 2 4 | 6 ⎥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⎣ 0 0 0 | 0 ⎦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标出主元：验证行阶梯形结构</a:t>
            </a:r>
          </a:p>
        </p:txBody>
      </p:sp>
      <p:sp>
        <p:nvSpPr>
          <p:cNvPr id="3" name="teaching:question-pivot"/>
          <p:cNvSpPr/>
          <p:nvPr/>
        </p:nvSpPr>
        <p:spPr>
          <a:xfrm>
            <a:off x="609600" y="1422400"/>
            <a:ext cx="10972800" cy="138853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行交换与行倍加后，主元在何处？</a:t>
            </a:r>
          </a:p>
        </p:txBody>
      </p:sp>
      <p:sp>
        <p:nvSpPr>
          <p:cNvPr id="4" name="teaching:mat-final"/>
          <p:cNvSpPr/>
          <p:nvPr/>
        </p:nvSpPr>
        <p:spPr>
          <a:xfrm>
            <a:off x="609600" y="2912533"/>
            <a:ext cx="10972800" cy="204893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⎡ 1 -1 2 | 3 ⎤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⎢ 0 2 4 | 6 ⎥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⎣ 0 0 0 | 0 ⎦</a:t>
            </a:r>
          </a:p>
        </p:txBody>
      </p:sp>
      <p:sp>
        <p:nvSpPr>
          <p:cNvPr id="5" name="teaching:claim-pivot"/>
          <p:cNvSpPr/>
          <p:nvPr/>
        </p:nvSpPr>
        <p:spPr>
          <a:xfrm>
            <a:off x="609600" y="5063066"/>
            <a:ext cx="10972800" cy="138853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主元位于 (1,1) 和 (2,2)。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消元策略：从左至右、从上至下</a:t>
            </a:r>
          </a:p>
        </p:txBody>
      </p:sp>
      <p:sp>
        <p:nvSpPr>
          <p:cNvPr id="3" name="teaching:violations"/>
          <p:cNvSpPr/>
          <p:nvPr/>
        </p:nvSpPr>
        <p:spPr>
          <a:xfrm>
            <a:off x="635000" y="3238500"/>
            <a:ext cx="266700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跳过左列、提前处理</a:t>
            </a:r>
            <a:br/>
            <a:r>
              <a:t>下方行、或未消下方</a:t>
            </a:r>
            <a:br/>
            <a:r>
              <a:t>元素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消元策略：从左至右、从上至下</a:t>
            </a:r>
          </a:p>
        </p:txBody>
      </p:sp>
      <p:sp>
        <p:nvSpPr>
          <p:cNvPr id="3" name="teaching:violations"/>
          <p:cNvSpPr/>
          <p:nvPr/>
        </p:nvSpPr>
        <p:spPr>
          <a:xfrm>
            <a:off x="635000" y="3238500"/>
            <a:ext cx="266700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跳过左列、提前处理</a:t>
            </a:r>
            <a:br/>
            <a:r>
              <a:t>下方行、或未消下方</a:t>
            </a:r>
            <a:br/>
            <a:r>
              <a:t>元素</a:t>
            </a:r>
          </a:p>
        </p:txBody>
      </p:sp>
      <p:sp>
        <p:nvSpPr>
          <p:cNvPr id="4" name="teaching:consequence"/>
          <p:cNvSpPr/>
          <p:nvPr/>
        </p:nvSpPr>
        <p:spPr>
          <a:xfrm>
            <a:off x="8890000" y="3238500"/>
            <a:ext cx="266700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破坏阶梯结构</a:t>
            </a:r>
          </a:p>
        </p:txBody>
      </p:sp>
      <p:cxnSp>
        <p:nvCxnSpPr>
          <p:cNvPr id="5" name="relation:relation-0"/>
          <p:cNvCxnSpPr>
            <a:stCxn id="3" idx="3"/>
            <a:endCxn id="4" idx="1"/>
          </p:cNvCxnSpPr>
          <p:nvPr/>
        </p:nvCxnSpPr>
        <p:spPr>
          <a:xfrm>
            <a:off x="3302000" y="3924300"/>
            <a:ext cx="5588000" cy="0"/>
          </a:xfrm>
          <a:prstGeom prst="line">
            <a:avLst/>
          </a:prstGeom>
          <a:ln w="21590">
            <a:solidFill>
              <a:srgbClr val="305AC7"/>
            </a:solidFill>
            <a:tailEnd type="triangle"/>
          </a:ln>
          <a:effectLst/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练习：行交换与主元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化为行阶梯形，每步注明变换类型与主元位置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初始矩阵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交换后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3124200"/>
            <a:ext cx="1854200" cy="26162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矩阵</a:t>
            </a:r>
          </a:p>
        </p:txBody>
      </p:sp>
      <p:sp>
        <p:nvSpPr>
          <p:cNvPr id="7" name="teaching:cell-0-0"/>
          <p:cNvSpPr/>
          <p:nvPr/>
        </p:nvSpPr>
        <p:spPr>
          <a:xfrm>
            <a:off x="2438400" y="3124200"/>
            <a:ext cx="4559300" cy="2616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⎡ 0 3 -2 |  6 ⎤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⎢ 2 -1 4 |  5 ⎥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⎣ 0 6 -4 | 12 ⎦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练习：行交换与主元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化为行阶梯形，每步注明变换类型与主元位置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初始矩阵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交换后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3124200"/>
            <a:ext cx="1854200" cy="26162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矩阵</a:t>
            </a:r>
          </a:p>
        </p:txBody>
      </p:sp>
      <p:sp>
        <p:nvSpPr>
          <p:cNvPr id="7" name="teaching:cell-0-0"/>
          <p:cNvSpPr/>
          <p:nvPr/>
        </p:nvSpPr>
        <p:spPr>
          <a:xfrm>
            <a:off x="2438400" y="3124200"/>
            <a:ext cx="4559300" cy="2616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⎡ 0 3 -2 |  6 ⎤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⎢ 2 -1 4 |  5 ⎥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⎣ 0 6 -4 | 12 ⎦</a:t>
            </a:r>
          </a:p>
        </p:txBody>
      </p:sp>
      <p:sp>
        <p:nvSpPr>
          <p:cNvPr id="8" name="teaching:question"/>
          <p:cNvSpPr/>
          <p:nvPr/>
        </p:nvSpPr>
        <p:spPr>
          <a:xfrm>
            <a:off x="533400" y="1104900"/>
            <a:ext cx="111252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使首行首元非零的操作与主元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练习：行交换与主元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化为行阶梯形，每步注明变换类型与主元位置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初始矩阵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交换后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3124200"/>
            <a:ext cx="1854200" cy="26162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矩阵</a:t>
            </a:r>
          </a:p>
        </p:txBody>
      </p:sp>
      <p:sp>
        <p:nvSpPr>
          <p:cNvPr id="7" name="teaching:cell-0-0"/>
          <p:cNvSpPr/>
          <p:nvPr/>
        </p:nvSpPr>
        <p:spPr>
          <a:xfrm>
            <a:off x="2438400" y="3124200"/>
            <a:ext cx="4559300" cy="2616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⎡ 0 3 -2 |  6 ⎤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⎢ 2 -1 4 |  5 ⎥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⎣ 0 6 -4 | 12 ⎦</a:t>
            </a:r>
          </a:p>
        </p:txBody>
      </p:sp>
      <p:sp>
        <p:nvSpPr>
          <p:cNvPr id="8" name="teaching:question"/>
          <p:cNvSpPr/>
          <p:nvPr/>
        </p:nvSpPr>
        <p:spPr>
          <a:xfrm>
            <a:off x="533400" y="1104900"/>
            <a:ext cx="111252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使首行首元非零的操作与主元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练习：行交换与主元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化为行阶梯形，每步注明变换类型与主元位置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初始矩阵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交换后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3124200"/>
            <a:ext cx="1854200" cy="26162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矩阵</a:t>
            </a:r>
          </a:p>
        </p:txBody>
      </p:sp>
      <p:sp>
        <p:nvSpPr>
          <p:cNvPr id="7" name="teaching:cell-0-0"/>
          <p:cNvSpPr/>
          <p:nvPr/>
        </p:nvSpPr>
        <p:spPr>
          <a:xfrm>
            <a:off x="2438400" y="3124200"/>
            <a:ext cx="4559300" cy="2616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⎡ 0 3 -2 |  6 ⎤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⎢ 2 -1 4 |  5 ⎥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⎣ 0 6 -4 | 12 ⎦</a:t>
            </a:r>
          </a:p>
        </p:txBody>
      </p:sp>
      <p:sp>
        <p:nvSpPr>
          <p:cNvPr id="8" name="teaching:question"/>
          <p:cNvSpPr/>
          <p:nvPr/>
        </p:nvSpPr>
        <p:spPr>
          <a:xfrm>
            <a:off x="533400" y="1104900"/>
            <a:ext cx="111252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使首行首元非零的操作与主元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练习：行交换与主元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化为行阶梯形，每步注明变换类型与主元位置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初始矩阵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交换后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3124200"/>
            <a:ext cx="1854200" cy="26162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矩阵</a:t>
            </a:r>
          </a:p>
        </p:txBody>
      </p:sp>
      <p:sp>
        <p:nvSpPr>
          <p:cNvPr id="7" name="teaching:cell-0-0"/>
          <p:cNvSpPr/>
          <p:nvPr/>
        </p:nvSpPr>
        <p:spPr>
          <a:xfrm>
            <a:off x="2438400" y="3124200"/>
            <a:ext cx="4559300" cy="2616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⎡ 0 3 -2 |  6 ⎤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⎢ 2 -1 4 |  5 ⎥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⎣ 0 6 -4 | 12 ⎦</a:t>
            </a:r>
          </a:p>
        </p:txBody>
      </p:sp>
      <p:sp>
        <p:nvSpPr>
          <p:cNvPr id="8" name="teaching:question"/>
          <p:cNvSpPr/>
          <p:nvPr/>
        </p:nvSpPr>
        <p:spPr>
          <a:xfrm>
            <a:off x="533400" y="1104900"/>
            <a:ext cx="111252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使首行首元非零的操作与主元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练习：行交换与主元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化为行阶梯形，每步注明变换类型与主元位置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初始矩阵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交换后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3124200"/>
            <a:ext cx="1854200" cy="26162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矩阵</a:t>
            </a:r>
          </a:p>
        </p:txBody>
      </p:sp>
      <p:sp>
        <p:nvSpPr>
          <p:cNvPr id="7" name="teaching:cell-0-0"/>
          <p:cNvSpPr/>
          <p:nvPr/>
        </p:nvSpPr>
        <p:spPr>
          <a:xfrm>
            <a:off x="2438400" y="3124200"/>
            <a:ext cx="4559300" cy="2616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⎡ 0 3 -2 |  6 ⎤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⎢ 2 -1 4 |  5 ⎥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⎣ 0 6 -4 | 12 ⎦</a:t>
            </a:r>
          </a:p>
        </p:txBody>
      </p:sp>
      <p:sp>
        <p:nvSpPr>
          <p:cNvPr id="8" name="teaching:cell-1-0"/>
          <p:cNvSpPr/>
          <p:nvPr/>
        </p:nvSpPr>
        <p:spPr>
          <a:xfrm>
            <a:off x="7048500" y="3124200"/>
            <a:ext cx="4559300" cy="2616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⎡ 2 -1 4 |  5 ⎤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⎢ 0 3 -2 |  6 ⎥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⎣ 0 6 -4 | 12 ⎦</a:t>
            </a:r>
          </a:p>
        </p:txBody>
      </p:sp>
      <p:sp>
        <p:nvSpPr>
          <p:cNvPr id="9" name="teaching:question"/>
          <p:cNvSpPr/>
          <p:nvPr/>
        </p:nvSpPr>
        <p:spPr>
          <a:xfrm>
            <a:off x="533400" y="1104900"/>
            <a:ext cx="111252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使首行首元非零的操作与主元</a:t>
            </a:r>
          </a:p>
        </p:txBody>
      </p:sp>
      <p:sp>
        <p:nvSpPr>
          <p:cNvPr id="10" name="teaching:conclusion"/>
          <p:cNvSpPr/>
          <p:nvPr/>
        </p:nvSpPr>
        <p:spPr>
          <a:xfrm>
            <a:off x="533400" y="5943600"/>
            <a:ext cx="11125200" cy="711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主元位于 (1,1)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练习：倍加消元与主元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禁止跳过非零首元列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交换后矩阵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消元后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3124200"/>
            <a:ext cx="1854200" cy="26162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矩阵</a:t>
            </a:r>
          </a:p>
        </p:txBody>
      </p:sp>
      <p:sp>
        <p:nvSpPr>
          <p:cNvPr id="7" name="teaching:cell-0-0"/>
          <p:cNvSpPr/>
          <p:nvPr/>
        </p:nvSpPr>
        <p:spPr>
          <a:xfrm>
            <a:off x="2438400" y="3124200"/>
            <a:ext cx="4559300" cy="2616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⎡ 2 -1 4 |  5 ⎤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⎢ 0 3 -2 |  6 ⎥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⎣ 0 6 -4 | 12 ⎦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练习：倍加消元与主元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禁止跳过非零首元列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交换后矩阵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消元后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3124200"/>
            <a:ext cx="1854200" cy="26162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矩阵</a:t>
            </a:r>
          </a:p>
        </p:txBody>
      </p:sp>
      <p:sp>
        <p:nvSpPr>
          <p:cNvPr id="7" name="teaching:cell-0-0"/>
          <p:cNvSpPr/>
          <p:nvPr/>
        </p:nvSpPr>
        <p:spPr>
          <a:xfrm>
            <a:off x="2438400" y="3124200"/>
            <a:ext cx="4559300" cy="2616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⎡ 2 -1 4 |  5 ⎤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⎢ 0 3 -2 |  6 ⎥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⎣ 0 6 -4 | 12 ⎦</a:t>
            </a:r>
          </a:p>
        </p:txBody>
      </p:sp>
      <p:sp>
        <p:nvSpPr>
          <p:cNvPr id="8" name="teaching:question"/>
          <p:cNvSpPr/>
          <p:nvPr/>
        </p:nvSpPr>
        <p:spPr>
          <a:xfrm>
            <a:off x="533400" y="1104900"/>
            <a:ext cx="111252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消去第三行第二列的操作与主元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练习：倍加消元与主元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禁止跳过非零首元列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交换后矩阵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消元后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3124200"/>
            <a:ext cx="1854200" cy="26162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矩阵</a:t>
            </a:r>
          </a:p>
        </p:txBody>
      </p:sp>
      <p:sp>
        <p:nvSpPr>
          <p:cNvPr id="7" name="teaching:cell-0-0"/>
          <p:cNvSpPr/>
          <p:nvPr/>
        </p:nvSpPr>
        <p:spPr>
          <a:xfrm>
            <a:off x="2438400" y="3124200"/>
            <a:ext cx="4559300" cy="2616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⎡ 2 -1 4 |  5 ⎤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⎢ 0 3 -2 |  6 ⎥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⎣ 0 6 -4 | 12 ⎦</a:t>
            </a:r>
          </a:p>
        </p:txBody>
      </p:sp>
      <p:sp>
        <p:nvSpPr>
          <p:cNvPr id="8" name="teaching:question"/>
          <p:cNvSpPr/>
          <p:nvPr/>
        </p:nvSpPr>
        <p:spPr>
          <a:xfrm>
            <a:off x="533400" y="1104900"/>
            <a:ext cx="111252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消去第三行第二列的操作与主元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练习：倍加消元与主元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禁止跳过非零首元列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交换后矩阵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消元后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3124200"/>
            <a:ext cx="1854200" cy="26162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矩阵</a:t>
            </a:r>
          </a:p>
        </p:txBody>
      </p:sp>
      <p:sp>
        <p:nvSpPr>
          <p:cNvPr id="7" name="teaching:cell-0-0"/>
          <p:cNvSpPr/>
          <p:nvPr/>
        </p:nvSpPr>
        <p:spPr>
          <a:xfrm>
            <a:off x="2438400" y="3124200"/>
            <a:ext cx="4559300" cy="2616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⎡ 2 -1 4 |  5 ⎤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⎢ 0 3 -2 |  6 ⎥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⎣ 0 6 -4 | 12 ⎦</a:t>
            </a:r>
          </a:p>
        </p:txBody>
      </p:sp>
      <p:sp>
        <p:nvSpPr>
          <p:cNvPr id="8" name="teaching:question"/>
          <p:cNvSpPr/>
          <p:nvPr/>
        </p:nvSpPr>
        <p:spPr>
          <a:xfrm>
            <a:off x="533400" y="1104900"/>
            <a:ext cx="111252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消去第三行第二列的操作与主元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练习：倍加消元与主元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禁止跳过非零首元列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交换后矩阵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消元后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3124200"/>
            <a:ext cx="1854200" cy="26162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矩阵</a:t>
            </a:r>
          </a:p>
        </p:txBody>
      </p:sp>
      <p:sp>
        <p:nvSpPr>
          <p:cNvPr id="7" name="teaching:cell-0-0"/>
          <p:cNvSpPr/>
          <p:nvPr/>
        </p:nvSpPr>
        <p:spPr>
          <a:xfrm>
            <a:off x="2438400" y="3124200"/>
            <a:ext cx="4559300" cy="2616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⎡ 2 -1 4 |  5 ⎤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⎢ 0 3 -2 |  6 ⎥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⎣ 0 6 -4 | 12 ⎦</a:t>
            </a:r>
          </a:p>
        </p:txBody>
      </p:sp>
      <p:sp>
        <p:nvSpPr>
          <p:cNvPr id="8" name="teaching:question"/>
          <p:cNvSpPr/>
          <p:nvPr/>
        </p:nvSpPr>
        <p:spPr>
          <a:xfrm>
            <a:off x="533400" y="1104900"/>
            <a:ext cx="111252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消去第三行第二列的操作与主元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练习：倍加消元与主元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禁止跳过非零首元列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交换后矩阵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消元后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3124200"/>
            <a:ext cx="1854200" cy="26162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矩阵</a:t>
            </a:r>
          </a:p>
        </p:txBody>
      </p:sp>
      <p:sp>
        <p:nvSpPr>
          <p:cNvPr id="7" name="teaching:cell-0-0"/>
          <p:cNvSpPr/>
          <p:nvPr/>
        </p:nvSpPr>
        <p:spPr>
          <a:xfrm>
            <a:off x="2438400" y="3124200"/>
            <a:ext cx="4559300" cy="2616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⎡ 2 -1 4 |  5 ⎤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⎢ 0 3 -2 |  6 ⎥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⎣ 0 6 -4 | 12 ⎦</a:t>
            </a:r>
          </a:p>
        </p:txBody>
      </p:sp>
      <p:sp>
        <p:nvSpPr>
          <p:cNvPr id="8" name="teaching:cell-1-0"/>
          <p:cNvSpPr/>
          <p:nvPr/>
        </p:nvSpPr>
        <p:spPr>
          <a:xfrm>
            <a:off x="7048500" y="3124200"/>
            <a:ext cx="4559300" cy="2616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⎡ 2 -1 4 | 5 ⎤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⎢ 0 3 -2 | 6 ⎥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⎣ 0 0 0 | 0 ⎦</a:t>
            </a:r>
          </a:p>
        </p:txBody>
      </p:sp>
      <p:sp>
        <p:nvSpPr>
          <p:cNvPr id="9" name="teaching:question"/>
          <p:cNvSpPr/>
          <p:nvPr/>
        </p:nvSpPr>
        <p:spPr>
          <a:xfrm>
            <a:off x="533400" y="1104900"/>
            <a:ext cx="111252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消去第三行第二列的操作与主元</a:t>
            </a:r>
          </a:p>
        </p:txBody>
      </p:sp>
      <p:sp>
        <p:nvSpPr>
          <p:cNvPr id="10" name="teaching:conclusion"/>
          <p:cNvSpPr/>
          <p:nvPr/>
        </p:nvSpPr>
        <p:spPr>
          <a:xfrm>
            <a:off x="533400" y="5943600"/>
            <a:ext cx="11125200" cy="711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主元位于 (1,1) 和 (2,2)，第三行为零行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核对：行交换时机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首列主元为零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正确操作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典型错误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3124200"/>
            <a:ext cx="1854200" cy="26162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执行操作</a:t>
            </a:r>
          </a:p>
        </p:txBody>
      </p:sp>
      <p:sp>
        <p:nvSpPr>
          <p:cNvPr id="7" name="teaching:question"/>
          <p:cNvSpPr/>
          <p:nvPr/>
        </p:nvSpPr>
        <p:spPr>
          <a:xfrm>
            <a:off x="533400" y="1104900"/>
            <a:ext cx="111252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首元为零时为何不能直接倍加？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核对：行交换时机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首列主元为零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正确操作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典型错误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3124200"/>
            <a:ext cx="1854200" cy="26162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执行操作</a:t>
            </a:r>
          </a:p>
        </p:txBody>
      </p:sp>
      <p:sp>
        <p:nvSpPr>
          <p:cNvPr id="7" name="teaching:cell-0-0"/>
          <p:cNvSpPr/>
          <p:nvPr/>
        </p:nvSpPr>
        <p:spPr>
          <a:xfrm>
            <a:off x="2438400" y="3124200"/>
            <a:ext cx="4559300" cy="2616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R₁ ↔ R₂</a:t>
            </a:r>
          </a:p>
        </p:txBody>
      </p:sp>
      <p:sp>
        <p:nvSpPr>
          <p:cNvPr id="8" name="teaching:cell-1-0"/>
          <p:cNvSpPr/>
          <p:nvPr/>
        </p:nvSpPr>
        <p:spPr>
          <a:xfrm>
            <a:off x="7048500" y="3124200"/>
            <a:ext cx="4559300" cy="2616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R₃ ← R₃ - 2R₁</a:t>
            </a:r>
          </a:p>
        </p:txBody>
      </p:sp>
      <p:sp>
        <p:nvSpPr>
          <p:cNvPr id="9" name="teaching:question"/>
          <p:cNvSpPr/>
          <p:nvPr/>
        </p:nvSpPr>
        <p:spPr>
          <a:xfrm>
            <a:off x="533400" y="1104900"/>
            <a:ext cx="111252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首元为零时为何不能直接倍加？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核对：行交换时机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首列主元为零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正确操作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典型错误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3124200"/>
            <a:ext cx="1854200" cy="26162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执行操作</a:t>
            </a:r>
          </a:p>
        </p:txBody>
      </p:sp>
      <p:sp>
        <p:nvSpPr>
          <p:cNvPr id="7" name="teaching:cell-0-0"/>
          <p:cNvSpPr/>
          <p:nvPr/>
        </p:nvSpPr>
        <p:spPr>
          <a:xfrm>
            <a:off x="2438400" y="3124200"/>
            <a:ext cx="4559300" cy="2616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R₁ ↔ R₂</a:t>
            </a:r>
          </a:p>
        </p:txBody>
      </p:sp>
      <p:sp>
        <p:nvSpPr>
          <p:cNvPr id="8" name="teaching:cell-1-0"/>
          <p:cNvSpPr/>
          <p:nvPr/>
        </p:nvSpPr>
        <p:spPr>
          <a:xfrm>
            <a:off x="7048500" y="3124200"/>
            <a:ext cx="4559300" cy="2616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R₃ ← R₃ - 2R₁</a:t>
            </a:r>
          </a:p>
        </p:txBody>
      </p:sp>
      <p:sp>
        <p:nvSpPr>
          <p:cNvPr id="9" name="teaching:question"/>
          <p:cNvSpPr/>
          <p:nvPr/>
        </p:nvSpPr>
        <p:spPr>
          <a:xfrm>
            <a:off x="533400" y="1104900"/>
            <a:ext cx="111252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首元为零时为何不能直接倍加？</a:t>
            </a:r>
          </a:p>
        </p:txBody>
      </p:sp>
      <p:sp>
        <p:nvSpPr>
          <p:cNvPr id="10" name="teaching:conclusion"/>
          <p:cNvSpPr/>
          <p:nvPr/>
        </p:nvSpPr>
        <p:spPr>
          <a:xfrm>
            <a:off x="533400" y="5943600"/>
            <a:ext cx="11125200" cy="711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交换后首列满足主元条件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核对：主元识别条件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识别主元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正确位置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典型错误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3124200"/>
            <a:ext cx="1854200" cy="26162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主元坐标</a:t>
            </a:r>
          </a:p>
        </p:txBody>
      </p:sp>
      <p:sp>
        <p:nvSpPr>
          <p:cNvPr id="7" name="teaching:question"/>
          <p:cNvSpPr/>
          <p:nvPr/>
        </p:nvSpPr>
        <p:spPr>
          <a:xfrm>
            <a:off x="533400" y="1104900"/>
            <a:ext cx="111252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为何 (1,2) 不是主元？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核对：主元识别条件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识别主元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正确位置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典型错误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3124200"/>
            <a:ext cx="1854200" cy="26162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主元坐标</a:t>
            </a:r>
          </a:p>
        </p:txBody>
      </p:sp>
      <p:sp>
        <p:nvSpPr>
          <p:cNvPr id="7" name="teaching:cell-0-0"/>
          <p:cNvSpPr/>
          <p:nvPr/>
        </p:nvSpPr>
        <p:spPr>
          <a:xfrm>
            <a:off x="2438400" y="3124200"/>
            <a:ext cx="4559300" cy="2616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(1,1) 与 (2,2)</a:t>
            </a:r>
          </a:p>
        </p:txBody>
      </p:sp>
      <p:sp>
        <p:nvSpPr>
          <p:cNvPr id="8" name="teaching:cell-1-0"/>
          <p:cNvSpPr/>
          <p:nvPr/>
        </p:nvSpPr>
        <p:spPr>
          <a:xfrm>
            <a:off x="7048500" y="3124200"/>
            <a:ext cx="4559300" cy="2616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(1,2)</a:t>
            </a:r>
          </a:p>
        </p:txBody>
      </p:sp>
      <p:sp>
        <p:nvSpPr>
          <p:cNvPr id="9" name="teaching:question"/>
          <p:cNvSpPr/>
          <p:nvPr/>
        </p:nvSpPr>
        <p:spPr>
          <a:xfrm>
            <a:off x="533400" y="1104900"/>
            <a:ext cx="111252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为何 (1,2) 不是主元？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核对：主元识别条件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识别主元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正确位置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典型错误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3124200"/>
            <a:ext cx="1854200" cy="26162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主元坐标</a:t>
            </a:r>
          </a:p>
        </p:txBody>
      </p:sp>
      <p:sp>
        <p:nvSpPr>
          <p:cNvPr id="7" name="teaching:cell-0-0"/>
          <p:cNvSpPr/>
          <p:nvPr/>
        </p:nvSpPr>
        <p:spPr>
          <a:xfrm>
            <a:off x="2438400" y="3124200"/>
            <a:ext cx="4559300" cy="2616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(1,1) 与 (2,2)</a:t>
            </a:r>
          </a:p>
        </p:txBody>
      </p:sp>
      <p:sp>
        <p:nvSpPr>
          <p:cNvPr id="8" name="teaching:cell-1-0"/>
          <p:cNvSpPr/>
          <p:nvPr/>
        </p:nvSpPr>
        <p:spPr>
          <a:xfrm>
            <a:off x="7048500" y="3124200"/>
            <a:ext cx="4559300" cy="2616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(1,2)</a:t>
            </a:r>
          </a:p>
        </p:txBody>
      </p:sp>
      <p:sp>
        <p:nvSpPr>
          <p:cNvPr id="9" name="teaching:question"/>
          <p:cNvSpPr/>
          <p:nvPr/>
        </p:nvSpPr>
        <p:spPr>
          <a:xfrm>
            <a:off x="533400" y="1104900"/>
            <a:ext cx="111252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为何 (1,2) 不是主元？</a:t>
            </a:r>
          </a:p>
        </p:txBody>
      </p:sp>
      <p:sp>
        <p:nvSpPr>
          <p:cNvPr id="10" name="teaching:conclusion"/>
          <p:cNvSpPr/>
          <p:nvPr/>
        </p:nvSpPr>
        <p:spPr>
          <a:xfrm>
            <a:off x="533400" y="5943600"/>
            <a:ext cx="11125200" cy="711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不满足“最左”条件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行交换建立阶梯结构</a:t>
            </a:r>
          </a:p>
        </p:txBody>
      </p:sp>
      <p:sp>
        <p:nvSpPr>
          <p:cNvPr id="3" name="teaching:initial_matrix"/>
          <p:cNvSpPr/>
          <p:nvPr/>
        </p:nvSpPr>
        <p:spPr>
          <a:xfrm>
            <a:off x="609600" y="1422400"/>
            <a:ext cx="10972800" cy="15113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⎡ 0 4 -2 |  8 ⎤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⎢ 3 -1 5 |  7 ⎥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⎣ 0 8 -4 | 16 ⎦</a:t>
            </a:r>
          </a:p>
        </p:txBody>
      </p:sp>
      <p:sp>
        <p:nvSpPr>
          <p:cNvPr id="4" name="teaching:task"/>
          <p:cNvSpPr/>
          <p:nvPr/>
        </p:nvSpPr>
        <p:spPr>
          <a:xfrm>
            <a:off x="609600" y="3035300"/>
            <a:ext cx="10972800" cy="8509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需化为行阶梯形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行交换建立阶梯结构</a:t>
            </a:r>
          </a:p>
        </p:txBody>
      </p:sp>
      <p:sp>
        <p:nvSpPr>
          <p:cNvPr id="3" name="teaching:initial_matrix"/>
          <p:cNvSpPr/>
          <p:nvPr/>
        </p:nvSpPr>
        <p:spPr>
          <a:xfrm>
            <a:off x="609600" y="1422400"/>
            <a:ext cx="10972800" cy="15113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⎡ 0 4 -2 |  8 ⎤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⎢ 3 -1 5 |  7 ⎥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⎣ 0 8 -4 | 16 ⎦</a:t>
            </a:r>
          </a:p>
        </p:txBody>
      </p:sp>
      <p:sp>
        <p:nvSpPr>
          <p:cNvPr id="4" name="teaching:task"/>
          <p:cNvSpPr/>
          <p:nvPr/>
        </p:nvSpPr>
        <p:spPr>
          <a:xfrm>
            <a:off x="609600" y="3035300"/>
            <a:ext cx="10972800" cy="8509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需化为行阶梯形</a:t>
            </a:r>
          </a:p>
        </p:txBody>
      </p:sp>
      <p:sp>
        <p:nvSpPr>
          <p:cNvPr id="5" name="teaching:swap_reason"/>
          <p:cNvSpPr/>
          <p:nvPr/>
        </p:nvSpPr>
        <p:spPr>
          <a:xfrm>
            <a:off x="609600" y="3987800"/>
            <a:ext cx="10972800" cy="8509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首列首元素为零，违反“从左至右”处理原则，故执行行交换 R₁ ↔ R₂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行交换建立阶梯结构</a:t>
            </a:r>
          </a:p>
        </p:txBody>
      </p:sp>
      <p:sp>
        <p:nvSpPr>
          <p:cNvPr id="3" name="teaching:initial_matrix"/>
          <p:cNvSpPr/>
          <p:nvPr/>
        </p:nvSpPr>
        <p:spPr>
          <a:xfrm>
            <a:off x="609600" y="1422400"/>
            <a:ext cx="10972800" cy="15113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⎡ 0 4 -2 |  8 ⎤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⎢ 3 -1 5 |  7 ⎥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⎣ 0 8 -4 | 16 ⎦</a:t>
            </a:r>
          </a:p>
        </p:txBody>
      </p:sp>
      <p:sp>
        <p:nvSpPr>
          <p:cNvPr id="4" name="teaching:task"/>
          <p:cNvSpPr/>
          <p:nvPr/>
        </p:nvSpPr>
        <p:spPr>
          <a:xfrm>
            <a:off x="609600" y="3035300"/>
            <a:ext cx="10972800" cy="8509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需化为行阶梯形</a:t>
            </a:r>
          </a:p>
        </p:txBody>
      </p:sp>
      <p:sp>
        <p:nvSpPr>
          <p:cNvPr id="5" name="teaching:swap_reason"/>
          <p:cNvSpPr/>
          <p:nvPr/>
        </p:nvSpPr>
        <p:spPr>
          <a:xfrm>
            <a:off x="609600" y="3987800"/>
            <a:ext cx="10972800" cy="8509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首列首元素为零，违反“从左至右”处理原则，故执行行交换 R₁ ↔ R₂</a:t>
            </a:r>
          </a:p>
        </p:txBody>
      </p:sp>
      <p:sp>
        <p:nvSpPr>
          <p:cNvPr id="6" name="teaching:swapped_matrix"/>
          <p:cNvSpPr/>
          <p:nvPr/>
        </p:nvSpPr>
        <p:spPr>
          <a:xfrm>
            <a:off x="609600" y="4940300"/>
            <a:ext cx="10972800" cy="15113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⎡ 3 -1 5 |  7 ⎤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⎢ 0 4 -2 |  8 ⎥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⎣ 0 8 -4 | 16 ⎦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倍加消元与最终矩阵</a:t>
            </a:r>
          </a:p>
        </p:txBody>
      </p:sp>
      <p:sp>
        <p:nvSpPr>
          <p:cNvPr id="3" name="teaching:context_matrix"/>
          <p:cNvSpPr/>
          <p:nvPr/>
        </p:nvSpPr>
        <p:spPr>
          <a:xfrm>
            <a:off x="609600" y="1422400"/>
            <a:ext cx="109728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⎡ 3 -1 5 |  7 ⎤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⎢ 0 4 -2 |  8 ⎥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⎣ 0 8 -4 | 16 ⎦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倍加消元与最终矩阵</a:t>
            </a:r>
          </a:p>
        </p:txBody>
      </p:sp>
      <p:sp>
        <p:nvSpPr>
          <p:cNvPr id="3" name="teaching:context_matrix"/>
          <p:cNvSpPr/>
          <p:nvPr/>
        </p:nvSpPr>
        <p:spPr>
          <a:xfrm>
            <a:off x="609600" y="1422400"/>
            <a:ext cx="109728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⎡ 3 -1 5 |  7 ⎤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⎢ 0 4 -2 |  8 ⎥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⎣ 0 8 -4 | 16 ⎦</a:t>
            </a:r>
          </a:p>
        </p:txBody>
      </p:sp>
      <p:sp>
        <p:nvSpPr>
          <p:cNvPr id="4" name="teaching:operation"/>
          <p:cNvSpPr/>
          <p:nvPr/>
        </p:nvSpPr>
        <p:spPr>
          <a:xfrm>
            <a:off x="609600" y="3352800"/>
            <a:ext cx="10972800" cy="1168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执行倍加 R₃ ← R₃ - 2R₂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倍加消元与最终矩阵</a:t>
            </a:r>
          </a:p>
        </p:txBody>
      </p:sp>
      <p:sp>
        <p:nvSpPr>
          <p:cNvPr id="3" name="teaching:context_matrix"/>
          <p:cNvSpPr/>
          <p:nvPr/>
        </p:nvSpPr>
        <p:spPr>
          <a:xfrm>
            <a:off x="609600" y="1422400"/>
            <a:ext cx="109728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⎡ 3 -1 5 |  7 ⎤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⎢ 0 4 -2 |  8 ⎥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⎣ 0 8 -4 | 16 ⎦</a:t>
            </a:r>
          </a:p>
        </p:txBody>
      </p:sp>
      <p:sp>
        <p:nvSpPr>
          <p:cNvPr id="4" name="teaching:operation"/>
          <p:cNvSpPr/>
          <p:nvPr/>
        </p:nvSpPr>
        <p:spPr>
          <a:xfrm>
            <a:off x="609600" y="3352800"/>
            <a:ext cx="10972800" cy="1168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执行倍加 R₃ ← R₃ - 2R₂</a:t>
            </a:r>
          </a:p>
        </p:txBody>
      </p:sp>
      <p:sp>
        <p:nvSpPr>
          <p:cNvPr id="5" name="teaching:final_matrix"/>
          <p:cNvSpPr/>
          <p:nvPr/>
        </p:nvSpPr>
        <p:spPr>
          <a:xfrm>
            <a:off x="609600" y="4622800"/>
            <a:ext cx="109728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⎡ 3 -1 5 | 7 ⎤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⎢ 0 4 -2 | 8 ⎥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⎣ 0 0 0 | 0 ⎦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行阶梯形条件验证</a:t>
            </a:r>
          </a:p>
        </p:txBody>
      </p:sp>
      <p:sp>
        <p:nvSpPr>
          <p:cNvPr id="3" name="teaching:final_matrix"/>
          <p:cNvSpPr/>
          <p:nvPr/>
        </p:nvSpPr>
        <p:spPr>
          <a:xfrm>
            <a:off x="609600" y="1422400"/>
            <a:ext cx="10972800" cy="1676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⎡ 3 -1 5 | 7 ⎤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⎢ 0 4 -2 | 8 ⎥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⎣ 0 0 0 | 0 ⎦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行阶梯形条件验证</a:t>
            </a:r>
          </a:p>
        </p:txBody>
      </p:sp>
      <p:sp>
        <p:nvSpPr>
          <p:cNvPr id="3" name="teaching:final_matrix"/>
          <p:cNvSpPr/>
          <p:nvPr/>
        </p:nvSpPr>
        <p:spPr>
          <a:xfrm>
            <a:off x="609600" y="1422400"/>
            <a:ext cx="10972800" cy="1676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⎡ 3 -1 5 | 7 ⎤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⎢ 0 4 -2 | 8 ⎥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⎣ 0 0 0 | 0 ⎦</a:t>
            </a:r>
          </a:p>
        </p:txBody>
      </p:sp>
      <p:sp>
        <p:nvSpPr>
          <p:cNvPr id="4" name="teaching:pivots_info"/>
          <p:cNvSpPr/>
          <p:nvPr/>
        </p:nvSpPr>
        <p:spPr>
          <a:xfrm>
            <a:off x="609600" y="3200400"/>
            <a:ext cx="10972800" cy="1016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主元为 (1,1) 与 (2,2)，第三行为零行，位于底部。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行阶梯形条件验证</a:t>
            </a:r>
          </a:p>
        </p:txBody>
      </p:sp>
      <p:sp>
        <p:nvSpPr>
          <p:cNvPr id="3" name="teaching:final_matrix"/>
          <p:cNvSpPr/>
          <p:nvPr/>
        </p:nvSpPr>
        <p:spPr>
          <a:xfrm>
            <a:off x="609600" y="1422400"/>
            <a:ext cx="10972800" cy="1676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⎡ 3 -1 5 | 7 ⎤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⎢ 0 4 -2 | 8 ⎥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⎣ 0 0 0 | 0 ⎦</a:t>
            </a:r>
          </a:p>
        </p:txBody>
      </p:sp>
      <p:sp>
        <p:nvSpPr>
          <p:cNvPr id="4" name="teaching:pivots_info"/>
          <p:cNvSpPr/>
          <p:nvPr/>
        </p:nvSpPr>
        <p:spPr>
          <a:xfrm>
            <a:off x="609600" y="3200400"/>
            <a:ext cx="10972800" cy="1016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主元为 (1,1) 与 (2,2)，第三行为零行，位于底部。</a:t>
            </a:r>
          </a:p>
        </p:txBody>
      </p:sp>
      <p:sp>
        <p:nvSpPr>
          <p:cNvPr id="5" name="teaching:verification"/>
          <p:cNvSpPr/>
          <p:nvPr/>
        </p:nvSpPr>
        <p:spPr>
          <a:xfrm>
            <a:off x="609600" y="4318000"/>
            <a:ext cx="10972800" cy="1016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主元列严格递增（第1列→第2列），每行主元下方全零，无跳列操作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行阶梯形条件验证</a:t>
            </a:r>
          </a:p>
        </p:txBody>
      </p:sp>
      <p:sp>
        <p:nvSpPr>
          <p:cNvPr id="3" name="teaching:final_matrix"/>
          <p:cNvSpPr/>
          <p:nvPr/>
        </p:nvSpPr>
        <p:spPr>
          <a:xfrm>
            <a:off x="609600" y="1422400"/>
            <a:ext cx="10972800" cy="1676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⎡ 3 -1 5 | 7 ⎤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⎢ 0 4 -2 | 8 ⎥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⎣ 0 0 0 | 0 ⎦</a:t>
            </a:r>
          </a:p>
        </p:txBody>
      </p:sp>
      <p:sp>
        <p:nvSpPr>
          <p:cNvPr id="4" name="teaching:pivots_info"/>
          <p:cNvSpPr/>
          <p:nvPr/>
        </p:nvSpPr>
        <p:spPr>
          <a:xfrm>
            <a:off x="609600" y="3200400"/>
            <a:ext cx="10972800" cy="1016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主元为 (1,1) 与 (2,2)，第三行为零行，位于底部。</a:t>
            </a:r>
          </a:p>
        </p:txBody>
      </p:sp>
      <p:sp>
        <p:nvSpPr>
          <p:cNvPr id="5" name="teaching:verification"/>
          <p:cNvSpPr/>
          <p:nvPr/>
        </p:nvSpPr>
        <p:spPr>
          <a:xfrm>
            <a:off x="609600" y="4318000"/>
            <a:ext cx="10972800" cy="1016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主元列严格递增（第1列→第2列），每行主元下方全零，无跳列操作</a:t>
            </a:r>
          </a:p>
        </p:txBody>
      </p:sp>
      <p:sp>
        <p:nvSpPr>
          <p:cNvPr id="6" name="teaching:conclusion"/>
          <p:cNvSpPr/>
          <p:nvPr/>
        </p:nvSpPr>
        <p:spPr>
          <a:xfrm>
            <a:off x="609600" y="5435600"/>
            <a:ext cx="10972800" cy="1016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本例最终矩阵满足行阶梯形全部条件。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效率考量：避免分数主元</a:t>
            </a:r>
          </a:p>
        </p:txBody>
      </p:sp>
      <p:sp>
        <p:nvSpPr>
          <p:cNvPr id="3" name="teaching:n1"/>
          <p:cNvSpPr/>
          <p:nvPr/>
        </p:nvSpPr>
        <p:spPr>
          <a:xfrm>
            <a:off x="635000" y="2425700"/>
            <a:ext cx="266700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首列存在零元素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效率考量：避免分数主元</a:t>
            </a:r>
          </a:p>
        </p:txBody>
      </p:sp>
      <p:sp>
        <p:nvSpPr>
          <p:cNvPr id="3" name="teaching:n1"/>
          <p:cNvSpPr/>
          <p:nvPr/>
        </p:nvSpPr>
        <p:spPr>
          <a:xfrm>
            <a:off x="635000" y="2425700"/>
            <a:ext cx="266700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首列存在零元素</a:t>
            </a:r>
          </a:p>
        </p:txBody>
      </p:sp>
      <p:sp>
        <p:nvSpPr>
          <p:cNvPr id="4" name="teaching:n2"/>
          <p:cNvSpPr/>
          <p:nvPr/>
        </p:nvSpPr>
        <p:spPr>
          <a:xfrm>
            <a:off x="8890000" y="2425700"/>
            <a:ext cx="266700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如何避免后续运算引</a:t>
            </a:r>
            <a:br/>
            <a:r>
              <a:t>入分数？</a:t>
            </a:r>
          </a:p>
        </p:txBody>
      </p:sp>
      <p:cxnSp>
        <p:nvCxnSpPr>
          <p:cNvPr id="5" name="relation:relation-0"/>
          <p:cNvCxnSpPr>
            <a:stCxn id="3" idx="3"/>
            <a:endCxn id="4" idx="1"/>
          </p:cNvCxnSpPr>
          <p:nvPr/>
        </p:nvCxnSpPr>
        <p:spPr>
          <a:xfrm>
            <a:off x="3302000" y="3111500"/>
            <a:ext cx="5588000" cy="0"/>
          </a:xfrm>
          <a:prstGeom prst="line">
            <a:avLst/>
          </a:prstGeom>
          <a:ln w="21590">
            <a:solidFill>
              <a:srgbClr val="305AC7"/>
            </a:solidFill>
            <a:tailEnd type="triangle"/>
          </a:ln>
          <a:effectLst/>
        </p:spPr>
      </p:cxnSp>
      <p:sp>
        <p:nvSpPr>
          <p:cNvPr id="6" name="relation-label:relation-0"/>
          <p:cNvSpPr txBox="1"/>
          <p:nvPr/>
        </p:nvSpPr>
        <p:spPr>
          <a:xfrm>
            <a:off x="5486400" y="2565400"/>
            <a:ext cx="1219200" cy="482600"/>
          </a:xfrm>
          <a:prstGeom prst="rect">
            <a:avLst/>
          </a:prstGeom>
          <a:noFill/>
        </p:spPr>
        <p:txBody>
          <a:bodyPr wrap="none" anchor="t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触发问题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效率考量：避免分数主元</a:t>
            </a:r>
          </a:p>
        </p:txBody>
      </p:sp>
      <p:sp>
        <p:nvSpPr>
          <p:cNvPr id="3" name="teaching:n1"/>
          <p:cNvSpPr/>
          <p:nvPr/>
        </p:nvSpPr>
        <p:spPr>
          <a:xfrm>
            <a:off x="635000" y="2425700"/>
            <a:ext cx="266700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首列存在零元素</a:t>
            </a:r>
          </a:p>
        </p:txBody>
      </p:sp>
      <p:sp>
        <p:nvSpPr>
          <p:cNvPr id="4" name="teaching:n2"/>
          <p:cNvSpPr/>
          <p:nvPr/>
        </p:nvSpPr>
        <p:spPr>
          <a:xfrm>
            <a:off x="8890000" y="2425700"/>
            <a:ext cx="266700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如何避免后续运算引</a:t>
            </a:r>
            <a:br/>
            <a:r>
              <a:t>入分数？</a:t>
            </a:r>
          </a:p>
        </p:txBody>
      </p:sp>
      <p:sp>
        <p:nvSpPr>
          <p:cNvPr id="5" name="teaching:n3"/>
          <p:cNvSpPr/>
          <p:nvPr/>
        </p:nvSpPr>
        <p:spPr>
          <a:xfrm>
            <a:off x="635000" y="4051300"/>
            <a:ext cx="266700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通过行交换获得整数</a:t>
            </a:r>
            <a:br/>
            <a:r>
              <a:t>主元</a:t>
            </a:r>
          </a:p>
        </p:txBody>
      </p:sp>
      <p:cxnSp>
        <p:nvCxnSpPr>
          <p:cNvPr id="6" name="relation:relation-0"/>
          <p:cNvCxnSpPr>
            <a:stCxn id="3" idx="3"/>
            <a:endCxn id="4" idx="1"/>
          </p:cNvCxnSpPr>
          <p:nvPr/>
        </p:nvCxnSpPr>
        <p:spPr>
          <a:xfrm>
            <a:off x="3302000" y="3111500"/>
            <a:ext cx="5588000" cy="0"/>
          </a:xfrm>
          <a:prstGeom prst="line">
            <a:avLst/>
          </a:prstGeom>
          <a:ln w="21590">
            <a:solidFill>
              <a:srgbClr val="305AC7"/>
            </a:solidFill>
            <a:tailEnd type="triangle"/>
          </a:ln>
          <a:effectLst/>
        </p:spPr>
      </p:cxnSp>
      <p:sp>
        <p:nvSpPr>
          <p:cNvPr id="7" name="relation-label:relation-0"/>
          <p:cNvSpPr txBox="1"/>
          <p:nvPr/>
        </p:nvSpPr>
        <p:spPr>
          <a:xfrm>
            <a:off x="5486400" y="2565400"/>
            <a:ext cx="1219200" cy="482600"/>
          </a:xfrm>
          <a:prstGeom prst="rect">
            <a:avLst/>
          </a:prstGeom>
          <a:noFill/>
        </p:spPr>
        <p:txBody>
          <a:bodyPr wrap="none" anchor="t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触发问题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效率考量：避免分数主元</a:t>
            </a:r>
          </a:p>
        </p:txBody>
      </p:sp>
      <p:sp>
        <p:nvSpPr>
          <p:cNvPr id="3" name="teaching:n1"/>
          <p:cNvSpPr/>
          <p:nvPr/>
        </p:nvSpPr>
        <p:spPr>
          <a:xfrm>
            <a:off x="635000" y="2425700"/>
            <a:ext cx="266700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首列存在零元素</a:t>
            </a:r>
          </a:p>
        </p:txBody>
      </p:sp>
      <p:sp>
        <p:nvSpPr>
          <p:cNvPr id="4" name="teaching:n2"/>
          <p:cNvSpPr/>
          <p:nvPr/>
        </p:nvSpPr>
        <p:spPr>
          <a:xfrm>
            <a:off x="8890000" y="2425700"/>
            <a:ext cx="266700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如何避免后续运算引</a:t>
            </a:r>
            <a:br/>
            <a:r>
              <a:t>入分数？</a:t>
            </a:r>
          </a:p>
        </p:txBody>
      </p:sp>
      <p:sp>
        <p:nvSpPr>
          <p:cNvPr id="5" name="teaching:n3"/>
          <p:cNvSpPr/>
          <p:nvPr/>
        </p:nvSpPr>
        <p:spPr>
          <a:xfrm>
            <a:off x="635000" y="4051300"/>
            <a:ext cx="266700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通过行交换获得整数</a:t>
            </a:r>
            <a:br/>
            <a:r>
              <a:t>主元</a:t>
            </a:r>
          </a:p>
        </p:txBody>
      </p:sp>
      <p:sp>
        <p:nvSpPr>
          <p:cNvPr id="6" name="teaching:n4"/>
          <p:cNvSpPr/>
          <p:nvPr/>
        </p:nvSpPr>
        <p:spPr>
          <a:xfrm>
            <a:off x="8890000" y="4051300"/>
            <a:ext cx="266700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确保主元严格右移</a:t>
            </a:r>
          </a:p>
        </p:txBody>
      </p:sp>
      <p:cxnSp>
        <p:nvCxnSpPr>
          <p:cNvPr id="7" name="relation:relation-0"/>
          <p:cNvCxnSpPr>
            <a:stCxn id="3" idx="3"/>
            <a:endCxn id="4" idx="1"/>
          </p:cNvCxnSpPr>
          <p:nvPr/>
        </p:nvCxnSpPr>
        <p:spPr>
          <a:xfrm>
            <a:off x="3302000" y="3111500"/>
            <a:ext cx="5588000" cy="0"/>
          </a:xfrm>
          <a:prstGeom prst="line">
            <a:avLst/>
          </a:prstGeom>
          <a:ln w="21590">
            <a:solidFill>
              <a:srgbClr val="305AC7"/>
            </a:solidFill>
            <a:tailEnd type="triangle"/>
          </a:ln>
          <a:effectLst/>
        </p:spPr>
      </p:cxnSp>
      <p:sp>
        <p:nvSpPr>
          <p:cNvPr id="8" name="relation-label:relation-0"/>
          <p:cNvSpPr txBox="1"/>
          <p:nvPr/>
        </p:nvSpPr>
        <p:spPr>
          <a:xfrm>
            <a:off x="5486400" y="2565400"/>
            <a:ext cx="1219200" cy="482600"/>
          </a:xfrm>
          <a:prstGeom prst="rect">
            <a:avLst/>
          </a:prstGeom>
          <a:noFill/>
        </p:spPr>
        <p:txBody>
          <a:bodyPr wrap="none" anchor="t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触发问题</a:t>
            </a:r>
          </a:p>
        </p:txBody>
      </p:sp>
      <p:cxnSp>
        <p:nvCxnSpPr>
          <p:cNvPr id="9" name="relation:relation-1"/>
          <p:cNvCxnSpPr>
            <a:stCxn id="5" idx="3"/>
            <a:endCxn id="6" idx="1"/>
          </p:cNvCxnSpPr>
          <p:nvPr/>
        </p:nvCxnSpPr>
        <p:spPr>
          <a:xfrm>
            <a:off x="3302000" y="4737100"/>
            <a:ext cx="5588000" cy="0"/>
          </a:xfrm>
          <a:prstGeom prst="line">
            <a:avLst/>
          </a:prstGeom>
          <a:ln w="21590">
            <a:solidFill>
              <a:srgbClr val="305AC7"/>
            </a:solidFill>
            <a:tailEnd type="triangle"/>
          </a:ln>
          <a:effectLst/>
        </p:spPr>
      </p:cxnSp>
      <p:sp>
        <p:nvSpPr>
          <p:cNvPr id="10" name="relation-label:relation-1"/>
          <p:cNvSpPr txBox="1"/>
          <p:nvPr/>
        </p:nvSpPr>
        <p:spPr>
          <a:xfrm>
            <a:off x="5486400" y="4191000"/>
            <a:ext cx="1219200" cy="482600"/>
          </a:xfrm>
          <a:prstGeom prst="rect">
            <a:avLst/>
          </a:prstGeom>
          <a:noFill/>
        </p:spPr>
        <p:txBody>
          <a:bodyPr wrap="none" anchor="t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达成效果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观察初始矩阵与任务</a:t>
            </a:r>
          </a:p>
        </p:txBody>
      </p:sp>
      <p:sp>
        <p:nvSpPr>
          <p:cNvPr id="3" name="teaching:task_line"/>
          <p:cNvSpPr/>
          <p:nvPr/>
        </p:nvSpPr>
        <p:spPr>
          <a:xfrm>
            <a:off x="609600" y="1422400"/>
            <a:ext cx="10972800" cy="1016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需将其化为行阶梯形，并准确标出所有主元位置。</a:t>
            </a:r>
          </a:p>
        </p:txBody>
      </p:sp>
      <p:sp>
        <p:nvSpPr>
          <p:cNvPr id="4" name="teaching:cond_label"/>
          <p:cNvSpPr/>
          <p:nvPr/>
        </p:nvSpPr>
        <p:spPr>
          <a:xfrm>
            <a:off x="609600" y="2540000"/>
            <a:ext cx="10972800" cy="1016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任务条件：给定增广矩阵</a:t>
            </a:r>
          </a:p>
        </p:txBody>
      </p:sp>
      <p:sp>
        <p:nvSpPr>
          <p:cNvPr id="5" name="teaching:orig_mat"/>
          <p:cNvSpPr/>
          <p:nvPr/>
        </p:nvSpPr>
        <p:spPr>
          <a:xfrm>
            <a:off x="609600" y="3657600"/>
            <a:ext cx="10972800" cy="1676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⎡ 0 0 3 | 9 ⎤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⎢ 0 2 -1 | 4 ⎥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⎣ 1 -3 2 | 5 ⎦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观察初始矩阵与任务</a:t>
            </a:r>
          </a:p>
        </p:txBody>
      </p:sp>
      <p:sp>
        <p:nvSpPr>
          <p:cNvPr id="3" name="teaching:task_line"/>
          <p:cNvSpPr/>
          <p:nvPr/>
        </p:nvSpPr>
        <p:spPr>
          <a:xfrm>
            <a:off x="609600" y="1422400"/>
            <a:ext cx="10972800" cy="1016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需将其化为行阶梯形，并准确标出所有主元位置。</a:t>
            </a:r>
          </a:p>
        </p:txBody>
      </p:sp>
      <p:sp>
        <p:nvSpPr>
          <p:cNvPr id="4" name="teaching:cond_label"/>
          <p:cNvSpPr/>
          <p:nvPr/>
        </p:nvSpPr>
        <p:spPr>
          <a:xfrm>
            <a:off x="609600" y="2540000"/>
            <a:ext cx="10972800" cy="1016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任务条件：给定增广矩阵</a:t>
            </a:r>
          </a:p>
        </p:txBody>
      </p:sp>
      <p:sp>
        <p:nvSpPr>
          <p:cNvPr id="5" name="teaching:orig_mat"/>
          <p:cNvSpPr/>
          <p:nvPr/>
        </p:nvSpPr>
        <p:spPr>
          <a:xfrm>
            <a:off x="609600" y="3657600"/>
            <a:ext cx="10972800" cy="1676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⎡ 0 0 3 | 9 ⎤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⎢ 0 2 -1 | 4 ⎥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⎣ 1 -3 2 | 5 ⎦</a:t>
            </a:r>
          </a:p>
        </p:txBody>
      </p:sp>
      <p:sp>
        <p:nvSpPr>
          <p:cNvPr id="6" name="teaching:hint1"/>
          <p:cNvSpPr/>
          <p:nvPr/>
        </p:nvSpPr>
        <p:spPr>
          <a:xfrm>
            <a:off x="609600" y="5435600"/>
            <a:ext cx="10972800" cy="1016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首先观察首列全为零，无法构造主元，故跳至第二列。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执行行交换并标出主元</a:t>
            </a:r>
          </a:p>
        </p:txBody>
      </p:sp>
      <p:sp>
        <p:nvSpPr>
          <p:cNvPr id="3" name="teaching:question2"/>
          <p:cNvSpPr/>
          <p:nvPr/>
        </p:nvSpPr>
        <p:spPr>
          <a:xfrm>
            <a:off x="609600" y="1422400"/>
            <a:ext cx="10972800" cy="64346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应执行什么行交换，主元位置在哪里？</a:t>
            </a:r>
          </a:p>
        </p:txBody>
      </p:sp>
      <p:sp>
        <p:nvSpPr>
          <p:cNvPr id="4" name="teaching:act1_label"/>
          <p:cNvSpPr/>
          <p:nvPr/>
        </p:nvSpPr>
        <p:spPr>
          <a:xfrm>
            <a:off x="609600" y="2167466"/>
            <a:ext cx="10972800" cy="64346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执行行交换</a:t>
            </a:r>
          </a:p>
        </p:txBody>
      </p:sp>
      <p:sp>
        <p:nvSpPr>
          <p:cNvPr id="5" name="teaching:act1"/>
          <p:cNvSpPr/>
          <p:nvPr/>
        </p:nvSpPr>
        <p:spPr>
          <a:xfrm>
            <a:off x="609600" y="2912533"/>
            <a:ext cx="10972800" cy="64346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R₁ ↔ R₃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执行行交换并标出主元</a:t>
            </a:r>
          </a:p>
        </p:txBody>
      </p:sp>
      <p:sp>
        <p:nvSpPr>
          <p:cNvPr id="3" name="teaching:question2"/>
          <p:cNvSpPr/>
          <p:nvPr/>
        </p:nvSpPr>
        <p:spPr>
          <a:xfrm>
            <a:off x="609600" y="1422400"/>
            <a:ext cx="10972800" cy="64346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应执行什么行交换，主元位置在哪里？</a:t>
            </a:r>
          </a:p>
        </p:txBody>
      </p:sp>
      <p:sp>
        <p:nvSpPr>
          <p:cNvPr id="4" name="teaching:act1_label"/>
          <p:cNvSpPr/>
          <p:nvPr/>
        </p:nvSpPr>
        <p:spPr>
          <a:xfrm>
            <a:off x="609600" y="2167466"/>
            <a:ext cx="10972800" cy="64346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执行行交换</a:t>
            </a:r>
          </a:p>
        </p:txBody>
      </p:sp>
      <p:sp>
        <p:nvSpPr>
          <p:cNvPr id="5" name="teaching:act1"/>
          <p:cNvSpPr/>
          <p:nvPr/>
        </p:nvSpPr>
        <p:spPr>
          <a:xfrm>
            <a:off x="609600" y="2912533"/>
            <a:ext cx="10972800" cy="64346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R₁ ↔ R₃</a:t>
            </a:r>
          </a:p>
        </p:txBody>
      </p:sp>
      <p:sp>
        <p:nvSpPr>
          <p:cNvPr id="6" name="teaching:new_mat"/>
          <p:cNvSpPr/>
          <p:nvPr/>
        </p:nvSpPr>
        <p:spPr>
          <a:xfrm>
            <a:off x="609600" y="3657600"/>
            <a:ext cx="10972800" cy="130386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⎡ 1 -3 2 | 5 ⎤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⎢ 0 2 -1 | 4 ⎥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⎣ 0 0 3 | 9 ⎦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执行行交换并标出主元</a:t>
            </a:r>
          </a:p>
        </p:txBody>
      </p:sp>
      <p:sp>
        <p:nvSpPr>
          <p:cNvPr id="3" name="teaching:question2"/>
          <p:cNvSpPr/>
          <p:nvPr/>
        </p:nvSpPr>
        <p:spPr>
          <a:xfrm>
            <a:off x="609600" y="1422400"/>
            <a:ext cx="10972800" cy="64346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应执行什么行交换，主元位置在哪里？</a:t>
            </a:r>
          </a:p>
        </p:txBody>
      </p:sp>
      <p:sp>
        <p:nvSpPr>
          <p:cNvPr id="4" name="teaching:act1_label"/>
          <p:cNvSpPr/>
          <p:nvPr/>
        </p:nvSpPr>
        <p:spPr>
          <a:xfrm>
            <a:off x="609600" y="2167466"/>
            <a:ext cx="10972800" cy="64346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执行行交换</a:t>
            </a:r>
          </a:p>
        </p:txBody>
      </p:sp>
      <p:sp>
        <p:nvSpPr>
          <p:cNvPr id="5" name="teaching:act1"/>
          <p:cNvSpPr/>
          <p:nvPr/>
        </p:nvSpPr>
        <p:spPr>
          <a:xfrm>
            <a:off x="609600" y="2912533"/>
            <a:ext cx="10972800" cy="64346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R₁ ↔ R₃</a:t>
            </a:r>
          </a:p>
        </p:txBody>
      </p:sp>
      <p:sp>
        <p:nvSpPr>
          <p:cNvPr id="6" name="teaching:new_mat"/>
          <p:cNvSpPr/>
          <p:nvPr/>
        </p:nvSpPr>
        <p:spPr>
          <a:xfrm>
            <a:off x="609600" y="3657600"/>
            <a:ext cx="10972800" cy="130386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⎡ 1 -3 2 | 5 ⎤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⎢ 0 2 -1 | 4 ⎥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⎣ 0 0 3 | 9 ⎦</a:t>
            </a:r>
          </a:p>
        </p:txBody>
      </p:sp>
      <p:sp>
        <p:nvSpPr>
          <p:cNvPr id="7" name="teaching:p_all"/>
          <p:cNvSpPr/>
          <p:nvPr/>
        </p:nvSpPr>
        <p:spPr>
          <a:xfrm>
            <a:off x="609600" y="5063066"/>
            <a:ext cx="10972800" cy="64346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主元位置为 (1,1)、(2,2)、(3,3)。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执行行交换并标出主元</a:t>
            </a:r>
          </a:p>
        </p:txBody>
      </p:sp>
      <p:sp>
        <p:nvSpPr>
          <p:cNvPr id="3" name="teaching:question2"/>
          <p:cNvSpPr/>
          <p:nvPr/>
        </p:nvSpPr>
        <p:spPr>
          <a:xfrm>
            <a:off x="609600" y="1422400"/>
            <a:ext cx="10972800" cy="64346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应执行什么行交换，主元位置在哪里？</a:t>
            </a:r>
          </a:p>
        </p:txBody>
      </p:sp>
      <p:sp>
        <p:nvSpPr>
          <p:cNvPr id="4" name="teaching:act1_label"/>
          <p:cNvSpPr/>
          <p:nvPr/>
        </p:nvSpPr>
        <p:spPr>
          <a:xfrm>
            <a:off x="609600" y="2167466"/>
            <a:ext cx="10972800" cy="64346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执行行交换</a:t>
            </a:r>
          </a:p>
        </p:txBody>
      </p:sp>
      <p:sp>
        <p:nvSpPr>
          <p:cNvPr id="5" name="teaching:act1"/>
          <p:cNvSpPr/>
          <p:nvPr/>
        </p:nvSpPr>
        <p:spPr>
          <a:xfrm>
            <a:off x="609600" y="2912533"/>
            <a:ext cx="10972800" cy="64346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R₁ ↔ R₃</a:t>
            </a:r>
          </a:p>
        </p:txBody>
      </p:sp>
      <p:sp>
        <p:nvSpPr>
          <p:cNvPr id="6" name="teaching:new_mat"/>
          <p:cNvSpPr/>
          <p:nvPr/>
        </p:nvSpPr>
        <p:spPr>
          <a:xfrm>
            <a:off x="609600" y="3657600"/>
            <a:ext cx="10972800" cy="130386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⎡ 1 -3 2 | 5 ⎤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⎢ 0 2 -1 | 4 ⎥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⎣ 0 0 3 | 9 ⎦</a:t>
            </a:r>
          </a:p>
        </p:txBody>
      </p:sp>
      <p:sp>
        <p:nvSpPr>
          <p:cNvPr id="7" name="teaching:p_all"/>
          <p:cNvSpPr/>
          <p:nvPr/>
        </p:nvSpPr>
        <p:spPr>
          <a:xfrm>
            <a:off x="609600" y="5063066"/>
            <a:ext cx="10972800" cy="64346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主元位置为 (1,1)、(2,2)、(3,3)。</a:t>
            </a:r>
          </a:p>
        </p:txBody>
      </p:sp>
      <p:sp>
        <p:nvSpPr>
          <p:cNvPr id="8" name="teaching:verify"/>
          <p:cNvSpPr/>
          <p:nvPr/>
        </p:nvSpPr>
        <p:spPr>
          <a:xfrm>
            <a:off x="609600" y="5808133"/>
            <a:ext cx="10972800" cy="64346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最终矩阵满足行阶梯形全部条件：非零行在零行之上、每行主元严格右移、主元下方全零。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解的判定：主元、矛盾行与 r vs n</a:t>
            </a:r>
          </a:p>
        </p:txBody>
      </p:sp>
      <p:sp>
        <p:nvSpPr>
          <p:cNvPr id="3" name="teaching:root"/>
          <p:cNvSpPr/>
          <p:nvPr/>
        </p:nvSpPr>
        <p:spPr>
          <a:xfrm>
            <a:off x="635000" y="2425700"/>
            <a:ext cx="266700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判断解的类型</a:t>
            </a:r>
          </a:p>
        </p:txBody>
      </p:sp>
      <p:sp>
        <p:nvSpPr>
          <p:cNvPr id="4" name="teaching:c_pivot"/>
          <p:cNvSpPr/>
          <p:nvPr/>
        </p:nvSpPr>
        <p:spPr>
          <a:xfrm>
            <a:off x="4762500" y="2171700"/>
            <a:ext cx="2667000" cy="6858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圈出主元</a:t>
            </a:r>
          </a:p>
        </p:txBody>
      </p:sp>
      <p:sp>
        <p:nvSpPr>
          <p:cNvPr id="5" name="teaching:c_conflict"/>
          <p:cNvSpPr/>
          <p:nvPr/>
        </p:nvSpPr>
        <p:spPr>
          <a:xfrm>
            <a:off x="4762500" y="3111500"/>
            <a:ext cx="2667000" cy="6858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找矛盾行</a:t>
            </a:r>
          </a:p>
        </p:txBody>
      </p:sp>
      <p:sp>
        <p:nvSpPr>
          <p:cNvPr id="6" name="teaching:cond_rn"/>
          <p:cNvSpPr/>
          <p:nvPr/>
        </p:nvSpPr>
        <p:spPr>
          <a:xfrm>
            <a:off x="635000" y="4051300"/>
            <a:ext cx="266700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统计主元 r 与未知数 n</a:t>
            </a:r>
          </a:p>
        </p:txBody>
      </p:sp>
      <p:cxnSp>
        <p:nvCxnSpPr>
          <p:cNvPr id="7" name="relation:relation-0"/>
          <p:cNvCxnSpPr>
            <a:stCxn id="3" idx="3"/>
            <a:endCxn id="4" idx="1"/>
          </p:cNvCxnSpPr>
          <p:nvPr/>
        </p:nvCxnSpPr>
        <p:spPr>
          <a:xfrm flipV="1">
            <a:off x="3302000" y="2514600"/>
            <a:ext cx="1460500" cy="596900"/>
          </a:xfrm>
          <a:prstGeom prst="line">
            <a:avLst/>
          </a:prstGeom>
          <a:ln w="21590">
            <a:solidFill>
              <a:srgbClr val="305AC7"/>
            </a:solidFill>
            <a:tailEnd type="triangle"/>
          </a:ln>
          <a:effectLst/>
        </p:spPr>
      </p:cxnSp>
      <p:cxnSp>
        <p:nvCxnSpPr>
          <p:cNvPr id="8" name="relation:relation-1"/>
          <p:cNvCxnSpPr>
            <a:stCxn id="3" idx="3"/>
            <a:endCxn id="5" idx="1"/>
          </p:cNvCxnSpPr>
          <p:nvPr/>
        </p:nvCxnSpPr>
        <p:spPr>
          <a:xfrm>
            <a:off x="3302000" y="3111500"/>
            <a:ext cx="1460500" cy="342900"/>
          </a:xfrm>
          <a:prstGeom prst="line">
            <a:avLst/>
          </a:prstGeom>
          <a:ln w="21590">
            <a:solidFill>
              <a:srgbClr val="305AC7"/>
            </a:solidFill>
            <a:tailEnd type="triangle"/>
          </a:ln>
          <a:effectLst/>
        </p:spPr>
      </p:cxn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解的判定：主元、矛盾行与 r vs n</a:t>
            </a:r>
          </a:p>
        </p:txBody>
      </p:sp>
      <p:sp>
        <p:nvSpPr>
          <p:cNvPr id="3" name="teaching:root"/>
          <p:cNvSpPr/>
          <p:nvPr/>
        </p:nvSpPr>
        <p:spPr>
          <a:xfrm>
            <a:off x="635000" y="2425700"/>
            <a:ext cx="266700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判断解的类型</a:t>
            </a:r>
          </a:p>
        </p:txBody>
      </p:sp>
      <p:sp>
        <p:nvSpPr>
          <p:cNvPr id="4" name="teaching:c_pivot"/>
          <p:cNvSpPr/>
          <p:nvPr/>
        </p:nvSpPr>
        <p:spPr>
          <a:xfrm>
            <a:off x="4762500" y="2171700"/>
            <a:ext cx="2667000" cy="6858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圈出主元</a:t>
            </a:r>
          </a:p>
        </p:txBody>
      </p:sp>
      <p:sp>
        <p:nvSpPr>
          <p:cNvPr id="5" name="teaching:c_conflict"/>
          <p:cNvSpPr/>
          <p:nvPr/>
        </p:nvSpPr>
        <p:spPr>
          <a:xfrm>
            <a:off x="4762500" y="3111500"/>
            <a:ext cx="2667000" cy="6858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找矛盾行</a:t>
            </a:r>
          </a:p>
        </p:txBody>
      </p:sp>
      <p:sp>
        <p:nvSpPr>
          <p:cNvPr id="6" name="teaching:cond_rn"/>
          <p:cNvSpPr/>
          <p:nvPr/>
        </p:nvSpPr>
        <p:spPr>
          <a:xfrm>
            <a:off x="635000" y="4051300"/>
            <a:ext cx="266700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统计主元 r 与未知数 n</a:t>
            </a:r>
          </a:p>
        </p:txBody>
      </p:sp>
      <p:sp>
        <p:nvSpPr>
          <p:cNvPr id="7" name="teaching:res_no"/>
          <p:cNvSpPr/>
          <p:nvPr/>
        </p:nvSpPr>
        <p:spPr>
          <a:xfrm>
            <a:off x="8890000" y="3238500"/>
            <a:ext cx="266700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方程组无解</a:t>
            </a:r>
          </a:p>
        </p:txBody>
      </p:sp>
      <p:cxnSp>
        <p:nvCxnSpPr>
          <p:cNvPr id="8" name="relation:relation-0"/>
          <p:cNvCxnSpPr>
            <a:stCxn id="3" idx="3"/>
            <a:endCxn id="4" idx="1"/>
          </p:cNvCxnSpPr>
          <p:nvPr/>
        </p:nvCxnSpPr>
        <p:spPr>
          <a:xfrm flipV="1">
            <a:off x="3302000" y="2514600"/>
            <a:ext cx="1460500" cy="596900"/>
          </a:xfrm>
          <a:prstGeom prst="line">
            <a:avLst/>
          </a:prstGeom>
          <a:ln w="21590">
            <a:solidFill>
              <a:srgbClr val="305AC7"/>
            </a:solidFill>
            <a:tailEnd type="triangle"/>
          </a:ln>
          <a:effectLst/>
        </p:spPr>
      </p:cxnSp>
      <p:cxnSp>
        <p:nvCxnSpPr>
          <p:cNvPr id="9" name="relation:relation-1"/>
          <p:cNvCxnSpPr>
            <a:stCxn id="3" idx="3"/>
            <a:endCxn id="5" idx="1"/>
          </p:cNvCxnSpPr>
          <p:nvPr/>
        </p:nvCxnSpPr>
        <p:spPr>
          <a:xfrm>
            <a:off x="3302000" y="3111500"/>
            <a:ext cx="1460500" cy="342900"/>
          </a:xfrm>
          <a:prstGeom prst="line">
            <a:avLst/>
          </a:prstGeom>
          <a:ln w="21590">
            <a:solidFill>
              <a:srgbClr val="305AC7"/>
            </a:solidFill>
            <a:tailEnd type="triangle"/>
          </a:ln>
          <a:effectLst/>
        </p:spPr>
      </p:cxnSp>
      <p:cxnSp>
        <p:nvCxnSpPr>
          <p:cNvPr id="10" name="relation:relation-2"/>
          <p:cNvCxnSpPr>
            <a:stCxn id="5" idx="3"/>
            <a:endCxn id="7" idx="1"/>
          </p:cNvCxnSpPr>
          <p:nvPr/>
        </p:nvCxnSpPr>
        <p:spPr>
          <a:xfrm>
            <a:off x="7429500" y="3454400"/>
            <a:ext cx="1460500" cy="469900"/>
          </a:xfrm>
          <a:prstGeom prst="line">
            <a:avLst/>
          </a:prstGeom>
          <a:ln w="21590">
            <a:solidFill>
              <a:srgbClr val="305AC7"/>
            </a:solidFill>
            <a:tailEnd type="triangle"/>
          </a:ln>
          <a:effectLst/>
        </p:spPr>
      </p:cxn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解的判定：主元、矛盾行与 r vs n</a:t>
            </a:r>
          </a:p>
        </p:txBody>
      </p:sp>
      <p:sp>
        <p:nvSpPr>
          <p:cNvPr id="3" name="teaching:root"/>
          <p:cNvSpPr/>
          <p:nvPr/>
        </p:nvSpPr>
        <p:spPr>
          <a:xfrm>
            <a:off x="635000" y="2425700"/>
            <a:ext cx="266700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判断解的类型</a:t>
            </a:r>
          </a:p>
        </p:txBody>
      </p:sp>
      <p:sp>
        <p:nvSpPr>
          <p:cNvPr id="4" name="teaching:c_pivot"/>
          <p:cNvSpPr/>
          <p:nvPr/>
        </p:nvSpPr>
        <p:spPr>
          <a:xfrm>
            <a:off x="4762500" y="2171700"/>
            <a:ext cx="2667000" cy="6858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圈出主元</a:t>
            </a:r>
          </a:p>
        </p:txBody>
      </p:sp>
      <p:sp>
        <p:nvSpPr>
          <p:cNvPr id="5" name="teaching:c_conflict"/>
          <p:cNvSpPr/>
          <p:nvPr/>
        </p:nvSpPr>
        <p:spPr>
          <a:xfrm>
            <a:off x="4762500" y="3111500"/>
            <a:ext cx="2667000" cy="6858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找矛盾行</a:t>
            </a:r>
          </a:p>
        </p:txBody>
      </p:sp>
      <p:sp>
        <p:nvSpPr>
          <p:cNvPr id="6" name="teaching:cond_rn"/>
          <p:cNvSpPr/>
          <p:nvPr/>
        </p:nvSpPr>
        <p:spPr>
          <a:xfrm>
            <a:off x="635000" y="4051300"/>
            <a:ext cx="266700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统计主元 r 与未知数 n</a:t>
            </a:r>
          </a:p>
        </p:txBody>
      </p:sp>
      <p:sp>
        <p:nvSpPr>
          <p:cNvPr id="7" name="teaching:res_no"/>
          <p:cNvSpPr/>
          <p:nvPr/>
        </p:nvSpPr>
        <p:spPr>
          <a:xfrm>
            <a:off x="8890000" y="3238500"/>
            <a:ext cx="266700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方程组无解</a:t>
            </a:r>
          </a:p>
        </p:txBody>
      </p:sp>
      <p:sp>
        <p:nvSpPr>
          <p:cNvPr id="8" name="teaching:res_unique"/>
          <p:cNvSpPr/>
          <p:nvPr/>
        </p:nvSpPr>
        <p:spPr>
          <a:xfrm>
            <a:off x="4762500" y="4051300"/>
            <a:ext cx="2667000" cy="6858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方程组有唯一解</a:t>
            </a:r>
          </a:p>
        </p:txBody>
      </p:sp>
      <p:sp>
        <p:nvSpPr>
          <p:cNvPr id="9" name="teaching:res_inf"/>
          <p:cNvSpPr/>
          <p:nvPr/>
        </p:nvSpPr>
        <p:spPr>
          <a:xfrm>
            <a:off x="4762500" y="4991100"/>
            <a:ext cx="2667000" cy="6858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方程组有无穷多解</a:t>
            </a:r>
          </a:p>
        </p:txBody>
      </p:sp>
      <p:cxnSp>
        <p:nvCxnSpPr>
          <p:cNvPr id="10" name="relation:relation-0"/>
          <p:cNvCxnSpPr>
            <a:stCxn id="3" idx="3"/>
            <a:endCxn id="4" idx="1"/>
          </p:cNvCxnSpPr>
          <p:nvPr/>
        </p:nvCxnSpPr>
        <p:spPr>
          <a:xfrm flipV="1">
            <a:off x="3302000" y="2514600"/>
            <a:ext cx="1460500" cy="596900"/>
          </a:xfrm>
          <a:prstGeom prst="line">
            <a:avLst/>
          </a:prstGeom>
          <a:ln w="21590">
            <a:solidFill>
              <a:srgbClr val="305AC7"/>
            </a:solidFill>
            <a:tailEnd type="triangle"/>
          </a:ln>
          <a:effectLst/>
        </p:spPr>
      </p:cxnSp>
      <p:cxnSp>
        <p:nvCxnSpPr>
          <p:cNvPr id="11" name="relation:relation-1"/>
          <p:cNvCxnSpPr>
            <a:stCxn id="3" idx="3"/>
            <a:endCxn id="5" idx="1"/>
          </p:cNvCxnSpPr>
          <p:nvPr/>
        </p:nvCxnSpPr>
        <p:spPr>
          <a:xfrm>
            <a:off x="3302000" y="3111500"/>
            <a:ext cx="1460500" cy="342900"/>
          </a:xfrm>
          <a:prstGeom prst="line">
            <a:avLst/>
          </a:prstGeom>
          <a:ln w="21590">
            <a:solidFill>
              <a:srgbClr val="305AC7"/>
            </a:solidFill>
            <a:tailEnd type="triangle"/>
          </a:ln>
          <a:effectLst/>
        </p:spPr>
      </p:cxnSp>
      <p:cxnSp>
        <p:nvCxnSpPr>
          <p:cNvPr id="12" name="relation:relation-2"/>
          <p:cNvCxnSpPr>
            <a:stCxn id="5" idx="3"/>
            <a:endCxn id="7" idx="1"/>
          </p:cNvCxnSpPr>
          <p:nvPr/>
        </p:nvCxnSpPr>
        <p:spPr>
          <a:xfrm>
            <a:off x="7429500" y="3454400"/>
            <a:ext cx="1460500" cy="469900"/>
          </a:xfrm>
          <a:prstGeom prst="line">
            <a:avLst/>
          </a:prstGeom>
          <a:ln w="21590">
            <a:solidFill>
              <a:srgbClr val="305AC7"/>
            </a:solidFill>
            <a:tailEnd type="triangle"/>
          </a:ln>
          <a:effectLst/>
        </p:spPr>
      </p:cxnSp>
      <p:cxnSp>
        <p:nvCxnSpPr>
          <p:cNvPr id="13" name="relation:relation-3"/>
          <p:cNvCxnSpPr>
            <a:stCxn id="6" idx="3"/>
            <a:endCxn id="8" idx="1"/>
          </p:cNvCxnSpPr>
          <p:nvPr/>
        </p:nvCxnSpPr>
        <p:spPr>
          <a:xfrm flipV="1">
            <a:off x="3302000" y="4394200"/>
            <a:ext cx="1460500" cy="342900"/>
          </a:xfrm>
          <a:prstGeom prst="line">
            <a:avLst/>
          </a:prstGeom>
          <a:ln w="21590">
            <a:solidFill>
              <a:srgbClr val="305AC7"/>
            </a:solidFill>
            <a:tailEnd type="triangle"/>
          </a:ln>
          <a:effectLst/>
        </p:spPr>
      </p:cxnSp>
      <p:cxnSp>
        <p:nvCxnSpPr>
          <p:cNvPr id="14" name="relation:relation-4"/>
          <p:cNvCxnSpPr>
            <a:stCxn id="6" idx="3"/>
            <a:endCxn id="9" idx="1"/>
          </p:cNvCxnSpPr>
          <p:nvPr/>
        </p:nvCxnSpPr>
        <p:spPr>
          <a:xfrm>
            <a:off x="3302000" y="4737100"/>
            <a:ext cx="1460500" cy="596900"/>
          </a:xfrm>
          <a:prstGeom prst="line">
            <a:avLst/>
          </a:prstGeom>
          <a:ln w="21590">
            <a:solidFill>
              <a:srgbClr val="305AC7"/>
            </a:solidFill>
            <a:tailEnd type="triangle"/>
          </a:ln>
          <a:effectLst/>
        </p:spPr>
      </p:cxn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三步判定法详解</a:t>
            </a:r>
          </a:p>
        </p:txBody>
      </p:sp>
      <p:sp>
        <p:nvSpPr>
          <p:cNvPr id="3" name="teaching:step1"/>
          <p:cNvSpPr/>
          <p:nvPr/>
        </p:nvSpPr>
        <p:spPr>
          <a:xfrm>
            <a:off x="635000" y="3238500"/>
            <a:ext cx="266700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主元识别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三步判定法详解</a:t>
            </a:r>
          </a:p>
        </p:txBody>
      </p:sp>
      <p:sp>
        <p:nvSpPr>
          <p:cNvPr id="3" name="teaching:step1"/>
          <p:cNvSpPr/>
          <p:nvPr/>
        </p:nvSpPr>
        <p:spPr>
          <a:xfrm>
            <a:off x="635000" y="3238500"/>
            <a:ext cx="266700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主元识别</a:t>
            </a:r>
          </a:p>
        </p:txBody>
      </p:sp>
      <p:sp>
        <p:nvSpPr>
          <p:cNvPr id="4" name="teaching:step2"/>
          <p:cNvSpPr/>
          <p:nvPr/>
        </p:nvSpPr>
        <p:spPr>
          <a:xfrm>
            <a:off x="4762500" y="3238500"/>
            <a:ext cx="266700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矛盾行检查</a:t>
            </a:r>
          </a:p>
        </p:txBody>
      </p:sp>
      <p:cxnSp>
        <p:nvCxnSpPr>
          <p:cNvPr id="5" name="relation:relation-0"/>
          <p:cNvCxnSpPr>
            <a:stCxn id="3" idx="3"/>
            <a:endCxn id="4" idx="1"/>
          </p:cNvCxnSpPr>
          <p:nvPr/>
        </p:nvCxnSpPr>
        <p:spPr>
          <a:xfrm>
            <a:off x="3302000" y="3924300"/>
            <a:ext cx="1460500" cy="0"/>
          </a:xfrm>
          <a:prstGeom prst="line">
            <a:avLst/>
          </a:prstGeom>
          <a:ln w="21590">
            <a:solidFill>
              <a:srgbClr val="305AC7"/>
            </a:solidFill>
            <a:tailEnd type="triangle"/>
          </a:ln>
          <a:effectLst/>
        </p:spPr>
      </p:cxnSp>
      <p:sp>
        <p:nvSpPr>
          <p:cNvPr id="6" name="relation-label:relation-0"/>
          <p:cNvSpPr txBox="1"/>
          <p:nvPr/>
        </p:nvSpPr>
        <p:spPr>
          <a:xfrm>
            <a:off x="3422650" y="3378200"/>
            <a:ext cx="1219200" cy="482600"/>
          </a:xfrm>
          <a:prstGeom prst="rect">
            <a:avLst/>
          </a:prstGeom>
          <a:noFill/>
        </p:spPr>
        <p:txBody>
          <a:bodyPr wrap="none" anchor="t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严格顺序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三步判定法详解</a:t>
            </a:r>
          </a:p>
        </p:txBody>
      </p:sp>
      <p:sp>
        <p:nvSpPr>
          <p:cNvPr id="3" name="teaching:step1"/>
          <p:cNvSpPr/>
          <p:nvPr/>
        </p:nvSpPr>
        <p:spPr>
          <a:xfrm>
            <a:off x="635000" y="3238500"/>
            <a:ext cx="266700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主元识别</a:t>
            </a:r>
          </a:p>
        </p:txBody>
      </p:sp>
      <p:sp>
        <p:nvSpPr>
          <p:cNvPr id="4" name="teaching:step2"/>
          <p:cNvSpPr/>
          <p:nvPr/>
        </p:nvSpPr>
        <p:spPr>
          <a:xfrm>
            <a:off x="4762500" y="3238500"/>
            <a:ext cx="266700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矛盾行检查</a:t>
            </a:r>
          </a:p>
        </p:txBody>
      </p:sp>
      <p:sp>
        <p:nvSpPr>
          <p:cNvPr id="5" name="teaching:step3"/>
          <p:cNvSpPr/>
          <p:nvPr/>
        </p:nvSpPr>
        <p:spPr>
          <a:xfrm>
            <a:off x="8890000" y="3238500"/>
            <a:ext cx="2667000" cy="1371600"/>
          </a:xfrm>
          <a:prstGeom prst="rect">
            <a:avLst/>
          </a:prstGeom>
          <a:solidFill>
            <a:srgbClr val="EDF2FC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r 与 n 比较</a:t>
            </a:r>
          </a:p>
        </p:txBody>
      </p:sp>
      <p:cxnSp>
        <p:nvCxnSpPr>
          <p:cNvPr id="6" name="relation:relation-0"/>
          <p:cNvCxnSpPr>
            <a:stCxn id="3" idx="3"/>
            <a:endCxn id="4" idx="1"/>
          </p:cNvCxnSpPr>
          <p:nvPr/>
        </p:nvCxnSpPr>
        <p:spPr>
          <a:xfrm>
            <a:off x="3302000" y="3924300"/>
            <a:ext cx="1460500" cy="0"/>
          </a:xfrm>
          <a:prstGeom prst="line">
            <a:avLst/>
          </a:prstGeom>
          <a:ln w="21590">
            <a:solidFill>
              <a:srgbClr val="305AC7"/>
            </a:solidFill>
            <a:tailEnd type="triangle"/>
          </a:ln>
          <a:effectLst/>
        </p:spPr>
      </p:cxnSp>
      <p:sp>
        <p:nvSpPr>
          <p:cNvPr id="7" name="relation-label:relation-0"/>
          <p:cNvSpPr txBox="1"/>
          <p:nvPr/>
        </p:nvSpPr>
        <p:spPr>
          <a:xfrm>
            <a:off x="3422650" y="3378200"/>
            <a:ext cx="1219200" cy="482600"/>
          </a:xfrm>
          <a:prstGeom prst="rect">
            <a:avLst/>
          </a:prstGeom>
          <a:noFill/>
        </p:spPr>
        <p:txBody>
          <a:bodyPr wrap="none" anchor="t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严格顺序</a:t>
            </a:r>
          </a:p>
        </p:txBody>
      </p:sp>
      <p:cxnSp>
        <p:nvCxnSpPr>
          <p:cNvPr id="8" name="relation:relation-1"/>
          <p:cNvCxnSpPr>
            <a:stCxn id="4" idx="3"/>
            <a:endCxn id="5" idx="1"/>
          </p:cNvCxnSpPr>
          <p:nvPr/>
        </p:nvCxnSpPr>
        <p:spPr>
          <a:xfrm>
            <a:off x="7429500" y="3924300"/>
            <a:ext cx="1460500" cy="0"/>
          </a:xfrm>
          <a:prstGeom prst="line">
            <a:avLst/>
          </a:prstGeom>
          <a:ln w="21590">
            <a:solidFill>
              <a:srgbClr val="305AC7"/>
            </a:solidFill>
            <a:tailEnd type="triangle"/>
          </a:ln>
          <a:effectLst/>
        </p:spPr>
      </p:cxnSp>
      <p:sp>
        <p:nvSpPr>
          <p:cNvPr id="9" name="relation-label:relation-1"/>
          <p:cNvSpPr txBox="1"/>
          <p:nvPr/>
        </p:nvSpPr>
        <p:spPr>
          <a:xfrm>
            <a:off x="7550150" y="3378200"/>
            <a:ext cx="1219200" cy="482600"/>
          </a:xfrm>
          <a:prstGeom prst="rect">
            <a:avLst/>
          </a:prstGeom>
          <a:noFill/>
        </p:spPr>
        <p:txBody>
          <a:bodyPr wrap="none" anchor="t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严格顺序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矩阵 A 判定：主元、矛盾行与解类型</a:t>
            </a:r>
          </a:p>
        </p:txBody>
      </p:sp>
      <p:sp>
        <p:nvSpPr>
          <p:cNvPr id="3" name="teaching:A_matrix"/>
          <p:cNvSpPr/>
          <p:nvPr/>
        </p:nvSpPr>
        <p:spPr>
          <a:xfrm>
            <a:off x="609600" y="1422400"/>
            <a:ext cx="10972800" cy="171703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⎡ 1 3 0 2 | 5 ⎤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⎢ 0 0 1 -1 | 4 ⎥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⎢ 0 0 0 0 | 0 ⎥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⎣ 0 0 0 0 | 0 ⎦</a:t>
            </a:r>
          </a:p>
        </p:txBody>
      </p:sp>
      <p:sp>
        <p:nvSpPr>
          <p:cNvPr id="4" name="teaching:A_question"/>
          <p:cNvSpPr/>
          <p:nvPr/>
        </p:nvSpPr>
        <p:spPr>
          <a:xfrm>
            <a:off x="609600" y="3241040"/>
            <a:ext cx="10972800" cy="726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标注 A 的主元列、矛盾行，并比较 r 与 n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矩阵 A 判定：主元、矛盾行与解类型</a:t>
            </a:r>
          </a:p>
        </p:txBody>
      </p:sp>
      <p:sp>
        <p:nvSpPr>
          <p:cNvPr id="3" name="teaching:A_matrix"/>
          <p:cNvSpPr/>
          <p:nvPr/>
        </p:nvSpPr>
        <p:spPr>
          <a:xfrm>
            <a:off x="609600" y="1422400"/>
            <a:ext cx="10972800" cy="171703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⎡ 1 3 0 2 | 5 ⎤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⎢ 0 0 1 -1 | 4 ⎥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⎢ 0 0 0 0 | 0 ⎥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⎣ 0 0 0 0 | 0 ⎦</a:t>
            </a:r>
          </a:p>
        </p:txBody>
      </p:sp>
      <p:sp>
        <p:nvSpPr>
          <p:cNvPr id="4" name="teaching:A_question"/>
          <p:cNvSpPr/>
          <p:nvPr/>
        </p:nvSpPr>
        <p:spPr>
          <a:xfrm>
            <a:off x="609600" y="3241040"/>
            <a:ext cx="10972800" cy="726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标注 A 的主元列、矛盾行，并比较 r 与 n</a:t>
            </a:r>
          </a:p>
        </p:txBody>
      </p:sp>
      <p:sp>
        <p:nvSpPr>
          <p:cNvPr id="5" name="teaching:A_pivot"/>
          <p:cNvSpPr/>
          <p:nvPr/>
        </p:nvSpPr>
        <p:spPr>
          <a:xfrm>
            <a:off x="609600" y="4069079"/>
            <a:ext cx="10972800" cy="726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第一行主元在第1列，第二行主元在第3列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矩阵 A 判定：主元、矛盾行与解类型</a:t>
            </a:r>
          </a:p>
        </p:txBody>
      </p:sp>
      <p:sp>
        <p:nvSpPr>
          <p:cNvPr id="3" name="teaching:A_matrix"/>
          <p:cNvSpPr/>
          <p:nvPr/>
        </p:nvSpPr>
        <p:spPr>
          <a:xfrm>
            <a:off x="609600" y="1422400"/>
            <a:ext cx="10972800" cy="171703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⎡ 1 3 0 2 | 5 ⎤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⎢ 0 0 1 -1 | 4 ⎥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⎢ 0 0 0 0 | 0 ⎥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⎣ 0 0 0 0 | 0 ⎦</a:t>
            </a:r>
          </a:p>
        </p:txBody>
      </p:sp>
      <p:sp>
        <p:nvSpPr>
          <p:cNvPr id="4" name="teaching:A_question"/>
          <p:cNvSpPr/>
          <p:nvPr/>
        </p:nvSpPr>
        <p:spPr>
          <a:xfrm>
            <a:off x="609600" y="3241040"/>
            <a:ext cx="10972800" cy="726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标注 A 的主元列、矛盾行，并比较 r 与 n</a:t>
            </a:r>
          </a:p>
        </p:txBody>
      </p:sp>
      <p:sp>
        <p:nvSpPr>
          <p:cNvPr id="5" name="teaching:A_pivot"/>
          <p:cNvSpPr/>
          <p:nvPr/>
        </p:nvSpPr>
        <p:spPr>
          <a:xfrm>
            <a:off x="609600" y="4069079"/>
            <a:ext cx="10972800" cy="726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第一行主元在第1列，第二行主元在第3列</a:t>
            </a:r>
          </a:p>
        </p:txBody>
      </p:sp>
      <p:sp>
        <p:nvSpPr>
          <p:cNvPr id="6" name="teaching:A_contra"/>
          <p:cNvSpPr/>
          <p:nvPr/>
        </p:nvSpPr>
        <p:spPr>
          <a:xfrm>
            <a:off x="609600" y="4897120"/>
            <a:ext cx="10972800" cy="726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无矛盾行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矩阵 A 判定：主元、矛盾行与解类型</a:t>
            </a:r>
          </a:p>
        </p:txBody>
      </p:sp>
      <p:sp>
        <p:nvSpPr>
          <p:cNvPr id="3" name="teaching:A_matrix"/>
          <p:cNvSpPr/>
          <p:nvPr/>
        </p:nvSpPr>
        <p:spPr>
          <a:xfrm>
            <a:off x="609600" y="1422400"/>
            <a:ext cx="10972800" cy="1717039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⎡ 1 3 0 2 | 5 ⎤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⎢ 0 0 1 -1 | 4 ⎥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⎢ 0 0 0 0 | 0 ⎥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⎣ 0 0 0 0 | 0 ⎦</a:t>
            </a:r>
          </a:p>
        </p:txBody>
      </p:sp>
      <p:sp>
        <p:nvSpPr>
          <p:cNvPr id="4" name="teaching:A_question"/>
          <p:cNvSpPr/>
          <p:nvPr/>
        </p:nvSpPr>
        <p:spPr>
          <a:xfrm>
            <a:off x="609600" y="3241040"/>
            <a:ext cx="10972800" cy="726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标注 A 的主元列、矛盾行，并比较 r 与 n</a:t>
            </a:r>
          </a:p>
        </p:txBody>
      </p:sp>
      <p:sp>
        <p:nvSpPr>
          <p:cNvPr id="5" name="teaching:A_pivot"/>
          <p:cNvSpPr/>
          <p:nvPr/>
        </p:nvSpPr>
        <p:spPr>
          <a:xfrm>
            <a:off x="609600" y="4069079"/>
            <a:ext cx="10972800" cy="726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第一行主元在第1列，第二行主元在第3列</a:t>
            </a:r>
          </a:p>
        </p:txBody>
      </p:sp>
      <p:sp>
        <p:nvSpPr>
          <p:cNvPr id="6" name="teaching:A_contra"/>
          <p:cNvSpPr/>
          <p:nvPr/>
        </p:nvSpPr>
        <p:spPr>
          <a:xfrm>
            <a:off x="609600" y="4897120"/>
            <a:ext cx="10972800" cy="726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无矛盾行</a:t>
            </a:r>
          </a:p>
        </p:txBody>
      </p:sp>
      <p:sp>
        <p:nvSpPr>
          <p:cNvPr id="7" name="teaching:A_compare"/>
          <p:cNvSpPr/>
          <p:nvPr/>
        </p:nvSpPr>
        <p:spPr>
          <a:xfrm>
            <a:off x="609600" y="5725159"/>
            <a:ext cx="10972800" cy="7264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r=2，未知数 n=4，故 r &lt; n，有无穷多解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矩阵 B 判定：识别矛盾行</a:t>
            </a:r>
          </a:p>
        </p:txBody>
      </p:sp>
      <p:sp>
        <p:nvSpPr>
          <p:cNvPr id="3" name="teaching:B_matrix"/>
          <p:cNvSpPr/>
          <p:nvPr/>
        </p:nvSpPr>
        <p:spPr>
          <a:xfrm>
            <a:off x="609600" y="1422400"/>
            <a:ext cx="10972800" cy="1676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⎡ 1 2 4 | 1 ⎤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⎢ 0 0 0 | 3 ⎥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⎣ 0 0 0 | 0 ⎦</a:t>
            </a:r>
          </a:p>
        </p:txBody>
      </p:sp>
      <p:sp>
        <p:nvSpPr>
          <p:cNvPr id="4" name="teaching:B_question"/>
          <p:cNvSpPr/>
          <p:nvPr/>
        </p:nvSpPr>
        <p:spPr>
          <a:xfrm>
            <a:off x="609600" y="3200400"/>
            <a:ext cx="10972800" cy="1016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检查 B 是否存在形如 [0 0 ⋯ 0 | b] 且 b ≠ 0 的矛盾行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矩阵 B 判定：识别矛盾行</a:t>
            </a:r>
          </a:p>
        </p:txBody>
      </p:sp>
      <p:sp>
        <p:nvSpPr>
          <p:cNvPr id="3" name="teaching:B_matrix"/>
          <p:cNvSpPr/>
          <p:nvPr/>
        </p:nvSpPr>
        <p:spPr>
          <a:xfrm>
            <a:off x="609600" y="1422400"/>
            <a:ext cx="10972800" cy="1676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⎡ 1 2 4 | 1 ⎤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⎢ 0 0 0 | 3 ⎥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⎣ 0 0 0 | 0 ⎦</a:t>
            </a:r>
          </a:p>
        </p:txBody>
      </p:sp>
      <p:sp>
        <p:nvSpPr>
          <p:cNvPr id="4" name="teaching:B_question"/>
          <p:cNvSpPr/>
          <p:nvPr/>
        </p:nvSpPr>
        <p:spPr>
          <a:xfrm>
            <a:off x="609600" y="3200400"/>
            <a:ext cx="10972800" cy="1016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检查 B 是否存在形如 [0 0 ⋯ 0 | b] 且 b ≠ 0 的矛盾行</a:t>
            </a:r>
          </a:p>
        </p:txBody>
      </p:sp>
      <p:sp>
        <p:nvSpPr>
          <p:cNvPr id="5" name="teaching:B_contra"/>
          <p:cNvSpPr/>
          <p:nvPr/>
        </p:nvSpPr>
        <p:spPr>
          <a:xfrm>
            <a:off x="609600" y="4318000"/>
            <a:ext cx="10972800" cy="1016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第二行为 [0 0 0 | 3]，即 0=3，为矛盾行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矩阵 B 判定：识别矛盾行</a:t>
            </a:r>
          </a:p>
        </p:txBody>
      </p:sp>
      <p:sp>
        <p:nvSpPr>
          <p:cNvPr id="3" name="teaching:B_matrix"/>
          <p:cNvSpPr/>
          <p:nvPr/>
        </p:nvSpPr>
        <p:spPr>
          <a:xfrm>
            <a:off x="609600" y="1422400"/>
            <a:ext cx="10972800" cy="1676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⎡ 1 2 4 | 1 ⎤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⎢ 0 0 0 | 3 ⎥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⎣ 0 0 0 | 0 ⎦</a:t>
            </a:r>
          </a:p>
        </p:txBody>
      </p:sp>
      <p:sp>
        <p:nvSpPr>
          <p:cNvPr id="4" name="teaching:B_question"/>
          <p:cNvSpPr/>
          <p:nvPr/>
        </p:nvSpPr>
        <p:spPr>
          <a:xfrm>
            <a:off x="609600" y="3200400"/>
            <a:ext cx="10972800" cy="1016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检查 B 是否存在形如 [0 0 ⋯ 0 | b] 且 b ≠ 0 的矛盾行</a:t>
            </a:r>
          </a:p>
        </p:txBody>
      </p:sp>
      <p:sp>
        <p:nvSpPr>
          <p:cNvPr id="5" name="teaching:B_contra"/>
          <p:cNvSpPr/>
          <p:nvPr/>
        </p:nvSpPr>
        <p:spPr>
          <a:xfrm>
            <a:off x="609600" y="4318000"/>
            <a:ext cx="10972800" cy="1016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第二行为 [0 0 0 | 3]，即 0=3，为矛盾行</a:t>
            </a:r>
          </a:p>
        </p:txBody>
      </p:sp>
      <p:sp>
        <p:nvSpPr>
          <p:cNvPr id="6" name="teaching:B_conclusion"/>
          <p:cNvSpPr/>
          <p:nvPr/>
        </p:nvSpPr>
        <p:spPr>
          <a:xfrm>
            <a:off x="609600" y="5435600"/>
            <a:ext cx="10972800" cy="1016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存在矛盾行，直接判定无解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矩阵 C 判定：比较 r 与 n</a:t>
            </a:r>
          </a:p>
        </p:txBody>
      </p:sp>
      <p:sp>
        <p:nvSpPr>
          <p:cNvPr id="3" name="teaching:C_matrix"/>
          <p:cNvSpPr/>
          <p:nvPr/>
        </p:nvSpPr>
        <p:spPr>
          <a:xfrm>
            <a:off x="609600" y="1422400"/>
            <a:ext cx="10972800" cy="1452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⎡ 1 0 0 | 2 ⎤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⎢ 0 1 0 | -1 ⎥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⎣ 0 0 1 | 6 ⎦</a:t>
            </a:r>
          </a:p>
        </p:txBody>
      </p:sp>
      <p:sp>
        <p:nvSpPr>
          <p:cNvPr id="4" name="teaching:C_question"/>
          <p:cNvSpPr/>
          <p:nvPr/>
        </p:nvSpPr>
        <p:spPr>
          <a:xfrm>
            <a:off x="609600" y="2976880"/>
            <a:ext cx="10972800" cy="792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标注 C 的主元列，统计 r 与 n 并判定解的类型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矩阵 C 判定：比较 r 与 n</a:t>
            </a:r>
          </a:p>
        </p:txBody>
      </p:sp>
      <p:sp>
        <p:nvSpPr>
          <p:cNvPr id="3" name="teaching:C_matrix"/>
          <p:cNvSpPr/>
          <p:nvPr/>
        </p:nvSpPr>
        <p:spPr>
          <a:xfrm>
            <a:off x="609600" y="1422400"/>
            <a:ext cx="10972800" cy="1452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⎡ 1 0 0 | 2 ⎤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⎢ 0 1 0 | -1 ⎥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⎣ 0 0 1 | 6 ⎦</a:t>
            </a:r>
          </a:p>
        </p:txBody>
      </p:sp>
      <p:sp>
        <p:nvSpPr>
          <p:cNvPr id="4" name="teaching:C_question"/>
          <p:cNvSpPr/>
          <p:nvPr/>
        </p:nvSpPr>
        <p:spPr>
          <a:xfrm>
            <a:off x="609600" y="2976880"/>
            <a:ext cx="10972800" cy="792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标注 C 的主元列，统计 r 与 n 并判定解的类型</a:t>
            </a:r>
          </a:p>
        </p:txBody>
      </p:sp>
      <p:sp>
        <p:nvSpPr>
          <p:cNvPr id="5" name="teaching:C_pivot"/>
          <p:cNvSpPr/>
          <p:nvPr/>
        </p:nvSpPr>
        <p:spPr>
          <a:xfrm>
            <a:off x="609600" y="3870960"/>
            <a:ext cx="10972800" cy="792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三行主元分别位于第1、2、3列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矩阵 C 判定：比较 r 与 n</a:t>
            </a:r>
          </a:p>
        </p:txBody>
      </p:sp>
      <p:sp>
        <p:nvSpPr>
          <p:cNvPr id="3" name="teaching:C_matrix"/>
          <p:cNvSpPr/>
          <p:nvPr/>
        </p:nvSpPr>
        <p:spPr>
          <a:xfrm>
            <a:off x="609600" y="1422400"/>
            <a:ext cx="10972800" cy="1452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⎡ 1 0 0 | 2 ⎤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⎢ 0 1 0 | -1 ⎥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⎣ 0 0 1 | 6 ⎦</a:t>
            </a:r>
          </a:p>
        </p:txBody>
      </p:sp>
      <p:sp>
        <p:nvSpPr>
          <p:cNvPr id="4" name="teaching:C_question"/>
          <p:cNvSpPr/>
          <p:nvPr/>
        </p:nvSpPr>
        <p:spPr>
          <a:xfrm>
            <a:off x="609600" y="2976880"/>
            <a:ext cx="10972800" cy="792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标注 C 的主元列，统计 r 与 n 并判定解的类型</a:t>
            </a:r>
          </a:p>
        </p:txBody>
      </p:sp>
      <p:sp>
        <p:nvSpPr>
          <p:cNvPr id="5" name="teaching:C_pivot"/>
          <p:cNvSpPr/>
          <p:nvPr/>
        </p:nvSpPr>
        <p:spPr>
          <a:xfrm>
            <a:off x="609600" y="3870960"/>
            <a:ext cx="10972800" cy="792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三行主元分别位于第1、2、3列</a:t>
            </a:r>
          </a:p>
        </p:txBody>
      </p:sp>
      <p:sp>
        <p:nvSpPr>
          <p:cNvPr id="6" name="teaching:C_contra"/>
          <p:cNvSpPr/>
          <p:nvPr/>
        </p:nvSpPr>
        <p:spPr>
          <a:xfrm>
            <a:off x="609600" y="4765040"/>
            <a:ext cx="10972800" cy="792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无矛盾行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矩阵 C 判定：比较 r 与 n</a:t>
            </a:r>
          </a:p>
        </p:txBody>
      </p:sp>
      <p:sp>
        <p:nvSpPr>
          <p:cNvPr id="3" name="teaching:C_matrix"/>
          <p:cNvSpPr/>
          <p:nvPr/>
        </p:nvSpPr>
        <p:spPr>
          <a:xfrm>
            <a:off x="609600" y="1422400"/>
            <a:ext cx="10972800" cy="1452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⎡ 1 0 0 | 2 ⎤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⎢ 0 1 0 | -1 ⎥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⎣ 0 0 1 | 6 ⎦</a:t>
            </a:r>
          </a:p>
        </p:txBody>
      </p:sp>
      <p:sp>
        <p:nvSpPr>
          <p:cNvPr id="4" name="teaching:C_question"/>
          <p:cNvSpPr/>
          <p:nvPr/>
        </p:nvSpPr>
        <p:spPr>
          <a:xfrm>
            <a:off x="609600" y="2976880"/>
            <a:ext cx="10972800" cy="792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标注 C 的主元列，统计 r 与 n 并判定解的类型</a:t>
            </a:r>
          </a:p>
        </p:txBody>
      </p:sp>
      <p:sp>
        <p:nvSpPr>
          <p:cNvPr id="5" name="teaching:C_pivot"/>
          <p:cNvSpPr/>
          <p:nvPr/>
        </p:nvSpPr>
        <p:spPr>
          <a:xfrm>
            <a:off x="609600" y="3870960"/>
            <a:ext cx="10972800" cy="792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三行主元分别位于第1、2、3列</a:t>
            </a:r>
          </a:p>
        </p:txBody>
      </p:sp>
      <p:sp>
        <p:nvSpPr>
          <p:cNvPr id="6" name="teaching:C_contra"/>
          <p:cNvSpPr/>
          <p:nvPr/>
        </p:nvSpPr>
        <p:spPr>
          <a:xfrm>
            <a:off x="609600" y="4765040"/>
            <a:ext cx="10972800" cy="792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无矛盾行</a:t>
            </a:r>
          </a:p>
        </p:txBody>
      </p:sp>
      <p:sp>
        <p:nvSpPr>
          <p:cNvPr id="7" name="teaching:C_compare"/>
          <p:cNvSpPr/>
          <p:nvPr/>
        </p:nvSpPr>
        <p:spPr>
          <a:xfrm>
            <a:off x="609600" y="5659120"/>
            <a:ext cx="10972800" cy="7924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r=3，n=3，无矛盾行，故有唯一解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核对：主元位置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104900"/>
            <a:ext cx="11125200" cy="838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对象：行阶梯形增广矩阵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032000"/>
            <a:ext cx="4559300" cy="6985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参考判定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032000"/>
            <a:ext cx="4559300" cy="6985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典型错误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2781300"/>
            <a:ext cx="1854200" cy="18034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参考矩阵</a:t>
            </a:r>
          </a:p>
        </p:txBody>
      </p:sp>
      <p:sp>
        <p:nvSpPr>
          <p:cNvPr id="7" name="teaching:dimension-1"/>
          <p:cNvSpPr/>
          <p:nvPr/>
        </p:nvSpPr>
        <p:spPr>
          <a:xfrm>
            <a:off x="533400" y="4635500"/>
            <a:ext cx="1854200" cy="11430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判定依据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核对：主元位置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104900"/>
            <a:ext cx="11125200" cy="838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对象：行阶梯形增广矩阵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032000"/>
            <a:ext cx="4559300" cy="6985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参考判定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032000"/>
            <a:ext cx="4559300" cy="6985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典型错误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2781300"/>
            <a:ext cx="1854200" cy="18034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参考矩阵</a:t>
            </a:r>
          </a:p>
        </p:txBody>
      </p:sp>
      <p:sp>
        <p:nvSpPr>
          <p:cNvPr id="7" name="teaching:dimension-1"/>
          <p:cNvSpPr/>
          <p:nvPr/>
        </p:nvSpPr>
        <p:spPr>
          <a:xfrm>
            <a:off x="533400" y="4635500"/>
            <a:ext cx="1854200" cy="11430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判定依据</a:t>
            </a:r>
          </a:p>
        </p:txBody>
      </p:sp>
      <p:sp>
        <p:nvSpPr>
          <p:cNvPr id="8" name="teaching:cell-0-0"/>
          <p:cNvSpPr/>
          <p:nvPr/>
        </p:nvSpPr>
        <p:spPr>
          <a:xfrm>
            <a:off x="2438400" y="2781300"/>
            <a:ext cx="4559300" cy="18034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⎡ 1 3 0 2 | 5 ⎤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⎢ 0 0 1 -1 | 3 ⎥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⎢ 0 0 0 0 | 0 ⎥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⎣ 0 0 0 0 | 0 ⎦</a:t>
            </a:r>
          </a:p>
        </p:txBody>
      </p:sp>
      <p:sp>
        <p:nvSpPr>
          <p:cNvPr id="9" name="teaching:cell-1-0"/>
          <p:cNvSpPr/>
          <p:nvPr/>
        </p:nvSpPr>
        <p:spPr>
          <a:xfrm>
            <a:off x="2438400" y="4635500"/>
            <a:ext cx="4559300" cy="11430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主元位于第1列和第3列，主元数 r=2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核对：主元位置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104900"/>
            <a:ext cx="11125200" cy="838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对象：行阶梯形增广矩阵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032000"/>
            <a:ext cx="4559300" cy="6985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参考判定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032000"/>
            <a:ext cx="4559300" cy="6985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典型错误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2781300"/>
            <a:ext cx="1854200" cy="18034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参考矩阵</a:t>
            </a:r>
          </a:p>
        </p:txBody>
      </p:sp>
      <p:sp>
        <p:nvSpPr>
          <p:cNvPr id="7" name="teaching:dimension-1"/>
          <p:cNvSpPr/>
          <p:nvPr/>
        </p:nvSpPr>
        <p:spPr>
          <a:xfrm>
            <a:off x="533400" y="4635500"/>
            <a:ext cx="1854200" cy="11430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判定依据</a:t>
            </a:r>
          </a:p>
        </p:txBody>
      </p:sp>
      <p:sp>
        <p:nvSpPr>
          <p:cNvPr id="8" name="teaching:cell-0-0"/>
          <p:cNvSpPr/>
          <p:nvPr/>
        </p:nvSpPr>
        <p:spPr>
          <a:xfrm>
            <a:off x="2438400" y="2781300"/>
            <a:ext cx="4559300" cy="18034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⎡ 1 3 0 2 | 5 ⎤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⎢ 0 0 1 -1 | 3 ⎥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⎢ 0 0 0 0 | 0 ⎥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⎣ 0 0 0 0 | 0 ⎦</a:t>
            </a:r>
          </a:p>
        </p:txBody>
      </p:sp>
      <p:sp>
        <p:nvSpPr>
          <p:cNvPr id="9" name="teaching:cell-1-0"/>
          <p:cNvSpPr/>
          <p:nvPr/>
        </p:nvSpPr>
        <p:spPr>
          <a:xfrm>
            <a:off x="2438400" y="4635500"/>
            <a:ext cx="4559300" cy="11430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主元位于第1列和第3列，主元数 r=2</a:t>
            </a:r>
          </a:p>
        </p:txBody>
      </p:sp>
      <p:sp>
        <p:nvSpPr>
          <p:cNvPr id="10" name="teaching:cell-2-0"/>
          <p:cNvSpPr/>
          <p:nvPr/>
        </p:nvSpPr>
        <p:spPr>
          <a:xfrm>
            <a:off x="7048500" y="2781300"/>
            <a:ext cx="4559300" cy="18034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同一矩阵，误看第2列</a:t>
            </a:r>
          </a:p>
        </p:txBody>
      </p:sp>
      <p:sp>
        <p:nvSpPr>
          <p:cNvPr id="11" name="teaching:cell-3-0"/>
          <p:cNvSpPr/>
          <p:nvPr/>
        </p:nvSpPr>
        <p:spPr>
          <a:xfrm>
            <a:off x="7048500" y="4635500"/>
            <a:ext cx="4559300" cy="11430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误将第2列的3视为主元，因前一列存在</a:t>
            </a:r>
            <a:br/>
            <a:r>
              <a:t>非零元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核对：主元位置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104900"/>
            <a:ext cx="11125200" cy="838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对象：行阶梯形增广矩阵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032000"/>
            <a:ext cx="4559300" cy="6985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参考判定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032000"/>
            <a:ext cx="4559300" cy="6985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典型错误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2781300"/>
            <a:ext cx="1854200" cy="18034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参考矩阵</a:t>
            </a:r>
          </a:p>
        </p:txBody>
      </p:sp>
      <p:sp>
        <p:nvSpPr>
          <p:cNvPr id="7" name="teaching:dimension-1"/>
          <p:cNvSpPr/>
          <p:nvPr/>
        </p:nvSpPr>
        <p:spPr>
          <a:xfrm>
            <a:off x="533400" y="4635500"/>
            <a:ext cx="1854200" cy="11430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判定依据</a:t>
            </a:r>
          </a:p>
        </p:txBody>
      </p:sp>
      <p:sp>
        <p:nvSpPr>
          <p:cNvPr id="8" name="teaching:cell-0-0"/>
          <p:cNvSpPr/>
          <p:nvPr/>
        </p:nvSpPr>
        <p:spPr>
          <a:xfrm>
            <a:off x="2438400" y="2781300"/>
            <a:ext cx="4559300" cy="18034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⎡ 1 3 0 2 | 5 ⎤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⎢ 0 0 1 -1 | 3 ⎥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⎢ 0 0 0 0 | 0 ⎥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⎣ 0 0 0 0 | 0 ⎦</a:t>
            </a:r>
          </a:p>
        </p:txBody>
      </p:sp>
      <p:sp>
        <p:nvSpPr>
          <p:cNvPr id="9" name="teaching:cell-1-0"/>
          <p:cNvSpPr/>
          <p:nvPr/>
        </p:nvSpPr>
        <p:spPr>
          <a:xfrm>
            <a:off x="2438400" y="4635500"/>
            <a:ext cx="4559300" cy="11430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主元位于第1列和第3列，主元数 r=2</a:t>
            </a:r>
          </a:p>
        </p:txBody>
      </p:sp>
      <p:sp>
        <p:nvSpPr>
          <p:cNvPr id="10" name="teaching:cell-2-0"/>
          <p:cNvSpPr/>
          <p:nvPr/>
        </p:nvSpPr>
        <p:spPr>
          <a:xfrm>
            <a:off x="7048500" y="2781300"/>
            <a:ext cx="4559300" cy="18034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同一矩阵，误看第2列</a:t>
            </a:r>
          </a:p>
        </p:txBody>
      </p:sp>
      <p:sp>
        <p:nvSpPr>
          <p:cNvPr id="11" name="teaching:cell-3-0"/>
          <p:cNvSpPr/>
          <p:nvPr/>
        </p:nvSpPr>
        <p:spPr>
          <a:xfrm>
            <a:off x="7048500" y="4635500"/>
            <a:ext cx="4559300" cy="11430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误将第2列的3视为主元，因前一列存在</a:t>
            </a:r>
            <a:br/>
            <a:r>
              <a:t>非零元</a:t>
            </a:r>
          </a:p>
        </p:txBody>
      </p:sp>
      <p:sp>
        <p:nvSpPr>
          <p:cNvPr id="12" name="teaching:conclusion"/>
          <p:cNvSpPr/>
          <p:nvPr/>
        </p:nvSpPr>
        <p:spPr>
          <a:xfrm>
            <a:off x="533400" y="5943600"/>
            <a:ext cx="11125200" cy="711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修正验证：逐行从左扫描，跳过全零列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核对：矛盾行识别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104900"/>
            <a:ext cx="11125200" cy="838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对象：行阶梯形增广矩阵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032000"/>
            <a:ext cx="4559300" cy="6985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参考判定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032000"/>
            <a:ext cx="4559300" cy="6985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典型错误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2781300"/>
            <a:ext cx="1854200" cy="16383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参考矩阵</a:t>
            </a:r>
          </a:p>
        </p:txBody>
      </p:sp>
      <p:sp>
        <p:nvSpPr>
          <p:cNvPr id="7" name="teaching:dimension-1"/>
          <p:cNvSpPr/>
          <p:nvPr/>
        </p:nvSpPr>
        <p:spPr>
          <a:xfrm>
            <a:off x="533400" y="4470400"/>
            <a:ext cx="1854200" cy="13081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判定依据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核对：矛盾行识别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104900"/>
            <a:ext cx="11125200" cy="838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对象：行阶梯形增广矩阵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032000"/>
            <a:ext cx="4559300" cy="6985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参考判定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032000"/>
            <a:ext cx="4559300" cy="6985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典型错误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2781300"/>
            <a:ext cx="1854200" cy="16383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参考矩阵</a:t>
            </a:r>
          </a:p>
        </p:txBody>
      </p:sp>
      <p:sp>
        <p:nvSpPr>
          <p:cNvPr id="7" name="teaching:dimension-1"/>
          <p:cNvSpPr/>
          <p:nvPr/>
        </p:nvSpPr>
        <p:spPr>
          <a:xfrm>
            <a:off x="533400" y="4470400"/>
            <a:ext cx="1854200" cy="13081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判定依据</a:t>
            </a:r>
          </a:p>
        </p:txBody>
      </p:sp>
      <p:sp>
        <p:nvSpPr>
          <p:cNvPr id="8" name="teaching:cell-0-0"/>
          <p:cNvSpPr/>
          <p:nvPr/>
        </p:nvSpPr>
        <p:spPr>
          <a:xfrm>
            <a:off x="2438400" y="2781300"/>
            <a:ext cx="4559300" cy="16383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⎡ 1 2 4 | 1 ⎤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⎢ 0 0 0 | 1 ⎥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⎣ 0 0 0 | 0 ⎦</a:t>
            </a:r>
          </a:p>
        </p:txBody>
      </p:sp>
      <p:sp>
        <p:nvSpPr>
          <p:cNvPr id="9" name="teaching:cell-1-0"/>
          <p:cNvSpPr/>
          <p:nvPr/>
        </p:nvSpPr>
        <p:spPr>
          <a:xfrm>
            <a:off x="2438400" y="4470400"/>
            <a:ext cx="4559300" cy="13081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第二行构成矛盾式 0=1，判定无解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核对：矛盾行识别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104900"/>
            <a:ext cx="11125200" cy="838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对象：行阶梯形增广矩阵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032000"/>
            <a:ext cx="4559300" cy="6985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参考判定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032000"/>
            <a:ext cx="4559300" cy="6985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典型错误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2781300"/>
            <a:ext cx="1854200" cy="16383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参考矩阵</a:t>
            </a:r>
          </a:p>
        </p:txBody>
      </p:sp>
      <p:sp>
        <p:nvSpPr>
          <p:cNvPr id="7" name="teaching:dimension-1"/>
          <p:cNvSpPr/>
          <p:nvPr/>
        </p:nvSpPr>
        <p:spPr>
          <a:xfrm>
            <a:off x="533400" y="4470400"/>
            <a:ext cx="1854200" cy="13081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判定依据</a:t>
            </a:r>
          </a:p>
        </p:txBody>
      </p:sp>
      <p:sp>
        <p:nvSpPr>
          <p:cNvPr id="8" name="teaching:cell-0-0"/>
          <p:cNvSpPr/>
          <p:nvPr/>
        </p:nvSpPr>
        <p:spPr>
          <a:xfrm>
            <a:off x="2438400" y="2781300"/>
            <a:ext cx="4559300" cy="16383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⎡ 1 2 4 | 1 ⎤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⎢ 0 0 0 | 1 ⎥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⎣ 0 0 0 | 0 ⎦</a:t>
            </a:r>
          </a:p>
        </p:txBody>
      </p:sp>
      <p:sp>
        <p:nvSpPr>
          <p:cNvPr id="9" name="teaching:cell-1-0"/>
          <p:cNvSpPr/>
          <p:nvPr/>
        </p:nvSpPr>
        <p:spPr>
          <a:xfrm>
            <a:off x="2438400" y="4470400"/>
            <a:ext cx="4559300" cy="13081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第二行构成矛盾式 0=1，判定无解</a:t>
            </a:r>
          </a:p>
        </p:txBody>
      </p:sp>
      <p:sp>
        <p:nvSpPr>
          <p:cNvPr id="10" name="teaching:cell-2-0"/>
          <p:cNvSpPr/>
          <p:nvPr/>
        </p:nvSpPr>
        <p:spPr>
          <a:xfrm>
            <a:off x="7048500" y="2781300"/>
            <a:ext cx="4559300" cy="16383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同一矩阵，误看第二行</a:t>
            </a:r>
          </a:p>
        </p:txBody>
      </p:sp>
      <p:sp>
        <p:nvSpPr>
          <p:cNvPr id="11" name="teaching:cell-3-0"/>
          <p:cNvSpPr/>
          <p:nvPr/>
        </p:nvSpPr>
        <p:spPr>
          <a:xfrm>
            <a:off x="7048500" y="4470400"/>
            <a:ext cx="4559300" cy="13081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忽略增广列，仅看系数部分全零即认为</a:t>
            </a:r>
            <a:br/>
            <a:r>
              <a:t>可接受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核对：矛盾行识别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104900"/>
            <a:ext cx="11125200" cy="838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对象：行阶梯形增广矩阵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032000"/>
            <a:ext cx="4559300" cy="6985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参考判定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032000"/>
            <a:ext cx="4559300" cy="6985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典型错误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2781300"/>
            <a:ext cx="1854200" cy="16383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参考矩阵</a:t>
            </a:r>
          </a:p>
        </p:txBody>
      </p:sp>
      <p:sp>
        <p:nvSpPr>
          <p:cNvPr id="7" name="teaching:dimension-1"/>
          <p:cNvSpPr/>
          <p:nvPr/>
        </p:nvSpPr>
        <p:spPr>
          <a:xfrm>
            <a:off x="533400" y="4470400"/>
            <a:ext cx="1854200" cy="13081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判定依据</a:t>
            </a:r>
          </a:p>
        </p:txBody>
      </p:sp>
      <p:sp>
        <p:nvSpPr>
          <p:cNvPr id="8" name="teaching:cell-0-0"/>
          <p:cNvSpPr/>
          <p:nvPr/>
        </p:nvSpPr>
        <p:spPr>
          <a:xfrm>
            <a:off x="2438400" y="2781300"/>
            <a:ext cx="4559300" cy="16383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⎡ 1 2 4 | 1 ⎤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⎢ 0 0 0 | 1 ⎥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⎣ 0 0 0 | 0 ⎦</a:t>
            </a:r>
          </a:p>
        </p:txBody>
      </p:sp>
      <p:sp>
        <p:nvSpPr>
          <p:cNvPr id="9" name="teaching:cell-1-0"/>
          <p:cNvSpPr/>
          <p:nvPr/>
        </p:nvSpPr>
        <p:spPr>
          <a:xfrm>
            <a:off x="2438400" y="4470400"/>
            <a:ext cx="4559300" cy="13081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第二行构成矛盾式 0=1，判定无解</a:t>
            </a:r>
          </a:p>
        </p:txBody>
      </p:sp>
      <p:sp>
        <p:nvSpPr>
          <p:cNvPr id="10" name="teaching:cell-2-0"/>
          <p:cNvSpPr/>
          <p:nvPr/>
        </p:nvSpPr>
        <p:spPr>
          <a:xfrm>
            <a:off x="7048500" y="2781300"/>
            <a:ext cx="4559300" cy="16383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同一矩阵，误看第二行</a:t>
            </a:r>
          </a:p>
        </p:txBody>
      </p:sp>
      <p:sp>
        <p:nvSpPr>
          <p:cNvPr id="11" name="teaching:cell-3-0"/>
          <p:cNvSpPr/>
          <p:nvPr/>
        </p:nvSpPr>
        <p:spPr>
          <a:xfrm>
            <a:off x="7048500" y="4470400"/>
            <a:ext cx="4559300" cy="13081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忽略增广列，仅看系数部分全零即认为</a:t>
            </a:r>
            <a:br/>
            <a:r>
              <a:t>可接受</a:t>
            </a:r>
          </a:p>
        </p:txBody>
      </p:sp>
      <p:sp>
        <p:nvSpPr>
          <p:cNvPr id="12" name="teaching:conclusion"/>
          <p:cNvSpPr/>
          <p:nvPr/>
        </p:nvSpPr>
        <p:spPr>
          <a:xfrm>
            <a:off x="533400" y="5943600"/>
            <a:ext cx="11125200" cy="711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修正验证：检查整行是否为“全零左部 + 非零右部”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核对：解类型判定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104900"/>
            <a:ext cx="11125200" cy="838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条件：无矛盾行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032000"/>
            <a:ext cx="4559300" cy="6985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参考判定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032000"/>
            <a:ext cx="4559300" cy="6985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典型错误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2781300"/>
            <a:ext cx="1854200" cy="13970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参考矩阵</a:t>
            </a:r>
          </a:p>
        </p:txBody>
      </p:sp>
      <p:sp>
        <p:nvSpPr>
          <p:cNvPr id="7" name="teaching:dimension-1"/>
          <p:cNvSpPr/>
          <p:nvPr/>
        </p:nvSpPr>
        <p:spPr>
          <a:xfrm>
            <a:off x="533400" y="4229100"/>
            <a:ext cx="1854200" cy="15494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判定依据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核对：解类型判定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104900"/>
            <a:ext cx="11125200" cy="838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条件：无矛盾行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032000"/>
            <a:ext cx="4559300" cy="6985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参考判定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032000"/>
            <a:ext cx="4559300" cy="6985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典型错误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2781300"/>
            <a:ext cx="1854200" cy="13970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参考矩阵</a:t>
            </a:r>
          </a:p>
        </p:txBody>
      </p:sp>
      <p:sp>
        <p:nvSpPr>
          <p:cNvPr id="7" name="teaching:dimension-1"/>
          <p:cNvSpPr/>
          <p:nvPr/>
        </p:nvSpPr>
        <p:spPr>
          <a:xfrm>
            <a:off x="533400" y="4229100"/>
            <a:ext cx="1854200" cy="15494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判定依据</a:t>
            </a:r>
          </a:p>
        </p:txBody>
      </p:sp>
      <p:sp>
        <p:nvSpPr>
          <p:cNvPr id="8" name="teaching:cell-0-0"/>
          <p:cNvSpPr/>
          <p:nvPr/>
        </p:nvSpPr>
        <p:spPr>
          <a:xfrm>
            <a:off x="2438400" y="2781300"/>
            <a:ext cx="4559300" cy="13970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⎡ 1 0 0 | 2 ⎤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⎢ 0 1 0 | -1 ⎥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⎣ 0 0 1 | 4 ⎦</a:t>
            </a:r>
          </a:p>
        </p:txBody>
      </p:sp>
      <p:sp>
        <p:nvSpPr>
          <p:cNvPr id="9" name="teaching:cell-1-0"/>
          <p:cNvSpPr/>
          <p:nvPr/>
        </p:nvSpPr>
        <p:spPr>
          <a:xfrm>
            <a:off x="2438400" y="4229100"/>
            <a:ext cx="4559300" cy="9398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比较主元数 r 与未知数个数 n（系数矩</a:t>
            </a:r>
            <a:br/>
            <a:r>
              <a:t>阵列数）</a:t>
            </a:r>
          </a:p>
        </p:txBody>
      </p:sp>
      <p:sp>
        <p:nvSpPr>
          <p:cNvPr id="10" name="teaching:cell-1-1"/>
          <p:cNvSpPr/>
          <p:nvPr/>
        </p:nvSpPr>
        <p:spPr>
          <a:xfrm>
            <a:off x="2438400" y="5168900"/>
            <a:ext cx="4559300" cy="6096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r=3, n=3，有唯一解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核对：解类型判定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104900"/>
            <a:ext cx="11125200" cy="838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条件：无矛盾行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032000"/>
            <a:ext cx="4559300" cy="6985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参考判定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032000"/>
            <a:ext cx="4559300" cy="6985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典型错误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2781300"/>
            <a:ext cx="1854200" cy="13970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参考矩阵</a:t>
            </a:r>
          </a:p>
        </p:txBody>
      </p:sp>
      <p:sp>
        <p:nvSpPr>
          <p:cNvPr id="7" name="teaching:dimension-1"/>
          <p:cNvSpPr/>
          <p:nvPr/>
        </p:nvSpPr>
        <p:spPr>
          <a:xfrm>
            <a:off x="533400" y="4229100"/>
            <a:ext cx="1854200" cy="15494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判定依据</a:t>
            </a:r>
          </a:p>
        </p:txBody>
      </p:sp>
      <p:sp>
        <p:nvSpPr>
          <p:cNvPr id="8" name="teaching:cell-0-0"/>
          <p:cNvSpPr/>
          <p:nvPr/>
        </p:nvSpPr>
        <p:spPr>
          <a:xfrm>
            <a:off x="2438400" y="2781300"/>
            <a:ext cx="4559300" cy="13970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⎡ 1 0 0 | 2 ⎤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⎢ 0 1 0 | -1 ⎥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⎣ 0 0 1 | 4 ⎦</a:t>
            </a:r>
          </a:p>
        </p:txBody>
      </p:sp>
      <p:sp>
        <p:nvSpPr>
          <p:cNvPr id="9" name="teaching:cell-1-0"/>
          <p:cNvSpPr/>
          <p:nvPr/>
        </p:nvSpPr>
        <p:spPr>
          <a:xfrm>
            <a:off x="2438400" y="4229100"/>
            <a:ext cx="4559300" cy="9398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比较主元数 r 与未知数个数 n（系数矩</a:t>
            </a:r>
            <a:br/>
            <a:r>
              <a:t>阵列数）</a:t>
            </a:r>
          </a:p>
        </p:txBody>
      </p:sp>
      <p:sp>
        <p:nvSpPr>
          <p:cNvPr id="10" name="teaching:cell-1-1"/>
          <p:cNvSpPr/>
          <p:nvPr/>
        </p:nvSpPr>
        <p:spPr>
          <a:xfrm>
            <a:off x="2438400" y="5168900"/>
            <a:ext cx="4559300" cy="6096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r=3, n=3，有唯一解</a:t>
            </a:r>
          </a:p>
        </p:txBody>
      </p:sp>
      <p:sp>
        <p:nvSpPr>
          <p:cNvPr id="11" name="teaching:cell-2-0"/>
          <p:cNvSpPr/>
          <p:nvPr/>
        </p:nvSpPr>
        <p:spPr>
          <a:xfrm>
            <a:off x="7048500" y="2781300"/>
            <a:ext cx="4559300" cy="13970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同一矩阵，误数列数</a:t>
            </a:r>
          </a:p>
        </p:txBody>
      </p:sp>
      <p:sp>
        <p:nvSpPr>
          <p:cNvPr id="12" name="teaching:cell-3-0"/>
          <p:cNvSpPr/>
          <p:nvPr/>
        </p:nvSpPr>
        <p:spPr>
          <a:xfrm>
            <a:off x="7048500" y="4229100"/>
            <a:ext cx="4559300" cy="15494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将增广列计入 n，误判 n=4 导致误认为</a:t>
            </a:r>
            <a:br/>
            <a:r>
              <a:t>无穷解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核对：解类型判定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104900"/>
            <a:ext cx="11125200" cy="838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条件：无矛盾行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032000"/>
            <a:ext cx="4559300" cy="6985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参考判定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032000"/>
            <a:ext cx="4559300" cy="6985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典型错误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2781300"/>
            <a:ext cx="1854200" cy="13970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参考矩阵</a:t>
            </a:r>
          </a:p>
        </p:txBody>
      </p:sp>
      <p:sp>
        <p:nvSpPr>
          <p:cNvPr id="7" name="teaching:dimension-1"/>
          <p:cNvSpPr/>
          <p:nvPr/>
        </p:nvSpPr>
        <p:spPr>
          <a:xfrm>
            <a:off x="533400" y="4229100"/>
            <a:ext cx="1854200" cy="15494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判定依据</a:t>
            </a:r>
          </a:p>
        </p:txBody>
      </p:sp>
      <p:sp>
        <p:nvSpPr>
          <p:cNvPr id="8" name="teaching:cell-0-0"/>
          <p:cNvSpPr/>
          <p:nvPr/>
        </p:nvSpPr>
        <p:spPr>
          <a:xfrm>
            <a:off x="2438400" y="2781300"/>
            <a:ext cx="4559300" cy="13970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⎡ 1 0 0 | 2 ⎤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⎢ 0 1 0 | -1 ⎥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⎣ 0 0 1 | 4 ⎦</a:t>
            </a:r>
          </a:p>
        </p:txBody>
      </p:sp>
      <p:sp>
        <p:nvSpPr>
          <p:cNvPr id="9" name="teaching:cell-1-0"/>
          <p:cNvSpPr/>
          <p:nvPr/>
        </p:nvSpPr>
        <p:spPr>
          <a:xfrm>
            <a:off x="2438400" y="4229100"/>
            <a:ext cx="4559300" cy="9398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比较主元数 r 与未知数个数 n（系数矩</a:t>
            </a:r>
            <a:br/>
            <a:r>
              <a:t>阵列数）</a:t>
            </a:r>
          </a:p>
        </p:txBody>
      </p:sp>
      <p:sp>
        <p:nvSpPr>
          <p:cNvPr id="10" name="teaching:cell-1-1"/>
          <p:cNvSpPr/>
          <p:nvPr/>
        </p:nvSpPr>
        <p:spPr>
          <a:xfrm>
            <a:off x="2438400" y="5168900"/>
            <a:ext cx="4559300" cy="6096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r=3, n=3，有唯一解</a:t>
            </a:r>
          </a:p>
        </p:txBody>
      </p:sp>
      <p:sp>
        <p:nvSpPr>
          <p:cNvPr id="11" name="teaching:cell-2-0"/>
          <p:cNvSpPr/>
          <p:nvPr/>
        </p:nvSpPr>
        <p:spPr>
          <a:xfrm>
            <a:off x="7048500" y="2781300"/>
            <a:ext cx="4559300" cy="13970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同一矩阵，误数列数</a:t>
            </a:r>
          </a:p>
        </p:txBody>
      </p:sp>
      <p:sp>
        <p:nvSpPr>
          <p:cNvPr id="12" name="teaching:cell-3-0"/>
          <p:cNvSpPr/>
          <p:nvPr/>
        </p:nvSpPr>
        <p:spPr>
          <a:xfrm>
            <a:off x="7048500" y="4229100"/>
            <a:ext cx="4559300" cy="15494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将增广列计入 n，误判 n=4 导致误认为</a:t>
            </a:r>
            <a:br/>
            <a:r>
              <a:t>无穷解</a:t>
            </a:r>
          </a:p>
        </p:txBody>
      </p:sp>
      <p:sp>
        <p:nvSpPr>
          <p:cNvPr id="13" name="teaching:conclusion"/>
          <p:cNvSpPr/>
          <p:nvPr/>
        </p:nvSpPr>
        <p:spPr>
          <a:xfrm>
            <a:off x="533400" y="5943600"/>
            <a:ext cx="11125200" cy="711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修正验证：未知数仅对应系数部分，增广列仅表示常数项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r &lt; n 时为何有无穷多解？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行阶梯形增广矩阵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无穷多解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无解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3124200"/>
            <a:ext cx="1854200" cy="5080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判定条件</a:t>
            </a:r>
          </a:p>
        </p:txBody>
      </p:sp>
      <p:sp>
        <p:nvSpPr>
          <p:cNvPr id="7" name="teaching:dimension-1"/>
          <p:cNvSpPr/>
          <p:nvPr/>
        </p:nvSpPr>
        <p:spPr>
          <a:xfrm>
            <a:off x="533400" y="3683000"/>
            <a:ext cx="1854200" cy="11684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实例矩阵</a:t>
            </a:r>
          </a:p>
        </p:txBody>
      </p:sp>
      <p:sp>
        <p:nvSpPr>
          <p:cNvPr id="8" name="teaching:dimension-2"/>
          <p:cNvSpPr/>
          <p:nvPr/>
        </p:nvSpPr>
        <p:spPr>
          <a:xfrm>
            <a:off x="533400" y="4902200"/>
            <a:ext cx="1854200" cy="8382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实例结论</a:t>
            </a:r>
          </a:p>
        </p:txBody>
      </p:sp>
      <p:sp>
        <p:nvSpPr>
          <p:cNvPr id="9" name="teaching:cell-0-0"/>
          <p:cNvSpPr/>
          <p:nvPr/>
        </p:nvSpPr>
        <p:spPr>
          <a:xfrm>
            <a:off x="2438400" y="3124200"/>
            <a:ext cx="4559300" cy="5080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无矛盾行，且 r &lt; n</a:t>
            </a:r>
          </a:p>
        </p:txBody>
      </p:sp>
      <p:sp>
        <p:nvSpPr>
          <p:cNvPr id="10" name="teaching:cell-3-0"/>
          <p:cNvSpPr/>
          <p:nvPr/>
        </p:nvSpPr>
        <p:spPr>
          <a:xfrm>
            <a:off x="7048500" y="3124200"/>
            <a:ext cx="4559300" cy="5080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存在形如 [0 0 ⋯ 0 | b] 的行，且 b ≠ 0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r &lt; n 时为何有无穷多解？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行阶梯形增广矩阵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无穷多解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无解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3124200"/>
            <a:ext cx="1854200" cy="5080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判定条件</a:t>
            </a:r>
          </a:p>
        </p:txBody>
      </p:sp>
      <p:sp>
        <p:nvSpPr>
          <p:cNvPr id="7" name="teaching:dimension-1"/>
          <p:cNvSpPr/>
          <p:nvPr/>
        </p:nvSpPr>
        <p:spPr>
          <a:xfrm>
            <a:off x="533400" y="3683000"/>
            <a:ext cx="1854200" cy="11684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实例矩阵</a:t>
            </a:r>
          </a:p>
        </p:txBody>
      </p:sp>
      <p:sp>
        <p:nvSpPr>
          <p:cNvPr id="8" name="teaching:dimension-2"/>
          <p:cNvSpPr/>
          <p:nvPr/>
        </p:nvSpPr>
        <p:spPr>
          <a:xfrm>
            <a:off x="533400" y="4902200"/>
            <a:ext cx="1854200" cy="8382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实例结论</a:t>
            </a:r>
          </a:p>
        </p:txBody>
      </p:sp>
      <p:sp>
        <p:nvSpPr>
          <p:cNvPr id="9" name="teaching:cell-0-0"/>
          <p:cNvSpPr/>
          <p:nvPr/>
        </p:nvSpPr>
        <p:spPr>
          <a:xfrm>
            <a:off x="2438400" y="3124200"/>
            <a:ext cx="4559300" cy="5080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无矛盾行，且 r &lt; n</a:t>
            </a:r>
          </a:p>
        </p:txBody>
      </p:sp>
      <p:sp>
        <p:nvSpPr>
          <p:cNvPr id="10" name="teaching:cell-1-0"/>
          <p:cNvSpPr/>
          <p:nvPr/>
        </p:nvSpPr>
        <p:spPr>
          <a:xfrm>
            <a:off x="2438400" y="3683000"/>
            <a:ext cx="4559300" cy="11684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⎡ 1 2 0 | 3 ⎤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⎢ 0 0 1 | 4 ⎥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⎣ 0 0 0 | 0 ⎦</a:t>
            </a:r>
          </a:p>
        </p:txBody>
      </p:sp>
      <p:sp>
        <p:nvSpPr>
          <p:cNvPr id="11" name="teaching:cell-3-0"/>
          <p:cNvSpPr/>
          <p:nvPr/>
        </p:nvSpPr>
        <p:spPr>
          <a:xfrm>
            <a:off x="7048500" y="3124200"/>
            <a:ext cx="4559300" cy="5080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存在形如 [0 0 ⋯ 0 | b] 的行，且 b ≠ 0</a:t>
            </a:r>
          </a:p>
        </p:txBody>
      </p:sp>
      <p:sp>
        <p:nvSpPr>
          <p:cNvPr id="12" name="teaching:cell-4-0"/>
          <p:cNvSpPr/>
          <p:nvPr/>
        </p:nvSpPr>
        <p:spPr>
          <a:xfrm>
            <a:off x="7048500" y="3683000"/>
            <a:ext cx="4559300" cy="11684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⎡ 1 0 0 | 1 ⎤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⎢ 0 1 0 | 2 ⎥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⎣ 0 0 0 | 1 ⎦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r &lt; n 时为何有无穷多解？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行阶梯形增广矩阵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无穷多解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无解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3124200"/>
            <a:ext cx="1854200" cy="5080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判定条件</a:t>
            </a:r>
          </a:p>
        </p:txBody>
      </p:sp>
      <p:sp>
        <p:nvSpPr>
          <p:cNvPr id="7" name="teaching:dimension-1"/>
          <p:cNvSpPr/>
          <p:nvPr/>
        </p:nvSpPr>
        <p:spPr>
          <a:xfrm>
            <a:off x="533400" y="3683000"/>
            <a:ext cx="1854200" cy="11684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实例矩阵</a:t>
            </a:r>
          </a:p>
        </p:txBody>
      </p:sp>
      <p:sp>
        <p:nvSpPr>
          <p:cNvPr id="8" name="teaching:dimension-2"/>
          <p:cNvSpPr/>
          <p:nvPr/>
        </p:nvSpPr>
        <p:spPr>
          <a:xfrm>
            <a:off x="533400" y="4902200"/>
            <a:ext cx="1854200" cy="8382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实例结论</a:t>
            </a:r>
          </a:p>
        </p:txBody>
      </p:sp>
      <p:sp>
        <p:nvSpPr>
          <p:cNvPr id="9" name="teaching:cell-0-0"/>
          <p:cNvSpPr/>
          <p:nvPr/>
        </p:nvSpPr>
        <p:spPr>
          <a:xfrm>
            <a:off x="2438400" y="3124200"/>
            <a:ext cx="4559300" cy="5080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无矛盾行，且 r &lt; n</a:t>
            </a:r>
          </a:p>
        </p:txBody>
      </p:sp>
      <p:sp>
        <p:nvSpPr>
          <p:cNvPr id="10" name="teaching:cell-1-0"/>
          <p:cNvSpPr/>
          <p:nvPr/>
        </p:nvSpPr>
        <p:spPr>
          <a:xfrm>
            <a:off x="2438400" y="3683000"/>
            <a:ext cx="4559300" cy="11684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⎡ 1 2 0 | 3 ⎤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⎢ 0 0 1 | 4 ⎥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⎣ 0 0 0 | 0 ⎦</a:t>
            </a:r>
          </a:p>
        </p:txBody>
      </p:sp>
      <p:sp>
        <p:nvSpPr>
          <p:cNvPr id="11" name="teaching:cell-2-0"/>
          <p:cNvSpPr/>
          <p:nvPr/>
        </p:nvSpPr>
        <p:spPr>
          <a:xfrm>
            <a:off x="2438400" y="4902200"/>
            <a:ext cx="4559300" cy="838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中 r=2，n=3，无矛盾行，故有无穷多</a:t>
            </a:r>
            <a:br/>
            <a:r>
              <a:t>解；而  </a:t>
            </a:r>
          </a:p>
        </p:txBody>
      </p:sp>
      <p:sp>
        <p:nvSpPr>
          <p:cNvPr id="12" name="teaching:cell-3-0"/>
          <p:cNvSpPr/>
          <p:nvPr/>
        </p:nvSpPr>
        <p:spPr>
          <a:xfrm>
            <a:off x="7048500" y="3124200"/>
            <a:ext cx="4559300" cy="5080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存在形如 [0 0 ⋯ 0 | b] 的行，且 b ≠ 0</a:t>
            </a:r>
          </a:p>
        </p:txBody>
      </p:sp>
      <p:sp>
        <p:nvSpPr>
          <p:cNvPr id="13" name="teaching:cell-4-0"/>
          <p:cNvSpPr/>
          <p:nvPr/>
        </p:nvSpPr>
        <p:spPr>
          <a:xfrm>
            <a:off x="7048500" y="3683000"/>
            <a:ext cx="4559300" cy="11684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⎡ 1 0 0 | 1 ⎤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⎢ 0 1 0 | 2 ⎥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⎣ 0 0 0 | 1 ⎦</a:t>
            </a:r>
          </a:p>
        </p:txBody>
      </p:sp>
      <p:sp>
        <p:nvSpPr>
          <p:cNvPr id="14" name="teaching:cell-5-0"/>
          <p:cNvSpPr/>
          <p:nvPr/>
        </p:nvSpPr>
        <p:spPr>
          <a:xfrm>
            <a:off x="7048500" y="4902200"/>
            <a:ext cx="4559300" cy="838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中第三行为矛盾行，故无解。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r &lt; n 时为何有无穷多解？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行阶梯形增广矩阵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无穷多解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无解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3124200"/>
            <a:ext cx="1854200" cy="5080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判定条件</a:t>
            </a:r>
          </a:p>
        </p:txBody>
      </p:sp>
      <p:sp>
        <p:nvSpPr>
          <p:cNvPr id="7" name="teaching:dimension-1"/>
          <p:cNvSpPr/>
          <p:nvPr/>
        </p:nvSpPr>
        <p:spPr>
          <a:xfrm>
            <a:off x="533400" y="3683000"/>
            <a:ext cx="1854200" cy="11684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实例矩阵</a:t>
            </a:r>
          </a:p>
        </p:txBody>
      </p:sp>
      <p:sp>
        <p:nvSpPr>
          <p:cNvPr id="8" name="teaching:dimension-2"/>
          <p:cNvSpPr/>
          <p:nvPr/>
        </p:nvSpPr>
        <p:spPr>
          <a:xfrm>
            <a:off x="533400" y="4902200"/>
            <a:ext cx="1854200" cy="8382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实例结论</a:t>
            </a:r>
          </a:p>
        </p:txBody>
      </p:sp>
      <p:sp>
        <p:nvSpPr>
          <p:cNvPr id="9" name="teaching:cell-0-0"/>
          <p:cNvSpPr/>
          <p:nvPr/>
        </p:nvSpPr>
        <p:spPr>
          <a:xfrm>
            <a:off x="2438400" y="3124200"/>
            <a:ext cx="4559300" cy="5080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无矛盾行，且 r &lt; n</a:t>
            </a:r>
          </a:p>
        </p:txBody>
      </p:sp>
      <p:sp>
        <p:nvSpPr>
          <p:cNvPr id="10" name="teaching:cell-1-0"/>
          <p:cNvSpPr/>
          <p:nvPr/>
        </p:nvSpPr>
        <p:spPr>
          <a:xfrm>
            <a:off x="2438400" y="3683000"/>
            <a:ext cx="4559300" cy="11684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⎡ 1 2 0 | 3 ⎤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⎢ 0 0 1 | 4 ⎥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⎣ 0 0 0 | 0 ⎦</a:t>
            </a:r>
          </a:p>
        </p:txBody>
      </p:sp>
      <p:sp>
        <p:nvSpPr>
          <p:cNvPr id="11" name="teaching:cell-2-0"/>
          <p:cNvSpPr/>
          <p:nvPr/>
        </p:nvSpPr>
        <p:spPr>
          <a:xfrm>
            <a:off x="2438400" y="4902200"/>
            <a:ext cx="4559300" cy="838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中 r=2，n=3，无矛盾行，故有无穷多</a:t>
            </a:r>
            <a:br/>
            <a:r>
              <a:t>解；而  </a:t>
            </a:r>
          </a:p>
        </p:txBody>
      </p:sp>
      <p:sp>
        <p:nvSpPr>
          <p:cNvPr id="12" name="teaching:cell-3-0"/>
          <p:cNvSpPr/>
          <p:nvPr/>
        </p:nvSpPr>
        <p:spPr>
          <a:xfrm>
            <a:off x="7048500" y="3124200"/>
            <a:ext cx="4559300" cy="5080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存在形如 [0 0 ⋯ 0 | b] 的行，且 b ≠ 0</a:t>
            </a:r>
          </a:p>
        </p:txBody>
      </p:sp>
      <p:sp>
        <p:nvSpPr>
          <p:cNvPr id="13" name="teaching:cell-4-0"/>
          <p:cNvSpPr/>
          <p:nvPr/>
        </p:nvSpPr>
        <p:spPr>
          <a:xfrm>
            <a:off x="7048500" y="3683000"/>
            <a:ext cx="4559300" cy="11684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⎡ 1 0 0 | 1 ⎤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⎢ 0 1 0 | 2 ⎥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⎣ 0 0 0 | 1 ⎦</a:t>
            </a:r>
          </a:p>
        </p:txBody>
      </p:sp>
      <p:sp>
        <p:nvSpPr>
          <p:cNvPr id="14" name="teaching:cell-5-0"/>
          <p:cNvSpPr/>
          <p:nvPr/>
        </p:nvSpPr>
        <p:spPr>
          <a:xfrm>
            <a:off x="7048500" y="4902200"/>
            <a:ext cx="4559300" cy="838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中第三行为矛盾行，故无解。</a:t>
            </a:r>
          </a:p>
        </p:txBody>
      </p:sp>
      <p:sp>
        <p:nvSpPr>
          <p:cNvPr id="15" name="teaching:question"/>
          <p:cNvSpPr/>
          <p:nvPr/>
        </p:nvSpPr>
        <p:spPr>
          <a:xfrm>
            <a:off x="533400" y="1104900"/>
            <a:ext cx="111252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当主元数 r 小于未知数个数 n 时，解集的结构如何体现？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r &lt; n 时为何有无穷多解？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689100"/>
            <a:ext cx="11125200" cy="711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行阶梯形增广矩阵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无穷多解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463800"/>
            <a:ext cx="4559300" cy="6096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无解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3124200"/>
            <a:ext cx="1854200" cy="5080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判定条件</a:t>
            </a:r>
          </a:p>
        </p:txBody>
      </p:sp>
      <p:sp>
        <p:nvSpPr>
          <p:cNvPr id="7" name="teaching:dimension-1"/>
          <p:cNvSpPr/>
          <p:nvPr/>
        </p:nvSpPr>
        <p:spPr>
          <a:xfrm>
            <a:off x="533400" y="3683000"/>
            <a:ext cx="1854200" cy="11684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实例矩阵</a:t>
            </a:r>
          </a:p>
        </p:txBody>
      </p:sp>
      <p:sp>
        <p:nvSpPr>
          <p:cNvPr id="8" name="teaching:dimension-2"/>
          <p:cNvSpPr/>
          <p:nvPr/>
        </p:nvSpPr>
        <p:spPr>
          <a:xfrm>
            <a:off x="533400" y="4902200"/>
            <a:ext cx="1854200" cy="8382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实例结论</a:t>
            </a:r>
          </a:p>
        </p:txBody>
      </p:sp>
      <p:sp>
        <p:nvSpPr>
          <p:cNvPr id="9" name="teaching:cell-0-0"/>
          <p:cNvSpPr/>
          <p:nvPr/>
        </p:nvSpPr>
        <p:spPr>
          <a:xfrm>
            <a:off x="2438400" y="3124200"/>
            <a:ext cx="4559300" cy="5080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无矛盾行，且 r &lt; n</a:t>
            </a:r>
          </a:p>
        </p:txBody>
      </p:sp>
      <p:sp>
        <p:nvSpPr>
          <p:cNvPr id="10" name="teaching:cell-1-0"/>
          <p:cNvSpPr/>
          <p:nvPr/>
        </p:nvSpPr>
        <p:spPr>
          <a:xfrm>
            <a:off x="2438400" y="3683000"/>
            <a:ext cx="4559300" cy="11684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⎡ 1 2 0 | 3 ⎤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⎢ 0 0 1 | 4 ⎥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⎣ 0 0 0 | 0 ⎦</a:t>
            </a:r>
          </a:p>
        </p:txBody>
      </p:sp>
      <p:sp>
        <p:nvSpPr>
          <p:cNvPr id="11" name="teaching:cell-2-0"/>
          <p:cNvSpPr/>
          <p:nvPr/>
        </p:nvSpPr>
        <p:spPr>
          <a:xfrm>
            <a:off x="2438400" y="4902200"/>
            <a:ext cx="4559300" cy="838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中 r=2，n=3，无矛盾行，故有无穷多</a:t>
            </a:r>
            <a:br/>
            <a:r>
              <a:t>解；而  </a:t>
            </a:r>
          </a:p>
        </p:txBody>
      </p:sp>
      <p:sp>
        <p:nvSpPr>
          <p:cNvPr id="12" name="teaching:cell-3-0"/>
          <p:cNvSpPr/>
          <p:nvPr/>
        </p:nvSpPr>
        <p:spPr>
          <a:xfrm>
            <a:off x="7048500" y="3124200"/>
            <a:ext cx="4559300" cy="5080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存在形如 [0 0 ⋯ 0 | b] 的行，且 b ≠ 0</a:t>
            </a:r>
          </a:p>
        </p:txBody>
      </p:sp>
      <p:sp>
        <p:nvSpPr>
          <p:cNvPr id="13" name="teaching:cell-4-0"/>
          <p:cNvSpPr/>
          <p:nvPr/>
        </p:nvSpPr>
        <p:spPr>
          <a:xfrm>
            <a:off x="7048500" y="3683000"/>
            <a:ext cx="4559300" cy="11684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⎡ 1 0 0 | 1 ⎤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⎢ 0 1 0 | 2 ⎥</a:t>
            </a:r>
          </a:p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⎣ 0 0 0 | 1 ⎦</a:t>
            </a:r>
          </a:p>
        </p:txBody>
      </p:sp>
      <p:sp>
        <p:nvSpPr>
          <p:cNvPr id="14" name="teaching:cell-5-0"/>
          <p:cNvSpPr/>
          <p:nvPr/>
        </p:nvSpPr>
        <p:spPr>
          <a:xfrm>
            <a:off x="7048500" y="4902200"/>
            <a:ext cx="4559300" cy="838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中第三行为矛盾行，故无解。</a:t>
            </a:r>
          </a:p>
        </p:txBody>
      </p:sp>
      <p:sp>
        <p:nvSpPr>
          <p:cNvPr id="15" name="teaching:question"/>
          <p:cNvSpPr/>
          <p:nvPr/>
        </p:nvSpPr>
        <p:spPr>
          <a:xfrm>
            <a:off x="533400" y="1104900"/>
            <a:ext cx="11125200" cy="55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当主元数 r 小于未知数个数 n 时，解集的结构如何体现？</a:t>
            </a:r>
          </a:p>
        </p:txBody>
      </p:sp>
      <p:sp>
        <p:nvSpPr>
          <p:cNvPr id="16" name="teaching:conclusion"/>
          <p:cNvSpPr/>
          <p:nvPr/>
        </p:nvSpPr>
        <p:spPr>
          <a:xfrm>
            <a:off x="533400" y="5943600"/>
            <a:ext cx="11125200" cy="711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主元数不足意味着存在自由变量，解集构成仿射空间。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r=n 与 r&lt;n 的变量约束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104900"/>
            <a:ext cx="11125200" cy="838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无矛盾行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032000"/>
            <a:ext cx="4559300" cy="6985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r=n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032000"/>
            <a:ext cx="4559300" cy="6985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r&lt;n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2781300"/>
            <a:ext cx="1854200" cy="29972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自由变量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r=n 与 r&lt;n 的变量约束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104900"/>
            <a:ext cx="11125200" cy="838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无矛盾行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032000"/>
            <a:ext cx="4559300" cy="6985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r=n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032000"/>
            <a:ext cx="4559300" cy="6985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r&lt;n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2781300"/>
            <a:ext cx="1854200" cy="29972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自由变量</a:t>
            </a:r>
          </a:p>
        </p:txBody>
      </p:sp>
      <p:sp>
        <p:nvSpPr>
          <p:cNvPr id="7" name="teaching:cell-0-0"/>
          <p:cNvSpPr/>
          <p:nvPr/>
        </p:nvSpPr>
        <p:spPr>
          <a:xfrm>
            <a:off x="2438400" y="2781300"/>
            <a:ext cx="4559300" cy="2997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无自由变量</a:t>
            </a:r>
          </a:p>
        </p:txBody>
      </p:sp>
      <p:sp>
        <p:nvSpPr>
          <p:cNvPr id="8" name="teaching:cell-1-0"/>
          <p:cNvSpPr/>
          <p:nvPr/>
        </p:nvSpPr>
        <p:spPr>
          <a:xfrm>
            <a:off x="7048500" y="2781300"/>
            <a:ext cx="4559300" cy="2997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存在自由变量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r=n 与 r&lt;n 的解集性质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104900"/>
            <a:ext cx="11125200" cy="838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无矛盾行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032000"/>
            <a:ext cx="4559300" cy="6985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r=n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032000"/>
            <a:ext cx="4559300" cy="6985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r&lt;n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2781300"/>
            <a:ext cx="1854200" cy="29972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解集性质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r=n 与 r&lt;n 的解集性质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104900"/>
            <a:ext cx="11125200" cy="838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无矛盾行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032000"/>
            <a:ext cx="4559300" cy="6985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r=n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032000"/>
            <a:ext cx="4559300" cy="6985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r&lt;n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2781300"/>
            <a:ext cx="1854200" cy="29972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解集性质</a:t>
            </a:r>
          </a:p>
        </p:txBody>
      </p:sp>
      <p:sp>
        <p:nvSpPr>
          <p:cNvPr id="7" name="teaching:cell-0-0"/>
          <p:cNvSpPr/>
          <p:nvPr/>
        </p:nvSpPr>
        <p:spPr>
          <a:xfrm>
            <a:off x="2438400" y="2781300"/>
            <a:ext cx="4559300" cy="2997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解唯一</a:t>
            </a:r>
          </a:p>
        </p:txBody>
      </p:sp>
      <p:sp>
        <p:nvSpPr>
          <p:cNvPr id="8" name="teaching:cell-1-0"/>
          <p:cNvSpPr/>
          <p:nvPr/>
        </p:nvSpPr>
        <p:spPr>
          <a:xfrm>
            <a:off x="7048500" y="2781300"/>
            <a:ext cx="4559300" cy="2997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无穷多解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r=n 与 r&lt;n 的解集性质</a:t>
            </a:r>
          </a:p>
        </p:txBody>
      </p:sp>
      <p:sp>
        <p:nvSpPr>
          <p:cNvPr id="3" name="teaching:condition-0"/>
          <p:cNvSpPr/>
          <p:nvPr/>
        </p:nvSpPr>
        <p:spPr>
          <a:xfrm>
            <a:off x="533400" y="1104900"/>
            <a:ext cx="11125200" cy="838200"/>
          </a:xfrm>
          <a:prstGeom prst="rect">
            <a:avLst/>
          </a:prstGeom>
          <a:solidFill>
            <a:srgbClr val="EFF3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无矛盾行</a:t>
            </a:r>
          </a:p>
        </p:txBody>
      </p:sp>
      <p:sp>
        <p:nvSpPr>
          <p:cNvPr id="4" name="teaching:subject-0"/>
          <p:cNvSpPr/>
          <p:nvPr/>
        </p:nvSpPr>
        <p:spPr>
          <a:xfrm>
            <a:off x="2438400" y="2032000"/>
            <a:ext cx="4559300" cy="6985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r=n</a:t>
            </a:r>
          </a:p>
        </p:txBody>
      </p:sp>
      <p:sp>
        <p:nvSpPr>
          <p:cNvPr id="5" name="teaching:subject-1"/>
          <p:cNvSpPr/>
          <p:nvPr/>
        </p:nvSpPr>
        <p:spPr>
          <a:xfrm>
            <a:off x="7048500" y="2032000"/>
            <a:ext cx="4559300" cy="698500"/>
          </a:xfrm>
          <a:prstGeom prst="rect">
            <a:avLst/>
          </a:prstGeom>
          <a:solidFill>
            <a:srgbClr val="E5EDFA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r&lt;n</a:t>
            </a:r>
          </a:p>
        </p:txBody>
      </p:sp>
      <p:sp>
        <p:nvSpPr>
          <p:cNvPr id="6" name="teaching:dimension-0"/>
          <p:cNvSpPr/>
          <p:nvPr/>
        </p:nvSpPr>
        <p:spPr>
          <a:xfrm>
            <a:off x="533400" y="2781300"/>
            <a:ext cx="1854200" cy="2997200"/>
          </a:xfrm>
          <a:prstGeom prst="rect">
            <a:avLst/>
          </a:prstGeom>
          <a:solidFill>
            <a:srgbClr val="F3F5F9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解集性质</a:t>
            </a:r>
          </a:p>
        </p:txBody>
      </p:sp>
      <p:sp>
        <p:nvSpPr>
          <p:cNvPr id="7" name="teaching:cell-0-0"/>
          <p:cNvSpPr/>
          <p:nvPr/>
        </p:nvSpPr>
        <p:spPr>
          <a:xfrm>
            <a:off x="2438400" y="2781300"/>
            <a:ext cx="4559300" cy="2997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解唯一</a:t>
            </a:r>
          </a:p>
        </p:txBody>
      </p:sp>
      <p:sp>
        <p:nvSpPr>
          <p:cNvPr id="8" name="teaching:cell-1-0"/>
          <p:cNvSpPr/>
          <p:nvPr/>
        </p:nvSpPr>
        <p:spPr>
          <a:xfrm>
            <a:off x="7048500" y="2781300"/>
            <a:ext cx="4559300" cy="2997200"/>
          </a:xfrm>
          <a:prstGeom prst="rect">
            <a:avLst/>
          </a:prstGeom>
          <a:solidFill>
            <a:srgbClr val="F3F6FB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无穷多解</a:t>
            </a:r>
          </a:p>
        </p:txBody>
      </p:sp>
      <p:sp>
        <p:nvSpPr>
          <p:cNvPr id="9" name="teaching:conclusion"/>
          <p:cNvSpPr/>
          <p:nvPr/>
        </p:nvSpPr>
        <p:spPr>
          <a:xfrm>
            <a:off x="533400" y="5943600"/>
            <a:ext cx="11125200" cy="711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解的类型由主元数与未知数个数的相对关系决定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解类型判定：条件一</a:t>
            </a:r>
          </a:p>
        </p:txBody>
      </p:sp>
      <p:sp>
        <p:nvSpPr>
          <p:cNvPr id="3" name="teaching:cond_1"/>
          <p:cNvSpPr/>
          <p:nvPr/>
        </p:nvSpPr>
        <p:spPr>
          <a:xfrm>
            <a:off x="609600" y="1422400"/>
            <a:ext cx="10972800" cy="26289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首先，若存在某一行其系数部分全为零而增广列非零，即形如 [0 0 ⋯ 0 | b] 且 b ≠ 0，则该行对</a:t>
            </a:r>
            <a:br/>
            <a:r>
              <a:t>应方程 0 = b，与实数域公理矛盾，故方程组无解。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解类型判定：条件一</a:t>
            </a:r>
          </a:p>
        </p:txBody>
      </p:sp>
      <p:sp>
        <p:nvSpPr>
          <p:cNvPr id="3" name="teaching:cond_1"/>
          <p:cNvSpPr/>
          <p:nvPr/>
        </p:nvSpPr>
        <p:spPr>
          <a:xfrm>
            <a:off x="609600" y="1422400"/>
            <a:ext cx="10972800" cy="26289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首先，若存在某一行其系数部分全为零而增广列非零，即形如 [0 0 ⋯ 0 | b] 且 b ≠ 0，则该行对</a:t>
            </a:r>
            <a:br/>
            <a:r>
              <a:t>应方程 0 = b，与实数域公理矛盾，故方程组无解。</a:t>
            </a:r>
          </a:p>
        </p:txBody>
      </p:sp>
      <p:sp>
        <p:nvSpPr>
          <p:cNvPr id="4" name="teaching:concl_1"/>
          <p:cNvSpPr/>
          <p:nvPr/>
        </p:nvSpPr>
        <p:spPr>
          <a:xfrm>
            <a:off x="609600" y="4152900"/>
            <a:ext cx="10972800" cy="22987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此判据无需进一步计算，为强否定条件。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解类型判定：条件二</a:t>
            </a:r>
          </a:p>
        </p:txBody>
      </p:sp>
      <p:sp>
        <p:nvSpPr>
          <p:cNvPr id="3" name="teaching:premise_2"/>
          <p:cNvSpPr/>
          <p:nvPr/>
        </p:nvSpPr>
        <p:spPr>
          <a:xfrm>
            <a:off x="609600" y="1422400"/>
            <a:ext cx="10972800" cy="924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若不存在此类行，则所有非零行均满足“左非右可零”，可继续分析解的存在性与唯一性。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解类型判定：条件二</a:t>
            </a:r>
          </a:p>
        </p:txBody>
      </p:sp>
      <p:sp>
        <p:nvSpPr>
          <p:cNvPr id="3" name="teaching:premise_2"/>
          <p:cNvSpPr/>
          <p:nvPr/>
        </p:nvSpPr>
        <p:spPr>
          <a:xfrm>
            <a:off x="609600" y="1422400"/>
            <a:ext cx="10972800" cy="924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若不存在此类行，则所有非零行均满足“左非右可零”，可继续分析解的存在性与唯一性。</a:t>
            </a:r>
          </a:p>
        </p:txBody>
      </p:sp>
      <p:sp>
        <p:nvSpPr>
          <p:cNvPr id="4" name="teaching:def_2"/>
          <p:cNvSpPr/>
          <p:nvPr/>
        </p:nvSpPr>
        <p:spPr>
          <a:xfrm>
            <a:off x="609600" y="2448560"/>
            <a:ext cx="10972800" cy="924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此时统计非零行数 r，即主元个数；未知数个数 n 为系数矩阵的列数，不包含增广列。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解类型判定：条件二</a:t>
            </a:r>
          </a:p>
        </p:txBody>
      </p:sp>
      <p:sp>
        <p:nvSpPr>
          <p:cNvPr id="3" name="teaching:premise_2"/>
          <p:cNvSpPr/>
          <p:nvPr/>
        </p:nvSpPr>
        <p:spPr>
          <a:xfrm>
            <a:off x="609600" y="1422400"/>
            <a:ext cx="10972800" cy="924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若不存在此类行，则所有非零行均满足“左非右可零”，可继续分析解的存在性与唯一性。</a:t>
            </a:r>
          </a:p>
        </p:txBody>
      </p:sp>
      <p:sp>
        <p:nvSpPr>
          <p:cNvPr id="4" name="teaching:def_2"/>
          <p:cNvSpPr/>
          <p:nvPr/>
        </p:nvSpPr>
        <p:spPr>
          <a:xfrm>
            <a:off x="609600" y="2448560"/>
            <a:ext cx="10972800" cy="924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此时统计非零行数 r，即主元个数；未知数个数 n 为系数矩阵的列数，不包含增广列。</a:t>
            </a:r>
          </a:p>
        </p:txBody>
      </p:sp>
      <p:sp>
        <p:nvSpPr>
          <p:cNvPr id="5" name="teaching:branch_eq"/>
          <p:cNvSpPr/>
          <p:nvPr/>
        </p:nvSpPr>
        <p:spPr>
          <a:xfrm>
            <a:off x="609600" y="3474720"/>
            <a:ext cx="10972800" cy="924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若 r = n，则每个未知数均被一个主元方程唯一约束，无自由变量，解唯一。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解类型判定：条件二</a:t>
            </a:r>
          </a:p>
        </p:txBody>
      </p:sp>
      <p:sp>
        <p:nvSpPr>
          <p:cNvPr id="3" name="teaching:premise_2"/>
          <p:cNvSpPr/>
          <p:nvPr/>
        </p:nvSpPr>
        <p:spPr>
          <a:xfrm>
            <a:off x="609600" y="1422400"/>
            <a:ext cx="10972800" cy="924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若不存在此类行，则所有非零行均满足“左非右可零”，可继续分析解的存在性与唯一性。</a:t>
            </a:r>
          </a:p>
        </p:txBody>
      </p:sp>
      <p:sp>
        <p:nvSpPr>
          <p:cNvPr id="4" name="teaching:def_2"/>
          <p:cNvSpPr/>
          <p:nvPr/>
        </p:nvSpPr>
        <p:spPr>
          <a:xfrm>
            <a:off x="609600" y="2448560"/>
            <a:ext cx="10972800" cy="924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此时统计非零行数 r，即主元个数；未知数个数 n 为系数矩阵的列数，不包含增广列。</a:t>
            </a:r>
          </a:p>
        </p:txBody>
      </p:sp>
      <p:sp>
        <p:nvSpPr>
          <p:cNvPr id="5" name="teaching:branch_eq"/>
          <p:cNvSpPr/>
          <p:nvPr/>
        </p:nvSpPr>
        <p:spPr>
          <a:xfrm>
            <a:off x="609600" y="3474720"/>
            <a:ext cx="10972800" cy="924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若 r = n，则每个未知数均被一个主元方程唯一约束，无自由变量，解唯一。</a:t>
            </a:r>
          </a:p>
        </p:txBody>
      </p:sp>
      <p:sp>
        <p:nvSpPr>
          <p:cNvPr id="6" name="teaching:branch_lt"/>
          <p:cNvSpPr/>
          <p:nvPr/>
        </p:nvSpPr>
        <p:spPr>
          <a:xfrm>
            <a:off x="609600" y="4500880"/>
            <a:ext cx="10972800" cy="924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若 r &lt; n，则存在 n - r 个自由变量，解集为 n - r 维仿射空间，故有无穷多解。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ching:title"/>
          <p:cNvSpPr/>
          <p:nvPr/>
        </p:nvSpPr>
        <p:spPr>
          <a:xfrm>
            <a:off x="533400" y="127000"/>
            <a:ext cx="11125200" cy="9652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05AC7"/>
                </a:solidFill>
                <a:latin typeface="Noto Sans CJK SC"/>
                <a:ea typeface="Noto Sans CJK SC"/>
                <a:cs typeface="Noto Sans CJK SC"/>
              </a:defRPr>
            </a:pPr>
            <a:r>
              <a:t>解类型判定：条件二</a:t>
            </a:r>
          </a:p>
        </p:txBody>
      </p:sp>
      <p:sp>
        <p:nvSpPr>
          <p:cNvPr id="3" name="teaching:premise_2"/>
          <p:cNvSpPr/>
          <p:nvPr/>
        </p:nvSpPr>
        <p:spPr>
          <a:xfrm>
            <a:off x="609600" y="1422400"/>
            <a:ext cx="10972800" cy="924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若不存在此类行，则所有非零行均满足“左非右可零”，可继续分析解的存在性与唯一性。</a:t>
            </a:r>
          </a:p>
        </p:txBody>
      </p:sp>
      <p:sp>
        <p:nvSpPr>
          <p:cNvPr id="4" name="teaching:def_2"/>
          <p:cNvSpPr/>
          <p:nvPr/>
        </p:nvSpPr>
        <p:spPr>
          <a:xfrm>
            <a:off x="609600" y="2448560"/>
            <a:ext cx="10972800" cy="924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此时统计非零行数 r，即主元个数；未知数个数 n 为系数矩阵的列数，不包含增广列。</a:t>
            </a:r>
          </a:p>
        </p:txBody>
      </p:sp>
      <p:sp>
        <p:nvSpPr>
          <p:cNvPr id="5" name="teaching:branch_eq"/>
          <p:cNvSpPr/>
          <p:nvPr/>
        </p:nvSpPr>
        <p:spPr>
          <a:xfrm>
            <a:off x="609600" y="3474720"/>
            <a:ext cx="10972800" cy="924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若 r = n，则每个未知数均被一个主元方程唯一约束，无自由变量，解唯一。</a:t>
            </a:r>
          </a:p>
        </p:txBody>
      </p:sp>
      <p:sp>
        <p:nvSpPr>
          <p:cNvPr id="6" name="teaching:branch_lt"/>
          <p:cNvSpPr/>
          <p:nvPr/>
        </p:nvSpPr>
        <p:spPr>
          <a:xfrm>
            <a:off x="609600" y="4500880"/>
            <a:ext cx="10972800" cy="924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若 r &lt; n，则存在 n - r 个自由变量，解集为 n - r 维仿射空间，故有无穷多解。</a:t>
            </a:r>
          </a:p>
        </p:txBody>
      </p:sp>
      <p:sp>
        <p:nvSpPr>
          <p:cNvPr id="7" name="teaching:check"/>
          <p:cNvSpPr/>
          <p:nvPr/>
        </p:nvSpPr>
        <p:spPr>
          <a:xfrm>
            <a:off x="609600" y="5527040"/>
            <a:ext cx="10972800" cy="924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txBody>
          <a:bodyPr rtlCol="0" anchor="t" wrap="none" lIns="101600" rIns="101600" tIns="76200" bIns="76200">
            <a:no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243B"/>
                </a:solidFill>
                <a:latin typeface="Noto Sans CJK SC"/>
                <a:ea typeface="Noto Sans CJK SC"/>
                <a:cs typeface="Noto Sans CJK SC"/>
              </a:defRPr>
            </a:pPr>
            <a:r>
              <a:t>核验时必须确认增广列未被计入 n，且无“左零右非零”行，否则结论无效。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