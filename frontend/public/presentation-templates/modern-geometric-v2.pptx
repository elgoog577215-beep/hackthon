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c0e57ef547549ff" /><Relationship Type="http://schemas.openxmlformats.org/officeDocument/2006/relationships/extended-properties" Target="/docProps/app.xml" Id="Rc7f9e381186c42a3" /><Relationship Type="http://schemas.openxmlformats.org/officeDocument/2006/relationships/officeDocument" Target="/ppt/presentation.xml" Id="R1d6849c56f8a46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2f889eacb32432a"/>
  </p:sldMasterIdLst>
  <p:notesMasterIdLst>
    <p:notesMasterId xmlns:r="http://schemas.openxmlformats.org/officeDocument/2006/relationships" r:id="R4cd59bd38ef0421f"/>
  </p:notesMasterIdLst>
  <p:sldIdLst>
    <p:sldId xmlns:r="http://schemas.openxmlformats.org/officeDocument/2006/relationships" id="256" r:id="R53037554eac840d6"/>
    <p:sldId xmlns:r="http://schemas.openxmlformats.org/officeDocument/2006/relationships" id="257" r:id="Re5859a192f9c4923"/>
    <p:sldId xmlns:r="http://schemas.openxmlformats.org/officeDocument/2006/relationships" id="258" r:id="R02d1facd2e53423c"/>
    <p:sldId xmlns:r="http://schemas.openxmlformats.org/officeDocument/2006/relationships" id="259" r:id="R3c6f170eecbc48d1"/>
    <p:sldId xmlns:r="http://schemas.openxmlformats.org/officeDocument/2006/relationships" id="260" r:id="R0529a5d41e924128"/>
    <p:sldId xmlns:r="http://schemas.openxmlformats.org/officeDocument/2006/relationships" id="261" r:id="R3d8ea1feb1604385"/>
    <p:sldId xmlns:r="http://schemas.openxmlformats.org/officeDocument/2006/relationships" id="262" r:id="R9a1fd6b471424f9b"/>
    <p:sldId xmlns:r="http://schemas.openxmlformats.org/officeDocument/2006/relationships" id="263" r:id="R7949324be87a44de"/>
    <p:sldId xmlns:r="http://schemas.openxmlformats.org/officeDocument/2006/relationships" id="264" r:id="R8d344579a7ac4969"/>
    <p:sldId xmlns:r="http://schemas.openxmlformats.org/officeDocument/2006/relationships" id="265" r:id="R25ee3a631a004254"/>
    <p:sldId xmlns:r="http://schemas.openxmlformats.org/officeDocument/2006/relationships" id="266" r:id="Rc38da777432d442d"/>
    <p:sldId xmlns:r="http://schemas.openxmlformats.org/officeDocument/2006/relationships" id="267" r:id="R4c29dc5050024416"/>
    <p:sldId xmlns:r="http://schemas.openxmlformats.org/officeDocument/2006/relationships" id="268" r:id="R60d672d22021457c"/>
    <p:sldId xmlns:r="http://schemas.openxmlformats.org/officeDocument/2006/relationships" id="269" r:id="Rc8b9af7f73bb45b3"/>
    <p:sldId xmlns:r="http://schemas.openxmlformats.org/officeDocument/2006/relationships" id="270" r:id="Raef37a36422149e6"/>
    <p:sldId xmlns:r="http://schemas.openxmlformats.org/officeDocument/2006/relationships" id="271" r:id="R66a4403f5a8a44e8"/>
    <p:sldId xmlns:r="http://schemas.openxmlformats.org/officeDocument/2006/relationships" id="272" r:id="R592b0206fd04447c"/>
    <p:sldId xmlns:r="http://schemas.openxmlformats.org/officeDocument/2006/relationships" id="273" r:id="R3d9d0eb97cb54cc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642647b0864782" /><Relationship Type="http://schemas.openxmlformats.org/officeDocument/2006/relationships/slideMaster" Target="/ppt/slideMasters/slideMaster1.xml" Id="Rc2f889eacb32432a" /><Relationship Type="http://schemas.openxmlformats.org/officeDocument/2006/relationships/notesMaster" Target="/ppt/notesMasters/notesMaster1.xml" Id="R4cd59bd38ef0421f" /><Relationship Type="http://schemas.openxmlformats.org/officeDocument/2006/relationships/presProps" Target="/ppt/presProps.xml" Id="Rd7af7e9a2a0a413d" /><Relationship Type="http://schemas.openxmlformats.org/officeDocument/2006/relationships/tableStyles" Target="/ppt/tableStyles.xml" Id="R920aa54c255e4cb7" /><Relationship Type="http://schemas.openxmlformats.org/officeDocument/2006/relationships/slide" Target="/ppt/slides/slide1.xml" Id="R53037554eac840d6" /><Relationship Type="http://schemas.openxmlformats.org/officeDocument/2006/relationships/slide" Target="/ppt/slides/slide2.xml" Id="Re5859a192f9c4923" /><Relationship Type="http://schemas.openxmlformats.org/officeDocument/2006/relationships/slide" Target="/ppt/slides/slide3.xml" Id="R02d1facd2e53423c" /><Relationship Type="http://schemas.openxmlformats.org/officeDocument/2006/relationships/slide" Target="/ppt/slides/slide4.xml" Id="R3c6f170eecbc48d1" /><Relationship Type="http://schemas.openxmlformats.org/officeDocument/2006/relationships/slide" Target="/ppt/slides/slide5.xml" Id="R0529a5d41e924128" /><Relationship Type="http://schemas.openxmlformats.org/officeDocument/2006/relationships/slide" Target="/ppt/slides/slide6.xml" Id="R3d8ea1feb1604385" /><Relationship Type="http://schemas.openxmlformats.org/officeDocument/2006/relationships/slide" Target="/ppt/slides/slide7.xml" Id="R9a1fd6b471424f9b" /><Relationship Type="http://schemas.openxmlformats.org/officeDocument/2006/relationships/slide" Target="/ppt/slides/slide8.xml" Id="R7949324be87a44de" /><Relationship Type="http://schemas.openxmlformats.org/officeDocument/2006/relationships/slide" Target="/ppt/slides/slide9.xml" Id="R8d344579a7ac4969" /><Relationship Type="http://schemas.openxmlformats.org/officeDocument/2006/relationships/slide" Target="/ppt/slides/slide10.xml" Id="R25ee3a631a004254" /><Relationship Type="http://schemas.openxmlformats.org/officeDocument/2006/relationships/slide" Target="/ppt/slides/slide11.xml" Id="Rc38da777432d442d" /><Relationship Type="http://schemas.openxmlformats.org/officeDocument/2006/relationships/slide" Target="/ppt/slides/slide12.xml" Id="R4c29dc5050024416" /><Relationship Type="http://schemas.openxmlformats.org/officeDocument/2006/relationships/slide" Target="/ppt/slides/slide13.xml" Id="R60d672d22021457c" /><Relationship Type="http://schemas.openxmlformats.org/officeDocument/2006/relationships/slide" Target="/ppt/slides/slide14.xml" Id="Rc8b9af7f73bb45b3" /><Relationship Type="http://schemas.openxmlformats.org/officeDocument/2006/relationships/slide" Target="/ppt/slides/slide15.xml" Id="Raef37a36422149e6" /><Relationship Type="http://schemas.openxmlformats.org/officeDocument/2006/relationships/slide" Target="/ppt/slides/slide16.xml" Id="R66a4403f5a8a44e8" /><Relationship Type="http://schemas.openxmlformats.org/officeDocument/2006/relationships/slide" Target="/ppt/slides/slide17.xml" Id="R592b0206fd04447c" /><Relationship Type="http://schemas.openxmlformats.org/officeDocument/2006/relationships/slide" Target="/ppt/slides/slide18.xml" Id="R3d9d0eb97cb54cc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ccbb33978ab4f6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feedd27c2144440" /><Relationship Type="http://schemas.openxmlformats.org/officeDocument/2006/relationships/notesMaster" Target="/ppt/notesMasters/notesMaster1.xml" Id="Rf023afc54dd7460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23e161064d7461d" /><Relationship Type="http://schemas.openxmlformats.org/officeDocument/2006/relationships/notesMaster" Target="/ppt/notesMasters/notesMaster1.xml" Id="R893ef12ff49549b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72ecf33ea954e5c" /><Relationship Type="http://schemas.openxmlformats.org/officeDocument/2006/relationships/notesMaster" Target="/ppt/notesMasters/notesMaster1.xml" Id="R73193d14569147b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412fcf4151c4ff4" /><Relationship Type="http://schemas.openxmlformats.org/officeDocument/2006/relationships/notesMaster" Target="/ppt/notesMasters/notesMaster1.xml" Id="Re6fe1ec4eb974b3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20141aa39154430" /><Relationship Type="http://schemas.openxmlformats.org/officeDocument/2006/relationships/notesMaster" Target="/ppt/notesMasters/notesMaster1.xml" Id="Rb35871d0f7e749d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fa97ad8ff734cf2" /><Relationship Type="http://schemas.openxmlformats.org/officeDocument/2006/relationships/notesMaster" Target="/ppt/notesMasters/notesMaster1.xml" Id="Radf7bd8bf2544ea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a89f5dfdf98489a" /><Relationship Type="http://schemas.openxmlformats.org/officeDocument/2006/relationships/notesMaster" Target="/ppt/notesMasters/notesMaster1.xml" Id="R522d01e26824474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949e5a3d9d04bf8" /><Relationship Type="http://schemas.openxmlformats.org/officeDocument/2006/relationships/notesMaster" Target="/ppt/notesMasters/notesMaster1.xml" Id="R29ef780c38f3430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4007fe4ef954665" /><Relationship Type="http://schemas.openxmlformats.org/officeDocument/2006/relationships/notesMaster" Target="/ppt/notesMasters/notesMaster1.xml" Id="Rd4dbc913de62484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9e83b47f7bc42d0" /><Relationship Type="http://schemas.openxmlformats.org/officeDocument/2006/relationships/notesMaster" Target="/ppt/notesMasters/notesMaster1.xml" Id="R099840267530460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c6fad9d54dd4ad8" /><Relationship Type="http://schemas.openxmlformats.org/officeDocument/2006/relationships/notesMaster" Target="/ppt/notesMasters/notesMaster1.xml" Id="R3e74cd2192314a7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c46924e5b144ea8" /><Relationship Type="http://schemas.openxmlformats.org/officeDocument/2006/relationships/notesMaster" Target="/ppt/notesMasters/notesMaster1.xml" Id="R543ac437a37d4b4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f9b8c2c4afc4f30" /><Relationship Type="http://schemas.openxmlformats.org/officeDocument/2006/relationships/notesMaster" Target="/ppt/notesMasters/notesMaster1.xml" Id="R8c88f6c42c2d4c8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b84b9070c5f4130" /><Relationship Type="http://schemas.openxmlformats.org/officeDocument/2006/relationships/notesMaster" Target="/ppt/notesMasters/notesMaster1.xml" Id="Rb460b503c580483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fb018aa777b4102" /><Relationship Type="http://schemas.openxmlformats.org/officeDocument/2006/relationships/notesMaster" Target="/ppt/notesMasters/notesMaster1.xml" Id="R1193d2cd4e04440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cef0d60d38a4ce6" /><Relationship Type="http://schemas.openxmlformats.org/officeDocument/2006/relationships/notesMaster" Target="/ppt/notesMasters/notesMaster1.xml" Id="Raaeddf8a12b04d1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372da30b1024c3c" /><Relationship Type="http://schemas.openxmlformats.org/officeDocument/2006/relationships/notesMaster" Target="/ppt/notesMasters/notesMaster1.xml" Id="Rf502a218238746e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27630dfc9a74ce1" /><Relationship Type="http://schemas.openxmlformats.org/officeDocument/2006/relationships/notesMaster" Target="/ppt/notesMasters/notesMaster1.xml" Id="R87f2df2275594d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内容摘要：课程主题：从问题到证据。用统一视觉语言承载可编辑的教学内容</a:t>
            </a:r>
          </a:p>
          <a:p xmlns:a="http://schemas.openxmlformats.org/drawingml/2006/main">
            <a:r>
              <a:t>版式说明：现代几何主题的cover语义页面；背景为无文字图片，文本框、强调线和全部教学文字保持可编辑。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内容摘要：课程路线。目标 · 概念 · 推演 · 练习 · 复盘</a:t>
            </a:r>
          </a:p>
          <a:p xmlns:a="http://schemas.openxmlformats.org/drawingml/2006/main">
            <a:r>
              <a:t>版式说明：现代几何主题的content语义页面；背景为无文字图片，文本框、强调线和全部教学文字保持可编辑。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内容摘要：第一章｜建立问题框架。先明确边界，再选择方法</a:t>
            </a:r>
          </a:p>
          <a:p xmlns:a="http://schemas.openxmlformats.org/drawingml/2006/main">
            <a:r>
              <a:t>版式说明：现代几何主题的chapter语义页面；背景为无文字图片，文本框、强调线和全部教学文字保持可编辑。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内容摘要：学习目标。完成本章后，你能够解释、应用并检验核心方法</a:t>
            </a:r>
          </a:p>
          <a:p xmlns:a="http://schemas.openxmlformats.org/drawingml/2006/main">
            <a:r>
              <a:t>版式说明：现代几何主题的content语义页面；背景为无文字图片，文本框、强调线和全部教学文字保持可编辑。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内容摘要：先备知识。从三个已知条件出发，连接到本章的新问题</a:t>
            </a:r>
          </a:p>
          <a:p xmlns:a="http://schemas.openxmlformats.org/drawingml/2006/main">
            <a:r>
              <a:t>版式说明：现代几何主题的content语义页面；背景为无文字图片，文本框、强调线和全部教学文字保持可编辑。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内容摘要：核心定义。定义不是一句话，而是一组条件、边界与反例</a:t>
            </a:r>
          </a:p>
          <a:p xmlns:a="http://schemas.openxmlformats.org/drawingml/2006/main">
            <a:r>
              <a:t>版式说明：现代几何主题的content语义页面；背景为无文字图片，文本框、强调线和全部教学文字保持可编辑。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内容摘要：适用边界。何时成立？何时必须切换判断标准？</a:t>
            </a:r>
          </a:p>
          <a:p xmlns:a="http://schemas.openxmlformats.org/drawingml/2006/main">
            <a:r>
              <a:t>版式说明：现代几何主题的content语义页面；背景为无文字图片，文本框、强调线和全部教学文字保持可编辑。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内容摘要：推演路径。把复杂任务拆成可检查的连续步骤</a:t>
            </a:r>
          </a:p>
          <a:p xmlns:a="http://schemas.openxmlformats.org/drawingml/2006/main">
            <a:r>
              <a:t>版式说明：现代几何主题的reasoning语义页面；背景为无文字图片，文本框、强调线和全部教学文字保持可编辑。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内容摘要：例题拆解。先识别结构，再执行步骤，最后回到证据</a:t>
            </a:r>
          </a:p>
          <a:p xmlns:a="http://schemas.openxmlformats.org/drawingml/2006/main">
            <a:r>
              <a:t>版式说明：现代几何主题的reasoning语义页面；背景为无文字图片，文本框、强调线和全部教学文字保持可编辑。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内容摘要：方法对比。同一问题可以有多条路径，但评价标准保持一致</a:t>
            </a:r>
          </a:p>
          <a:p xmlns:a="http://schemas.openxmlformats.org/drawingml/2006/main">
            <a:r>
              <a:t>版式说明：现代几何主题的content语义页面；背景为无文字图片，文本框、强调线和全部教学文字保持可编辑。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内容摘要：代码与实现。证据页优先保证代码、公式和表格的可读性</a:t>
            </a:r>
          </a:p>
          <a:p xmlns:a="http://schemas.openxmlformats.org/drawingml/2006/main">
            <a:r>
              <a:t>版式说明：现代几何主题的evidence语义页面；背景为无文字图片，文本框、强调线和全部教学文字保持可编辑。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内容摘要：证据核对表。把结论、证据与限制条件放到同一张表中</a:t>
            </a:r>
          </a:p>
          <a:p xmlns:a="http://schemas.openxmlformats.org/drawingml/2006/main">
            <a:r>
              <a:t>版式说明：现代几何主题的evidence语义页面；背景为无文字图片，文本框、强调线和全部教学文字保持可编辑。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内容摘要：理解检查。先独立作答，再展开判断依据</a:t>
            </a:r>
          </a:p>
          <a:p xmlns:a="http://schemas.openxmlformats.org/drawingml/2006/main">
            <a:r>
              <a:t>版式说明：现代几何主题的practice语义页面；背景为无文字图片，文本框、强调线和全部教学文字保持可编辑。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内容摘要：反馈与订正。反馈指出差距，也给出下一步行动</a:t>
            </a:r>
          </a:p>
          <a:p xmlns:a="http://schemas.openxmlformats.org/drawingml/2006/main">
            <a:r>
              <a:t>版式说明：现代几何主题的practice语义页面；背景为无文字图片，文本框、强调线和全部教学文字保持可编辑。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内容摘要：易错辨析。错误答案通常来自边界混淆，而不是记忆不足</a:t>
            </a:r>
          </a:p>
          <a:p xmlns:a="http://schemas.openxmlformats.org/drawingml/2006/main">
            <a:r>
              <a:t>版式说明：现代几何主题的practice语义页面；背景为无文字图片，文本框、强调线和全部教学文字保持可编辑。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内容摘要：迁移应用。把方法映射到新的任务情境</a:t>
            </a:r>
          </a:p>
          <a:p xmlns:a="http://schemas.openxmlformats.org/drawingml/2006/main">
            <a:r>
              <a:t>版式说明：现代几何主题的reasoning语义页面；背景为无文字图片，文本框、强调线和全部教学文字保持可编辑。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内容摘要：本章回顾。让定义、方法、证据和边界重新汇聚</a:t>
            </a:r>
          </a:p>
          <a:p xmlns:a="http://schemas.openxmlformats.org/drawingml/2006/main">
            <a:r>
              <a:t>版式说明：现代几何主题的recap语义页面；背景为无文字图片，文本框、强调线和全部教学文字保持可编辑。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内容摘要：课程收束。带着一个可执行的问题离开课堂</a:t>
            </a:r>
          </a:p>
          <a:p xmlns:a="http://schemas.openxmlformats.org/drawingml/2006/main">
            <a:r>
              <a:t>版式说明：现代几何主题的recap语义页面；背景为无文字图片，文本框、强调线和全部教学文字保持可编辑。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fbcb96310d49a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7c65bc0bcd24b91" /><Relationship Type="http://schemas.openxmlformats.org/officeDocument/2006/relationships/slideLayout" Target="/ppt/slideLayouts/slideLayout1.xml" Id="R251d9a56faf346f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1d9a56faf346f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856bf28c844fae" /><Relationship Type="http://schemas.openxmlformats.org/officeDocument/2006/relationships/image" Target="/ppt/media/image.jpeg" Id="Rae6cfbb4b54445e1" /><Relationship Type="http://schemas.openxmlformats.org/officeDocument/2006/relationships/notesSlide" Target="/ppt/notesSlides/notesSlide1.xml" Id="Rd0d7351ff8f44a0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8960cc92cb446b" /><Relationship Type="http://schemas.openxmlformats.org/officeDocument/2006/relationships/image" Target="/ppt/media/image2.jpeg" Id="R323aebf5f073455a" /><Relationship Type="http://schemas.openxmlformats.org/officeDocument/2006/relationships/notesSlide" Target="/ppt/notesSlides/notesSlide2.xml" Id="Rfd4c811574374c6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def6c9dc1646fb" /><Relationship Type="http://schemas.openxmlformats.org/officeDocument/2006/relationships/image" Target="/ppt/media/image3.jpeg" Id="R7927795a52cb457d" /><Relationship Type="http://schemas.openxmlformats.org/officeDocument/2006/relationships/notesSlide" Target="/ppt/notesSlides/notesSlide3.xml" Id="Rd31ad1f02afb484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f8349bef2240ed" /><Relationship Type="http://schemas.openxmlformats.org/officeDocument/2006/relationships/image" Target="/ppt/media/image4.jpeg" Id="R264e5cd2c33f4ae8" /><Relationship Type="http://schemas.openxmlformats.org/officeDocument/2006/relationships/notesSlide" Target="/ppt/notesSlides/notesSlide4.xml" Id="R7b77d34ef020410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fea54905224cb9" /><Relationship Type="http://schemas.openxmlformats.org/officeDocument/2006/relationships/image" Target="/ppt/media/image5.jpeg" Id="Re14f9ad69b884187" /><Relationship Type="http://schemas.openxmlformats.org/officeDocument/2006/relationships/notesSlide" Target="/ppt/notesSlides/notesSlide5.xml" Id="Rb771701a33c0452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04d6d0e85c46da" /><Relationship Type="http://schemas.openxmlformats.org/officeDocument/2006/relationships/image" Target="/ppt/media/image6.jpeg" Id="Rc9a45250d62a46a7" /><Relationship Type="http://schemas.openxmlformats.org/officeDocument/2006/relationships/notesSlide" Target="/ppt/notesSlides/notesSlide6.xml" Id="Re888b579478f4fa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5bdd33561943b8" /><Relationship Type="http://schemas.openxmlformats.org/officeDocument/2006/relationships/image" Target="/ppt/media/image7.jpeg" Id="Rfad0fe1b7d014f3c" /><Relationship Type="http://schemas.openxmlformats.org/officeDocument/2006/relationships/notesSlide" Target="/ppt/notesSlides/notesSlide7.xml" Id="Rc3fe26d8d4ca442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9384a41736465f" /><Relationship Type="http://schemas.openxmlformats.org/officeDocument/2006/relationships/image" Target="/ppt/media/image8.jpeg" Id="R87f4264dc7094e7f" /><Relationship Type="http://schemas.openxmlformats.org/officeDocument/2006/relationships/notesSlide" Target="/ppt/notesSlides/notesSlide8.xml" Id="R528903d5922e49b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e9b3c6dd934754" /><Relationship Type="http://schemas.openxmlformats.org/officeDocument/2006/relationships/image" Target="/ppt/media/image9.jpeg" Id="R4f124a1be1cd4984" /><Relationship Type="http://schemas.openxmlformats.org/officeDocument/2006/relationships/notesSlide" Target="/ppt/notesSlides/notesSlide9.xml" Id="Rdce0c2b9ba29497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fa3f92aaf746b4" /><Relationship Type="http://schemas.openxmlformats.org/officeDocument/2006/relationships/image" Target="/ppt/media/image10.jpeg" Id="R3c425f1554674e44" /><Relationship Type="http://schemas.openxmlformats.org/officeDocument/2006/relationships/notesSlide" Target="/ppt/notesSlides/notesSlide10.xml" Id="R7d1331bdc727468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1e2429734a4e7c" /><Relationship Type="http://schemas.openxmlformats.org/officeDocument/2006/relationships/image" Target="/ppt/media/image11.jpeg" Id="R962c423e5efd4f22" /><Relationship Type="http://schemas.openxmlformats.org/officeDocument/2006/relationships/notesSlide" Target="/ppt/notesSlides/notesSlide11.xml" Id="Ra9819ae30516453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918b857df54d4e" /><Relationship Type="http://schemas.openxmlformats.org/officeDocument/2006/relationships/image" Target="/ppt/media/image12.jpeg" Id="R76436c29172b4888" /><Relationship Type="http://schemas.openxmlformats.org/officeDocument/2006/relationships/notesSlide" Target="/ppt/notesSlides/notesSlide12.xml" Id="R42acf0a68198406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8e0c59f5dc4d53" /><Relationship Type="http://schemas.openxmlformats.org/officeDocument/2006/relationships/image" Target="/ppt/media/image13.jpeg" Id="R3cda1e728ac644ba" /><Relationship Type="http://schemas.openxmlformats.org/officeDocument/2006/relationships/notesSlide" Target="/ppt/notesSlides/notesSlide13.xml" Id="Rdfae05e9c2944ac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580638baf74a15" /><Relationship Type="http://schemas.openxmlformats.org/officeDocument/2006/relationships/image" Target="/ppt/media/image14.jpeg" Id="Ra795d8d7f77640da" /><Relationship Type="http://schemas.openxmlformats.org/officeDocument/2006/relationships/notesSlide" Target="/ppt/notesSlides/notesSlide14.xml" Id="R3c8db6d076984c2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b1eac94e234302" /><Relationship Type="http://schemas.openxmlformats.org/officeDocument/2006/relationships/image" Target="/ppt/media/image15.jpeg" Id="Rabbcc05c65204ffd" /><Relationship Type="http://schemas.openxmlformats.org/officeDocument/2006/relationships/notesSlide" Target="/ppt/notesSlides/notesSlide15.xml" Id="R6471a922d63a40f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276061b6404224" /><Relationship Type="http://schemas.openxmlformats.org/officeDocument/2006/relationships/image" Target="/ppt/media/image16.jpeg" Id="R2f981990061e465b" /><Relationship Type="http://schemas.openxmlformats.org/officeDocument/2006/relationships/notesSlide" Target="/ppt/notesSlides/notesSlide16.xml" Id="R3d3a55a8aa51452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6dea19dd77456e" /><Relationship Type="http://schemas.openxmlformats.org/officeDocument/2006/relationships/image" Target="/ppt/media/image17.jpeg" Id="R15433641afed4c87" /><Relationship Type="http://schemas.openxmlformats.org/officeDocument/2006/relationships/notesSlide" Target="/ppt/notesSlides/notesSlide17.xml" Id="Ra6586cb267eb47e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bf61b5d74f4911" /><Relationship Type="http://schemas.openxmlformats.org/officeDocument/2006/relationships/image" Target="/ppt/media/image18.jpeg" Id="Rb3eade03c8884448" /><Relationship Type="http://schemas.openxmlformats.org/officeDocument/2006/relationships/notesSlide" Target="/ppt/notesSlides/notesSlide18.xml" Id="Rdb617fbac06f441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6cfbb4b54445e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9173AA-EB6E-4965-9B13-A5152AAFF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097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6548E8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6548E8"/>
                </a:solidFill>
                <a:latin typeface="Noto Sans SC"/>
                <a:ea typeface="Noto Sans SC"/>
                <a:cs typeface="Noto Sans SC"/>
              </a:rPr>
              <a:t>现代几何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8C18D1-5F75-4D4F-A18A-F1EB86402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85950"/>
            <a:ext cx="6572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510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defRPr>
            </a:pPr>
            <a:r>
              <a:rPr sz="510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rPr>
              <a:t>课程主题：从问题到证据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D0E893-C9F4-486C-ADDD-560D2F0D4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647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rPr>
              <a:t>用统一视觉语言承载可编辑的教学内容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6C46C4-02B1-4AA1-BE7D-4A5959F08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DF12E9-FEC9-4D57-99C1-DC03F6E1D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1 / 18</a:t>
            </a:r>
          </a:p>
        </p:txBody>
      </p:sp>
    </p:spTree>
    <p:extLst>
      <p:ext uri="{BB962C8B-B14F-4D97-AF65-F5344CB8AC3E}">
        <p14:creationId xmlns:p14="http://schemas.microsoft.com/office/powerpoint/2010/main" val="24758125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3aebf5f073455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67FD74-0CF5-4CF8-A34B-8C2439DAA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6548E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6548E8"/>
                </a:solidFill>
                <a:latin typeface="Noto Sans SC"/>
                <a:ea typeface="Noto Sans SC"/>
                <a:cs typeface="Noto Sans SC"/>
              </a:rPr>
              <a:t>现代几何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82BE5C-844C-4D6C-B5E8-1B7C8CE96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rPr>
              <a:t>课程路线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E9985E-F5F4-4590-892C-5A74B64F7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52E09B-3389-4DB6-AC1E-519278AE3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597009-7FEB-4EC1-A8FF-79B688422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目标 · 概念 · 推演 · 练习 · 复盘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83F5FA-2576-4C4E-A6DC-BFDAAB49A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66975"/>
            <a:ext cx="1866900" cy="23812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CF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A59920-E2CA-4821-96C4-5B8027DAC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1866900" cy="23812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6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971B62-0EC0-4E8E-BD7A-D649FE24D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95550"/>
            <a:ext cx="571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4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4EE91B-5D91-4363-8B37-EFDB004A6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527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6548E8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6548E8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D04241-F09F-472A-A7B3-0131112EC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90800"/>
            <a:ext cx="137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rPr>
              <a:t>阶段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651516-9944-4349-BF46-A4F89F3BE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90850"/>
            <a:ext cx="13716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rPr>
              <a:t>目标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7AD0CA-88A2-4921-8F31-FCC1C526D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466975"/>
            <a:ext cx="1866900" cy="23812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CF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DF8FE5-3448-43A4-A288-A08527AFE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381250"/>
            <a:ext cx="1866900" cy="23812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6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107839-A7E0-4E07-8FE4-E277051D8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495550"/>
            <a:ext cx="571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4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3990D4-C87D-43E8-9EA5-D694CE05B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527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6548E8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6548E8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C039AD-A0B2-44B5-8D5C-888F287A0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590800"/>
            <a:ext cx="137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rPr>
              <a:t>阶段 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4D3FC3-7C93-460E-91AB-A61CBF705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990850"/>
            <a:ext cx="13716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rPr>
              <a:t>概念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7E8103-B36D-42DF-A0FE-5D6E83EB5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466975"/>
            <a:ext cx="1866900" cy="23812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CF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327258-19FE-4462-BE94-4EA3E5B89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381250"/>
            <a:ext cx="1866900" cy="23812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6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7F3F05-AFB5-4704-93A5-A9DA38225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495550"/>
            <a:ext cx="571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4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8ACEB2-2F90-4E74-B332-9E9554FF7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5527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6548E8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6548E8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2D9855-6728-42EA-AD09-876B67686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590800"/>
            <a:ext cx="137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rPr>
              <a:t>阶段 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2A1FC7-AA20-44E0-B5D7-F2E3AF187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90850"/>
            <a:ext cx="13716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rPr>
              <a:t>推演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FF6145-C892-4615-A4BB-E57D1AAA9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466975"/>
            <a:ext cx="1866900" cy="23812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CF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D05F5F-49F6-4987-8530-2ACD5F9C1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81250"/>
            <a:ext cx="1866900" cy="23812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6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7AC025-FDD2-467D-9AE2-6A92E7F47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95550"/>
            <a:ext cx="571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4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FA1F35-2CFB-4552-B1CC-ABC7840C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5527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6548E8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6548E8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A57039-8B66-4B97-8FFB-311C1418A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590800"/>
            <a:ext cx="137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rPr>
              <a:t>阶段 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7084FA2-2A5A-488A-BA1A-5D20B1694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990850"/>
            <a:ext cx="13716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rPr>
              <a:t>练习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58C5C6-7C1D-48A1-93D9-941CED2F8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66975"/>
            <a:ext cx="1866900" cy="23812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CF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483677C-F657-4B44-BE08-94B624A3C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381250"/>
            <a:ext cx="1866900" cy="23812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6E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A66CCFA-B5ED-427E-B5BF-473AE4B90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495550"/>
            <a:ext cx="571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4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94B7D96-E8AC-4540-9A71-06C0E328C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5527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6548E8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6548E8"/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9300357-661B-40CE-85D0-27F18F8D1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590800"/>
            <a:ext cx="137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rPr>
              <a:t>阶段 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BFA5EE8-7442-4A54-8E90-3E67E458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990850"/>
            <a:ext cx="13716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rPr>
              <a:t>复盘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F91C603-F68E-4CD8-9097-54B489636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FC5E32A-04C6-46DA-B8BA-4AFB0F27E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2 / 18</a:t>
            </a:r>
          </a:p>
        </p:txBody>
      </p:sp>
    </p:spTree>
    <p:extLst>
      <p:ext uri="{BB962C8B-B14F-4D97-AF65-F5344CB8AC3E}">
        <p14:creationId xmlns:p14="http://schemas.microsoft.com/office/powerpoint/2010/main" val="207341541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27795a52cb457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5040E0-676C-4E28-9087-63AF47E5E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73355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6548E8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6548E8"/>
                </a:solidFill>
                <a:latin typeface="Noto Sans SC"/>
                <a:ea typeface="Noto Sans SC"/>
                <a:cs typeface="Noto Sans SC"/>
              </a:rPr>
              <a:t>CHAPTER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1BA3CE-7C22-401D-BED1-5B62A224D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47900"/>
            <a:ext cx="781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defRPr>
            </a:pPr>
            <a:r>
              <a:rPr sz="4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rPr>
              <a:t>第一章｜建立问题框架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389897-5EBA-40D2-A777-4E4F6F055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562350"/>
            <a:ext cx="685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rPr>
              <a:t>先明确边界，再选择方法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C4B8D9-B02A-4689-ACF3-ADF957BE9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1CAA3F-F3A6-44C9-9F27-ADAB97976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3 / 18</a:t>
            </a:r>
          </a:p>
        </p:txBody>
      </p:sp>
    </p:spTree>
    <p:extLst>
      <p:ext uri="{BB962C8B-B14F-4D97-AF65-F5344CB8AC3E}">
        <p14:creationId xmlns:p14="http://schemas.microsoft.com/office/powerpoint/2010/main" val="51073275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4e5cd2c33f4ae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07B8D9-6B13-4E58-B3BA-05592EBD3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6548E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6548E8"/>
                </a:solidFill>
                <a:latin typeface="Noto Sans SC"/>
                <a:ea typeface="Noto Sans SC"/>
                <a:cs typeface="Noto Sans SC"/>
              </a:rPr>
              <a:t>现代几何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F915EB-B0AC-4C7A-A3C9-B23A0627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rPr>
              <a:t>学习目标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12BB3D-09A7-4AE3-B150-7E6DB2637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226CD3-BD9F-4B10-AC06-8AF3E4FBC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1DD7A8-5125-431A-9AB7-C3288ECAA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完成本章后，你能够解释、应用并检验核心方法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05B859-584A-4981-AC33-4935A2522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28875"/>
            <a:ext cx="33147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CF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DF0AF4-7EE7-4FAE-8730-064232231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43150"/>
            <a:ext cx="33147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6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F9A7BE-5EBD-4CBC-8120-CB3D07EE0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57450"/>
            <a:ext cx="571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4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D3D7DF-5E5C-41F9-A66C-5BE25BBAE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146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6548E8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6548E8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4BB12A-E251-4CE1-91AC-7B6B2A48B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527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rPr>
              <a:t>解释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26F00D-9093-4102-826D-2878B1386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52750"/>
            <a:ext cx="28194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rPr>
              <a:t>用自己的语言说明核心概念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520D32-1C55-4F6C-BE94-BBEE4369F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28875"/>
            <a:ext cx="33147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CF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96C007-4E42-4416-BEDF-059514758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43150"/>
            <a:ext cx="33147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6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8A6147-E10E-49ED-99B9-FF9096315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57450"/>
            <a:ext cx="571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4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0FE245-C705-48F0-AD10-8D7B28CC2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146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6548E8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6548E8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747094-21DC-44C8-8CBB-9A007280B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527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rPr>
              <a:t>应用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0FFCB6-2516-4794-8250-71D7CDECA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952750"/>
            <a:ext cx="28194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rPr>
              <a:t>在新情境中选择合适的方法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4988EA-1540-48FB-8084-B5FD951AC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28875"/>
            <a:ext cx="33147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CF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A90E76-2A5D-4A03-81CF-7A1400A73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43150"/>
            <a:ext cx="33147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6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2E6D39-3A94-4A23-9952-3EFE6633F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57450"/>
            <a:ext cx="571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4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389EFA-006D-480F-8E62-8182BC794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146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6548E8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6548E8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35B3DE-CAEE-49CE-8066-79500E49F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527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rPr>
              <a:t>检验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2A3F02-2844-4FDC-AD23-48BE33EC4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52750"/>
            <a:ext cx="28194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rPr>
              <a:t>用证据核对结果与边界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390E92-F7E9-4FA8-9622-4553D9376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35DED4-7BCC-4296-A66D-C3F0960A7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4 / 18</a:t>
            </a:r>
          </a:p>
        </p:txBody>
      </p:sp>
    </p:spTree>
    <p:extLst>
      <p:ext uri="{BB962C8B-B14F-4D97-AF65-F5344CB8AC3E}">
        <p14:creationId xmlns:p14="http://schemas.microsoft.com/office/powerpoint/2010/main" val="65521805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4f9ad69b88418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6B19F1-2707-4A6C-94D6-BF8963F63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6548E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6548E8"/>
                </a:solidFill>
                <a:latin typeface="Noto Sans SC"/>
                <a:ea typeface="Noto Sans SC"/>
                <a:cs typeface="Noto Sans SC"/>
              </a:rPr>
              <a:t>现代几何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89DA9C-972D-430B-AB43-F8E1C0AED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rPr>
              <a:t>先备知识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861350-4845-4BEB-97E3-D69A9CF9E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430BE6-D446-47C3-9E87-8E63B52F0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6CDB9F-DC9C-4BC5-AE49-274794906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从三个已知条件出发，连接到本章的新问题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0A2E73-AF54-4E96-9C94-391034A4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28875"/>
            <a:ext cx="33147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CF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1C58BD-CCAC-4118-9C66-69BD0D3C9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43150"/>
            <a:ext cx="33147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6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8FF2BF-5EB8-4C29-A963-BEF3F98E7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57450"/>
            <a:ext cx="571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4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B988E7-740E-46B6-8136-2A166BDBA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146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6548E8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6548E8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65AF0B-30C2-4CF3-9653-C7C102F97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527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rPr>
              <a:t>已知条件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160B05-72A4-44FE-85F6-26671B6DA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52750"/>
            <a:ext cx="28194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rPr>
              <a:t>识别任务中的稳定信息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66396F-3EBE-475C-8506-3BDF20152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28875"/>
            <a:ext cx="33147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CF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9B22B4-E480-48DC-ACD5-0B9640A77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43150"/>
            <a:ext cx="33147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6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82A2BC-F035-49E7-80CA-A13505C7F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57450"/>
            <a:ext cx="571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4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405F04-EA1C-4028-9EA9-1F263B40C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146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6548E8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6548E8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70279C-C4CC-4F4E-B11B-61CF79851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527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rPr>
              <a:t>已有方法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886841-B1A3-49C7-949A-EF562CDCC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952750"/>
            <a:ext cx="28194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rPr>
              <a:t>回忆可以复用的判断工具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266050-1E5D-4EB2-A3C5-653EE6387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28875"/>
            <a:ext cx="33147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CF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002DBA-C5BF-4159-8547-F8A89BFD3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43150"/>
            <a:ext cx="33147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6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20A26F-4927-43EF-B7CC-B4B3D7D47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57450"/>
            <a:ext cx="571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4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9C6DBF-4FCD-4C0F-BB46-C54F3281D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146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6548E8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6548E8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BCAD1C-01E0-4FD5-9BAA-2A426339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527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rPr>
              <a:t>新问题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98AB97-7035-48A5-A8C4-C3BAD75A1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52750"/>
            <a:ext cx="28194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rPr>
              <a:t>找出这次学习真正新增的挑战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0BDBDA-CDF5-4EEF-ADB8-DC0A393C9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989ED8-07B7-4219-B7D9-3B7723F4D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5 / 18</a:t>
            </a:r>
          </a:p>
        </p:txBody>
      </p:sp>
    </p:spTree>
    <p:extLst>
      <p:ext uri="{BB962C8B-B14F-4D97-AF65-F5344CB8AC3E}">
        <p14:creationId xmlns:p14="http://schemas.microsoft.com/office/powerpoint/2010/main" val="135855841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a45250d62a46a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FCF0D6-D100-470A-9F9E-B7DB7C58C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6548E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6548E8"/>
                </a:solidFill>
                <a:latin typeface="Noto Sans SC"/>
                <a:ea typeface="Noto Sans SC"/>
                <a:cs typeface="Noto Sans SC"/>
              </a:rPr>
              <a:t>现代几何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82A1D8-68E0-4C99-ABAA-18BC1CCEB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rPr>
              <a:t>核心定义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5BDF96-5774-4AE2-9EA5-D633418D8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28DF57-3B41-4529-A8C1-305A9E890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670016-8219-470C-875D-E0E068E2D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定义不是一句话，而是一组条件、边界与反例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B40042-C891-4F31-9B47-EC4AEC777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95525"/>
            <a:ext cx="6762750" cy="339090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CF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CFB7F7-ADA5-4EF5-A218-02EFE3975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09800"/>
            <a:ext cx="6762750" cy="339090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6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0F7E9D-4C77-43FF-8B83-9524B83DD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24100"/>
            <a:ext cx="5715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4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1488F0-A913-4A2A-92B9-F33B399B9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19350"/>
            <a:ext cx="626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rPr>
              <a:t>定义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C7DE15-0AFC-4DF6-B495-4FB784522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19400"/>
            <a:ext cx="6267450" cy="2609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rPr>
              <a:t>一个可使用的定义，需要同时说明对象、条件、关系与判断标准。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4DE83A-9CE0-4D8A-AD40-779E0B792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95525"/>
            <a:ext cx="34671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CF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04D8B0-8477-4205-9AB7-7340CB318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09800"/>
            <a:ext cx="34671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6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CBED4A-1CC2-48A5-9562-2676EA006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24100"/>
            <a:ext cx="571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D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2A2B4A-5AF8-44D5-9E62-A2F3831E8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1935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rPr>
              <a:t>必要条件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AE362C-3927-464B-933E-5CE7CF229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19400"/>
            <a:ext cx="2971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rPr>
              <a:t>缺少任一条件时，不直接套用结论。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E845AC-8DFF-47E5-8475-33987159A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124325"/>
            <a:ext cx="34671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CF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DB3F5F-C2CA-463F-97DC-3BF058CC2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38600"/>
            <a:ext cx="34671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6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239114-287E-4997-9222-8B2E40ED1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152900"/>
            <a:ext cx="571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51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CA9EB3-4955-4C37-810B-D8A7F07B1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4815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rPr>
              <a:t>反例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174944-1186-477D-A72D-92A738998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48200"/>
            <a:ext cx="2971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rPr>
              <a:t>用最小反例暴露定义边界。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77168F-4319-4536-AE5E-E7B7D3E5F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99269E-88AD-4CA6-B220-D659545C1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6 / 18</a:t>
            </a:r>
          </a:p>
        </p:txBody>
      </p:sp>
    </p:spTree>
    <p:extLst>
      <p:ext uri="{BB962C8B-B14F-4D97-AF65-F5344CB8AC3E}">
        <p14:creationId xmlns:p14="http://schemas.microsoft.com/office/powerpoint/2010/main" val="123569727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d0fe1b7d014f3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F807E9-46A3-46A5-8E85-1C38736EA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6548E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6548E8"/>
                </a:solidFill>
                <a:latin typeface="Noto Sans SC"/>
                <a:ea typeface="Noto Sans SC"/>
                <a:cs typeface="Noto Sans SC"/>
              </a:rPr>
              <a:t>现代几何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03191A-C503-41A8-B143-E4E89CE59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rPr>
              <a:t>适用边界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755D10-8FA6-4C57-A1BC-1DA68BF86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AE682D-B18E-493B-97F7-FBB456845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05F72A-0C79-4A47-B725-CA793B353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何时成立？何时必须切换判断标准？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4EB0C1-7B1B-4AC6-92FB-5302E38D2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52675"/>
            <a:ext cx="5095875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CF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383FA2-18D5-4730-BCDA-50BE60D18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5095875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6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A44067-6DDF-4F9C-A135-4DBD32E16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5715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D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D5AF19-233B-43B5-A636-FAB5C7AE5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4600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rPr>
              <a:t>适用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D51C37-5B00-461D-B20A-EA8E273A0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76550"/>
            <a:ext cx="4600575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rPr>
              <a:t>条件完整、证据可核验、任务目标与方法一致。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48F884-13FB-4BD0-A9E4-9C07B6D45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352675"/>
            <a:ext cx="5095875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CF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A1BFCF-23DF-428B-98D0-34E8CB871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266950"/>
            <a:ext cx="5095875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6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1E5560-E8F1-47BE-971A-A8325C7A8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381250"/>
            <a:ext cx="5715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51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67F5A4-F5F9-4116-8921-19E835CCF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476500"/>
            <a:ext cx="4600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rPr>
              <a:t>不适用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4515A7-FDC5-4F09-BD86-80A9DAB4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876550"/>
            <a:ext cx="4600575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rPr>
              <a:t>条件缺失、证据不足或评价标准已经改变。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854A9E-03A9-499A-83D9-DD3F881D9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0A7E7C-A7D7-4E88-9C26-CDBDEF7B1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7 / 18</a:t>
            </a:r>
          </a:p>
        </p:txBody>
      </p:sp>
    </p:spTree>
    <p:extLst>
      <p:ext uri="{BB962C8B-B14F-4D97-AF65-F5344CB8AC3E}">
        <p14:creationId xmlns:p14="http://schemas.microsoft.com/office/powerpoint/2010/main" val="152077658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f4264dc7094e7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E9198C-DCB6-48B5-8417-C71F8A01A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6548E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6548E8"/>
                </a:solidFill>
                <a:latin typeface="Noto Sans SC"/>
                <a:ea typeface="Noto Sans SC"/>
                <a:cs typeface="Noto Sans SC"/>
              </a:rPr>
              <a:t>现代几何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AA9A54-55C3-4787-8388-31C93DFE3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rPr>
              <a:t>推演路径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575777-2510-40A0-A724-8D672680D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615238-8E0D-44E5-A3F6-FB9EE2EDD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4ADD4A-803B-4296-80BC-8AF232645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把复杂任务拆成可检查的连续步骤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3F2C56-DDDC-4C1D-BEC9-6A1B73827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47925"/>
            <a:ext cx="2419350" cy="2571750"/>
          </a:xfrm>
          <a:prstGeom xmlns:a="http://schemas.openxmlformats.org/drawingml/2006/main" prst="roundRect">
            <a:avLst>
              <a:gd name="adj" fmla="val 4724"/>
            </a:avLst>
          </a:prstGeom>
          <a:solidFill xmlns:a="http://schemas.openxmlformats.org/drawingml/2006/main">
            <a:srgbClr val="CF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3B204F-951A-4A2B-96C7-A7D80750D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2419350" cy="2571750"/>
          </a:xfrm>
          <a:prstGeom xmlns:a="http://schemas.openxmlformats.org/drawingml/2006/main" prst="roundRect">
            <a:avLst>
              <a:gd name="adj" fmla="val 47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6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F60F39-AC01-469D-BF2C-ABB47AF35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571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4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BE4944-1F11-4980-8859-A75D421E6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336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6548E8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6548E8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FE8094-8E00-41F4-8BD1-F7521F835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rPr>
              <a:t>识别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5161C1-2D8C-41EB-AECC-1AE6413B9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71800"/>
            <a:ext cx="19240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rPr>
              <a:t>标记任务对象与限制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CA5A0D-0C1C-4A74-BF9B-2BD385FB8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790825"/>
            <a:ext cx="2419350" cy="2571750"/>
          </a:xfrm>
          <a:prstGeom xmlns:a="http://schemas.openxmlformats.org/drawingml/2006/main" prst="roundRect">
            <a:avLst>
              <a:gd name="adj" fmla="val 4724"/>
            </a:avLst>
          </a:prstGeom>
          <a:solidFill xmlns:a="http://schemas.openxmlformats.org/drawingml/2006/main">
            <a:srgbClr val="CF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2304E6-F97D-4036-BF06-F041C9692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705100"/>
            <a:ext cx="2419350" cy="2571750"/>
          </a:xfrm>
          <a:prstGeom xmlns:a="http://schemas.openxmlformats.org/drawingml/2006/main" prst="roundRect">
            <a:avLst>
              <a:gd name="adj" fmla="val 47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6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2F8DEE-6BCA-4810-8245-645341BEF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819400"/>
            <a:ext cx="571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4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D7E200-75EF-40B1-B71A-A496B6F48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765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6548E8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6548E8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E954FE-AB38-432C-9E9A-C98CA1AAD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9146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rPr>
              <a:t>选择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23D76C-C9CA-4997-8F45-C6E6D19CC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314700"/>
            <a:ext cx="19240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rPr>
              <a:t>匹配可解释的方法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B5F551-BA63-46AE-A77B-5CABB51F9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47925"/>
            <a:ext cx="2419350" cy="2571750"/>
          </a:xfrm>
          <a:prstGeom xmlns:a="http://schemas.openxmlformats.org/drawingml/2006/main" prst="roundRect">
            <a:avLst>
              <a:gd name="adj" fmla="val 4724"/>
            </a:avLst>
          </a:prstGeom>
          <a:solidFill xmlns:a="http://schemas.openxmlformats.org/drawingml/2006/main">
            <a:srgbClr val="CF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57BC35-E56A-48AA-97A8-E48F2024D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62200"/>
            <a:ext cx="2419350" cy="2571750"/>
          </a:xfrm>
          <a:prstGeom xmlns:a="http://schemas.openxmlformats.org/drawingml/2006/main" prst="roundRect">
            <a:avLst>
              <a:gd name="adj" fmla="val 47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6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1EF06E-37DE-4E3B-B0B2-913B2D8BF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76500"/>
            <a:ext cx="571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4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F24822-9EA6-437A-A03C-421E32DDD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336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6548E8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6548E8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93E18F-94BD-4A42-8F36-93A8270F9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717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rPr>
              <a:t>执行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D23F97-A57D-4456-BB19-DA5A194EA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71800"/>
            <a:ext cx="19240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rPr>
              <a:t>逐步记录中间结果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431D9A-CE39-4630-87D0-B151A5FAC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790825"/>
            <a:ext cx="2419350" cy="2571750"/>
          </a:xfrm>
          <a:prstGeom xmlns:a="http://schemas.openxmlformats.org/drawingml/2006/main" prst="roundRect">
            <a:avLst>
              <a:gd name="adj" fmla="val 4724"/>
            </a:avLst>
          </a:prstGeom>
          <a:solidFill xmlns:a="http://schemas.openxmlformats.org/drawingml/2006/main">
            <a:srgbClr val="CF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6458CC-DACA-4D3C-A94A-3825A1B33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05100"/>
            <a:ext cx="2419350" cy="2571750"/>
          </a:xfrm>
          <a:prstGeom xmlns:a="http://schemas.openxmlformats.org/drawingml/2006/main" prst="roundRect">
            <a:avLst>
              <a:gd name="adj" fmla="val 47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6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81C0C9-23AC-4D36-B61A-EF245B571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19400"/>
            <a:ext cx="571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4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E0E7F6-B5E8-4CF7-B789-93F15DD87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8765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6548E8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6548E8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810081-A283-40A5-8C55-B870DB22D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9146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rPr>
              <a:t>检验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E0B09B-8835-4BFF-B110-AB55349B6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314700"/>
            <a:ext cx="19240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rPr>
              <a:t>回到证据与边界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EEADB6-7EC4-437E-A42E-B95F2926E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8A21942-82D7-4740-9828-B1710ABFC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8 / 18</a:t>
            </a:r>
          </a:p>
        </p:txBody>
      </p:sp>
    </p:spTree>
    <p:extLst>
      <p:ext uri="{BB962C8B-B14F-4D97-AF65-F5344CB8AC3E}">
        <p14:creationId xmlns:p14="http://schemas.microsoft.com/office/powerpoint/2010/main" val="125338641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124a1be1cd498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063553-CA01-4572-B995-B278FC886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6548E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6548E8"/>
                </a:solidFill>
                <a:latin typeface="Noto Sans SC"/>
                <a:ea typeface="Noto Sans SC"/>
                <a:cs typeface="Noto Sans SC"/>
              </a:rPr>
              <a:t>现代几何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878628-AB97-407D-90C8-3B3664923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rPr>
              <a:t>例题拆解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46E460-3451-4140-9355-3E9D8FD38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BF5878-8242-45E3-BE8E-1939190C9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191A70-0771-4543-AEE1-B97B23F6C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先识别结构，再执行步骤，最后回到证据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6F47F3-107D-4B2B-99C9-8577F2CB1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57425"/>
            <a:ext cx="3143250" cy="34290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CF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00EED9-D725-467A-82D1-CD18B3B5A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3143250" cy="34290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6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5D52BC-76A4-4ABC-9098-FD1FFA973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571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8B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451E8C-2910-48CD-9A6A-703E7FD04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rPr>
              <a:t>题目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94826B-D9D1-4C87-BE95-63C8C96C6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264795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rPr>
              <a:t>给定条件后，先判断真正需要求解的对象。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8FD4B9-1FBA-4FFD-8726-95E7B0406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257425"/>
            <a:ext cx="3143250" cy="34290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CF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73BD72-6CEF-4DCC-9EE8-9236BA693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171700"/>
            <a:ext cx="3143250" cy="34290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6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CE7C9F-4E3D-460C-9C2A-CD596F90D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286000"/>
            <a:ext cx="571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4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3D9AC3-51AC-49CD-8456-BF6AEC7A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812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rPr>
              <a:t>策略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8AFC9A-D876-4E1F-9873-F60576B08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781300"/>
            <a:ext cx="264795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rPr>
              <a:t>把条件转换为可以逐步核验的结构。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5B87B5-7CAA-4969-9A73-EFD8EA8D4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257425"/>
            <a:ext cx="36195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CF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8BE92A-286E-4321-8788-8D7CF3746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171700"/>
            <a:ext cx="36195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6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2F69E0-4101-4CCA-9D21-8E3F5FA5F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286000"/>
            <a:ext cx="571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D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AA0531-6B63-4B7E-8FDE-E967C8BD3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81250"/>
            <a:ext cx="312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rPr>
              <a:t>验证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08E9E1-27D9-4F3E-86B9-E3F1565AB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81300"/>
            <a:ext cx="312420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rPr>
              <a:t>检查结果是否满足原条件，并说明适用边界。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384E66-4000-411D-8C3F-CF9522E38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A5B615-5DD3-44BB-BB7F-69D2279E0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9 / 18</a:t>
            </a:r>
          </a:p>
        </p:txBody>
      </p:sp>
    </p:spTree>
    <p:extLst>
      <p:ext uri="{BB962C8B-B14F-4D97-AF65-F5344CB8AC3E}">
        <p14:creationId xmlns:p14="http://schemas.microsoft.com/office/powerpoint/2010/main" val="185540684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425f1554674e4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3BFABA-25AF-4C4A-85B6-9E4032946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6548E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6548E8"/>
                </a:solidFill>
                <a:latin typeface="Noto Sans SC"/>
                <a:ea typeface="Noto Sans SC"/>
                <a:cs typeface="Noto Sans SC"/>
              </a:rPr>
              <a:t>现代几何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0EE6FA-01BC-44FE-AF91-0B2590433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rPr>
              <a:t>方法对比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F08577-9BBE-42DC-A97F-3709BDDB8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A1AEDB-D509-48DD-9BFF-D2A84D193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4DC3A7-3B10-4F5F-8382-E9DEF8F42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同一问题可以有多条路径，但评价标准保持一致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54B353-B199-435F-B869-8DCCB7C9D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95525"/>
            <a:ext cx="5095875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CF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9A3E1E-3088-4AC4-915E-BBE730015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09800"/>
            <a:ext cx="5095875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6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138D77-73F2-46EE-99C5-D79794309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24100"/>
            <a:ext cx="571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4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0E316D-B7DC-45C1-905F-B2FB0D4CB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19350"/>
            <a:ext cx="4600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rPr>
              <a:t>路径 A｜直接判断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581C8A-9E50-4C0C-B7F0-D37CA14D4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19400"/>
            <a:ext cx="4600575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rPr>
              <a:t>步骤更少，适合条件清晰、证据完整的任务。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E3E3E0-41F8-4C6A-8880-43B51AD7A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295525"/>
            <a:ext cx="5095875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CF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03A16D-F3F4-495A-9EAC-F8A8EFECE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209800"/>
            <a:ext cx="5095875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6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A56EA6-490A-42D3-8119-4C2AE903A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324100"/>
            <a:ext cx="571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D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FD7DCA-BAAF-4A52-A7A3-510C4D025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419350"/>
            <a:ext cx="4600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rPr>
              <a:t>路径 B｜逐层验证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C4F1E9-E9F8-4410-ABFC-BA7BE2D48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819400"/>
            <a:ext cx="4600575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rPr>
              <a:t>检查更细，适合边界模糊或需要追溯依据的任务。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FE6D26-ED08-4F58-8BA3-452AE8976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DA35AF-FFFC-40FD-8780-5E695F66E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10 / 18</a:t>
            </a:r>
          </a:p>
        </p:txBody>
      </p:sp>
    </p:spTree>
    <p:extLst>
      <p:ext uri="{BB962C8B-B14F-4D97-AF65-F5344CB8AC3E}">
        <p14:creationId xmlns:p14="http://schemas.microsoft.com/office/powerpoint/2010/main" val="82186960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2c423e5efd4f2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018695-8798-48A0-A21C-FBE665234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6548E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6548E8"/>
                </a:solidFill>
                <a:latin typeface="Noto Sans SC"/>
                <a:ea typeface="Noto Sans SC"/>
                <a:cs typeface="Noto Sans SC"/>
              </a:rPr>
              <a:t>现代几何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AFE61A-9040-41AA-9E18-77FEF113A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rPr>
              <a:t>代码与实现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016948-AC4B-4BF8-8694-779A16005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02B069-B1B0-4CAF-ADA7-8C055F8EE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85779F-0807-4186-9AD7-127912FBE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证据页优先保证代码、公式和表格的可读性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D1919E-FAE5-4F25-BCAE-781F9A9B5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81225"/>
            <a:ext cx="1057275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CF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FB96FF-F5F4-4D92-97C9-9B08FA18F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1057275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211B3A"/>
          </a:solidFill>
          <a:ln xmlns:a="http://schemas.openxmlformats.org/drawingml/2006/main" w="9525">
            <a:solidFill>
              <a:srgbClr val="CFC6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35E930-FC48-4563-B24D-F73229277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09800"/>
            <a:ext cx="5715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4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49B9E4-9ED2-4D3D-BC8E-65D398FB9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05050"/>
            <a:ext cx="1007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7F5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7F5FF"/>
                </a:solidFill>
                <a:latin typeface="Noto Sans SC"/>
                <a:ea typeface="Noto Sans SC"/>
                <a:cs typeface="Noto Sans SC"/>
              </a:rPr>
              <a:t>可编辑代码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48A993-599E-4ED2-B3FC-E38FAAC45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05100"/>
            <a:ext cx="10077450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F7F5F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F7F5FF"/>
                </a:solidFill>
                <a:latin typeface="Noto Sans SC"/>
                <a:ea typeface="Noto Sans SC"/>
                <a:cs typeface="Noto Sans SC"/>
              </a:rPr>
              <a:t>function verify(input) {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F7F5F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F7F5FF"/>
                </a:solidFill>
                <a:latin typeface="Noto Sans SC"/>
                <a:ea typeface="Noto Sans SC"/>
                <a:cs typeface="Noto Sans SC"/>
              </a:rPr>
              <a:t>  const evidence = collect(input);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F7F5F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F7F5FF"/>
                </a:solidFill>
                <a:latin typeface="Noto Sans SC"/>
                <a:ea typeface="Noto Sans SC"/>
                <a:cs typeface="Noto Sans SC"/>
              </a:rPr>
              <a:t>  return evidence.every(item =&gt; item.valid);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F7F5F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F7F5FF"/>
                </a:solidFill>
                <a:latin typeface="Noto Sans SC"/>
                <a:ea typeface="Noto Sans SC"/>
                <a:cs typeface="Noto Sans SC"/>
              </a:rPr>
              <a:t>}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A8DFC6-A2D3-42F3-A778-CD74107EE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41C819-502E-4A5D-BAB0-8F8FE1F88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11 / 18</a:t>
            </a:r>
          </a:p>
        </p:txBody>
      </p:sp>
    </p:spTree>
    <p:extLst>
      <p:ext uri="{BB962C8B-B14F-4D97-AF65-F5344CB8AC3E}">
        <p14:creationId xmlns:p14="http://schemas.microsoft.com/office/powerpoint/2010/main" val="43460571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436c29172b488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5FD567-7F4A-47BB-A4DE-C6834E8EE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6548E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6548E8"/>
                </a:solidFill>
                <a:latin typeface="Noto Sans SC"/>
                <a:ea typeface="Noto Sans SC"/>
                <a:cs typeface="Noto Sans SC"/>
              </a:rPr>
              <a:t>现代几何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AA7208-F7CD-4FD6-B2FC-710AC6624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rPr>
              <a:t>证据核对表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37C82F-0428-4993-9A1E-01D6689D4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E7BD6C-F85A-4125-AD23-68519B950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495A71-3E53-407C-A05B-1746D0C26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把结论、证据与限制条件放到同一张表中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553D8C-3F54-4C71-8282-01A14C211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76475"/>
            <a:ext cx="3314700" cy="33337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CF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CB7A31-2559-4147-ACB5-B62D13B67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3314700" cy="33337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6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EB2FAD-D3FD-498B-985A-AFB8FD211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05050"/>
            <a:ext cx="571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4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07411D-A99E-497C-9719-7F0C8B4C5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rPr>
              <a:t>结论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BBF80A-5348-40FF-B011-50B4568F3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00350"/>
            <a:ext cx="281940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rPr>
              <a:t>当前判断可成立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CEA875-1A89-4B2B-84F8-BFB2FBA9A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76475"/>
            <a:ext cx="3314700" cy="33337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CF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33F0B9-FF09-4AC7-B2BF-4BCEC2F5D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90750"/>
            <a:ext cx="3314700" cy="33337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211B3A"/>
          </a:solidFill>
          <a:ln xmlns:a="http://schemas.openxmlformats.org/drawingml/2006/main" w="9525">
            <a:solidFill>
              <a:srgbClr val="CFC6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955247-2064-49F8-9669-C0E077D8D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05050"/>
            <a:ext cx="571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4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556454-2EEB-473B-9E16-42E15E05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4003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7F5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7F5FF"/>
                </a:solidFill>
                <a:latin typeface="Noto Sans SC"/>
                <a:ea typeface="Noto Sans SC"/>
                <a:cs typeface="Noto Sans SC"/>
              </a:rPr>
              <a:t>证据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E13D8D-3E59-4363-96E5-675ED05C5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800350"/>
            <a:ext cx="281940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F7F5F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F7F5FF"/>
                </a:solidFill>
                <a:latin typeface="Noto Sans SC"/>
                <a:ea typeface="Noto Sans SC"/>
                <a:cs typeface="Noto Sans SC"/>
              </a:rPr>
              <a:t>数据、过程与来源相互支持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50A4BD-0869-4DAC-AEDC-BE5099C9F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276475"/>
            <a:ext cx="3314700" cy="33337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CF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122540-7B96-4F38-A91A-2C34D81AB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314700" cy="33337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6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B59DC9-C36C-46F6-94D1-B4A23C846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05050"/>
            <a:ext cx="571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4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5E08A0-3E2C-4AD6-B08D-8E7AE63E5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003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rPr>
              <a:t>限制条件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B713D8-7E85-4E88-B661-0E3892F01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00350"/>
            <a:ext cx="281940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rPr>
              <a:t>仅适用于已声明的条件范围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B97FE7-4BC1-427F-92DB-DB1DFAED8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FD6C0F-6A5E-46F7-A220-98238A4DD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12 / 18</a:t>
            </a:r>
          </a:p>
        </p:txBody>
      </p:sp>
    </p:spTree>
    <p:extLst>
      <p:ext uri="{BB962C8B-B14F-4D97-AF65-F5344CB8AC3E}">
        <p14:creationId xmlns:p14="http://schemas.microsoft.com/office/powerpoint/2010/main" val="203274844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da1e728ac644b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59080E-6048-4E27-AB9C-9E1456798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6548E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6548E8"/>
                </a:solidFill>
                <a:latin typeface="Noto Sans SC"/>
                <a:ea typeface="Noto Sans SC"/>
                <a:cs typeface="Noto Sans SC"/>
              </a:rPr>
              <a:t>现代几何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45F67B-2189-40C5-9536-C4D68E11D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rPr>
              <a:t>理解检查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9BBF64-8B65-4C5A-B59D-A5FF44892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576D1B-8C52-4BC4-98EC-487D29ECD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E5C160-88DC-42D1-8DE9-9FAFB6B89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先独立作答，再展开判断依据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21BFEF-FF3B-426F-98D5-546B8EE0C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38375"/>
            <a:ext cx="1057275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CF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A912AF-3BBC-402B-9811-9D414EFDB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52650"/>
            <a:ext cx="1057275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6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1AB325-D4D0-48D9-9093-78750A224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571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8B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236D4B-8778-4180-B186-05F9D5F9C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62200"/>
            <a:ext cx="1007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rPr>
              <a:t>问题 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A2FE3A-4D8F-49B1-A721-854442CDE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1007745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rPr>
              <a:t>请判断给定方案是否满足定义，并写出两条可核验的判断依据。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EBB433-23BE-473F-B15B-49DF6EB95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BA963D-D23A-45CA-A6FA-EA6D59F0D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13 / 18</a:t>
            </a:r>
          </a:p>
        </p:txBody>
      </p:sp>
    </p:spTree>
    <p:extLst>
      <p:ext uri="{BB962C8B-B14F-4D97-AF65-F5344CB8AC3E}">
        <p14:creationId xmlns:p14="http://schemas.microsoft.com/office/powerpoint/2010/main" val="25314787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95d8d7f77640d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D949F5-83AE-4CF7-A6C4-E63889C6C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6548E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6548E8"/>
                </a:solidFill>
                <a:latin typeface="Noto Sans SC"/>
                <a:ea typeface="Noto Sans SC"/>
                <a:cs typeface="Noto Sans SC"/>
              </a:rPr>
              <a:t>现代几何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A0AA06-F3F6-447F-B088-68772C66C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rPr>
              <a:t>反馈与订正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CC753B-6ADB-4079-9D17-7118788F2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813578-9646-4887-B5AC-49D44BCA0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870A3A-82F5-4604-A685-8B38549BB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反馈指出差距，也给出下一步行动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1F0C0E-75D4-4FBE-BD7A-671BDB8F9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38375"/>
            <a:ext cx="5095875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CF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EE9405-B0D7-4932-A44E-9A9FA9F87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52650"/>
            <a:ext cx="5095875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6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A1002D-66A4-453A-81FF-4A0CB0CA4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571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8B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59BE3E-E993-4345-B45C-CFBD2B7D8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62200"/>
            <a:ext cx="4600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rPr>
              <a:t>你的回答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28A716-5269-4766-997A-9FA180C1F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4600575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rPr>
              <a:t>先保留学习者的原始判断与理由。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365712-318C-4A5B-B293-234F92867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238375"/>
            <a:ext cx="5095875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CF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10E94A-01F2-4018-BB06-C6A9A926F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152650"/>
            <a:ext cx="5095875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6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322209-8D2E-40D8-9A85-2BE6E1548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266950"/>
            <a:ext cx="571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D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521AEE-9E15-4CE3-9770-82073BEC0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362200"/>
            <a:ext cx="4600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rPr>
              <a:t>反馈依据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9E54A3-5C8E-4DC6-9795-AE9651CAA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762250"/>
            <a:ext cx="4600575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rPr>
              <a:t>指出已掌握部分、证据缺口和下一步行动。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D9297C-1C8B-4261-8E8C-38AB5DB27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49890A-2536-44F1-B99E-FE4E48BE7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14 / 18</a:t>
            </a:r>
          </a:p>
        </p:txBody>
      </p:sp>
    </p:spTree>
    <p:extLst>
      <p:ext uri="{BB962C8B-B14F-4D97-AF65-F5344CB8AC3E}">
        <p14:creationId xmlns:p14="http://schemas.microsoft.com/office/powerpoint/2010/main" val="370035648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bcc05c65204ff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49D01B-671C-492F-9402-517245079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6548E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6548E8"/>
                </a:solidFill>
                <a:latin typeface="Noto Sans SC"/>
                <a:ea typeface="Noto Sans SC"/>
                <a:cs typeface="Noto Sans SC"/>
              </a:rPr>
              <a:t>现代几何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8DC122-D8D7-4112-8939-777E4F12D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rPr>
              <a:t>易错辨析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15512B-CBFC-43E0-A65C-1D05E7243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386243-04CC-4A4B-92BB-7F923D060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F6079C-7740-4EEE-A2DE-1FD9E00B1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错误答案通常来自边界混淆，而不是记忆不足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B335BD-BC6E-432E-A4F2-E416B75A1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38375"/>
            <a:ext cx="5095875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CF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065153-ACA1-442D-A557-514061835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52650"/>
            <a:ext cx="5095875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6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0E3F30-A2E1-4D1E-BF57-70CD0AD56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571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51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175677-F8EF-4C9B-AF38-054755F3F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62200"/>
            <a:ext cx="4600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rPr>
              <a:t>常见误区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BACFA9-13A7-4B5F-9BBB-FE25D7309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4600575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rPr>
              <a:t>只记住结论，却忽略结论成立的条件。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B4C8D9-D511-406A-AA89-5B82FC487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238375"/>
            <a:ext cx="5095875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CF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E73A52-0902-4FAD-B5C5-D36AAD1E5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152650"/>
            <a:ext cx="5095875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6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7323CC-7AD0-4EBE-BE62-339136DC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266950"/>
            <a:ext cx="571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D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C326F1-F85A-46DB-A7FD-524D9EDB7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362200"/>
            <a:ext cx="4600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rPr>
              <a:t>修正策略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8654ED-280D-40E5-BCE7-F62501852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762250"/>
            <a:ext cx="4600575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rPr>
              <a:t>把条件、证据和边界重新连接起来。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178EA6-D01D-4B5D-8128-5A2D5B8D3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270D7F-94A6-4B40-99C0-74B79DCD9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15 / 18</a:t>
            </a:r>
          </a:p>
        </p:txBody>
      </p:sp>
    </p:spTree>
    <p:extLst>
      <p:ext uri="{BB962C8B-B14F-4D97-AF65-F5344CB8AC3E}">
        <p14:creationId xmlns:p14="http://schemas.microsoft.com/office/powerpoint/2010/main" val="1055194959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981990061e465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4E2ACE-0622-4532-93DE-7DC5D8C0D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6548E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6548E8"/>
                </a:solidFill>
                <a:latin typeface="Noto Sans SC"/>
                <a:ea typeface="Noto Sans SC"/>
                <a:cs typeface="Noto Sans SC"/>
              </a:rPr>
              <a:t>现代几何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7BFBF9-1E08-4270-BEA9-BCF2FE9B3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rPr>
              <a:t>迁移应用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F40EF5-916C-488F-B03F-B6F329230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0CC48A-689F-4709-879A-70AAF555A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552BF4-725A-4926-BFE5-5CFFB46E1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把方法映射到新的任务情境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2BBB8D-7F4F-450D-929E-E6DA187CA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14575"/>
            <a:ext cx="49530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CF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8B893F-58B3-4524-B96B-EF08337E0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28850"/>
            <a:ext cx="49530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6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14650F-7A57-431C-8B25-EBB9AD5E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43150"/>
            <a:ext cx="571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4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64A1AD-5857-49FA-B107-B629A5C83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38400"/>
            <a:ext cx="445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rPr>
              <a:t>原任务结构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9CA2B0-E35E-4F69-9EFC-4B3AE1634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445770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rPr>
              <a:t>对象 → 条件 → 方法 → 证据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C66C23-547F-4BF4-BF6A-2BB55E9B5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14575"/>
            <a:ext cx="49530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CF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0B2D8E-EE1B-47BD-94EC-A12320DFF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28850"/>
            <a:ext cx="49530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6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27BE34-072B-46BE-A682-0981CE2DF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43150"/>
            <a:ext cx="571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D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703EDB-0069-4481-BE6A-E862081A2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38400"/>
            <a:ext cx="445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rPr>
              <a:t>新情境映射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572FA2-C2D5-4787-ACE8-2BD725A0F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38450"/>
            <a:ext cx="445770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rPr>
              <a:t>保留结构，替换对象与限制条件。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B5B6E2-D9F9-49F0-90F0-57DDDA57D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C8A54E-5CBF-4311-92EC-93436A332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16 / 18</a:t>
            </a:r>
          </a:p>
        </p:txBody>
      </p:sp>
    </p:spTree>
    <p:extLst>
      <p:ext uri="{BB962C8B-B14F-4D97-AF65-F5344CB8AC3E}">
        <p14:creationId xmlns:p14="http://schemas.microsoft.com/office/powerpoint/2010/main" val="902098233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433641afed4c8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EDCA50-ECD3-4D34-B026-7DCB89E21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6548E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6548E8"/>
                </a:solidFill>
                <a:latin typeface="Noto Sans SC"/>
                <a:ea typeface="Noto Sans SC"/>
                <a:cs typeface="Noto Sans SC"/>
              </a:rPr>
              <a:t>现代几何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B96238-41D5-4095-A43C-E9D003870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rPr>
              <a:t>本章回顾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B8C159-5136-46AC-9AEF-C359ABCA4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CECC46-3576-4FEE-BF18-7857CC904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CCB5E0-BFF9-4D6C-A236-9F3C6061E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让定义、方法、证据和边界重新汇聚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CAF806-F6DA-46BD-921B-BBAE340F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24193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CF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99D53B-6ED8-464F-9F0C-CC6B4105B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57450"/>
            <a:ext cx="24193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6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1B3CE9-B4ED-4BA4-AEFF-8579F71EF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571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4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6A2356-D3AD-4D1C-BC0E-54923C1D8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289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6548E8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6548E8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14C130-43EB-4827-845D-F976E14D4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6700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rPr>
              <a:t>定义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26218C-D34B-42C1-BBBA-5F79D8FBD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67050"/>
            <a:ext cx="19240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rPr>
              <a:t>说清对象和条件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535EB0-BD47-4298-AA94-7803BCA84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43175"/>
            <a:ext cx="24193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CF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F05BF7-FCAB-4917-BBB4-922E19CC9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457450"/>
            <a:ext cx="24193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6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2EB28E-1C90-4351-A10A-8291553AF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571750"/>
            <a:ext cx="571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4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0F1A44-BE27-41F5-A32F-20B82C36A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289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6548E8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6548E8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7E30E2-4C5B-46D9-8252-B1CCBAC23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66700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rPr>
              <a:t>方法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45E228-A174-4F86-8565-4F521F977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067050"/>
            <a:ext cx="19240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rPr>
              <a:t>拆成可检查步骤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E45922-A7A2-4792-8368-D49C8E805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43175"/>
            <a:ext cx="24193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CF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BB3F8B-797E-4C6B-AF30-5D491FF7F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57450"/>
            <a:ext cx="24193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6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4F8C54-C2F8-4DAA-9A1B-078D2C8DC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71750"/>
            <a:ext cx="571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4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059C58-1649-4DB7-A874-16F2CAE2A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289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6548E8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6548E8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AE8E5E-A0E1-4B8D-97B5-1F01800D5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6700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rPr>
              <a:t>证据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4D1AAC-D2BB-4F5B-9435-E0872625D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67050"/>
            <a:ext cx="19240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rPr>
              <a:t>核验来源与过程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147F59-B133-42B3-9C39-9B37815A5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43175"/>
            <a:ext cx="24193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CF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3B0AD5-09AA-4B55-A2CB-7B6830255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57450"/>
            <a:ext cx="24193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6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B79DC4-EE75-4164-A0BF-30F4EA133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71750"/>
            <a:ext cx="571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D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AE6300-BF2E-44D4-9E35-6FE3D75C4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289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38D85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138D85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C5125C-128D-435F-8C33-4D511DCB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66700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rPr>
              <a:t>边界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46ADA94-5367-425E-A076-AE5490F67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067050"/>
            <a:ext cx="19240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rPr>
              <a:t>说明何时不适用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36A3D8F-CD55-45F3-BDB5-66D0B51B0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1E0FC25-034D-40B5-97DC-53CDEABAD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17 / 18</a:t>
            </a:r>
          </a:p>
        </p:txBody>
      </p:sp>
    </p:spTree>
    <p:extLst>
      <p:ext uri="{BB962C8B-B14F-4D97-AF65-F5344CB8AC3E}">
        <p14:creationId xmlns:p14="http://schemas.microsoft.com/office/powerpoint/2010/main" val="1012719470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eade03c888444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14DF83-620B-405E-90FF-0442AED1C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6548E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6548E8"/>
                </a:solidFill>
                <a:latin typeface="Noto Sans SC"/>
                <a:ea typeface="Noto Sans SC"/>
                <a:cs typeface="Noto Sans SC"/>
              </a:rPr>
              <a:t>现代几何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511FA2-B690-4A9D-97A6-3C1730BA8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rPr>
              <a:t>课程收束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377189-D26F-4E38-87E4-D8EE870E5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EC39AD-DCD6-4A03-9A24-2744D9AE8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89062D-9019-4534-A64C-660D854F1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带着一个可执行的问题离开课堂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9F9AE8-9E34-4D93-8374-AC006EBD8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466975"/>
            <a:ext cx="87630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CF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9DB3D7-7F42-484B-BD33-05B25F136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381250"/>
            <a:ext cx="87630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6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FB5BED-F4FA-4AAD-9FC7-739940F1F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495550"/>
            <a:ext cx="571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4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708A74-10A2-44B7-A693-8DE4B51FE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590800"/>
            <a:ext cx="826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31A4A"/>
                </a:solidFill>
                <a:latin typeface="Noto Sans SC"/>
                <a:ea typeface="Noto Sans SC"/>
                <a:cs typeface="Noto Sans SC"/>
              </a:rPr>
              <a:t>离堂问题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496063-A3EE-412E-A32F-497F192A1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990850"/>
            <a:ext cx="82677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63D62"/>
                </a:solidFill>
                <a:latin typeface="Noto Sans SC"/>
                <a:ea typeface="Noto Sans SC"/>
                <a:cs typeface="Noto Sans SC"/>
              </a:rPr>
              <a:t>你准备把今天的方法用于哪个真实任务？下一步要收集什么证据？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361B5E-1EBE-4C4F-9572-569BD5001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F4A64C-A7EA-426D-B12B-F5A52F256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46C8B"/>
                </a:solidFill>
                <a:latin typeface="Noto Sans SC"/>
                <a:ea typeface="Noto Sans SC"/>
                <a:cs typeface="Noto Sans SC"/>
              </a:rPr>
              <a:t>18 / 18</a:t>
            </a:r>
          </a:p>
        </p:txBody>
      </p:sp>
    </p:spTree>
    <p:extLst>
      <p:ext uri="{BB962C8B-B14F-4D97-AF65-F5344CB8AC3E}">
        <p14:creationId xmlns:p14="http://schemas.microsoft.com/office/powerpoint/2010/main" val="16951085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2026-08-10T07:19:42.2490000Z</dcterms:created>
  <dcterms:modified xsi:type="dcterms:W3CDTF">2026-08-10T07:19:42.2490000Z</dcterms:modified>
</coreProperties>
</file>