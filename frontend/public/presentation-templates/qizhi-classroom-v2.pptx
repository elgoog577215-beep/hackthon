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de4dc55fac48e2" /><Relationship Type="http://schemas.openxmlformats.org/officeDocument/2006/relationships/extended-properties" Target="/docProps/app.xml" Id="R8bbee9512d7c48cf" /><Relationship Type="http://schemas.openxmlformats.org/officeDocument/2006/relationships/officeDocument" Target="/ppt/presentation.xml" Id="Rff294117ae3a437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f8cc28b80594cd8"/>
  </p:sldMasterIdLst>
  <p:notesMasterIdLst>
    <p:notesMasterId xmlns:r="http://schemas.openxmlformats.org/officeDocument/2006/relationships" r:id="R3b8d639a3d52492f"/>
  </p:notesMasterIdLst>
  <p:sldIdLst>
    <p:sldId xmlns:r="http://schemas.openxmlformats.org/officeDocument/2006/relationships" id="256" r:id="R991705bb3ce04917"/>
    <p:sldId xmlns:r="http://schemas.openxmlformats.org/officeDocument/2006/relationships" id="257" r:id="R9f3d9090441b4792"/>
    <p:sldId xmlns:r="http://schemas.openxmlformats.org/officeDocument/2006/relationships" id="258" r:id="R887536060d4348db"/>
    <p:sldId xmlns:r="http://schemas.openxmlformats.org/officeDocument/2006/relationships" id="259" r:id="Rf3567ef9f2d54b2e"/>
    <p:sldId xmlns:r="http://schemas.openxmlformats.org/officeDocument/2006/relationships" id="260" r:id="Rd3c89bda377c4271"/>
    <p:sldId xmlns:r="http://schemas.openxmlformats.org/officeDocument/2006/relationships" id="261" r:id="R0f1b84cfaa414e87"/>
    <p:sldId xmlns:r="http://schemas.openxmlformats.org/officeDocument/2006/relationships" id="262" r:id="R079962b5192e4911"/>
    <p:sldId xmlns:r="http://schemas.openxmlformats.org/officeDocument/2006/relationships" id="263" r:id="Rb5fccc3cd4234d2e"/>
    <p:sldId xmlns:r="http://schemas.openxmlformats.org/officeDocument/2006/relationships" id="264" r:id="Re5ed182116824921"/>
    <p:sldId xmlns:r="http://schemas.openxmlformats.org/officeDocument/2006/relationships" id="265" r:id="Rba3cb64c8d804e31"/>
    <p:sldId xmlns:r="http://schemas.openxmlformats.org/officeDocument/2006/relationships" id="266" r:id="R178b0638c02b45c8"/>
    <p:sldId xmlns:r="http://schemas.openxmlformats.org/officeDocument/2006/relationships" id="267" r:id="R3b16d1d939cb4dc6"/>
    <p:sldId xmlns:r="http://schemas.openxmlformats.org/officeDocument/2006/relationships" id="268" r:id="Rf8646326a0c84305"/>
    <p:sldId xmlns:r="http://schemas.openxmlformats.org/officeDocument/2006/relationships" id="269" r:id="Rb7918779f7c040c4"/>
    <p:sldId xmlns:r="http://schemas.openxmlformats.org/officeDocument/2006/relationships" id="270" r:id="Rb25bd614c25a4c37"/>
    <p:sldId xmlns:r="http://schemas.openxmlformats.org/officeDocument/2006/relationships" id="271" r:id="R518ea43fe6b24567"/>
    <p:sldId xmlns:r="http://schemas.openxmlformats.org/officeDocument/2006/relationships" id="272" r:id="R3e956be02b574f77"/>
    <p:sldId xmlns:r="http://schemas.openxmlformats.org/officeDocument/2006/relationships" id="273" r:id="R5ea61fe6e2a0402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fa69b81fe2941b0" /><Relationship Type="http://schemas.openxmlformats.org/officeDocument/2006/relationships/slideMaster" Target="/ppt/slideMasters/slideMaster1.xml" Id="Rff8cc28b80594cd8" /><Relationship Type="http://schemas.openxmlformats.org/officeDocument/2006/relationships/notesMaster" Target="/ppt/notesMasters/notesMaster1.xml" Id="R3b8d639a3d52492f" /><Relationship Type="http://schemas.openxmlformats.org/officeDocument/2006/relationships/presProps" Target="/ppt/presProps.xml" Id="Rf1800652eac448e0" /><Relationship Type="http://schemas.openxmlformats.org/officeDocument/2006/relationships/tableStyles" Target="/ppt/tableStyles.xml" Id="Rec63e5bf22524a1c" /><Relationship Type="http://schemas.openxmlformats.org/officeDocument/2006/relationships/slide" Target="/ppt/slides/slide1.xml" Id="R991705bb3ce04917" /><Relationship Type="http://schemas.openxmlformats.org/officeDocument/2006/relationships/slide" Target="/ppt/slides/slide2.xml" Id="R9f3d9090441b4792" /><Relationship Type="http://schemas.openxmlformats.org/officeDocument/2006/relationships/slide" Target="/ppt/slides/slide3.xml" Id="R887536060d4348db" /><Relationship Type="http://schemas.openxmlformats.org/officeDocument/2006/relationships/slide" Target="/ppt/slides/slide4.xml" Id="Rf3567ef9f2d54b2e" /><Relationship Type="http://schemas.openxmlformats.org/officeDocument/2006/relationships/slide" Target="/ppt/slides/slide5.xml" Id="Rd3c89bda377c4271" /><Relationship Type="http://schemas.openxmlformats.org/officeDocument/2006/relationships/slide" Target="/ppt/slides/slide6.xml" Id="R0f1b84cfaa414e87" /><Relationship Type="http://schemas.openxmlformats.org/officeDocument/2006/relationships/slide" Target="/ppt/slides/slide7.xml" Id="R079962b5192e4911" /><Relationship Type="http://schemas.openxmlformats.org/officeDocument/2006/relationships/slide" Target="/ppt/slides/slide8.xml" Id="Rb5fccc3cd4234d2e" /><Relationship Type="http://schemas.openxmlformats.org/officeDocument/2006/relationships/slide" Target="/ppt/slides/slide9.xml" Id="Re5ed182116824921" /><Relationship Type="http://schemas.openxmlformats.org/officeDocument/2006/relationships/slide" Target="/ppt/slides/slide10.xml" Id="Rba3cb64c8d804e31" /><Relationship Type="http://schemas.openxmlformats.org/officeDocument/2006/relationships/slide" Target="/ppt/slides/slide11.xml" Id="R178b0638c02b45c8" /><Relationship Type="http://schemas.openxmlformats.org/officeDocument/2006/relationships/slide" Target="/ppt/slides/slide12.xml" Id="R3b16d1d939cb4dc6" /><Relationship Type="http://schemas.openxmlformats.org/officeDocument/2006/relationships/slide" Target="/ppt/slides/slide13.xml" Id="Rf8646326a0c84305" /><Relationship Type="http://schemas.openxmlformats.org/officeDocument/2006/relationships/slide" Target="/ppt/slides/slide14.xml" Id="Rb7918779f7c040c4" /><Relationship Type="http://schemas.openxmlformats.org/officeDocument/2006/relationships/slide" Target="/ppt/slides/slide15.xml" Id="Rb25bd614c25a4c37" /><Relationship Type="http://schemas.openxmlformats.org/officeDocument/2006/relationships/slide" Target="/ppt/slides/slide16.xml" Id="R518ea43fe6b24567" /><Relationship Type="http://schemas.openxmlformats.org/officeDocument/2006/relationships/slide" Target="/ppt/slides/slide17.xml" Id="R3e956be02b574f77" /><Relationship Type="http://schemas.openxmlformats.org/officeDocument/2006/relationships/slide" Target="/ppt/slides/slide18.xml" Id="R5ea61fe6e2a0402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028c8c9aac4fe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a0880a5286e43c1" /><Relationship Type="http://schemas.openxmlformats.org/officeDocument/2006/relationships/notesMaster" Target="/ppt/notesMasters/notesMaster1.xml" Id="Rbf320095c0a641b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80ed3e4893d4947" /><Relationship Type="http://schemas.openxmlformats.org/officeDocument/2006/relationships/notesMaster" Target="/ppt/notesMasters/notesMaster1.xml" Id="Rc33ab295b09c454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912e835169e4e26" /><Relationship Type="http://schemas.openxmlformats.org/officeDocument/2006/relationships/notesMaster" Target="/ppt/notesMasters/notesMaster1.xml" Id="R54909a0a208d460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a28a2dba1ac4254" /><Relationship Type="http://schemas.openxmlformats.org/officeDocument/2006/relationships/notesMaster" Target="/ppt/notesMasters/notesMaster1.xml" Id="R9b0e933a40b1491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07e882a45e24fb5" /><Relationship Type="http://schemas.openxmlformats.org/officeDocument/2006/relationships/notesMaster" Target="/ppt/notesMasters/notesMaster1.xml" Id="R041414e1c7aa4f0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7b8210c7f964de3" /><Relationship Type="http://schemas.openxmlformats.org/officeDocument/2006/relationships/notesMaster" Target="/ppt/notesMasters/notesMaster1.xml" Id="Rfb1eee2d8a8545e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13803cecca34cce" /><Relationship Type="http://schemas.openxmlformats.org/officeDocument/2006/relationships/notesMaster" Target="/ppt/notesMasters/notesMaster1.xml" Id="R6826443f039a4bd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77e51fa086b43d3" /><Relationship Type="http://schemas.openxmlformats.org/officeDocument/2006/relationships/notesMaster" Target="/ppt/notesMasters/notesMaster1.xml" Id="R4463e5e7515e4d3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a7681e3381c4de3" /><Relationship Type="http://schemas.openxmlformats.org/officeDocument/2006/relationships/notesMaster" Target="/ppt/notesMasters/notesMaster1.xml" Id="R005ce994c95e46d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fcb73920f694e3c" /><Relationship Type="http://schemas.openxmlformats.org/officeDocument/2006/relationships/notesMaster" Target="/ppt/notesMasters/notesMaster1.xml" Id="R34dc99a1f39c4da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d38023ca37747fc" /><Relationship Type="http://schemas.openxmlformats.org/officeDocument/2006/relationships/notesMaster" Target="/ppt/notesMasters/notesMaster1.xml" Id="Rf0f9dc3f3dec470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e678c7cd6ef417b" /><Relationship Type="http://schemas.openxmlformats.org/officeDocument/2006/relationships/notesMaster" Target="/ppt/notesMasters/notesMaster1.xml" Id="R213d6a7cc7464b6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e7db49bd74943b0" /><Relationship Type="http://schemas.openxmlformats.org/officeDocument/2006/relationships/notesMaster" Target="/ppt/notesMasters/notesMaster1.xml" Id="Rdfe90caa54db4c2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698f637484e4213" /><Relationship Type="http://schemas.openxmlformats.org/officeDocument/2006/relationships/notesMaster" Target="/ppt/notesMasters/notesMaster1.xml" Id="R7798266f363749e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a46fd21de2b4eb1" /><Relationship Type="http://schemas.openxmlformats.org/officeDocument/2006/relationships/notesMaster" Target="/ppt/notesMasters/notesMaster1.xml" Id="Ra7bbac68e1864b8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f47b9e5336b4271" /><Relationship Type="http://schemas.openxmlformats.org/officeDocument/2006/relationships/notesMaster" Target="/ppt/notesMasters/notesMaster1.xml" Id="Raa37d47f64c048f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152a3645be44a98" /><Relationship Type="http://schemas.openxmlformats.org/officeDocument/2006/relationships/notesMaster" Target="/ppt/notesMasters/notesMaster1.xml" Id="R6600e932304142b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5822c5ab8a248c7" /><Relationship Type="http://schemas.openxmlformats.org/officeDocument/2006/relationships/notesMaster" Target="/ppt/notesMasters/notesMaster1.xml" Id="R55d326ca749f4f4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system and sample copy: original project work for Qizhi Classroom V2.</a:t>
            </a:r>
          </a:p>
          <a:p xmlns:a="http://schemas.openxmlformats.org/drawingml/2006/main">
            <a:r>
              <a:t>- Qizhi background assets: generated with the built-in OpenAI image generation tool; prompts recorded in source-notes.txt.</a:t>
            </a:r>
          </a:p>
          <a:p xmlns:a="http://schemas.openxmlformats.org/drawingml/2006/main">
            <a:r>
              <a:t>- Cover background generated with the built-in OpenAI image generation tool; prompt recorded in source-notes.txt.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system and sample copy: original project work for Qizhi Classroom V2.</a:t>
            </a:r>
          </a:p>
          <a:p xmlns:a="http://schemas.openxmlformats.org/drawingml/2006/main">
            <a:r>
              <a:t>- Qizhi background assets: generated with the built-in OpenAI image generation tool; prompts recorded in source-notes.txt.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system and sample copy: original project work for Qizhi Classroom V2.</a:t>
            </a:r>
          </a:p>
          <a:p xmlns:a="http://schemas.openxmlformats.org/drawingml/2006/main">
            <a:r>
              <a:t>- Qizhi background assets: generated with the built-in OpenAI image generation tool; prompts recorded in source-notes.txt.</a:t>
            </a:r>
          </a:p>
          <a:p xmlns:a="http://schemas.openxmlformats.org/drawingml/2006/main">
            <a:r>
              <a:t>- Chapter background generated with the built-in OpenAI image generation tool; prompt recorded in source-notes.txt.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system and sample copy: original project work for Qizhi Classroom V2.</a:t>
            </a:r>
          </a:p>
          <a:p xmlns:a="http://schemas.openxmlformats.org/drawingml/2006/main">
            <a:r>
              <a:t>- Qizhi background assets: generated with the built-in OpenAI image generation tool; prompts recorded in source-notes.txt.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system and sample copy: original project work for Qizhi Classroom V2.</a:t>
            </a:r>
          </a:p>
          <a:p xmlns:a="http://schemas.openxmlformats.org/drawingml/2006/main">
            <a:r>
              <a:t>- Qizhi background assets: generated with the built-in OpenAI image generation tool; prompts recorded in source-notes.txt.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system and sample copy: original project work for Qizhi Classroom V2.</a:t>
            </a:r>
          </a:p>
          <a:p xmlns:a="http://schemas.openxmlformats.org/drawingml/2006/main">
            <a:r>
              <a:t>- Qizhi background assets: generated with the built-in OpenAI image generation tool; prompts recorded in source-notes.txt.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system and sample copy: original project work for Qizhi Classroom V2.</a:t>
            </a:r>
          </a:p>
          <a:p xmlns:a="http://schemas.openxmlformats.org/drawingml/2006/main">
            <a:r>
              <a:t>- Qizhi background assets: generated with the built-in OpenAI image generation tool; prompts recorded in source-notes.txt.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system and sample copy: original project work for Qizhi Classroom V2.</a:t>
            </a:r>
          </a:p>
          <a:p xmlns:a="http://schemas.openxmlformats.org/drawingml/2006/main">
            <a:r>
              <a:t>- Qizhi background assets: generated with the built-in OpenAI image generation tool; prompts recorded in source-notes.txt.</a:t>
            </a:r>
          </a:p>
          <a:p xmlns:a="http://schemas.openxmlformats.org/drawingml/2006/main">
            <a:r>
              <a:t>- Illustration crop uses the generated Qizhi Classroom cover asset.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system and sample copy: original project work for Qizhi Classroom V2.</a:t>
            </a:r>
          </a:p>
          <a:p xmlns:a="http://schemas.openxmlformats.org/drawingml/2006/main">
            <a:r>
              <a:t>- Qizhi background assets: generated with the built-in OpenAI image generation tool; prompts recorded in source-notes.txt.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system and sample copy: original project work for Qizhi Classroom V2.</a:t>
            </a:r>
          </a:p>
          <a:p xmlns:a="http://schemas.openxmlformats.org/drawingml/2006/main">
            <a:r>
              <a:t>- Qizhi background assets: generated with the built-in OpenAI image generation tool; prompts recorded in source-notes.txt.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system and sample copy: original project work for Qizhi Classroom V2.</a:t>
            </a:r>
          </a:p>
          <a:p xmlns:a="http://schemas.openxmlformats.org/drawingml/2006/main">
            <a:r>
              <a:t>- Qizhi background assets: generated with the built-in OpenAI image generation tool; prompts recorded in source-notes.txt.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system and sample copy: original project work for Qizhi Classroom V2.</a:t>
            </a:r>
          </a:p>
          <a:p xmlns:a="http://schemas.openxmlformats.org/drawingml/2006/main">
            <a:r>
              <a:t>- Qizhi background assets: generated with the built-in OpenAI image generation tool; prompts recorded in source-notes.txt.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system and sample copy: original project work for Qizhi Classroom V2.</a:t>
            </a:r>
          </a:p>
          <a:p xmlns:a="http://schemas.openxmlformats.org/drawingml/2006/main">
            <a:r>
              <a:t>- Qizhi background assets: generated with the built-in OpenAI image generation tool; prompts recorded in source-notes.txt.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system and sample copy: original project work for Qizhi Classroom V2.</a:t>
            </a:r>
          </a:p>
          <a:p xmlns:a="http://schemas.openxmlformats.org/drawingml/2006/main">
            <a:r>
              <a:t>- Qizhi background assets: generated with the built-in OpenAI image generation tool; prompts recorded in source-notes.txt.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system and sample copy: original project work for Qizhi Classroom V2.</a:t>
            </a:r>
          </a:p>
          <a:p xmlns:a="http://schemas.openxmlformats.org/drawingml/2006/main">
            <a:r>
              <a:t>- Qizhi background assets: generated with the built-in OpenAI image generation tool; prompts recorded in source-notes.txt.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system and sample copy: original project work for Qizhi Classroom V2.</a:t>
            </a:r>
          </a:p>
          <a:p xmlns:a="http://schemas.openxmlformats.org/drawingml/2006/main">
            <a:r>
              <a:t>- Qizhi background assets: generated with the built-in OpenAI image generation tool; prompts recorded in source-notes.txt.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system and sample copy: original project work for Qizhi Classroom V2.</a:t>
            </a:r>
          </a:p>
          <a:p xmlns:a="http://schemas.openxmlformats.org/drawingml/2006/main">
            <a:r>
              <a:t>- Qizhi background assets: generated with the built-in OpenAI image generation tool; prompts recorded in source-notes.txt.</a:t>
            </a:r>
          </a:p>
          <a:p xmlns:a="http://schemas.openxmlformats.org/drawingml/2006/main">
            <a:r>
              <a:t>- Recap background generated with the built-in OpenAI image generation tool; prompt recorded in source-notes.txt.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system and sample copy: original project work for Qizhi Classroom V2.</a:t>
            </a:r>
          </a:p>
          <a:p xmlns:a="http://schemas.openxmlformats.org/drawingml/2006/main">
            <a:r>
              <a:t>- Qizhi background assets: generated with the built-in OpenAI image generation tool; prompts recorded in source-notes.txt.</a:t>
            </a:r>
          </a:p>
          <a:p xmlns:a="http://schemas.openxmlformats.org/drawingml/2006/main">
            <a:r>
              <a:t>- Closing background uses the generated Qizhi Classroom recap asset.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547826e42b4ce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2e986c537564c97" /><Relationship Type="http://schemas.openxmlformats.org/officeDocument/2006/relationships/slideLayout" Target="/ppt/slideLayouts/slideLayout1.xml" Id="Rab71d7846b1c4b5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b71d7846b1c4b5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44331689dc4aec" /><Relationship Type="http://schemas.openxmlformats.org/officeDocument/2006/relationships/image" Target="/ppt/media/image.jpeg" Id="R7f386d272df543ea" /><Relationship Type="http://schemas.openxmlformats.org/officeDocument/2006/relationships/notesSlide" Target="/ppt/notesSlides/notesSlide1.xml" Id="Rb288dfda4e8348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a30371aca84e8c" /><Relationship Type="http://schemas.openxmlformats.org/officeDocument/2006/relationships/image" Target="/ppt/media/image2.jpeg" Id="R1b85aa9bddba405c" /><Relationship Type="http://schemas.openxmlformats.org/officeDocument/2006/relationships/notesSlide" Target="/ppt/notesSlides/notesSlide2.xml" Id="R1a162d15dd2e454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54c73ff6de4b9b" /><Relationship Type="http://schemas.openxmlformats.org/officeDocument/2006/relationships/image" Target="/ppt/media/image3.jpeg" Id="R730b662ee23b4b46" /><Relationship Type="http://schemas.openxmlformats.org/officeDocument/2006/relationships/notesSlide" Target="/ppt/notesSlides/notesSlide3.xml" Id="R92dfc7bd7d43498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87acc13c92411d" /><Relationship Type="http://schemas.openxmlformats.org/officeDocument/2006/relationships/image" Target="/ppt/media/image4.jpeg" Id="R7c39aa940de748a9" /><Relationship Type="http://schemas.openxmlformats.org/officeDocument/2006/relationships/notesSlide" Target="/ppt/notesSlides/notesSlide4.xml" Id="Rcbe644df6e2d4c1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69c11122124788" /><Relationship Type="http://schemas.openxmlformats.org/officeDocument/2006/relationships/image" Target="/ppt/media/image5.jpeg" Id="R1f73727c7d004e12" /><Relationship Type="http://schemas.openxmlformats.org/officeDocument/2006/relationships/notesSlide" Target="/ppt/notesSlides/notesSlide5.xml" Id="Re525e30cc60046d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4f2f637fc841f9" /><Relationship Type="http://schemas.openxmlformats.org/officeDocument/2006/relationships/image" Target="/ppt/media/image6.jpeg" Id="R737502c161544169" /><Relationship Type="http://schemas.openxmlformats.org/officeDocument/2006/relationships/notesSlide" Target="/ppt/notesSlides/notesSlide6.xml" Id="Rddd4f36cfc4946a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6c959ffb7e492d" /><Relationship Type="http://schemas.openxmlformats.org/officeDocument/2006/relationships/image" Target="/ppt/media/image7.jpeg" Id="Rc7dc61c026fe478e" /><Relationship Type="http://schemas.openxmlformats.org/officeDocument/2006/relationships/notesSlide" Target="/ppt/notesSlides/notesSlide7.xml" Id="R1e09f105bbb4457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6ab223d286488f" /><Relationship Type="http://schemas.openxmlformats.org/officeDocument/2006/relationships/image" Target="/ppt/media/image8.jpeg" Id="R7b38ba436e0d4c73" /><Relationship Type="http://schemas.openxmlformats.org/officeDocument/2006/relationships/image" Target="/ppt/media/image9.jpeg" Id="R8471394b328346ff" /><Relationship Type="http://schemas.openxmlformats.org/officeDocument/2006/relationships/notesSlide" Target="/ppt/notesSlides/notesSlide8.xml" Id="Ra2694de44e6840f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0d1e37bbf64007" /><Relationship Type="http://schemas.openxmlformats.org/officeDocument/2006/relationships/image" Target="/ppt/media/image10.jpeg" Id="Rac10a97ee58b453a" /><Relationship Type="http://schemas.openxmlformats.org/officeDocument/2006/relationships/notesSlide" Target="/ppt/notesSlides/notesSlide9.xml" Id="Rebfd825098db446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5371d35c064e65" /><Relationship Type="http://schemas.openxmlformats.org/officeDocument/2006/relationships/image" Target="/ppt/media/image11.jpeg" Id="R434dcf694157478a" /><Relationship Type="http://schemas.openxmlformats.org/officeDocument/2006/relationships/notesSlide" Target="/ppt/notesSlides/notesSlide10.xml" Id="R8c777b3b6d0744a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bf51120c294005" /><Relationship Type="http://schemas.openxmlformats.org/officeDocument/2006/relationships/image" Target="/ppt/media/image12.jpeg" Id="R237d5d477ff5412f" /><Relationship Type="http://schemas.openxmlformats.org/officeDocument/2006/relationships/notesSlide" Target="/ppt/notesSlides/notesSlide11.xml" Id="R7e95ca5b9658471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f70ef29d224545" /><Relationship Type="http://schemas.openxmlformats.org/officeDocument/2006/relationships/image" Target="/ppt/media/image13.jpeg" Id="R5a2101444f704ae1" /><Relationship Type="http://schemas.openxmlformats.org/officeDocument/2006/relationships/notesSlide" Target="/ppt/notesSlides/notesSlide12.xml" Id="R7dbf4e79df884bf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6fb88e974a41c2" /><Relationship Type="http://schemas.openxmlformats.org/officeDocument/2006/relationships/image" Target="/ppt/media/image14.jpeg" Id="R97bd6f7cc1a94ecb" /><Relationship Type="http://schemas.openxmlformats.org/officeDocument/2006/relationships/notesSlide" Target="/ppt/notesSlides/notesSlide13.xml" Id="Ra69bb73902eb4d9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acaab7fb1949aa" /><Relationship Type="http://schemas.openxmlformats.org/officeDocument/2006/relationships/image" Target="/ppt/media/image15.jpeg" Id="R0b2502ceffd04d35" /><Relationship Type="http://schemas.openxmlformats.org/officeDocument/2006/relationships/notesSlide" Target="/ppt/notesSlides/notesSlide14.xml" Id="R6d8982c36fd0407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99cf5278b34f17" /><Relationship Type="http://schemas.openxmlformats.org/officeDocument/2006/relationships/image" Target="/ppt/media/image16.jpeg" Id="R4dc00dad8dd54d8a" /><Relationship Type="http://schemas.openxmlformats.org/officeDocument/2006/relationships/notesSlide" Target="/ppt/notesSlides/notesSlide15.xml" Id="Rdf500d9bfae442a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6ac45005e94ee7" /><Relationship Type="http://schemas.openxmlformats.org/officeDocument/2006/relationships/image" Target="/ppt/media/image17.jpeg" Id="Rfb4e388be41546ae" /><Relationship Type="http://schemas.openxmlformats.org/officeDocument/2006/relationships/notesSlide" Target="/ppt/notesSlides/notesSlide16.xml" Id="Refdd465b7721490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2058b07f1a4070" /><Relationship Type="http://schemas.openxmlformats.org/officeDocument/2006/relationships/image" Target="/ppt/media/image18.jpeg" Id="Rc0ee17293a32457d" /><Relationship Type="http://schemas.openxmlformats.org/officeDocument/2006/relationships/notesSlide" Target="/ppt/notesSlides/notesSlide17.xml" Id="Ra1d4fd85a42f41a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0aa2b006224883" /><Relationship Type="http://schemas.openxmlformats.org/officeDocument/2006/relationships/image" Target="/ppt/media/image19.jpeg" Id="R6f00b295ea714f82" /><Relationship Type="http://schemas.openxmlformats.org/officeDocument/2006/relationships/notesSlide" Target="/ppt/notesSlides/notesSlide18.xml" Id="Rbab62d8987c0428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386d272df543e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B111E472-3F6A-4C43-9302-994974D1B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239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6FE4"/>
                </a:solidFill>
              </a:defRPr>
            </a:pPr>
            <a:r>
              <a:rPr sz="1200" b="1">
                <a:solidFill>
                  <a:srgbClr val="2F6FE4"/>
                </a:solidFill>
              </a:rPr>
              <a:t>启智课堂 · 课程演示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DFB8D08-1CA3-4130-B885-22D3E79CA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71600"/>
            <a:ext cx="666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7365D"/>
                </a:solidFill>
              </a:defRPr>
            </a:pPr>
            <a:r>
              <a:rPr sz="3750" b="1">
                <a:solidFill>
                  <a:srgbClr val="17365D"/>
                </a:solidFill>
              </a:rPr>
              <a:t>把复杂知识讲得清楚、好记、能应用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CA140552-1AE1-4946-BB65-153CD871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9085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D7D91"/>
                </a:solidFill>
              </a:defRPr>
            </a:pPr>
            <a:r>
              <a:rPr sz="1650" b="0">
                <a:solidFill>
                  <a:srgbClr val="6D7D91"/>
                </a:solidFill>
              </a:rPr>
              <a:t>启智课堂视觉模板 V2</a:t>
            </a:r>
          </a:p>
        </p:txBody>
      </p:sp>
      <p:sp>
        <p:nvSpPr>
          <p:cNvPr id="5" name="MESSAGE_SURFACE_DEPTH">
            <a:extLst xmlns:a="http://schemas.openxmlformats.org/drawingml/2006/main">
              <a:ext uri="{FF2B5EF4-FFF2-40B4-BE49-F238E27FC236}">
                <a16:creationId xmlns:a16="http://schemas.microsoft.com/office/drawing/2014/main" id="{253B55D4-FBD2-4FCD-AD75-BB563E1CB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962400"/>
            <a:ext cx="58102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BFD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ESSAGE_SURFACE">
            <a:extLst xmlns:a="http://schemas.openxmlformats.org/drawingml/2006/main">
              <a:ext uri="{FF2B5EF4-FFF2-40B4-BE49-F238E27FC236}">
                <a16:creationId xmlns:a16="http://schemas.microsoft.com/office/drawing/2014/main" id="{739DB6A1-7122-4080-BE37-451104E66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58102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C9DB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MESSAGE_SURFACE_HIGHLIGHT">
            <a:extLst xmlns:a="http://schemas.openxmlformats.org/drawingml/2006/main">
              <a:ext uri="{FF2B5EF4-FFF2-40B4-BE49-F238E27FC236}">
                <a16:creationId xmlns:a16="http://schemas.microsoft.com/office/drawing/2014/main" id="{8E292963-C44D-4B3B-92C5-95ECABCF6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33825"/>
            <a:ext cx="56197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ESSAGE_RULE">
            <a:extLst xmlns:a="http://schemas.openxmlformats.org/drawingml/2006/main">
              <a:ext uri="{FF2B5EF4-FFF2-40B4-BE49-F238E27FC236}">
                <a16:creationId xmlns:a16="http://schemas.microsoft.com/office/drawing/2014/main" id="{A70A72CB-B949-4471-B345-7E232FEE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95750"/>
            <a:ext cx="57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KEY_MESSAGE">
            <a:extLst xmlns:a="http://schemas.openxmlformats.org/drawingml/2006/main">
              <a:ext uri="{FF2B5EF4-FFF2-40B4-BE49-F238E27FC236}">
                <a16:creationId xmlns:a16="http://schemas.microsoft.com/office/drawing/2014/main" id="{1860275D-51DC-4FF9-89F2-85C599E86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4465C"/>
                </a:solidFill>
              </a:defRPr>
            </a:pPr>
            <a:r>
              <a:rPr sz="1650" b="1">
                <a:solidFill>
                  <a:srgbClr val="34465C"/>
                </a:solidFill>
              </a:rPr>
              <a:t>一页一个教学任务，让视觉真正服务理解。</a:t>
            </a:r>
          </a:p>
        </p:txBody>
      </p:sp>
      <p:sp>
        <p:nvSpPr>
          <p:cNvPr id="10" name="BRAND">
            <a:extLst xmlns:a="http://schemas.openxmlformats.org/drawingml/2006/main">
              <a:ext uri="{FF2B5EF4-FFF2-40B4-BE49-F238E27FC236}">
                <a16:creationId xmlns:a16="http://schemas.microsoft.com/office/drawing/2014/main" id="{6AE361F0-C6FF-4FED-B7EA-072C00D6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858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启智课堂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48FF8005-5295-4C4C-804D-56C1FE9B9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4365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D7D91"/>
                </a:solidFill>
              </a:defRPr>
            </a:pPr>
            <a:r>
              <a:rPr sz="825" b="0">
                <a:solidFill>
                  <a:srgbClr val="6D7D91"/>
                </a:solidFill>
              </a:rPr>
              <a:t>同源课程课件 · 可继续编辑</a:t>
            </a:r>
          </a:p>
        </p:txBody>
      </p:sp>
    </p:spTree>
    <p:extLst>
      <p:ext uri="{BB962C8B-B14F-4D97-AF65-F5344CB8AC3E}">
        <p14:creationId xmlns:p14="http://schemas.microsoft.com/office/powerpoint/2010/main" val="13576649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85aa9bddba405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ECTION_LABEL">
            <a:extLst xmlns:a="http://schemas.openxmlformats.org/drawingml/2006/main">
              <a:ext uri="{FF2B5EF4-FFF2-40B4-BE49-F238E27FC236}">
                <a16:creationId xmlns:a16="http://schemas.microsoft.com/office/drawing/2014/main" id="{2E17BAA2-8752-44B7-BB92-022BC681A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FE4"/>
                </a:solidFill>
              </a:defRPr>
            </a:pPr>
            <a:r>
              <a:rPr sz="1050" b="1">
                <a:solidFill>
                  <a:srgbClr val="2F6FE4"/>
                </a:solidFill>
              </a:rPr>
              <a:t>课程路线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06980E0-8B3F-4F9B-B5E0-B4A26C1F1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4850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65D"/>
                </a:solidFill>
              </a:defRPr>
            </a:pPr>
            <a:r>
              <a:rPr sz="2850" b="1">
                <a:solidFill>
                  <a:srgbClr val="17365D"/>
                </a:solidFill>
              </a:rPr>
              <a:t>从问题出发，沿着理解路径逐层推进</a:t>
            </a:r>
          </a:p>
        </p:txBody>
      </p:sp>
      <p:sp>
        <p:nvSpPr>
          <p:cNvPr id="4" name="TITLE_RULE">
            <a:extLst xmlns:a="http://schemas.openxmlformats.org/drawingml/2006/main">
              <a:ext uri="{FF2B5EF4-FFF2-40B4-BE49-F238E27FC236}">
                <a16:creationId xmlns:a16="http://schemas.microsoft.com/office/drawing/2014/main" id="{E89E81AA-38CD-41DD-ABFF-537ABB7BF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76375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_RULE_ACCENT">
            <a:extLst xmlns:a="http://schemas.openxmlformats.org/drawingml/2006/main">
              <a:ext uri="{FF2B5EF4-FFF2-40B4-BE49-F238E27FC236}">
                <a16:creationId xmlns:a16="http://schemas.microsoft.com/office/drawing/2014/main" id="{AF6ECDD8-D6E0-4CA5-AE06-F1ED59EEF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476375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_NUMBER">
            <a:extLst xmlns:a="http://schemas.openxmlformats.org/drawingml/2006/main">
              <a:ext uri="{FF2B5EF4-FFF2-40B4-BE49-F238E27FC236}">
                <a16:creationId xmlns:a16="http://schemas.microsoft.com/office/drawing/2014/main" id="{3C96524E-724E-463A-8470-566182A76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572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D7D91"/>
                </a:solidFill>
              </a:defRPr>
            </a:pPr>
            <a:r>
              <a:rPr sz="1050" b="1">
                <a:solidFill>
                  <a:srgbClr val="6D7D91"/>
                </a:solidFill>
              </a:rPr>
              <a:t>02</a:t>
            </a:r>
          </a:p>
        </p:txBody>
      </p:sp>
      <p:sp>
        <p:nvSpPr>
          <p:cNvPr id="7" name="AGENDA_NUMBER_1">
            <a:extLst xmlns:a="http://schemas.openxmlformats.org/drawingml/2006/main">
              <a:ext uri="{FF2B5EF4-FFF2-40B4-BE49-F238E27FC236}">
                <a16:creationId xmlns:a16="http://schemas.microsoft.com/office/drawing/2014/main" id="{32124634-EAB5-4364-A0E1-445CC850F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288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6FE4"/>
                </a:solidFill>
              </a:defRPr>
            </a:pPr>
            <a:r>
              <a:rPr sz="1200" b="1">
                <a:solidFill>
                  <a:srgbClr val="2F6FE4"/>
                </a:solidFill>
              </a:rPr>
              <a:t>01</a:t>
            </a:r>
          </a:p>
        </p:txBody>
      </p:sp>
      <p:sp>
        <p:nvSpPr>
          <p:cNvPr id="8" name="AGENDA_TITLE_1">
            <a:extLst xmlns:a="http://schemas.openxmlformats.org/drawingml/2006/main">
              <a:ext uri="{FF2B5EF4-FFF2-40B4-BE49-F238E27FC236}">
                <a16:creationId xmlns:a16="http://schemas.microsoft.com/office/drawing/2014/main" id="{3ADB7030-F315-4FF7-BE82-A237FC1AA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9526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65D"/>
                </a:solidFill>
              </a:defRPr>
            </a:pPr>
            <a:r>
              <a:rPr sz="1800" b="1">
                <a:solidFill>
                  <a:srgbClr val="17365D"/>
                </a:solidFill>
              </a:rPr>
              <a:t>看见问题</a:t>
            </a:r>
          </a:p>
        </p:txBody>
      </p:sp>
      <p:sp>
        <p:nvSpPr>
          <p:cNvPr id="9" name="AGENDA_BODY_1">
            <a:extLst xmlns:a="http://schemas.openxmlformats.org/drawingml/2006/main">
              <a:ext uri="{FF2B5EF4-FFF2-40B4-BE49-F238E27FC236}">
                <a16:creationId xmlns:a16="http://schemas.microsoft.com/office/drawing/2014/main" id="{742046FC-6315-41E2-BFF5-5A86016B8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7167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4465C"/>
                </a:solidFill>
              </a:defRPr>
            </a:pPr>
            <a:r>
              <a:rPr sz="1500" b="0">
                <a:solidFill>
                  <a:srgbClr val="34465C"/>
                </a:solidFill>
              </a:rPr>
              <a:t>明确学习目标与判断标准</a:t>
            </a:r>
          </a:p>
        </p:txBody>
      </p:sp>
      <p:sp>
        <p:nvSpPr>
          <p:cNvPr id="10" name="AGENDA_RULE_1">
            <a:extLst xmlns:a="http://schemas.openxmlformats.org/drawingml/2006/main">
              <a:ext uri="{FF2B5EF4-FFF2-40B4-BE49-F238E27FC236}">
                <a16:creationId xmlns:a16="http://schemas.microsoft.com/office/drawing/2014/main" id="{C52A8D79-0B82-4956-AB24-7425D487E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GENDA_NUMBER_2">
            <a:extLst xmlns:a="http://schemas.openxmlformats.org/drawingml/2006/main">
              <a:ext uri="{FF2B5EF4-FFF2-40B4-BE49-F238E27FC236}">
                <a16:creationId xmlns:a16="http://schemas.microsoft.com/office/drawing/2014/main" id="{85419395-296F-4CFF-84B0-8B3178BBC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6FE4"/>
                </a:solidFill>
              </a:defRPr>
            </a:pPr>
            <a:r>
              <a:rPr sz="1200" b="1">
                <a:solidFill>
                  <a:srgbClr val="2F6FE4"/>
                </a:solidFill>
              </a:rPr>
              <a:t>02</a:t>
            </a:r>
          </a:p>
        </p:txBody>
      </p:sp>
      <p:sp>
        <p:nvSpPr>
          <p:cNvPr id="12" name="AGENDA_TITLE_2">
            <a:extLst xmlns:a="http://schemas.openxmlformats.org/drawingml/2006/main">
              <a:ext uri="{FF2B5EF4-FFF2-40B4-BE49-F238E27FC236}">
                <a16:creationId xmlns:a16="http://schemas.microsoft.com/office/drawing/2014/main" id="{0DE4B40B-C74C-448E-9DD1-A02D35ACD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952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65D"/>
                </a:solidFill>
              </a:defRPr>
            </a:pPr>
            <a:r>
              <a:rPr sz="1800" b="1">
                <a:solidFill>
                  <a:srgbClr val="17365D"/>
                </a:solidFill>
              </a:rPr>
              <a:t>建立概念</a:t>
            </a:r>
          </a:p>
        </p:txBody>
      </p:sp>
      <p:sp>
        <p:nvSpPr>
          <p:cNvPr id="13" name="AGENDA_BODY_2">
            <a:extLst xmlns:a="http://schemas.openxmlformats.org/drawingml/2006/main">
              <a:ext uri="{FF2B5EF4-FFF2-40B4-BE49-F238E27FC236}">
                <a16:creationId xmlns:a16="http://schemas.microsoft.com/office/drawing/2014/main" id="{C03FBED1-5F54-45C9-9C71-613C0CC2B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718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4465C"/>
                </a:solidFill>
              </a:defRPr>
            </a:pPr>
            <a:r>
              <a:rPr sz="1500" b="0">
                <a:solidFill>
                  <a:srgbClr val="34465C"/>
                </a:solidFill>
              </a:rPr>
              <a:t>给出定义、边界和正反例</a:t>
            </a:r>
          </a:p>
        </p:txBody>
      </p:sp>
      <p:sp>
        <p:nvSpPr>
          <p:cNvPr id="14" name="AGENDA_RULE_2">
            <a:extLst xmlns:a="http://schemas.openxmlformats.org/drawingml/2006/main">
              <a:ext uri="{FF2B5EF4-FFF2-40B4-BE49-F238E27FC236}">
                <a16:creationId xmlns:a16="http://schemas.microsoft.com/office/drawing/2014/main" id="{3B0A19B5-7F9D-455B-BAE2-EACA7DD26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GENDA_NUMBER_3">
            <a:extLst xmlns:a="http://schemas.openxmlformats.org/drawingml/2006/main">
              <a:ext uri="{FF2B5EF4-FFF2-40B4-BE49-F238E27FC236}">
                <a16:creationId xmlns:a16="http://schemas.microsoft.com/office/drawing/2014/main" id="{6B95B121-E80C-420E-8168-2FF58D15E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2907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6FE4"/>
                </a:solidFill>
              </a:defRPr>
            </a:pPr>
            <a:r>
              <a:rPr sz="1200" b="1">
                <a:solidFill>
                  <a:srgbClr val="2F6FE4"/>
                </a:solidFill>
              </a:rPr>
              <a:t>03</a:t>
            </a:r>
          </a:p>
        </p:txBody>
      </p:sp>
      <p:sp>
        <p:nvSpPr>
          <p:cNvPr id="16" name="AGENDA_TITLE_3">
            <a:extLst xmlns:a="http://schemas.openxmlformats.org/drawingml/2006/main">
              <a:ext uri="{FF2B5EF4-FFF2-40B4-BE49-F238E27FC236}">
                <a16:creationId xmlns:a16="http://schemas.microsoft.com/office/drawing/2014/main" id="{F824F411-FB86-43AE-9ADB-0B2469B7A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9528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65D"/>
                </a:solidFill>
              </a:defRPr>
            </a:pPr>
            <a:r>
              <a:rPr sz="1800" b="1">
                <a:solidFill>
                  <a:srgbClr val="17365D"/>
                </a:solidFill>
              </a:rPr>
              <a:t>练习迁移</a:t>
            </a:r>
          </a:p>
        </p:txBody>
      </p:sp>
      <p:sp>
        <p:nvSpPr>
          <p:cNvPr id="17" name="AGENDA_BODY_3">
            <a:extLst xmlns:a="http://schemas.openxmlformats.org/drawingml/2006/main">
              <a:ext uri="{FF2B5EF4-FFF2-40B4-BE49-F238E27FC236}">
                <a16:creationId xmlns:a16="http://schemas.microsoft.com/office/drawing/2014/main" id="{2CC3F7E1-EFB9-405A-9602-2742B359F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7192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4465C"/>
                </a:solidFill>
              </a:defRPr>
            </a:pPr>
            <a:r>
              <a:rPr sz="1500" b="0">
                <a:solidFill>
                  <a:srgbClr val="34465C"/>
                </a:solidFill>
              </a:rPr>
              <a:t>把方法应用到新的情境</a:t>
            </a:r>
          </a:p>
        </p:txBody>
      </p:sp>
      <p:sp>
        <p:nvSpPr>
          <p:cNvPr id="18" name="AGENDA_RULE_3">
            <a:extLst xmlns:a="http://schemas.openxmlformats.org/drawingml/2006/main">
              <a:ext uri="{FF2B5EF4-FFF2-40B4-BE49-F238E27FC236}">
                <a16:creationId xmlns:a16="http://schemas.microsoft.com/office/drawing/2014/main" id="{A6EBFD0A-2092-4D95-85A9-9E8B38026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43425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AGENDA_NUMBER_4">
            <a:extLst xmlns:a="http://schemas.openxmlformats.org/drawingml/2006/main">
              <a:ext uri="{FF2B5EF4-FFF2-40B4-BE49-F238E27FC236}">
                <a16:creationId xmlns:a16="http://schemas.microsoft.com/office/drawing/2014/main" id="{981D4D23-B73C-4938-A73F-F61F3E64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292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6FE4"/>
                </a:solidFill>
              </a:defRPr>
            </a:pPr>
            <a:r>
              <a:rPr sz="1200" b="1">
                <a:solidFill>
                  <a:srgbClr val="2F6FE4"/>
                </a:solidFill>
              </a:rPr>
              <a:t>04</a:t>
            </a:r>
          </a:p>
        </p:txBody>
      </p:sp>
      <p:sp>
        <p:nvSpPr>
          <p:cNvPr id="20" name="AGENDA_TITLE_4">
            <a:extLst xmlns:a="http://schemas.openxmlformats.org/drawingml/2006/main">
              <a:ext uri="{FF2B5EF4-FFF2-40B4-BE49-F238E27FC236}">
                <a16:creationId xmlns:a16="http://schemas.microsoft.com/office/drawing/2014/main" id="{8EF5D06B-22BD-463F-AFD6-44FE3046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9530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65D"/>
                </a:solidFill>
              </a:defRPr>
            </a:pPr>
            <a:r>
              <a:rPr sz="1800" b="1">
                <a:solidFill>
                  <a:srgbClr val="17365D"/>
                </a:solidFill>
              </a:rPr>
              <a:t>回顾提取</a:t>
            </a:r>
          </a:p>
        </p:txBody>
      </p:sp>
      <p:sp>
        <p:nvSpPr>
          <p:cNvPr id="21" name="AGENDA_BODY_4">
            <a:extLst xmlns:a="http://schemas.openxmlformats.org/drawingml/2006/main">
              <a:ext uri="{FF2B5EF4-FFF2-40B4-BE49-F238E27FC236}">
                <a16:creationId xmlns:a16="http://schemas.microsoft.com/office/drawing/2014/main" id="{476755AF-53FD-4BD1-BEFB-098113C37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720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4465C"/>
                </a:solidFill>
              </a:defRPr>
            </a:pPr>
            <a:r>
              <a:rPr sz="1500" b="0">
                <a:solidFill>
                  <a:srgbClr val="34465C"/>
                </a:solidFill>
              </a:rPr>
              <a:t>用问题而不是目录完成总结</a:t>
            </a:r>
          </a:p>
        </p:txBody>
      </p:sp>
      <p:sp>
        <p:nvSpPr>
          <p:cNvPr id="22" name="AGENDA_RULE_4">
            <a:extLst xmlns:a="http://schemas.openxmlformats.org/drawingml/2006/main">
              <a:ext uri="{FF2B5EF4-FFF2-40B4-BE49-F238E27FC236}">
                <a16:creationId xmlns:a16="http://schemas.microsoft.com/office/drawing/2014/main" id="{8A87DC0A-57B5-4AEC-B80E-9D09756C2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435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FOOTER_LABEL">
            <a:extLst xmlns:a="http://schemas.openxmlformats.org/drawingml/2006/main">
              <a:ext uri="{FF2B5EF4-FFF2-40B4-BE49-F238E27FC236}">
                <a16:creationId xmlns:a16="http://schemas.microsoft.com/office/drawing/2014/main" id="{DD5B0AF9-9FE0-4BF8-A2F4-D1AE87121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D7D91"/>
                </a:solidFill>
              </a:defRPr>
            </a:pPr>
            <a:r>
              <a:rPr sz="825" b="0">
                <a:solidFill>
                  <a:srgbClr val="6D7D91"/>
                </a:solidFill>
              </a:rPr>
              <a:t>启智课堂 · 同源课程课件</a:t>
            </a:r>
          </a:p>
        </p:txBody>
      </p:sp>
      <p:sp>
        <p:nvSpPr>
          <p:cNvPr id="24" name="FOOTER_PAGE_PLATE">
            <a:extLst xmlns:a="http://schemas.openxmlformats.org/drawingml/2006/main">
              <a:ext uri="{FF2B5EF4-FFF2-40B4-BE49-F238E27FC236}">
                <a16:creationId xmlns:a16="http://schemas.microsoft.com/office/drawing/2014/main" id="{7DE5BA7E-8DFB-4E1C-9280-C61E624C9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343650"/>
            <a:ext cx="22669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DE5EE"/>
            </a:solidFill>
            <a:prstDash val="solid"/>
          </a:ln>
        </p:spPr>
      </p:sp>
      <p:sp>
        <p:nvSpPr>
          <p:cNvPr id="25" name="FOOTER_PAGE">
            <a:extLst xmlns:a="http://schemas.openxmlformats.org/drawingml/2006/main">
              <a:ext uri="{FF2B5EF4-FFF2-40B4-BE49-F238E27FC236}">
                <a16:creationId xmlns:a16="http://schemas.microsoft.com/office/drawing/2014/main" id="{85FF043A-A087-480C-B42A-EB731AED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198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D7D91"/>
                </a:solidFill>
              </a:defRPr>
            </a:pPr>
            <a:r>
              <a:rPr sz="750" b="0">
                <a:solidFill>
                  <a:srgbClr val="6D7D91"/>
                </a:solidFill>
              </a:rPr>
              <a:t>02 / 18</a:t>
            </a:r>
          </a:p>
        </p:txBody>
      </p:sp>
    </p:spTree>
    <p:extLst>
      <p:ext uri="{BB962C8B-B14F-4D97-AF65-F5344CB8AC3E}">
        <p14:creationId xmlns:p14="http://schemas.microsoft.com/office/powerpoint/2010/main" val="1662217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0b662ee23b4b4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HAPTER_LABEL">
            <a:extLst xmlns:a="http://schemas.openxmlformats.org/drawingml/2006/main">
              <a:ext uri="{FF2B5EF4-FFF2-40B4-BE49-F238E27FC236}">
                <a16:creationId xmlns:a16="http://schemas.microsoft.com/office/drawing/2014/main" id="{87CD60CD-AF88-4D04-AC7A-E54FD29BD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CHAPTER</a:t>
            </a:r>
          </a:p>
        </p:txBody>
      </p:sp>
      <p:sp>
        <p:nvSpPr>
          <p:cNvPr id="3" name="CHAPTER_NUMBER">
            <a:extLst xmlns:a="http://schemas.openxmlformats.org/drawingml/2006/main">
              <a:ext uri="{FF2B5EF4-FFF2-40B4-BE49-F238E27FC236}">
                <a16:creationId xmlns:a16="http://schemas.microsoft.com/office/drawing/2014/main" id="{CE4CB15E-93C7-4623-AB49-C5530FFBF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9065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</a:defRPr>
            </a:pPr>
            <a:r>
              <a:rPr sz="48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29AF05BA-DBFC-41F5-B0BA-0C18FB479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0096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856B"/>
                </a:solidFill>
              </a:defRPr>
            </a:pPr>
            <a:r>
              <a:rPr sz="1125" b="1">
                <a:solidFill>
                  <a:srgbClr val="16856B"/>
                </a:solidFill>
              </a:rPr>
              <a:t>章节转场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27D71A5-23A9-402C-8F30-B13FE20A5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504950"/>
            <a:ext cx="6858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65D"/>
                </a:solidFill>
              </a:defRPr>
            </a:pPr>
            <a:r>
              <a:rPr sz="3000" b="1">
                <a:solidFill>
                  <a:srgbClr val="17365D"/>
                </a:solidFill>
              </a:rPr>
              <a:t>先回答：这一章究竟解决什么问题？</a:t>
            </a:r>
          </a:p>
        </p:txBody>
      </p:sp>
      <p:sp>
        <p:nvSpPr>
          <p:cNvPr id="6" name="CHAPTER_RULE">
            <a:extLst xmlns:a="http://schemas.openxmlformats.org/drawingml/2006/main">
              <a:ext uri="{FF2B5EF4-FFF2-40B4-BE49-F238E27FC236}">
                <a16:creationId xmlns:a16="http://schemas.microsoft.com/office/drawing/2014/main" id="{A81D6E44-DDB5-4156-B635-4D2751CD1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4325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KEY_MESSAGE">
            <a:extLst xmlns:a="http://schemas.openxmlformats.org/drawingml/2006/main">
              <a:ext uri="{FF2B5EF4-FFF2-40B4-BE49-F238E27FC236}">
                <a16:creationId xmlns:a16="http://schemas.microsoft.com/office/drawing/2014/main" id="{AB386993-AD3A-4F19-9978-A5D43D784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238500"/>
            <a:ext cx="5619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4465C"/>
                </a:solidFill>
              </a:defRPr>
            </a:pPr>
            <a:r>
              <a:rPr sz="1650" b="1">
                <a:solidFill>
                  <a:srgbClr val="34465C"/>
                </a:solidFill>
              </a:rPr>
              <a:t>让学生先形成问题意识，再进入概念、方法与练习。</a:t>
            </a:r>
          </a:p>
        </p:txBody>
      </p:sp>
      <p:sp>
        <p:nvSpPr>
          <p:cNvPr id="8" name="FOOTER_LABEL">
            <a:extLst xmlns:a="http://schemas.openxmlformats.org/drawingml/2006/main">
              <a:ext uri="{FF2B5EF4-FFF2-40B4-BE49-F238E27FC236}">
                <a16:creationId xmlns:a16="http://schemas.microsoft.com/office/drawing/2014/main" id="{6E4902A5-AB2C-490C-830A-F40F4F3EA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D7D91"/>
                </a:solidFill>
              </a:defRPr>
            </a:pPr>
            <a:r>
              <a:rPr sz="825" b="0">
                <a:solidFill>
                  <a:srgbClr val="6D7D91"/>
                </a:solidFill>
              </a:rPr>
              <a:t>启智课堂 · 同源课程课件</a:t>
            </a:r>
          </a:p>
        </p:txBody>
      </p:sp>
      <p:sp>
        <p:nvSpPr>
          <p:cNvPr id="9" name="FOOTER_PAGE_PLATE">
            <a:extLst xmlns:a="http://schemas.openxmlformats.org/drawingml/2006/main">
              <a:ext uri="{FF2B5EF4-FFF2-40B4-BE49-F238E27FC236}">
                <a16:creationId xmlns:a16="http://schemas.microsoft.com/office/drawing/2014/main" id="{EC4A17C2-FC27-4CF1-BA91-F61CDFBCF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343650"/>
            <a:ext cx="22669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DE5EE"/>
            </a:solidFill>
            <a:prstDash val="solid"/>
          </a:ln>
        </p:spPr>
      </p:sp>
      <p:sp>
        <p:nvSpPr>
          <p:cNvPr id="10" name="FOOTER_PAGE">
            <a:extLst xmlns:a="http://schemas.openxmlformats.org/drawingml/2006/main">
              <a:ext uri="{FF2B5EF4-FFF2-40B4-BE49-F238E27FC236}">
                <a16:creationId xmlns:a16="http://schemas.microsoft.com/office/drawing/2014/main" id="{1D46397C-3C21-40F7-BB0D-547C4354A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198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D7D91"/>
                </a:solidFill>
              </a:defRPr>
            </a:pPr>
            <a:r>
              <a:rPr sz="750" b="0">
                <a:solidFill>
                  <a:srgbClr val="6D7D91"/>
                </a:solidFill>
              </a:rPr>
              <a:t>03 / 18</a:t>
            </a:r>
          </a:p>
        </p:txBody>
      </p:sp>
    </p:spTree>
    <p:extLst>
      <p:ext uri="{BB962C8B-B14F-4D97-AF65-F5344CB8AC3E}">
        <p14:creationId xmlns:p14="http://schemas.microsoft.com/office/powerpoint/2010/main" val="15019230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39aa940de748a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ECTION_LABEL">
            <a:extLst xmlns:a="http://schemas.openxmlformats.org/drawingml/2006/main">
              <a:ext uri="{FF2B5EF4-FFF2-40B4-BE49-F238E27FC236}">
                <a16:creationId xmlns:a16="http://schemas.microsoft.com/office/drawing/2014/main" id="{ACD6D29D-4E13-4AED-8F05-07A6DB0B9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FE4"/>
                </a:solidFill>
              </a:defRPr>
            </a:pPr>
            <a:r>
              <a:rPr sz="1050" b="1">
                <a:solidFill>
                  <a:srgbClr val="2F6FE4"/>
                </a:solidFill>
              </a:rPr>
              <a:t>核心判断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AFEC806-B8BD-4CAE-92FB-9E27CCD50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4850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65D"/>
                </a:solidFill>
              </a:defRPr>
            </a:pPr>
            <a:r>
              <a:rPr sz="2850" b="1">
                <a:solidFill>
                  <a:srgbClr val="17365D"/>
                </a:solidFill>
              </a:rPr>
              <a:t>一页只承担一个清晰的教学任务</a:t>
            </a:r>
          </a:p>
        </p:txBody>
      </p:sp>
      <p:sp>
        <p:nvSpPr>
          <p:cNvPr id="4" name="TITLE_RULE">
            <a:extLst xmlns:a="http://schemas.openxmlformats.org/drawingml/2006/main">
              <a:ext uri="{FF2B5EF4-FFF2-40B4-BE49-F238E27FC236}">
                <a16:creationId xmlns:a16="http://schemas.microsoft.com/office/drawing/2014/main" id="{6BD5D3D2-79D6-457D-89C0-68D937474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76375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_RULE_ACCENT">
            <a:extLst xmlns:a="http://schemas.openxmlformats.org/drawingml/2006/main">
              <a:ext uri="{FF2B5EF4-FFF2-40B4-BE49-F238E27FC236}">
                <a16:creationId xmlns:a16="http://schemas.microsoft.com/office/drawing/2014/main" id="{64DCB3B3-7F2E-45BF-93B6-EEBFEF993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476375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_NUMBER">
            <a:extLst xmlns:a="http://schemas.openxmlformats.org/drawingml/2006/main">
              <a:ext uri="{FF2B5EF4-FFF2-40B4-BE49-F238E27FC236}">
                <a16:creationId xmlns:a16="http://schemas.microsoft.com/office/drawing/2014/main" id="{07AC668E-C2FC-4C1B-9A80-C7EC65B20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572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D7D91"/>
                </a:solidFill>
              </a:defRPr>
            </a:pPr>
            <a:r>
              <a:rPr sz="1050" b="1">
                <a:solidFill>
                  <a:srgbClr val="6D7D91"/>
                </a:solidFill>
              </a:rPr>
              <a:t>04</a:t>
            </a:r>
          </a:p>
        </p:txBody>
      </p:sp>
      <p:sp>
        <p:nvSpPr>
          <p:cNvPr id="7" name="CLAIM_SURFACE_DEPTH">
            <a:extLst xmlns:a="http://schemas.openxmlformats.org/drawingml/2006/main">
              <a:ext uri="{FF2B5EF4-FFF2-40B4-BE49-F238E27FC236}">
                <a16:creationId xmlns:a16="http://schemas.microsoft.com/office/drawing/2014/main" id="{BEFCC334-BF05-4DDD-BBB3-FF550E902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133600"/>
            <a:ext cx="98298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BFD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LAIM_SURFACE">
            <a:extLst xmlns:a="http://schemas.openxmlformats.org/drawingml/2006/main">
              <a:ext uri="{FF2B5EF4-FFF2-40B4-BE49-F238E27FC236}">
                <a16:creationId xmlns:a16="http://schemas.microsoft.com/office/drawing/2014/main" id="{E3AD02CC-F0E2-4C92-AA34-E083F011A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98298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C9DB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CLAIM_SURFACE_HIGHLIGHT">
            <a:extLst xmlns:a="http://schemas.openxmlformats.org/drawingml/2006/main">
              <a:ext uri="{FF2B5EF4-FFF2-40B4-BE49-F238E27FC236}">
                <a16:creationId xmlns:a16="http://schemas.microsoft.com/office/drawing/2014/main" id="{BE17379D-C16A-4A51-A2B9-605D00B80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05025"/>
            <a:ext cx="96393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LAIM_RULE">
            <a:extLst xmlns:a="http://schemas.openxmlformats.org/drawingml/2006/main">
              <a:ext uri="{FF2B5EF4-FFF2-40B4-BE49-F238E27FC236}">
                <a16:creationId xmlns:a16="http://schemas.microsoft.com/office/drawing/2014/main" id="{C89F0BED-D5E1-44AC-8335-44E544123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62200"/>
            <a:ext cx="762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LAIM">
            <a:extLst xmlns:a="http://schemas.openxmlformats.org/drawingml/2006/main">
              <a:ext uri="{FF2B5EF4-FFF2-40B4-BE49-F238E27FC236}">
                <a16:creationId xmlns:a16="http://schemas.microsoft.com/office/drawing/2014/main" id="{A72C404F-A32D-45E1-8E4C-C6FF87FE9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324100"/>
            <a:ext cx="8858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65D"/>
                </a:solidFill>
              </a:defRPr>
            </a:pPr>
            <a:r>
              <a:rPr sz="2550" b="1">
                <a:solidFill>
                  <a:srgbClr val="17365D"/>
                </a:solidFill>
              </a:rPr>
              <a:t>标题告诉学生这一页要理解什么；正文只保留支撑这个判断所需的证据。</a:t>
            </a:r>
          </a:p>
        </p:txBody>
      </p:sp>
      <p:sp>
        <p:nvSpPr>
          <p:cNvPr id="12" name="TAKEAWAY">
            <a:extLst xmlns:a="http://schemas.openxmlformats.org/drawingml/2006/main">
              <a:ext uri="{FF2B5EF4-FFF2-40B4-BE49-F238E27FC236}">
                <a16:creationId xmlns:a16="http://schemas.microsoft.com/office/drawing/2014/main" id="{88E9E8B4-1BC9-4F80-82E6-1442CF160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7675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D7D91"/>
                </a:solidFill>
              </a:defRPr>
            </a:pPr>
            <a:r>
              <a:rPr sz="1500" b="0">
                <a:solidFill>
                  <a:srgbClr val="6D7D91"/>
                </a:solidFill>
              </a:rPr>
              <a:t>信息越多，不等于理解越深。</a:t>
            </a:r>
          </a:p>
        </p:txBody>
      </p:sp>
      <p:sp>
        <p:nvSpPr>
          <p:cNvPr id="13" name="FOOTER_LABEL">
            <a:extLst xmlns:a="http://schemas.openxmlformats.org/drawingml/2006/main">
              <a:ext uri="{FF2B5EF4-FFF2-40B4-BE49-F238E27FC236}">
                <a16:creationId xmlns:a16="http://schemas.microsoft.com/office/drawing/2014/main" id="{48AA4F3D-74A6-46FF-BDD0-2170F10A7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D7D91"/>
                </a:solidFill>
              </a:defRPr>
            </a:pPr>
            <a:r>
              <a:rPr sz="825" b="0">
                <a:solidFill>
                  <a:srgbClr val="6D7D91"/>
                </a:solidFill>
              </a:rPr>
              <a:t>启智课堂 · 同源课程课件</a:t>
            </a:r>
          </a:p>
        </p:txBody>
      </p:sp>
      <p:sp>
        <p:nvSpPr>
          <p:cNvPr id="14" name="FOOTER_PAGE_PLATE">
            <a:extLst xmlns:a="http://schemas.openxmlformats.org/drawingml/2006/main">
              <a:ext uri="{FF2B5EF4-FFF2-40B4-BE49-F238E27FC236}">
                <a16:creationId xmlns:a16="http://schemas.microsoft.com/office/drawing/2014/main" id="{8340BB00-39DB-45EA-A7FA-803545DFB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343650"/>
            <a:ext cx="22669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DE5EE"/>
            </a:solidFill>
            <a:prstDash val="solid"/>
          </a:ln>
        </p:spPr>
      </p:sp>
      <p:sp>
        <p:nvSpPr>
          <p:cNvPr id="15" name="FOOTER_PAGE">
            <a:extLst xmlns:a="http://schemas.openxmlformats.org/drawingml/2006/main">
              <a:ext uri="{FF2B5EF4-FFF2-40B4-BE49-F238E27FC236}">
                <a16:creationId xmlns:a16="http://schemas.microsoft.com/office/drawing/2014/main" id="{FD2762DC-2DE2-478C-8A38-B3AFD6551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198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D7D91"/>
                </a:solidFill>
              </a:defRPr>
            </a:pPr>
            <a:r>
              <a:rPr sz="750" b="0">
                <a:solidFill>
                  <a:srgbClr val="6D7D91"/>
                </a:solidFill>
              </a:rPr>
              <a:t>04 / 18</a:t>
            </a:r>
          </a:p>
        </p:txBody>
      </p:sp>
    </p:spTree>
    <p:extLst>
      <p:ext uri="{BB962C8B-B14F-4D97-AF65-F5344CB8AC3E}">
        <p14:creationId xmlns:p14="http://schemas.microsoft.com/office/powerpoint/2010/main" val="5953256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73727c7d004e1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ECTION_LABEL">
            <a:extLst xmlns:a="http://schemas.openxmlformats.org/drawingml/2006/main">
              <a:ext uri="{FF2B5EF4-FFF2-40B4-BE49-F238E27FC236}">
                <a16:creationId xmlns:a16="http://schemas.microsoft.com/office/drawing/2014/main" id="{6D32B3EA-4612-4C80-B3E6-588701728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FE4"/>
                </a:solidFill>
              </a:defRPr>
            </a:pPr>
            <a:r>
              <a:rPr sz="1050" b="1">
                <a:solidFill>
                  <a:srgbClr val="2F6FE4"/>
                </a:solidFill>
              </a:rPr>
              <a:t>学习目标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7A4A377-6FB2-4607-9C38-61EB214A6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4850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65D"/>
                </a:solidFill>
              </a:defRPr>
            </a:pPr>
            <a:r>
              <a:rPr sz="2850" b="1">
                <a:solidFill>
                  <a:srgbClr val="17365D"/>
                </a:solidFill>
              </a:rPr>
              <a:t>目标页要把问题与可观察结果放在同一视野</a:t>
            </a:r>
          </a:p>
        </p:txBody>
      </p:sp>
      <p:sp>
        <p:nvSpPr>
          <p:cNvPr id="4" name="TITLE_RULE">
            <a:extLst xmlns:a="http://schemas.openxmlformats.org/drawingml/2006/main">
              <a:ext uri="{FF2B5EF4-FFF2-40B4-BE49-F238E27FC236}">
                <a16:creationId xmlns:a16="http://schemas.microsoft.com/office/drawing/2014/main" id="{307E42B6-7B69-441C-ADE7-54D58B692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76375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_RULE_ACCENT">
            <a:extLst xmlns:a="http://schemas.openxmlformats.org/drawingml/2006/main">
              <a:ext uri="{FF2B5EF4-FFF2-40B4-BE49-F238E27FC236}">
                <a16:creationId xmlns:a16="http://schemas.microsoft.com/office/drawing/2014/main" id="{A7AFA58B-26CF-4190-A48A-DEB35F9C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476375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_NUMBER">
            <a:extLst xmlns:a="http://schemas.openxmlformats.org/drawingml/2006/main">
              <a:ext uri="{FF2B5EF4-FFF2-40B4-BE49-F238E27FC236}">
                <a16:creationId xmlns:a16="http://schemas.microsoft.com/office/drawing/2014/main" id="{5A30A0AB-073F-44CF-A751-DB76164E9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572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D7D91"/>
                </a:solidFill>
              </a:defRPr>
            </a:pPr>
            <a:r>
              <a:rPr sz="1050" b="1">
                <a:solidFill>
                  <a:srgbClr val="6D7D91"/>
                </a:solidFill>
              </a:rPr>
              <a:t>05</a:t>
            </a:r>
          </a:p>
        </p:txBody>
      </p:sp>
      <p:sp>
        <p:nvSpPr>
          <p:cNvPr id="7" name="QUESTION_SURFACE_DEPTH">
            <a:extLst xmlns:a="http://schemas.openxmlformats.org/drawingml/2006/main">
              <a:ext uri="{FF2B5EF4-FFF2-40B4-BE49-F238E27FC236}">
                <a16:creationId xmlns:a16="http://schemas.microsoft.com/office/drawing/2014/main" id="{2F75FB1F-259B-4D03-8CE0-FF6BB5EB4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019300"/>
            <a:ext cx="4619625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BFD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QUESTION_SURFACE">
            <a:extLst xmlns:a="http://schemas.openxmlformats.org/drawingml/2006/main">
              <a:ext uri="{FF2B5EF4-FFF2-40B4-BE49-F238E27FC236}">
                <a16:creationId xmlns:a16="http://schemas.microsoft.com/office/drawing/2014/main" id="{3CD30897-D18F-45F6-B155-99C02F282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4619625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C9DB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QUESTION_SURFACE_HIGHLIGHT">
            <a:extLst xmlns:a="http://schemas.openxmlformats.org/drawingml/2006/main">
              <a:ext uri="{FF2B5EF4-FFF2-40B4-BE49-F238E27FC236}">
                <a16:creationId xmlns:a16="http://schemas.microsoft.com/office/drawing/2014/main" id="{E156153E-1826-492F-AF03-C318ABBE0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90725"/>
            <a:ext cx="4429125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QUESTION_SURFACE_RAIL">
            <a:extLst xmlns:a="http://schemas.openxmlformats.org/drawingml/2006/main">
              <a:ext uri="{FF2B5EF4-FFF2-40B4-BE49-F238E27FC236}">
                <a16:creationId xmlns:a16="http://schemas.microsoft.com/office/drawing/2014/main" id="{D05F287D-2870-446D-A7B0-C86FC0077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6667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QUESTION_LABEL">
            <a:extLst xmlns:a="http://schemas.openxmlformats.org/drawingml/2006/main">
              <a:ext uri="{FF2B5EF4-FFF2-40B4-BE49-F238E27FC236}">
                <a16:creationId xmlns:a16="http://schemas.microsoft.com/office/drawing/2014/main" id="{DDE56F9D-A6C4-4E0F-81BF-544E18D61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66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6FE4"/>
                </a:solidFill>
              </a:defRPr>
            </a:pPr>
            <a:r>
              <a:rPr sz="1125" b="1">
                <a:solidFill>
                  <a:srgbClr val="2F6FE4"/>
                </a:solidFill>
              </a:rPr>
              <a:t>要解决的问题</a:t>
            </a:r>
          </a:p>
        </p:txBody>
      </p:sp>
      <p:sp>
        <p:nvSpPr>
          <p:cNvPr id="12" name="QUESTION">
            <a:extLst xmlns:a="http://schemas.openxmlformats.org/drawingml/2006/main">
              <a:ext uri="{FF2B5EF4-FFF2-40B4-BE49-F238E27FC236}">
                <a16:creationId xmlns:a16="http://schemas.microsoft.com/office/drawing/2014/main" id="{6A24BE03-6E61-4F52-AB43-B50F5ECCF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95600"/>
            <a:ext cx="37623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65D"/>
                </a:solidFill>
              </a:defRPr>
            </a:pPr>
            <a:r>
              <a:rPr sz="2100" b="1">
                <a:solidFill>
                  <a:srgbClr val="17365D"/>
                </a:solidFill>
              </a:rPr>
              <a:t>怎样判断学生是真的理解，而不是只记住一句定义？</a:t>
            </a:r>
          </a:p>
        </p:txBody>
      </p:sp>
      <p:sp>
        <p:nvSpPr>
          <p:cNvPr id="13" name="GOAL_PANEL_1_DEPTH">
            <a:extLst xmlns:a="http://schemas.openxmlformats.org/drawingml/2006/main">
              <a:ext uri="{FF2B5EF4-FFF2-40B4-BE49-F238E27FC236}">
                <a16:creationId xmlns:a16="http://schemas.microsoft.com/office/drawing/2014/main" id="{66EA9BC7-4F87-4F3E-AEBB-2D8F0E293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2000250"/>
            <a:ext cx="5715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B4DC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GOAL_PANEL_1">
            <a:extLst xmlns:a="http://schemas.openxmlformats.org/drawingml/2006/main">
              <a:ext uri="{FF2B5EF4-FFF2-40B4-BE49-F238E27FC236}">
                <a16:creationId xmlns:a16="http://schemas.microsoft.com/office/drawing/2014/main" id="{10D1181F-6A04-41F3-8222-3EAF9EA5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943100"/>
            <a:ext cx="5715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9525">
            <a:solidFill>
              <a:srgbClr val="C7E9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GOAL_PANEL_1_HIGHLIGHT">
            <a:extLst xmlns:a="http://schemas.openxmlformats.org/drawingml/2006/main">
              <a:ext uri="{FF2B5EF4-FFF2-40B4-BE49-F238E27FC236}">
                <a16:creationId xmlns:a16="http://schemas.microsoft.com/office/drawing/2014/main" id="{BB69E840-3A8E-4C60-862F-1CECA8C52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971675"/>
            <a:ext cx="55245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GOAL_MARK_1">
            <a:extLst xmlns:a="http://schemas.openxmlformats.org/drawingml/2006/main">
              <a:ext uri="{FF2B5EF4-FFF2-40B4-BE49-F238E27FC236}">
                <a16:creationId xmlns:a16="http://schemas.microsoft.com/office/drawing/2014/main" id="{BE5985D2-D905-4DD4-80D2-EFA583FAD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114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GOAL_TITLE_1">
            <a:extLst xmlns:a="http://schemas.openxmlformats.org/drawingml/2006/main">
              <a:ext uri="{FF2B5EF4-FFF2-40B4-BE49-F238E27FC236}">
                <a16:creationId xmlns:a16="http://schemas.microsoft.com/office/drawing/2014/main" id="{8D30F5E0-C8A1-4499-9722-A56BC4144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574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65D"/>
                </a:solidFill>
              </a:defRPr>
            </a:pPr>
            <a:r>
              <a:rPr sz="1650" b="1">
                <a:solidFill>
                  <a:srgbClr val="17365D"/>
                </a:solidFill>
              </a:rPr>
              <a:t>能解释</a:t>
            </a:r>
          </a:p>
        </p:txBody>
      </p:sp>
      <p:sp>
        <p:nvSpPr>
          <p:cNvPr id="18" name="GOAL_BODY_1">
            <a:extLst xmlns:a="http://schemas.openxmlformats.org/drawingml/2006/main">
              <a:ext uri="{FF2B5EF4-FFF2-40B4-BE49-F238E27FC236}">
                <a16:creationId xmlns:a16="http://schemas.microsoft.com/office/drawing/2014/main" id="{C34AC3A0-5450-478C-B46F-5C2BF0939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574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4465C"/>
                </a:solidFill>
              </a:defRPr>
            </a:pPr>
            <a:r>
              <a:rPr sz="1425" b="0">
                <a:solidFill>
                  <a:srgbClr val="34465C"/>
                </a:solidFill>
              </a:rPr>
              <a:t>用自己的语言说明概念</a:t>
            </a:r>
          </a:p>
        </p:txBody>
      </p:sp>
      <p:sp>
        <p:nvSpPr>
          <p:cNvPr id="19" name="GOAL_PANEL_2_DEPTH">
            <a:extLst xmlns:a="http://schemas.openxmlformats.org/drawingml/2006/main">
              <a:ext uri="{FF2B5EF4-FFF2-40B4-BE49-F238E27FC236}">
                <a16:creationId xmlns:a16="http://schemas.microsoft.com/office/drawing/2014/main" id="{A067E832-BE95-4A54-B8B8-D420D99E0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3200400"/>
            <a:ext cx="5715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C8D8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GOAL_PANEL_2">
            <a:extLst xmlns:a="http://schemas.openxmlformats.org/drawingml/2006/main">
              <a:ext uri="{FF2B5EF4-FFF2-40B4-BE49-F238E27FC236}">
                <a16:creationId xmlns:a16="http://schemas.microsoft.com/office/drawing/2014/main" id="{23F7BA7C-44F0-41BB-BB51-EAF5DD6A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143250"/>
            <a:ext cx="5715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GOAL_PANEL_2_HIGHLIGHT">
            <a:extLst xmlns:a="http://schemas.openxmlformats.org/drawingml/2006/main">
              <a:ext uri="{FF2B5EF4-FFF2-40B4-BE49-F238E27FC236}">
                <a16:creationId xmlns:a16="http://schemas.microsoft.com/office/drawing/2014/main" id="{4F4D92B3-B9FC-41C9-A41F-D32EBE79E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171825"/>
            <a:ext cx="55245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GOAL_MARK_2">
            <a:extLst xmlns:a="http://schemas.openxmlformats.org/drawingml/2006/main">
              <a:ext uri="{FF2B5EF4-FFF2-40B4-BE49-F238E27FC236}">
                <a16:creationId xmlns:a16="http://schemas.microsoft.com/office/drawing/2014/main" id="{4109C847-2589-4EDA-98C4-1BDBC778A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3147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GOAL_TITLE_2">
            <a:extLst xmlns:a="http://schemas.openxmlformats.org/drawingml/2006/main">
              <a:ext uri="{FF2B5EF4-FFF2-40B4-BE49-F238E27FC236}">
                <a16:creationId xmlns:a16="http://schemas.microsoft.com/office/drawing/2014/main" id="{D7EE96DC-4C5E-4D82-A9C7-06C0CF2C7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575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65D"/>
                </a:solidFill>
              </a:defRPr>
            </a:pPr>
            <a:r>
              <a:rPr sz="1650" b="1">
                <a:solidFill>
                  <a:srgbClr val="17365D"/>
                </a:solidFill>
              </a:rPr>
              <a:t>能辨析</a:t>
            </a:r>
          </a:p>
        </p:txBody>
      </p:sp>
      <p:sp>
        <p:nvSpPr>
          <p:cNvPr id="24" name="GOAL_BODY_2">
            <a:extLst xmlns:a="http://schemas.openxmlformats.org/drawingml/2006/main">
              <a:ext uri="{FF2B5EF4-FFF2-40B4-BE49-F238E27FC236}">
                <a16:creationId xmlns:a16="http://schemas.microsoft.com/office/drawing/2014/main" id="{2E45613E-8965-405F-86E9-446D16299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576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4465C"/>
                </a:solidFill>
              </a:defRPr>
            </a:pPr>
            <a:r>
              <a:rPr sz="1425" b="0">
                <a:solidFill>
                  <a:srgbClr val="34465C"/>
                </a:solidFill>
              </a:rPr>
              <a:t>识别边界与常见误区</a:t>
            </a:r>
          </a:p>
        </p:txBody>
      </p:sp>
      <p:sp>
        <p:nvSpPr>
          <p:cNvPr id="25" name="GOAL_PANEL_3_DEPTH">
            <a:extLst xmlns:a="http://schemas.openxmlformats.org/drawingml/2006/main">
              <a:ext uri="{FF2B5EF4-FFF2-40B4-BE49-F238E27FC236}">
                <a16:creationId xmlns:a16="http://schemas.microsoft.com/office/drawing/2014/main" id="{62010B3E-DC4D-4E36-B2F9-696311E17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4400550"/>
            <a:ext cx="5715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BCF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GOAL_PANEL_3">
            <a:extLst xmlns:a="http://schemas.openxmlformats.org/drawingml/2006/main">
              <a:ext uri="{FF2B5EF4-FFF2-40B4-BE49-F238E27FC236}">
                <a16:creationId xmlns:a16="http://schemas.microsoft.com/office/drawing/2014/main" id="{5C57D8E7-87E3-4086-B93B-11F023451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343400"/>
            <a:ext cx="5715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7E9"/>
          </a:solidFill>
          <a:ln xmlns:a="http://schemas.openxmlformats.org/drawingml/2006/main" w="9525">
            <a:solidFill>
              <a:srgbClr val="F2DDB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GOAL_PANEL_3_HIGHLIGHT">
            <a:extLst xmlns:a="http://schemas.openxmlformats.org/drawingml/2006/main">
              <a:ext uri="{FF2B5EF4-FFF2-40B4-BE49-F238E27FC236}">
                <a16:creationId xmlns:a16="http://schemas.microsoft.com/office/drawing/2014/main" id="{D0544FFB-2805-4EF6-8E1A-F85A6FFB3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371975"/>
            <a:ext cx="55245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GOAL_MARK_3">
            <a:extLst xmlns:a="http://schemas.openxmlformats.org/drawingml/2006/main">
              <a:ext uri="{FF2B5EF4-FFF2-40B4-BE49-F238E27FC236}">
                <a16:creationId xmlns:a16="http://schemas.microsoft.com/office/drawing/2014/main" id="{C47081D6-16AB-4314-A2CA-F431035CD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514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9D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GOAL_TITLE_3">
            <a:extLst xmlns:a="http://schemas.openxmlformats.org/drawingml/2006/main">
              <a:ext uri="{FF2B5EF4-FFF2-40B4-BE49-F238E27FC236}">
                <a16:creationId xmlns:a16="http://schemas.microsoft.com/office/drawing/2014/main" id="{A1848E88-E669-40F9-A420-734724AE8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4577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65D"/>
                </a:solidFill>
              </a:defRPr>
            </a:pPr>
            <a:r>
              <a:rPr sz="1650" b="1">
                <a:solidFill>
                  <a:srgbClr val="17365D"/>
                </a:solidFill>
              </a:rPr>
              <a:t>能迁移</a:t>
            </a:r>
          </a:p>
        </p:txBody>
      </p:sp>
      <p:sp>
        <p:nvSpPr>
          <p:cNvPr id="30" name="GOAL_BODY_3">
            <a:extLst xmlns:a="http://schemas.openxmlformats.org/drawingml/2006/main">
              <a:ext uri="{FF2B5EF4-FFF2-40B4-BE49-F238E27FC236}">
                <a16:creationId xmlns:a16="http://schemas.microsoft.com/office/drawing/2014/main" id="{496237F0-8D22-4F5E-AD30-6C637816A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8577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4465C"/>
                </a:solidFill>
              </a:defRPr>
            </a:pPr>
            <a:r>
              <a:rPr sz="1425" b="0">
                <a:solidFill>
                  <a:srgbClr val="34465C"/>
                </a:solidFill>
              </a:rPr>
              <a:t>在新情境中独立应用</a:t>
            </a:r>
          </a:p>
        </p:txBody>
      </p:sp>
      <p:sp>
        <p:nvSpPr>
          <p:cNvPr id="31" name="FOOTER_LABEL">
            <a:extLst xmlns:a="http://schemas.openxmlformats.org/drawingml/2006/main">
              <a:ext uri="{FF2B5EF4-FFF2-40B4-BE49-F238E27FC236}">
                <a16:creationId xmlns:a16="http://schemas.microsoft.com/office/drawing/2014/main" id="{79939A11-818C-4E5E-B455-59ECC7368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D7D91"/>
                </a:solidFill>
              </a:defRPr>
            </a:pPr>
            <a:r>
              <a:rPr sz="825" b="0">
                <a:solidFill>
                  <a:srgbClr val="6D7D91"/>
                </a:solidFill>
              </a:rPr>
              <a:t>启智课堂 · 同源课程课件</a:t>
            </a:r>
          </a:p>
        </p:txBody>
      </p:sp>
      <p:sp>
        <p:nvSpPr>
          <p:cNvPr id="32" name="FOOTER_PAGE_PLATE">
            <a:extLst xmlns:a="http://schemas.openxmlformats.org/drawingml/2006/main">
              <a:ext uri="{FF2B5EF4-FFF2-40B4-BE49-F238E27FC236}">
                <a16:creationId xmlns:a16="http://schemas.microsoft.com/office/drawing/2014/main" id="{68B89315-97F4-44C7-B104-2490E2159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343650"/>
            <a:ext cx="22669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DE5EE"/>
            </a:solidFill>
            <a:prstDash val="solid"/>
          </a:ln>
        </p:spPr>
      </p:sp>
      <p:sp>
        <p:nvSpPr>
          <p:cNvPr id="33" name="FOOTER_PAGE">
            <a:extLst xmlns:a="http://schemas.openxmlformats.org/drawingml/2006/main">
              <a:ext uri="{FF2B5EF4-FFF2-40B4-BE49-F238E27FC236}">
                <a16:creationId xmlns:a16="http://schemas.microsoft.com/office/drawing/2014/main" id="{4299AF8D-94EE-4FAC-83C7-BEA14CBCE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198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D7D91"/>
                </a:solidFill>
              </a:defRPr>
            </a:pPr>
            <a:r>
              <a:rPr sz="750" b="0">
                <a:solidFill>
                  <a:srgbClr val="6D7D91"/>
                </a:solidFill>
              </a:rPr>
              <a:t>05 / 18</a:t>
            </a:r>
          </a:p>
        </p:txBody>
      </p:sp>
    </p:spTree>
    <p:extLst>
      <p:ext uri="{BB962C8B-B14F-4D97-AF65-F5344CB8AC3E}">
        <p14:creationId xmlns:p14="http://schemas.microsoft.com/office/powerpoint/2010/main" val="20797987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7502c16154416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ECTION_LABEL">
            <a:extLst xmlns:a="http://schemas.openxmlformats.org/drawingml/2006/main">
              <a:ext uri="{FF2B5EF4-FFF2-40B4-BE49-F238E27FC236}">
                <a16:creationId xmlns:a16="http://schemas.microsoft.com/office/drawing/2014/main" id="{AFFCCB94-B951-48E3-97F0-A49AE718A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FE4"/>
                </a:solidFill>
              </a:defRPr>
            </a:pPr>
            <a:r>
              <a:rPr sz="1050" b="1">
                <a:solidFill>
                  <a:srgbClr val="2F6FE4"/>
                </a:solidFill>
              </a:rPr>
              <a:t>概念与边界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9970B75-908A-4F94-8746-C35AEF1C0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4850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65D"/>
                </a:solidFill>
              </a:defRPr>
            </a:pPr>
            <a:r>
              <a:rPr sz="2850" b="1">
                <a:solidFill>
                  <a:srgbClr val="17365D"/>
                </a:solidFill>
              </a:rPr>
              <a:t>把“是什么”和“什么时候不成立”并列呈现</a:t>
            </a:r>
          </a:p>
        </p:txBody>
      </p:sp>
      <p:sp>
        <p:nvSpPr>
          <p:cNvPr id="4" name="TITLE_RULE">
            <a:extLst xmlns:a="http://schemas.openxmlformats.org/drawingml/2006/main">
              <a:ext uri="{FF2B5EF4-FFF2-40B4-BE49-F238E27FC236}">
                <a16:creationId xmlns:a16="http://schemas.microsoft.com/office/drawing/2014/main" id="{FCBFFFD5-1692-42C4-BBAB-6A13AABB8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76375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_RULE_ACCENT">
            <a:extLst xmlns:a="http://schemas.openxmlformats.org/drawingml/2006/main">
              <a:ext uri="{FF2B5EF4-FFF2-40B4-BE49-F238E27FC236}">
                <a16:creationId xmlns:a16="http://schemas.microsoft.com/office/drawing/2014/main" id="{837B280B-B962-440F-94FC-43BA0E2BD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476375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_NUMBER">
            <a:extLst xmlns:a="http://schemas.openxmlformats.org/drawingml/2006/main">
              <a:ext uri="{FF2B5EF4-FFF2-40B4-BE49-F238E27FC236}">
                <a16:creationId xmlns:a16="http://schemas.microsoft.com/office/drawing/2014/main" id="{313C8C3F-7427-45A0-9D0B-FB145FC16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572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D7D91"/>
                </a:solidFill>
              </a:defRPr>
            </a:pPr>
            <a:r>
              <a:rPr sz="1050" b="1">
                <a:solidFill>
                  <a:srgbClr val="6D7D91"/>
                </a:solidFill>
              </a:rPr>
              <a:t>06</a:t>
            </a:r>
          </a:p>
        </p:txBody>
      </p:sp>
      <p:sp>
        <p:nvSpPr>
          <p:cNvPr id="7" name="LEFT_PANEL_DEPTH">
            <a:extLst xmlns:a="http://schemas.openxmlformats.org/drawingml/2006/main">
              <a:ext uri="{FF2B5EF4-FFF2-40B4-BE49-F238E27FC236}">
                <a16:creationId xmlns:a16="http://schemas.microsoft.com/office/drawing/2014/main" id="{F8D8996E-9488-451C-BEC7-9E73A3EA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095500"/>
            <a:ext cx="4953000" cy="3524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C8D8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LEFT_PANEL">
            <a:extLst xmlns:a="http://schemas.openxmlformats.org/drawingml/2006/main">
              <a:ext uri="{FF2B5EF4-FFF2-40B4-BE49-F238E27FC236}">
                <a16:creationId xmlns:a16="http://schemas.microsoft.com/office/drawing/2014/main" id="{C2526A00-90B5-4980-AD63-68501B7AA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4953000" cy="3524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LEFT_PANEL_HIGHLIGHT">
            <a:extLst xmlns:a="http://schemas.openxmlformats.org/drawingml/2006/main">
              <a:ext uri="{FF2B5EF4-FFF2-40B4-BE49-F238E27FC236}">
                <a16:creationId xmlns:a16="http://schemas.microsoft.com/office/drawing/2014/main" id="{9E94E674-83FD-4BFC-B4FE-742722942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66925"/>
            <a:ext cx="47625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EFT_PANEL_RAIL">
            <a:extLst xmlns:a="http://schemas.openxmlformats.org/drawingml/2006/main">
              <a:ext uri="{FF2B5EF4-FFF2-40B4-BE49-F238E27FC236}">
                <a16:creationId xmlns:a16="http://schemas.microsoft.com/office/drawing/2014/main" id="{AF81F158-9BE9-425B-B6FA-F416873F2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66675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LEFT_LABEL">
            <a:extLst xmlns:a="http://schemas.openxmlformats.org/drawingml/2006/main">
              <a:ext uri="{FF2B5EF4-FFF2-40B4-BE49-F238E27FC236}">
                <a16:creationId xmlns:a16="http://schemas.microsoft.com/office/drawing/2014/main" id="{41C7569F-511F-4A78-9AFC-926180430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431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6FE4"/>
                </a:solidFill>
              </a:defRPr>
            </a:pPr>
            <a:r>
              <a:rPr sz="1125" b="1">
                <a:solidFill>
                  <a:srgbClr val="2F6FE4"/>
                </a:solidFill>
              </a:rPr>
              <a:t>概念定义</a:t>
            </a:r>
          </a:p>
        </p:txBody>
      </p:sp>
      <p:sp>
        <p:nvSpPr>
          <p:cNvPr id="12" name="LEFT_BODY">
            <a:extLst xmlns:a="http://schemas.openxmlformats.org/drawingml/2006/main">
              <a:ext uri="{FF2B5EF4-FFF2-40B4-BE49-F238E27FC236}">
                <a16:creationId xmlns:a16="http://schemas.microsoft.com/office/drawing/2014/main" id="{3989A83C-5499-46EE-B51F-F352662A9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95600"/>
            <a:ext cx="4095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65D"/>
                </a:solidFill>
              </a:defRPr>
            </a:pPr>
            <a:r>
              <a:rPr sz="1800" b="1">
                <a:solidFill>
                  <a:srgbClr val="17365D"/>
                </a:solidFill>
              </a:rPr>
              <a:t>先给出一句可以被检验的正式表述，再补充必要条件。</a:t>
            </a:r>
          </a:p>
        </p:txBody>
      </p:sp>
      <p:sp>
        <p:nvSpPr>
          <p:cNvPr id="13" name="LEFT_EXAMPLE">
            <a:extLst xmlns:a="http://schemas.openxmlformats.org/drawingml/2006/main">
              <a:ext uri="{FF2B5EF4-FFF2-40B4-BE49-F238E27FC236}">
                <a16:creationId xmlns:a16="http://schemas.microsoft.com/office/drawing/2014/main" id="{4DF30B0D-6006-438D-98EC-F7DDDC9A2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57700"/>
            <a:ext cx="400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D7D91"/>
                </a:solidFill>
              </a:defRPr>
            </a:pPr>
            <a:r>
              <a:rPr sz="1350" b="0">
                <a:solidFill>
                  <a:srgbClr val="6D7D91"/>
                </a:solidFill>
              </a:rPr>
              <a:t>示例：用一个最小情境确认每个词的含义。</a:t>
            </a:r>
          </a:p>
        </p:txBody>
      </p:sp>
      <p:sp>
        <p:nvSpPr>
          <p:cNvPr id="14" name="RIGHT_PANEL_DEPTH">
            <a:extLst xmlns:a="http://schemas.openxmlformats.org/drawingml/2006/main">
              <a:ext uri="{FF2B5EF4-FFF2-40B4-BE49-F238E27FC236}">
                <a16:creationId xmlns:a16="http://schemas.microsoft.com/office/drawing/2014/main" id="{2CC1EDD7-FB46-4917-8D0A-D6A999968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095500"/>
            <a:ext cx="5486400" cy="3524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B6DD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IGHT_PANEL">
            <a:extLst xmlns:a="http://schemas.openxmlformats.org/drawingml/2006/main">
              <a:ext uri="{FF2B5EF4-FFF2-40B4-BE49-F238E27FC236}">
                <a16:creationId xmlns:a16="http://schemas.microsoft.com/office/drawing/2014/main" id="{5E4F7B68-8150-4DE2-9400-F584404C6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38350"/>
            <a:ext cx="5486400" cy="3524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9525">
            <a:solidFill>
              <a:srgbClr val="C7E9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RIGHT_PANEL_HIGHLIGHT">
            <a:extLst xmlns:a="http://schemas.openxmlformats.org/drawingml/2006/main">
              <a:ext uri="{FF2B5EF4-FFF2-40B4-BE49-F238E27FC236}">
                <a16:creationId xmlns:a16="http://schemas.microsoft.com/office/drawing/2014/main" id="{EFF1E49F-378D-4B6C-933E-A1C9372B1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066925"/>
            <a:ext cx="52959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IGHT_PANEL_RAIL">
            <a:extLst xmlns:a="http://schemas.openxmlformats.org/drawingml/2006/main">
              <a:ext uri="{FF2B5EF4-FFF2-40B4-BE49-F238E27FC236}">
                <a16:creationId xmlns:a16="http://schemas.microsoft.com/office/drawing/2014/main" id="{2CEB5C39-5A2E-4DA7-A65D-6E58FECA0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38350"/>
            <a:ext cx="66675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IGHT_LABEL">
            <a:extLst xmlns:a="http://schemas.openxmlformats.org/drawingml/2006/main">
              <a:ext uri="{FF2B5EF4-FFF2-40B4-BE49-F238E27FC236}">
                <a16:creationId xmlns:a16="http://schemas.microsoft.com/office/drawing/2014/main" id="{EC26EAD2-F97A-42FE-A8CD-C85A34EC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431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856B"/>
                </a:solidFill>
              </a:defRPr>
            </a:pPr>
            <a:r>
              <a:rPr sz="1125" b="1">
                <a:solidFill>
                  <a:srgbClr val="16856B"/>
                </a:solidFill>
              </a:rPr>
              <a:t>条件边界</a:t>
            </a:r>
          </a:p>
        </p:txBody>
      </p:sp>
      <p:sp>
        <p:nvSpPr>
          <p:cNvPr id="19" name="RIGHT_BODY">
            <a:extLst xmlns:a="http://schemas.openxmlformats.org/drawingml/2006/main">
              <a:ext uri="{FF2B5EF4-FFF2-40B4-BE49-F238E27FC236}">
                <a16:creationId xmlns:a16="http://schemas.microsoft.com/office/drawing/2014/main" id="{AC2F52A1-D434-4642-B6C5-9FDB40FCB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95600"/>
            <a:ext cx="45529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65D"/>
                </a:solidFill>
              </a:defRPr>
            </a:pPr>
            <a:r>
              <a:rPr sz="1800" b="1">
                <a:solidFill>
                  <a:srgbClr val="17365D"/>
                </a:solidFill>
              </a:rPr>
              <a:t>明确不满足条件时会发生什么，并用反例帮助学生区分。</a:t>
            </a:r>
          </a:p>
        </p:txBody>
      </p:sp>
      <p:sp>
        <p:nvSpPr>
          <p:cNvPr id="20" name="RIGHT_EXAMPLE">
            <a:extLst xmlns:a="http://schemas.openxmlformats.org/drawingml/2006/main">
              <a:ext uri="{FF2B5EF4-FFF2-40B4-BE49-F238E27FC236}">
                <a16:creationId xmlns:a16="http://schemas.microsoft.com/office/drawing/2014/main" id="{C8B49CE3-E279-4399-878B-0E9E6C4EB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57700"/>
            <a:ext cx="428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D7D91"/>
                </a:solidFill>
              </a:defRPr>
            </a:pPr>
            <a:r>
              <a:rPr sz="1350" b="0">
                <a:solidFill>
                  <a:srgbClr val="6D7D91"/>
                </a:solidFill>
              </a:rPr>
              <a:t>反例：只改变一个条件，观察结论为何失效。</a:t>
            </a:r>
          </a:p>
        </p:txBody>
      </p:sp>
      <p:sp>
        <p:nvSpPr>
          <p:cNvPr id="21" name="FOOTER_LABEL">
            <a:extLst xmlns:a="http://schemas.openxmlformats.org/drawingml/2006/main">
              <a:ext uri="{FF2B5EF4-FFF2-40B4-BE49-F238E27FC236}">
                <a16:creationId xmlns:a16="http://schemas.microsoft.com/office/drawing/2014/main" id="{115036F5-07C6-48BD-8880-BA8BCFED3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D7D91"/>
                </a:solidFill>
              </a:defRPr>
            </a:pPr>
            <a:r>
              <a:rPr sz="825" b="0">
                <a:solidFill>
                  <a:srgbClr val="6D7D91"/>
                </a:solidFill>
              </a:rPr>
              <a:t>启智课堂 · 同源课程课件</a:t>
            </a:r>
          </a:p>
        </p:txBody>
      </p:sp>
      <p:sp>
        <p:nvSpPr>
          <p:cNvPr id="22" name="FOOTER_PAGE_PLATE">
            <a:extLst xmlns:a="http://schemas.openxmlformats.org/drawingml/2006/main">
              <a:ext uri="{FF2B5EF4-FFF2-40B4-BE49-F238E27FC236}">
                <a16:creationId xmlns:a16="http://schemas.microsoft.com/office/drawing/2014/main" id="{F57A5AE0-9BDB-4385-ACBE-642956878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343650"/>
            <a:ext cx="22669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DE5EE"/>
            </a:solidFill>
            <a:prstDash val="solid"/>
          </a:ln>
        </p:spPr>
      </p:sp>
      <p:sp>
        <p:nvSpPr>
          <p:cNvPr id="23" name="FOOTER_PAGE">
            <a:extLst xmlns:a="http://schemas.openxmlformats.org/drawingml/2006/main">
              <a:ext uri="{FF2B5EF4-FFF2-40B4-BE49-F238E27FC236}">
                <a16:creationId xmlns:a16="http://schemas.microsoft.com/office/drawing/2014/main" id="{8AC12B5B-B4C6-4763-89FA-997AF67C9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198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D7D91"/>
                </a:solidFill>
              </a:defRPr>
            </a:pPr>
            <a:r>
              <a:rPr sz="750" b="0">
                <a:solidFill>
                  <a:srgbClr val="6D7D91"/>
                </a:solidFill>
              </a:rPr>
              <a:t>06 / 18</a:t>
            </a:r>
          </a:p>
        </p:txBody>
      </p:sp>
    </p:spTree>
    <p:extLst>
      <p:ext uri="{BB962C8B-B14F-4D97-AF65-F5344CB8AC3E}">
        <p14:creationId xmlns:p14="http://schemas.microsoft.com/office/powerpoint/2010/main" val="9786137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dc61c026fe478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ECTION_LABEL">
            <a:extLst xmlns:a="http://schemas.openxmlformats.org/drawingml/2006/main">
              <a:ext uri="{FF2B5EF4-FFF2-40B4-BE49-F238E27FC236}">
                <a16:creationId xmlns:a16="http://schemas.microsoft.com/office/drawing/2014/main" id="{ADE4A8B9-B14B-4357-8AAC-211CC70A8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FE4"/>
                </a:solidFill>
              </a:defRPr>
            </a:pPr>
            <a:r>
              <a:rPr sz="1050" b="1">
                <a:solidFill>
                  <a:srgbClr val="2F6FE4"/>
                </a:solidFill>
              </a:rPr>
              <a:t>方法流程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7BE8E57-B2F8-478F-846C-71DC1F69F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4850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65D"/>
                </a:solidFill>
              </a:defRPr>
            </a:pPr>
            <a:r>
              <a:rPr sz="2850" b="1">
                <a:solidFill>
                  <a:srgbClr val="17365D"/>
                </a:solidFill>
              </a:rPr>
              <a:t>复杂概念可以沿着四步学习路径展开</a:t>
            </a:r>
          </a:p>
        </p:txBody>
      </p:sp>
      <p:sp>
        <p:nvSpPr>
          <p:cNvPr id="4" name="TITLE_RULE">
            <a:extLst xmlns:a="http://schemas.openxmlformats.org/drawingml/2006/main">
              <a:ext uri="{FF2B5EF4-FFF2-40B4-BE49-F238E27FC236}">
                <a16:creationId xmlns:a16="http://schemas.microsoft.com/office/drawing/2014/main" id="{D0CDC1DA-6354-4B4E-861E-846EBA7D4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76375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_RULE_ACCENT">
            <a:extLst xmlns:a="http://schemas.openxmlformats.org/drawingml/2006/main">
              <a:ext uri="{FF2B5EF4-FFF2-40B4-BE49-F238E27FC236}">
                <a16:creationId xmlns:a16="http://schemas.microsoft.com/office/drawing/2014/main" id="{E658D9E9-8356-4F79-A420-02F80C794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476375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_NUMBER">
            <a:extLst xmlns:a="http://schemas.openxmlformats.org/drawingml/2006/main">
              <a:ext uri="{FF2B5EF4-FFF2-40B4-BE49-F238E27FC236}">
                <a16:creationId xmlns:a16="http://schemas.microsoft.com/office/drawing/2014/main" id="{DB6B8893-AC14-4842-A4BB-59852B10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572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D7D91"/>
                </a:solidFill>
              </a:defRPr>
            </a:pPr>
            <a:r>
              <a:rPr sz="1050" b="1">
                <a:solidFill>
                  <a:srgbClr val="6D7D91"/>
                </a:solidFill>
              </a:rPr>
              <a:t>07</a:t>
            </a:r>
          </a:p>
        </p:txBody>
      </p:sp>
      <p:sp>
        <p:nvSpPr>
          <p:cNvPr id="7" name="PROCESS_CONNECTOR_1">
            <a:extLst xmlns:a="http://schemas.openxmlformats.org/drawingml/2006/main">
              <a:ext uri="{FF2B5EF4-FFF2-40B4-BE49-F238E27FC236}">
                <a16:creationId xmlns:a16="http://schemas.microsoft.com/office/drawing/2014/main" id="{AC111EA8-FACE-47A6-BF3A-49AD6E9B5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381375"/>
            <a:ext cx="990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ROCESS_CONNECTOR_2">
            <a:extLst xmlns:a="http://schemas.openxmlformats.org/drawingml/2006/main">
              <a:ext uri="{FF2B5EF4-FFF2-40B4-BE49-F238E27FC236}">
                <a16:creationId xmlns:a16="http://schemas.microsoft.com/office/drawing/2014/main" id="{B4A50A8E-14CC-4FB8-BABA-01FB7C17A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381375"/>
            <a:ext cx="990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ROCESS_CONNECTOR_3">
            <a:extLst xmlns:a="http://schemas.openxmlformats.org/drawingml/2006/main">
              <a:ext uri="{FF2B5EF4-FFF2-40B4-BE49-F238E27FC236}">
                <a16:creationId xmlns:a16="http://schemas.microsoft.com/office/drawing/2014/main" id="{C8CBE2A4-D0E2-4A4C-B5AB-C3EA96ECB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381375"/>
            <a:ext cx="990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TEP_PANEL_1_DEPTH">
            <a:extLst xmlns:a="http://schemas.openxmlformats.org/drawingml/2006/main">
              <a:ext uri="{FF2B5EF4-FFF2-40B4-BE49-F238E27FC236}">
                <a16:creationId xmlns:a16="http://schemas.microsoft.com/office/drawing/2014/main" id="{0AD62D6F-D7C2-43BF-A059-F405A5B66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971800"/>
            <a:ext cx="2362200" cy="24765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C6D8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EP_PANEL_1">
            <a:extLst xmlns:a="http://schemas.openxmlformats.org/drawingml/2006/main">
              <a:ext uri="{FF2B5EF4-FFF2-40B4-BE49-F238E27FC236}">
                <a16:creationId xmlns:a16="http://schemas.microsoft.com/office/drawing/2014/main" id="{EAAA505E-4D72-4418-AA07-E0F6AF32B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14650"/>
            <a:ext cx="2362200" cy="24765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4F8FE"/>
          </a:solidFill>
          <a:ln xmlns:a="http://schemas.openxmlformats.org/drawingml/2006/main" w="9525">
            <a:solidFill>
              <a:srgbClr val="D7E4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STEP_PANEL_1_HIGHLIGHT">
            <a:extLst xmlns:a="http://schemas.openxmlformats.org/drawingml/2006/main">
              <a:ext uri="{FF2B5EF4-FFF2-40B4-BE49-F238E27FC236}">
                <a16:creationId xmlns:a16="http://schemas.microsoft.com/office/drawing/2014/main" id="{918EF6E2-2631-414D-A0BC-4B7A10E14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43225"/>
            <a:ext cx="21717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_MARK_1">
            <a:extLst xmlns:a="http://schemas.openxmlformats.org/drawingml/2006/main">
              <a:ext uri="{FF2B5EF4-FFF2-40B4-BE49-F238E27FC236}">
                <a16:creationId xmlns:a16="http://schemas.microsoft.com/office/drawing/2014/main" id="{D3823471-338C-4A1C-9F4F-717D798B4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TEP_NUMBER_1">
            <a:extLst xmlns:a="http://schemas.openxmlformats.org/drawingml/2006/main">
              <a:ext uri="{FF2B5EF4-FFF2-40B4-BE49-F238E27FC236}">
                <a16:creationId xmlns:a16="http://schemas.microsoft.com/office/drawing/2014/main" id="{A749E415-23C8-4E8F-A965-8C198A251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2670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5" name="STEP_TITLE_1">
            <a:extLst xmlns:a="http://schemas.openxmlformats.org/drawingml/2006/main">
              <a:ext uri="{FF2B5EF4-FFF2-40B4-BE49-F238E27FC236}">
                <a16:creationId xmlns:a16="http://schemas.microsoft.com/office/drawing/2014/main" id="{37095135-5220-4258-8352-6FB87B50D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65D"/>
                </a:solidFill>
              </a:defRPr>
            </a:pPr>
            <a:r>
              <a:rPr sz="1800" b="1">
                <a:solidFill>
                  <a:srgbClr val="17365D"/>
                </a:solidFill>
              </a:rPr>
              <a:t>提出问题</a:t>
            </a:r>
          </a:p>
        </p:txBody>
      </p:sp>
      <p:sp>
        <p:nvSpPr>
          <p:cNvPr id="16" name="STEP_BODY_1">
            <a:extLst xmlns:a="http://schemas.openxmlformats.org/drawingml/2006/main">
              <a:ext uri="{FF2B5EF4-FFF2-40B4-BE49-F238E27FC236}">
                <a16:creationId xmlns:a16="http://schemas.microsoft.com/office/drawing/2014/main" id="{5F7C5B92-CD9C-43D0-895A-C9FDE3C3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5770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4465C"/>
                </a:solidFill>
              </a:defRPr>
            </a:pPr>
            <a:r>
              <a:rPr sz="1275" b="0">
                <a:solidFill>
                  <a:srgbClr val="34465C"/>
                </a:solidFill>
              </a:rPr>
              <a:t>先让学生知道为什么要学</a:t>
            </a:r>
          </a:p>
        </p:txBody>
      </p:sp>
      <p:sp>
        <p:nvSpPr>
          <p:cNvPr id="17" name="STEP_PANEL_2_DEPTH">
            <a:extLst xmlns:a="http://schemas.openxmlformats.org/drawingml/2006/main">
              <a:ext uri="{FF2B5EF4-FFF2-40B4-BE49-F238E27FC236}">
                <a16:creationId xmlns:a16="http://schemas.microsoft.com/office/drawing/2014/main" id="{D593F484-3278-4CA0-A83C-57872FF6C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971800"/>
            <a:ext cx="2362200" cy="24765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C6D8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TEP_PANEL_2">
            <a:extLst xmlns:a="http://schemas.openxmlformats.org/drawingml/2006/main">
              <a:ext uri="{FF2B5EF4-FFF2-40B4-BE49-F238E27FC236}">
                <a16:creationId xmlns:a16="http://schemas.microsoft.com/office/drawing/2014/main" id="{2A1F56F8-C4B7-4908-B738-791471BFB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14650"/>
            <a:ext cx="2362200" cy="24765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4F8FE"/>
          </a:solidFill>
          <a:ln xmlns:a="http://schemas.openxmlformats.org/drawingml/2006/main" w="9525">
            <a:solidFill>
              <a:srgbClr val="D7E4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STEP_PANEL_2_HIGHLIGHT">
            <a:extLst xmlns:a="http://schemas.openxmlformats.org/drawingml/2006/main">
              <a:ext uri="{FF2B5EF4-FFF2-40B4-BE49-F238E27FC236}">
                <a16:creationId xmlns:a16="http://schemas.microsoft.com/office/drawing/2014/main" id="{0CA93054-A3B1-4195-BC81-3AEC73244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43225"/>
            <a:ext cx="21717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TEP_MARK_2">
            <a:extLst xmlns:a="http://schemas.openxmlformats.org/drawingml/2006/main">
              <a:ext uri="{FF2B5EF4-FFF2-40B4-BE49-F238E27FC236}">
                <a16:creationId xmlns:a16="http://schemas.microsoft.com/office/drawing/2014/main" id="{B2457306-349B-4C00-9BD5-8B834EC3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0670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TEP_NUMBER_2">
            <a:extLst xmlns:a="http://schemas.openxmlformats.org/drawingml/2006/main">
              <a:ext uri="{FF2B5EF4-FFF2-40B4-BE49-F238E27FC236}">
                <a16:creationId xmlns:a16="http://schemas.microsoft.com/office/drawing/2014/main" id="{FE281531-AEEF-461F-B776-CCAFDA9CA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2670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2" name="STEP_TITLE_2">
            <a:extLst xmlns:a="http://schemas.openxmlformats.org/drawingml/2006/main">
              <a:ext uri="{FF2B5EF4-FFF2-40B4-BE49-F238E27FC236}">
                <a16:creationId xmlns:a16="http://schemas.microsoft.com/office/drawing/2014/main" id="{0A26F810-E1E0-40A7-A341-BA567D891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000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65D"/>
                </a:solidFill>
              </a:defRPr>
            </a:pPr>
            <a:r>
              <a:rPr sz="1800" b="1">
                <a:solidFill>
                  <a:srgbClr val="17365D"/>
                </a:solidFill>
              </a:rPr>
              <a:t>建立模型</a:t>
            </a:r>
          </a:p>
        </p:txBody>
      </p:sp>
      <p:sp>
        <p:nvSpPr>
          <p:cNvPr id="23" name="STEP_BODY_2">
            <a:extLst xmlns:a="http://schemas.openxmlformats.org/drawingml/2006/main">
              <a:ext uri="{FF2B5EF4-FFF2-40B4-BE49-F238E27FC236}">
                <a16:creationId xmlns:a16="http://schemas.microsoft.com/office/drawing/2014/main" id="{77FB6A01-B229-44AF-B1B2-C119D65E0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45770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4465C"/>
                </a:solidFill>
              </a:defRPr>
            </a:pPr>
            <a:r>
              <a:rPr sz="1275" b="0">
                <a:solidFill>
                  <a:srgbClr val="34465C"/>
                </a:solidFill>
              </a:rPr>
              <a:t>把抽象关系变成可见结构</a:t>
            </a:r>
          </a:p>
        </p:txBody>
      </p:sp>
      <p:sp>
        <p:nvSpPr>
          <p:cNvPr id="24" name="STEP_PANEL_3_DEPTH">
            <a:extLst xmlns:a="http://schemas.openxmlformats.org/drawingml/2006/main">
              <a:ext uri="{FF2B5EF4-FFF2-40B4-BE49-F238E27FC236}">
                <a16:creationId xmlns:a16="http://schemas.microsoft.com/office/drawing/2014/main" id="{68BC4EF4-75B7-428B-9844-E6AA8D8C9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971800"/>
            <a:ext cx="2362200" cy="24765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C6D8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TEP_PANEL_3">
            <a:extLst xmlns:a="http://schemas.openxmlformats.org/drawingml/2006/main">
              <a:ext uri="{FF2B5EF4-FFF2-40B4-BE49-F238E27FC236}">
                <a16:creationId xmlns:a16="http://schemas.microsoft.com/office/drawing/2014/main" id="{BAA5C496-6B32-442D-9F47-D013F20FD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914650"/>
            <a:ext cx="2362200" cy="24765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4F8FE"/>
          </a:solidFill>
          <a:ln xmlns:a="http://schemas.openxmlformats.org/drawingml/2006/main" w="9525">
            <a:solidFill>
              <a:srgbClr val="D7E4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STEP_PANEL_3_HIGHLIGHT">
            <a:extLst xmlns:a="http://schemas.openxmlformats.org/drawingml/2006/main">
              <a:ext uri="{FF2B5EF4-FFF2-40B4-BE49-F238E27FC236}">
                <a16:creationId xmlns:a16="http://schemas.microsoft.com/office/drawing/2014/main" id="{A47A52F4-8970-4DD0-BC62-D1C0B37E7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943225"/>
            <a:ext cx="21717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STEP_MARK_3">
            <a:extLst xmlns:a="http://schemas.openxmlformats.org/drawingml/2006/main">
              <a:ext uri="{FF2B5EF4-FFF2-40B4-BE49-F238E27FC236}">
                <a16:creationId xmlns:a16="http://schemas.microsoft.com/office/drawing/2014/main" id="{D62290D2-A3E2-439E-B8FD-1924600CB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670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9D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TEP_NUMBER_3">
            <a:extLst xmlns:a="http://schemas.openxmlformats.org/drawingml/2006/main">
              <a:ext uri="{FF2B5EF4-FFF2-40B4-BE49-F238E27FC236}">
                <a16:creationId xmlns:a16="http://schemas.microsoft.com/office/drawing/2014/main" id="{546E4386-E22C-4CE5-BDDF-AD36B212D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2670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9" name="STEP_TITLE_3">
            <a:extLst xmlns:a="http://schemas.openxmlformats.org/drawingml/2006/main">
              <a:ext uri="{FF2B5EF4-FFF2-40B4-BE49-F238E27FC236}">
                <a16:creationId xmlns:a16="http://schemas.microsoft.com/office/drawing/2014/main" id="{D01D31BA-B6A9-4067-AFEE-A6781514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00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65D"/>
                </a:solidFill>
              </a:defRPr>
            </a:pPr>
            <a:r>
              <a:rPr sz="1800" b="1">
                <a:solidFill>
                  <a:srgbClr val="17365D"/>
                </a:solidFill>
              </a:rPr>
              <a:t>练习判断</a:t>
            </a:r>
          </a:p>
        </p:txBody>
      </p:sp>
      <p:sp>
        <p:nvSpPr>
          <p:cNvPr id="30" name="STEP_BODY_3">
            <a:extLst xmlns:a="http://schemas.openxmlformats.org/drawingml/2006/main">
              <a:ext uri="{FF2B5EF4-FFF2-40B4-BE49-F238E27FC236}">
                <a16:creationId xmlns:a16="http://schemas.microsoft.com/office/drawing/2014/main" id="{D7D840B2-5F53-47D6-ACD9-CE999C058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5770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4465C"/>
                </a:solidFill>
              </a:defRPr>
            </a:pPr>
            <a:r>
              <a:rPr sz="1275" b="0">
                <a:solidFill>
                  <a:srgbClr val="34465C"/>
                </a:solidFill>
              </a:rPr>
              <a:t>用新题检验是否能迁移</a:t>
            </a:r>
          </a:p>
        </p:txBody>
      </p:sp>
      <p:sp>
        <p:nvSpPr>
          <p:cNvPr id="31" name="STEP_PANEL_4_DEPTH">
            <a:extLst xmlns:a="http://schemas.openxmlformats.org/drawingml/2006/main">
              <a:ext uri="{FF2B5EF4-FFF2-40B4-BE49-F238E27FC236}">
                <a16:creationId xmlns:a16="http://schemas.microsoft.com/office/drawing/2014/main" id="{3BE6FD29-1917-4611-B689-5EC6EA82E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971800"/>
            <a:ext cx="2362200" cy="24765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C6D8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STEP_PANEL_4">
            <a:extLst xmlns:a="http://schemas.openxmlformats.org/drawingml/2006/main">
              <a:ext uri="{FF2B5EF4-FFF2-40B4-BE49-F238E27FC236}">
                <a16:creationId xmlns:a16="http://schemas.microsoft.com/office/drawing/2014/main" id="{5E2FBBFD-0CBD-4B02-9938-FA1928280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914650"/>
            <a:ext cx="2362200" cy="24765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4F8FE"/>
          </a:solidFill>
          <a:ln xmlns:a="http://schemas.openxmlformats.org/drawingml/2006/main" w="9525">
            <a:solidFill>
              <a:srgbClr val="D7E4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STEP_PANEL_4_HIGHLIGHT">
            <a:extLst xmlns:a="http://schemas.openxmlformats.org/drawingml/2006/main">
              <a:ext uri="{FF2B5EF4-FFF2-40B4-BE49-F238E27FC236}">
                <a16:creationId xmlns:a16="http://schemas.microsoft.com/office/drawing/2014/main" id="{FD351D51-B7DF-491E-941F-B39C7E15B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43225"/>
            <a:ext cx="21717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STEP_MARK_4">
            <a:extLst xmlns:a="http://schemas.openxmlformats.org/drawingml/2006/main">
              <a:ext uri="{FF2B5EF4-FFF2-40B4-BE49-F238E27FC236}">
                <a16:creationId xmlns:a16="http://schemas.microsoft.com/office/drawing/2014/main" id="{EB47DC0C-DB2F-4E0B-B1C9-C37A92E9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0670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STEP_NUMBER_4">
            <a:extLst xmlns:a="http://schemas.openxmlformats.org/drawingml/2006/main">
              <a:ext uri="{FF2B5EF4-FFF2-40B4-BE49-F238E27FC236}">
                <a16:creationId xmlns:a16="http://schemas.microsoft.com/office/drawing/2014/main" id="{97431981-A52A-48F7-855E-62B3472E4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2670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36" name="STEP_TITLE_4">
            <a:extLst xmlns:a="http://schemas.openxmlformats.org/drawingml/2006/main">
              <a:ext uri="{FF2B5EF4-FFF2-40B4-BE49-F238E27FC236}">
                <a16:creationId xmlns:a16="http://schemas.microsoft.com/office/drawing/2014/main" id="{15E44292-58BD-4C72-9265-08E9E81FE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00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65D"/>
                </a:solidFill>
              </a:defRPr>
            </a:pPr>
            <a:r>
              <a:rPr sz="1800" b="1">
                <a:solidFill>
                  <a:srgbClr val="17365D"/>
                </a:solidFill>
              </a:rPr>
              <a:t>提取总结</a:t>
            </a:r>
          </a:p>
        </p:txBody>
      </p:sp>
      <p:sp>
        <p:nvSpPr>
          <p:cNvPr id="37" name="STEP_BODY_4">
            <a:extLst xmlns:a="http://schemas.openxmlformats.org/drawingml/2006/main">
              <a:ext uri="{FF2B5EF4-FFF2-40B4-BE49-F238E27FC236}">
                <a16:creationId xmlns:a16="http://schemas.microsoft.com/office/drawing/2014/main" id="{0FD8A269-9855-4E20-AFCF-014304D95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45770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4465C"/>
                </a:solidFill>
              </a:defRPr>
            </a:pPr>
            <a:r>
              <a:rPr sz="1275" b="0">
                <a:solidFill>
                  <a:srgbClr val="34465C"/>
                </a:solidFill>
              </a:rPr>
              <a:t>通过回忆巩固关键路径</a:t>
            </a:r>
          </a:p>
        </p:txBody>
      </p:sp>
      <p:sp>
        <p:nvSpPr>
          <p:cNvPr id="38" name="FOOTER_LABEL">
            <a:extLst xmlns:a="http://schemas.openxmlformats.org/drawingml/2006/main">
              <a:ext uri="{FF2B5EF4-FFF2-40B4-BE49-F238E27FC236}">
                <a16:creationId xmlns:a16="http://schemas.microsoft.com/office/drawing/2014/main" id="{180350A3-D010-494E-8203-A8142986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D7D91"/>
                </a:solidFill>
              </a:defRPr>
            </a:pPr>
            <a:r>
              <a:rPr sz="825" b="0">
                <a:solidFill>
                  <a:srgbClr val="6D7D91"/>
                </a:solidFill>
              </a:rPr>
              <a:t>启智课堂 · 同源课程课件</a:t>
            </a:r>
          </a:p>
        </p:txBody>
      </p:sp>
      <p:sp>
        <p:nvSpPr>
          <p:cNvPr id="39" name="FOOTER_PAGE_PLATE">
            <a:extLst xmlns:a="http://schemas.openxmlformats.org/drawingml/2006/main">
              <a:ext uri="{FF2B5EF4-FFF2-40B4-BE49-F238E27FC236}">
                <a16:creationId xmlns:a16="http://schemas.microsoft.com/office/drawing/2014/main" id="{3C8D8A34-B6B1-4815-B2D4-CCE605FF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343650"/>
            <a:ext cx="22669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DE5EE"/>
            </a:solidFill>
            <a:prstDash val="solid"/>
          </a:ln>
        </p:spPr>
      </p:sp>
      <p:sp>
        <p:nvSpPr>
          <p:cNvPr id="40" name="FOOTER_PAGE">
            <a:extLst xmlns:a="http://schemas.openxmlformats.org/drawingml/2006/main">
              <a:ext uri="{FF2B5EF4-FFF2-40B4-BE49-F238E27FC236}">
                <a16:creationId xmlns:a16="http://schemas.microsoft.com/office/drawing/2014/main" id="{1F969241-7051-43A0-A4CF-A7A11B111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198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D7D91"/>
                </a:solidFill>
              </a:defRPr>
            </a:pPr>
            <a:r>
              <a:rPr sz="750" b="0">
                <a:solidFill>
                  <a:srgbClr val="6D7D91"/>
                </a:solidFill>
              </a:rPr>
              <a:t>07 / 18</a:t>
            </a:r>
          </a:p>
        </p:txBody>
      </p:sp>
    </p:spTree>
    <p:extLst>
      <p:ext uri="{BB962C8B-B14F-4D97-AF65-F5344CB8AC3E}">
        <p14:creationId xmlns:p14="http://schemas.microsoft.com/office/powerpoint/2010/main" val="19578000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38ba436e0d4c7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ECTION_LABEL">
            <a:extLst xmlns:a="http://schemas.openxmlformats.org/drawingml/2006/main">
              <a:ext uri="{FF2B5EF4-FFF2-40B4-BE49-F238E27FC236}">
                <a16:creationId xmlns:a16="http://schemas.microsoft.com/office/drawing/2014/main" id="{9EEA1E27-ED87-4874-B510-47736AFEA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FE4"/>
                </a:solidFill>
              </a:defRPr>
            </a:pPr>
            <a:r>
              <a:rPr sz="1050" b="1">
                <a:solidFill>
                  <a:srgbClr val="2F6FE4"/>
                </a:solidFill>
              </a:rPr>
              <a:t>图文解释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2D12F06-5A64-4ABE-88D1-ED59A4EBE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4850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65D"/>
                </a:solidFill>
              </a:defRPr>
            </a:pPr>
            <a:r>
              <a:rPr sz="2850" b="1">
                <a:solidFill>
                  <a:srgbClr val="17365D"/>
                </a:solidFill>
              </a:rPr>
              <a:t>视觉应承担解释任务，而不是只填补空白</a:t>
            </a:r>
          </a:p>
        </p:txBody>
      </p:sp>
      <p:sp>
        <p:nvSpPr>
          <p:cNvPr id="4" name="TITLE_RULE">
            <a:extLst xmlns:a="http://schemas.openxmlformats.org/drawingml/2006/main">
              <a:ext uri="{FF2B5EF4-FFF2-40B4-BE49-F238E27FC236}">
                <a16:creationId xmlns:a16="http://schemas.microsoft.com/office/drawing/2014/main" id="{1FB7A632-6A2D-49D2-A87B-3ED154A16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76375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_RULE_ACCENT">
            <a:extLst xmlns:a="http://schemas.openxmlformats.org/drawingml/2006/main">
              <a:ext uri="{FF2B5EF4-FFF2-40B4-BE49-F238E27FC236}">
                <a16:creationId xmlns:a16="http://schemas.microsoft.com/office/drawing/2014/main" id="{E8E5751A-59FB-4F0C-865D-AEF6B9FB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476375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_NUMBER">
            <a:extLst xmlns:a="http://schemas.openxmlformats.org/drawingml/2006/main">
              <a:ext uri="{FF2B5EF4-FFF2-40B4-BE49-F238E27FC236}">
                <a16:creationId xmlns:a16="http://schemas.microsoft.com/office/drawing/2014/main" id="{20FDEC70-5C2C-4B89-A8DE-0329A864B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572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D7D91"/>
                </a:solidFill>
              </a:defRPr>
            </a:pPr>
            <a:r>
              <a:rPr sz="1050" b="1">
                <a:solidFill>
                  <a:srgbClr val="6D7D91"/>
                </a:solidFill>
              </a:rPr>
              <a:t>08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71394b328346ff"/>
          <a:srcRect xmlns:a="http://schemas.openxmlformats.org/drawingml/2006/main" l="3100" t="0" r="31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" y="2038350"/>
            <a:ext cx="6191250" cy="3714750"/>
          </a:xfrm>
          <a:prstGeom xmlns:a="http://schemas.openxmlformats.org/drawingml/2006/main" prst="rect">
            <a:avLst/>
          </a:prstGeom>
        </p:spPr>
      </p:pic>
      <p:sp>
        <p:nvSpPr>
          <p:cNvPr id="8" name="SOURCE_PANEL_DEPTH">
            <a:extLst xmlns:a="http://schemas.openxmlformats.org/drawingml/2006/main">
              <a:ext uri="{FF2B5EF4-FFF2-40B4-BE49-F238E27FC236}">
                <a16:creationId xmlns:a16="http://schemas.microsoft.com/office/drawing/2014/main" id="{4595F5B0-22D1-4685-A505-D5E0F3BCC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019300"/>
            <a:ext cx="4095750" cy="3790950"/>
          </a:xfrm>
          <a:prstGeom xmlns:a="http://schemas.openxmlformats.org/drawingml/2006/main" prst="roundRect">
            <a:avLst>
              <a:gd name="adj" fmla="val 3015"/>
            </a:avLst>
          </a:prstGeom>
          <a:solidFill xmlns:a="http://schemas.openxmlformats.org/drawingml/2006/main">
            <a:srgbClr val="D0DA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OURCE_PANEL">
            <a:extLst xmlns:a="http://schemas.openxmlformats.org/drawingml/2006/main">
              <a:ext uri="{FF2B5EF4-FFF2-40B4-BE49-F238E27FC236}">
                <a16:creationId xmlns:a16="http://schemas.microsoft.com/office/drawing/2014/main" id="{BB41A0A7-57E5-49C5-96C4-45633E524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962150"/>
            <a:ext cx="4095750" cy="3790950"/>
          </a:xfrm>
          <a:prstGeom xmlns:a="http://schemas.openxmlformats.org/drawingml/2006/main" prst="roundRect">
            <a:avLst>
              <a:gd name="adj" fmla="val 3015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DE5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SOURCE_PANEL_HIGHLIGHT">
            <a:extLst xmlns:a="http://schemas.openxmlformats.org/drawingml/2006/main">
              <a:ext uri="{FF2B5EF4-FFF2-40B4-BE49-F238E27FC236}">
                <a16:creationId xmlns:a16="http://schemas.microsoft.com/office/drawing/2014/main" id="{8E70BDB8-4133-46E9-9EEF-1B4B9D195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990725"/>
            <a:ext cx="39052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OURCE_RULE">
            <a:extLst xmlns:a="http://schemas.openxmlformats.org/drawingml/2006/main">
              <a:ext uri="{FF2B5EF4-FFF2-40B4-BE49-F238E27FC236}">
                <a16:creationId xmlns:a16="http://schemas.microsoft.com/office/drawing/2014/main" id="{E6044435-CCEE-4586-A5F4-82102BBC2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095500"/>
            <a:ext cx="6667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OURCE_LABEL">
            <a:extLst xmlns:a="http://schemas.openxmlformats.org/drawingml/2006/main">
              <a:ext uri="{FF2B5EF4-FFF2-40B4-BE49-F238E27FC236}">
                <a16:creationId xmlns:a16="http://schemas.microsoft.com/office/drawing/2014/main" id="{18025E15-F5A7-4A45-A62A-45BBE440E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336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856B"/>
                </a:solidFill>
              </a:defRPr>
            </a:pPr>
            <a:r>
              <a:rPr sz="1125" b="1">
                <a:solidFill>
                  <a:srgbClr val="16856B"/>
                </a:solidFill>
              </a:rPr>
              <a:t>阅读线索</a:t>
            </a:r>
          </a:p>
        </p:txBody>
      </p:sp>
      <p:sp>
        <p:nvSpPr>
          <p:cNvPr id="13" name="SOURCE_BODY">
            <a:extLst xmlns:a="http://schemas.openxmlformats.org/drawingml/2006/main">
              <a:ext uri="{FF2B5EF4-FFF2-40B4-BE49-F238E27FC236}">
                <a16:creationId xmlns:a16="http://schemas.microsoft.com/office/drawing/2014/main" id="{61CED177-9DCB-4138-A9DC-5B0AB570F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24150"/>
            <a:ext cx="3429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4465C"/>
                </a:solidFill>
              </a:defRPr>
            </a:pPr>
            <a:r>
              <a:rPr sz="1575" b="0">
                <a:solidFill>
                  <a:srgbClr val="34465C"/>
                </a:solidFill>
              </a:rPr>
              <a:t>• 图像先呈现整体关系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4465C"/>
                </a:solidFill>
              </a:defRPr>
            </a:pPr>
            <a:r>
              <a:rPr sz="1575" b="0">
                <a:solidFill>
                  <a:srgbClr val="34465C"/>
                </a:solidFill>
              </a:rPr>
              <a:t>• 标题给出需要观察的重点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4465C"/>
                </a:solidFill>
              </a:defRPr>
            </a:pPr>
            <a:r>
              <a:rPr sz="1575" b="0">
                <a:solidFill>
                  <a:srgbClr val="34465C"/>
                </a:solidFill>
              </a:rPr>
              <a:t>• 正文解释图中证据如何支持结论</a:t>
            </a:r>
          </a:p>
        </p:txBody>
      </p:sp>
      <p:sp>
        <p:nvSpPr>
          <p:cNvPr id="14" name="FOOTER_LABEL">
            <a:extLst xmlns:a="http://schemas.openxmlformats.org/drawingml/2006/main">
              <a:ext uri="{FF2B5EF4-FFF2-40B4-BE49-F238E27FC236}">
                <a16:creationId xmlns:a16="http://schemas.microsoft.com/office/drawing/2014/main" id="{9810657C-23B7-4A02-8E58-E89FF04F2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D7D91"/>
                </a:solidFill>
              </a:defRPr>
            </a:pPr>
            <a:r>
              <a:rPr sz="825" b="0">
                <a:solidFill>
                  <a:srgbClr val="6D7D91"/>
                </a:solidFill>
              </a:rPr>
              <a:t>启智课堂 · 同源课程课件</a:t>
            </a:r>
          </a:p>
        </p:txBody>
      </p:sp>
      <p:sp>
        <p:nvSpPr>
          <p:cNvPr id="15" name="FOOTER_PAGE_PLATE">
            <a:extLst xmlns:a="http://schemas.openxmlformats.org/drawingml/2006/main">
              <a:ext uri="{FF2B5EF4-FFF2-40B4-BE49-F238E27FC236}">
                <a16:creationId xmlns:a16="http://schemas.microsoft.com/office/drawing/2014/main" id="{33356719-8FFD-4578-9111-397C54841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343650"/>
            <a:ext cx="22669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DE5EE"/>
            </a:solidFill>
            <a:prstDash val="solid"/>
          </a:ln>
        </p:spPr>
      </p:sp>
      <p:sp>
        <p:nvSpPr>
          <p:cNvPr id="16" name="FOOTER_PAGE">
            <a:extLst xmlns:a="http://schemas.openxmlformats.org/drawingml/2006/main">
              <a:ext uri="{FF2B5EF4-FFF2-40B4-BE49-F238E27FC236}">
                <a16:creationId xmlns:a16="http://schemas.microsoft.com/office/drawing/2014/main" id="{CB4AE5FE-49E8-4A7E-A736-84584E118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198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D7D91"/>
                </a:solidFill>
              </a:defRPr>
            </a:pPr>
            <a:r>
              <a:rPr sz="750" b="0">
                <a:solidFill>
                  <a:srgbClr val="6D7D91"/>
                </a:solidFill>
              </a:rPr>
              <a:t>08 / 18</a:t>
            </a:r>
          </a:p>
        </p:txBody>
      </p:sp>
    </p:spTree>
    <p:extLst>
      <p:ext uri="{BB962C8B-B14F-4D97-AF65-F5344CB8AC3E}">
        <p14:creationId xmlns:p14="http://schemas.microsoft.com/office/powerpoint/2010/main" val="6210134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10a97ee58b453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ECTION_LABEL">
            <a:extLst xmlns:a="http://schemas.openxmlformats.org/drawingml/2006/main">
              <a:ext uri="{FF2B5EF4-FFF2-40B4-BE49-F238E27FC236}">
                <a16:creationId xmlns:a16="http://schemas.microsoft.com/office/drawing/2014/main" id="{C0DB8FE8-53AC-4C11-8C35-EEAA0B311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FE4"/>
                </a:solidFill>
              </a:defRPr>
            </a:pPr>
            <a:r>
              <a:rPr sz="1050" b="1">
                <a:solidFill>
                  <a:srgbClr val="2F6FE4"/>
                </a:solidFill>
              </a:rPr>
              <a:t>误区修复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036BA2C-44E1-46D1-86AB-9FB21F833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4850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65D"/>
                </a:solidFill>
              </a:defRPr>
            </a:pPr>
            <a:r>
              <a:rPr sz="2850" b="1">
                <a:solidFill>
                  <a:srgbClr val="17365D"/>
                </a:solidFill>
              </a:rPr>
              <a:t>让错误判断与修复路径形成直接对照</a:t>
            </a:r>
          </a:p>
        </p:txBody>
      </p:sp>
      <p:sp>
        <p:nvSpPr>
          <p:cNvPr id="4" name="TITLE_RULE">
            <a:extLst xmlns:a="http://schemas.openxmlformats.org/drawingml/2006/main">
              <a:ext uri="{FF2B5EF4-FFF2-40B4-BE49-F238E27FC236}">
                <a16:creationId xmlns:a16="http://schemas.microsoft.com/office/drawing/2014/main" id="{CE931E6C-0624-4308-B0C6-E86C2D778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76375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_RULE_ACCENT">
            <a:extLst xmlns:a="http://schemas.openxmlformats.org/drawingml/2006/main">
              <a:ext uri="{FF2B5EF4-FFF2-40B4-BE49-F238E27FC236}">
                <a16:creationId xmlns:a16="http://schemas.microsoft.com/office/drawing/2014/main" id="{B61DBC03-A8C1-4B48-A44A-81187216E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476375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_NUMBER">
            <a:extLst xmlns:a="http://schemas.openxmlformats.org/drawingml/2006/main">
              <a:ext uri="{FF2B5EF4-FFF2-40B4-BE49-F238E27FC236}">
                <a16:creationId xmlns:a16="http://schemas.microsoft.com/office/drawing/2014/main" id="{F4A679A8-7983-49AD-B1AE-218486E9B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572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D7D91"/>
                </a:solidFill>
              </a:defRPr>
            </a:pPr>
            <a:r>
              <a:rPr sz="1050" b="1">
                <a:solidFill>
                  <a:srgbClr val="6D7D91"/>
                </a:solidFill>
              </a:rPr>
              <a:t>09</a:t>
            </a:r>
          </a:p>
        </p:txBody>
      </p:sp>
      <p:sp>
        <p:nvSpPr>
          <p:cNvPr id="7" name="WRONG_PANEL_DEPTH">
            <a:extLst xmlns:a="http://schemas.openxmlformats.org/drawingml/2006/main">
              <a:ext uri="{FF2B5EF4-FFF2-40B4-BE49-F238E27FC236}">
                <a16:creationId xmlns:a16="http://schemas.microsoft.com/office/drawing/2014/main" id="{BAF7394B-194C-44D3-B3D3-69E5E3CED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152650"/>
            <a:ext cx="4953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9BE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WRONG_PANEL">
            <a:extLst xmlns:a="http://schemas.openxmlformats.org/drawingml/2006/main">
              <a:ext uri="{FF2B5EF4-FFF2-40B4-BE49-F238E27FC236}">
                <a16:creationId xmlns:a16="http://schemas.microsoft.com/office/drawing/2014/main" id="{38AAB9F6-F4D7-49FF-A7A8-2C0E6E89C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4953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DEDE9"/>
          </a:solidFill>
          <a:ln xmlns:a="http://schemas.openxmlformats.org/drawingml/2006/main" w="9525">
            <a:solidFill>
              <a:srgbClr val="F2CF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WRONG_PANEL_HIGHLIGHT">
            <a:extLst xmlns:a="http://schemas.openxmlformats.org/drawingml/2006/main">
              <a:ext uri="{FF2B5EF4-FFF2-40B4-BE49-F238E27FC236}">
                <a16:creationId xmlns:a16="http://schemas.microsoft.com/office/drawing/2014/main" id="{DA6E282F-CA30-46D2-AC8F-0D0CD0DB7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24075"/>
            <a:ext cx="47625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WRONG_PANEL_RAIL">
            <a:extLst xmlns:a="http://schemas.openxmlformats.org/drawingml/2006/main">
              <a:ext uri="{FF2B5EF4-FFF2-40B4-BE49-F238E27FC236}">
                <a16:creationId xmlns:a16="http://schemas.microsoft.com/office/drawing/2014/main" id="{D771FCCF-7948-48A7-AE8A-CCFB94E8D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6667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4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WRONG_LABEL">
            <a:extLst xmlns:a="http://schemas.openxmlformats.org/drawingml/2006/main">
              <a:ext uri="{FF2B5EF4-FFF2-40B4-BE49-F238E27FC236}">
                <a16:creationId xmlns:a16="http://schemas.microsoft.com/office/drawing/2014/main" id="{B82C5496-DAFC-4398-BA60-F9CC2C858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003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45443"/>
                </a:solidFill>
              </a:defRPr>
            </a:pPr>
            <a:r>
              <a:rPr sz="1125" b="1">
                <a:solidFill>
                  <a:srgbClr val="C45443"/>
                </a:solidFill>
              </a:rPr>
              <a:t>容易这样想</a:t>
            </a:r>
          </a:p>
        </p:txBody>
      </p:sp>
      <p:sp>
        <p:nvSpPr>
          <p:cNvPr id="12" name="WRONG_BODY">
            <a:extLst xmlns:a="http://schemas.openxmlformats.org/drawingml/2006/main">
              <a:ext uri="{FF2B5EF4-FFF2-40B4-BE49-F238E27FC236}">
                <a16:creationId xmlns:a16="http://schemas.microsoft.com/office/drawing/2014/main" id="{A6A6BEEC-937A-48C9-B1D2-8151D0EB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67050"/>
            <a:ext cx="400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65D"/>
                </a:solidFill>
              </a:defRPr>
            </a:pPr>
            <a:r>
              <a:rPr sz="2100" b="1">
                <a:solidFill>
                  <a:srgbClr val="17365D"/>
                </a:solidFill>
              </a:rPr>
              <a:t>记住结论，就等于理解了概念。</a:t>
            </a:r>
          </a:p>
        </p:txBody>
      </p:sp>
      <p:sp>
        <p:nvSpPr>
          <p:cNvPr id="13" name="WRONG_REASON">
            <a:extLst xmlns:a="http://schemas.openxmlformats.org/drawingml/2006/main">
              <a:ext uri="{FF2B5EF4-FFF2-40B4-BE49-F238E27FC236}">
                <a16:creationId xmlns:a16="http://schemas.microsoft.com/office/drawing/2014/main" id="{C3ED8F29-4A87-4C8E-ACCA-41401B181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62450"/>
            <a:ext cx="400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65C"/>
                </a:solidFill>
              </a:defRPr>
            </a:pPr>
            <a:r>
              <a:rPr sz="1350" b="0">
                <a:solidFill>
                  <a:srgbClr val="34465C"/>
                </a:solidFill>
              </a:rPr>
              <a:t>问题：一旦条件变化，学生无法解释结论为何成立。</a:t>
            </a:r>
          </a:p>
        </p:txBody>
      </p:sp>
      <p:sp>
        <p:nvSpPr>
          <p:cNvPr id="14" name="REPAIR_PANEL_DEPTH">
            <a:extLst xmlns:a="http://schemas.openxmlformats.org/drawingml/2006/main">
              <a:ext uri="{FF2B5EF4-FFF2-40B4-BE49-F238E27FC236}">
                <a16:creationId xmlns:a16="http://schemas.microsoft.com/office/drawing/2014/main" id="{CDE48BF3-B99A-4675-BC96-698C82D2E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152650"/>
            <a:ext cx="54864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B4DC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EPAIR_PANEL">
            <a:extLst xmlns:a="http://schemas.openxmlformats.org/drawingml/2006/main">
              <a:ext uri="{FF2B5EF4-FFF2-40B4-BE49-F238E27FC236}">
                <a16:creationId xmlns:a16="http://schemas.microsoft.com/office/drawing/2014/main" id="{5DF90211-8955-4CF1-B3EB-46C1736C2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95500"/>
            <a:ext cx="54864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9525">
            <a:solidFill>
              <a:srgbClr val="C7E9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REPAIR_PANEL_HIGHLIGHT">
            <a:extLst xmlns:a="http://schemas.openxmlformats.org/drawingml/2006/main">
              <a:ext uri="{FF2B5EF4-FFF2-40B4-BE49-F238E27FC236}">
                <a16:creationId xmlns:a16="http://schemas.microsoft.com/office/drawing/2014/main" id="{C5B7DD1C-165F-4034-8CB5-A4DBDA70E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24075"/>
            <a:ext cx="52959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EPAIR_PANEL_RAIL">
            <a:extLst xmlns:a="http://schemas.openxmlformats.org/drawingml/2006/main">
              <a:ext uri="{FF2B5EF4-FFF2-40B4-BE49-F238E27FC236}">
                <a16:creationId xmlns:a16="http://schemas.microsoft.com/office/drawing/2014/main" id="{99C432F3-D26F-47F2-8CD1-9863875D0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95500"/>
            <a:ext cx="6667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EPAIR_LABEL">
            <a:extLst xmlns:a="http://schemas.openxmlformats.org/drawingml/2006/main">
              <a:ext uri="{FF2B5EF4-FFF2-40B4-BE49-F238E27FC236}">
                <a16:creationId xmlns:a16="http://schemas.microsoft.com/office/drawing/2014/main" id="{81D45FBC-891F-43B7-9750-AC85EC0CF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003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856B"/>
                </a:solidFill>
              </a:defRPr>
            </a:pPr>
            <a:r>
              <a:rPr sz="1125" b="1">
                <a:solidFill>
                  <a:srgbClr val="16856B"/>
                </a:solidFill>
              </a:rPr>
              <a:t>应当这样判断</a:t>
            </a:r>
          </a:p>
        </p:txBody>
      </p:sp>
      <p:sp>
        <p:nvSpPr>
          <p:cNvPr id="19" name="REPAIR_BODY">
            <a:extLst xmlns:a="http://schemas.openxmlformats.org/drawingml/2006/main">
              <a:ext uri="{FF2B5EF4-FFF2-40B4-BE49-F238E27FC236}">
                <a16:creationId xmlns:a16="http://schemas.microsoft.com/office/drawing/2014/main" id="{5D7A398F-10A8-45D2-AE73-F8029E708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09900"/>
            <a:ext cx="45148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65D"/>
                </a:solidFill>
              </a:defRPr>
            </a:pPr>
            <a:r>
              <a:rPr sz="2025" b="1">
                <a:solidFill>
                  <a:srgbClr val="17365D"/>
                </a:solidFill>
              </a:rPr>
              <a:t>能说明条件、理由和反例，才表示形成了可迁移的理解。</a:t>
            </a:r>
          </a:p>
        </p:txBody>
      </p:sp>
      <p:sp>
        <p:nvSpPr>
          <p:cNvPr id="20" name="REPAIR_CHECK">
            <a:extLst xmlns:a="http://schemas.openxmlformats.org/drawingml/2006/main">
              <a:ext uri="{FF2B5EF4-FFF2-40B4-BE49-F238E27FC236}">
                <a16:creationId xmlns:a16="http://schemas.microsoft.com/office/drawing/2014/main" id="{4384A1D1-DE7D-4CC9-9517-C85F6BE01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57700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65C"/>
                </a:solidFill>
              </a:defRPr>
            </a:pPr>
            <a:r>
              <a:rPr sz="1350" b="0">
                <a:solidFill>
                  <a:srgbClr val="34465C"/>
                </a:solidFill>
              </a:rPr>
              <a:t>检查：换一个情境，让学生重新作答。</a:t>
            </a:r>
          </a:p>
        </p:txBody>
      </p:sp>
      <p:sp>
        <p:nvSpPr>
          <p:cNvPr id="21" name="FOOTER_LABEL">
            <a:extLst xmlns:a="http://schemas.openxmlformats.org/drawingml/2006/main">
              <a:ext uri="{FF2B5EF4-FFF2-40B4-BE49-F238E27FC236}">
                <a16:creationId xmlns:a16="http://schemas.microsoft.com/office/drawing/2014/main" id="{F1F3A068-D0EA-4C3E-84B8-4C23B12F4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D7D91"/>
                </a:solidFill>
              </a:defRPr>
            </a:pPr>
            <a:r>
              <a:rPr sz="825" b="0">
                <a:solidFill>
                  <a:srgbClr val="6D7D91"/>
                </a:solidFill>
              </a:rPr>
              <a:t>启智课堂 · 同源课程课件</a:t>
            </a:r>
          </a:p>
        </p:txBody>
      </p:sp>
      <p:sp>
        <p:nvSpPr>
          <p:cNvPr id="22" name="FOOTER_PAGE_PLATE">
            <a:extLst xmlns:a="http://schemas.openxmlformats.org/drawingml/2006/main">
              <a:ext uri="{FF2B5EF4-FFF2-40B4-BE49-F238E27FC236}">
                <a16:creationId xmlns:a16="http://schemas.microsoft.com/office/drawing/2014/main" id="{A8A6001E-FE2A-40CA-8854-ACD8B0412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343650"/>
            <a:ext cx="22669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DE5EE"/>
            </a:solidFill>
            <a:prstDash val="solid"/>
          </a:ln>
        </p:spPr>
      </p:sp>
      <p:sp>
        <p:nvSpPr>
          <p:cNvPr id="23" name="FOOTER_PAGE">
            <a:extLst xmlns:a="http://schemas.openxmlformats.org/drawingml/2006/main">
              <a:ext uri="{FF2B5EF4-FFF2-40B4-BE49-F238E27FC236}">
                <a16:creationId xmlns:a16="http://schemas.microsoft.com/office/drawing/2014/main" id="{67B170AA-4154-4EEA-987E-77D6A67C3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198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D7D91"/>
                </a:solidFill>
              </a:defRPr>
            </a:pPr>
            <a:r>
              <a:rPr sz="750" b="0">
                <a:solidFill>
                  <a:srgbClr val="6D7D91"/>
                </a:solidFill>
              </a:rPr>
              <a:t>09 / 18</a:t>
            </a:r>
          </a:p>
        </p:txBody>
      </p:sp>
    </p:spTree>
    <p:extLst>
      <p:ext uri="{BB962C8B-B14F-4D97-AF65-F5344CB8AC3E}">
        <p14:creationId xmlns:p14="http://schemas.microsoft.com/office/powerpoint/2010/main" val="206638062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4dcf694157478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ECTION_LABEL">
            <a:extLst xmlns:a="http://schemas.openxmlformats.org/drawingml/2006/main">
              <a:ext uri="{FF2B5EF4-FFF2-40B4-BE49-F238E27FC236}">
                <a16:creationId xmlns:a16="http://schemas.microsoft.com/office/drawing/2014/main" id="{D0ED3CFA-83D9-4739-BF35-FE22DD1A9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FE4"/>
                </a:solidFill>
              </a:defRPr>
            </a:pPr>
            <a:r>
              <a:rPr sz="1050" b="1">
                <a:solidFill>
                  <a:srgbClr val="2F6FE4"/>
                </a:solidFill>
              </a:rPr>
              <a:t>课堂练习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C470DF8-46B0-4267-9815-47515E09D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4850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65D"/>
                </a:solidFill>
              </a:defRPr>
            </a:pPr>
            <a:r>
              <a:rPr sz="2850" b="1">
                <a:solidFill>
                  <a:srgbClr val="17365D"/>
                </a:solidFill>
              </a:rPr>
              <a:t>先独立作答，再揭示判断依据</a:t>
            </a:r>
          </a:p>
        </p:txBody>
      </p:sp>
      <p:sp>
        <p:nvSpPr>
          <p:cNvPr id="4" name="TITLE_RULE">
            <a:extLst xmlns:a="http://schemas.openxmlformats.org/drawingml/2006/main">
              <a:ext uri="{FF2B5EF4-FFF2-40B4-BE49-F238E27FC236}">
                <a16:creationId xmlns:a16="http://schemas.microsoft.com/office/drawing/2014/main" id="{8C94AFBA-F0D2-4574-9A0C-59B3B975B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76375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_RULE_ACCENT">
            <a:extLst xmlns:a="http://schemas.openxmlformats.org/drawingml/2006/main">
              <a:ext uri="{FF2B5EF4-FFF2-40B4-BE49-F238E27FC236}">
                <a16:creationId xmlns:a16="http://schemas.microsoft.com/office/drawing/2014/main" id="{6E934CA4-E821-4DA9-9F05-DE6ABF2B2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476375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_NUMBER">
            <a:extLst xmlns:a="http://schemas.openxmlformats.org/drawingml/2006/main">
              <a:ext uri="{FF2B5EF4-FFF2-40B4-BE49-F238E27FC236}">
                <a16:creationId xmlns:a16="http://schemas.microsoft.com/office/drawing/2014/main" id="{A9AB5E25-49F2-4C2D-961A-4CDD0B3E4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572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D7D91"/>
                </a:solidFill>
              </a:defRPr>
            </a:pPr>
            <a:r>
              <a:rPr sz="1050" b="1">
                <a:solidFill>
                  <a:srgbClr val="6D7D91"/>
                </a:solidFill>
              </a:rPr>
              <a:t>10</a:t>
            </a:r>
          </a:p>
        </p:txBody>
      </p:sp>
      <p:sp>
        <p:nvSpPr>
          <p:cNvPr id="7" name="QUESTION_PANEL_DEPTH">
            <a:extLst xmlns:a="http://schemas.openxmlformats.org/drawingml/2006/main">
              <a:ext uri="{FF2B5EF4-FFF2-40B4-BE49-F238E27FC236}">
                <a16:creationId xmlns:a16="http://schemas.microsoft.com/office/drawing/2014/main" id="{3CF5B6D3-48AB-47E9-9F49-67524DF75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095500"/>
            <a:ext cx="9334500" cy="316230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EBCF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QUESTION_PANEL">
            <a:extLst xmlns:a="http://schemas.openxmlformats.org/drawingml/2006/main">
              <a:ext uri="{FF2B5EF4-FFF2-40B4-BE49-F238E27FC236}">
                <a16:creationId xmlns:a16="http://schemas.microsoft.com/office/drawing/2014/main" id="{A2F83BCF-33B4-4059-862B-F26A024A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38350"/>
            <a:ext cx="9334500" cy="316230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FFF7E9"/>
          </a:solidFill>
          <a:ln xmlns:a="http://schemas.openxmlformats.org/drawingml/2006/main" w="9525">
            <a:solidFill>
              <a:srgbClr val="F2DDB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QUESTION_PANEL_HIGHLIGHT">
            <a:extLst xmlns:a="http://schemas.openxmlformats.org/drawingml/2006/main">
              <a:ext uri="{FF2B5EF4-FFF2-40B4-BE49-F238E27FC236}">
                <a16:creationId xmlns:a16="http://schemas.microsoft.com/office/drawing/2014/main" id="{86E3B3CE-00BD-4FE7-90C2-1D284D0C5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66925"/>
            <a:ext cx="91440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QUESTION_RULE">
            <a:extLst xmlns:a="http://schemas.openxmlformats.org/drawingml/2006/main">
              <a:ext uri="{FF2B5EF4-FFF2-40B4-BE49-F238E27FC236}">
                <a16:creationId xmlns:a16="http://schemas.microsoft.com/office/drawing/2014/main" id="{1AF9D282-A744-4ADE-BB7F-2EA226AB0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762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OMPT_LABEL">
            <a:extLst xmlns:a="http://schemas.openxmlformats.org/drawingml/2006/main">
              <a:ext uri="{FF2B5EF4-FFF2-40B4-BE49-F238E27FC236}">
                <a16:creationId xmlns:a16="http://schemas.microsoft.com/office/drawing/2014/main" id="{48AF90FF-55C2-46A7-9763-05C7A81E0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2098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6FE4"/>
                </a:solidFill>
              </a:defRPr>
            </a:pPr>
            <a:r>
              <a:rPr sz="1200" b="1">
                <a:solidFill>
                  <a:srgbClr val="2F6FE4"/>
                </a:solidFill>
              </a:rPr>
              <a:t>先独立判断</a:t>
            </a:r>
          </a:p>
        </p:txBody>
      </p:sp>
      <p:sp>
        <p:nvSpPr>
          <p:cNvPr id="12" name="QUESTION">
            <a:extLst xmlns:a="http://schemas.openxmlformats.org/drawingml/2006/main">
              <a:ext uri="{FF2B5EF4-FFF2-40B4-BE49-F238E27FC236}">
                <a16:creationId xmlns:a16="http://schemas.microsoft.com/office/drawing/2014/main" id="{18554775-2D47-4009-8D66-D5A3B25D5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952750"/>
            <a:ext cx="8191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65D"/>
                </a:solidFill>
              </a:defRPr>
            </a:pPr>
            <a:r>
              <a:rPr sz="2550" b="1">
                <a:solidFill>
                  <a:srgbClr val="17365D"/>
                </a:solidFill>
              </a:rPr>
              <a:t>如果只改变一个关键条件，原来的结论还成立吗？请说明理由。</a:t>
            </a:r>
          </a:p>
        </p:txBody>
      </p:sp>
      <p:sp>
        <p:nvSpPr>
          <p:cNvPr id="13" name="PROMPT_HINT">
            <a:extLst xmlns:a="http://schemas.openxmlformats.org/drawingml/2006/main">
              <a:ext uri="{FF2B5EF4-FFF2-40B4-BE49-F238E27FC236}">
                <a16:creationId xmlns:a16="http://schemas.microsoft.com/office/drawing/2014/main" id="{AAD759E5-9A3E-48AB-8F53-F04A17D59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51485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D7D91"/>
                </a:solidFill>
              </a:defRPr>
            </a:pPr>
            <a:r>
              <a:rPr sz="1425" b="0">
                <a:solidFill>
                  <a:srgbClr val="6D7D91"/>
                </a:solidFill>
              </a:rPr>
              <a:t>作答时至少包含：条件、判断、理由。</a:t>
            </a:r>
          </a:p>
        </p:txBody>
      </p:sp>
      <p:sp>
        <p:nvSpPr>
          <p:cNvPr id="14" name="FOOTER_LABEL">
            <a:extLst xmlns:a="http://schemas.openxmlformats.org/drawingml/2006/main">
              <a:ext uri="{FF2B5EF4-FFF2-40B4-BE49-F238E27FC236}">
                <a16:creationId xmlns:a16="http://schemas.microsoft.com/office/drawing/2014/main" id="{3E5D180C-01F0-4096-9E81-71F3D4749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D7D91"/>
                </a:solidFill>
              </a:defRPr>
            </a:pPr>
            <a:r>
              <a:rPr sz="825" b="0">
                <a:solidFill>
                  <a:srgbClr val="6D7D91"/>
                </a:solidFill>
              </a:rPr>
              <a:t>启智课堂 · 同源课程课件</a:t>
            </a:r>
          </a:p>
        </p:txBody>
      </p:sp>
      <p:sp>
        <p:nvSpPr>
          <p:cNvPr id="15" name="FOOTER_PAGE_PLATE">
            <a:extLst xmlns:a="http://schemas.openxmlformats.org/drawingml/2006/main">
              <a:ext uri="{FF2B5EF4-FFF2-40B4-BE49-F238E27FC236}">
                <a16:creationId xmlns:a16="http://schemas.microsoft.com/office/drawing/2014/main" id="{3EE0A290-ACC1-4395-ACBD-442CDA6A7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343650"/>
            <a:ext cx="22669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DE5EE"/>
            </a:solidFill>
            <a:prstDash val="solid"/>
          </a:ln>
        </p:spPr>
      </p:sp>
      <p:sp>
        <p:nvSpPr>
          <p:cNvPr id="16" name="FOOTER_PAGE">
            <a:extLst xmlns:a="http://schemas.openxmlformats.org/drawingml/2006/main">
              <a:ext uri="{FF2B5EF4-FFF2-40B4-BE49-F238E27FC236}">
                <a16:creationId xmlns:a16="http://schemas.microsoft.com/office/drawing/2014/main" id="{339AEBE2-E6CC-4D48-BD1B-AB77D672B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198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D7D91"/>
                </a:solidFill>
              </a:defRPr>
            </a:pPr>
            <a:r>
              <a:rPr sz="750" b="0">
                <a:solidFill>
                  <a:srgbClr val="6D7D91"/>
                </a:solidFill>
              </a:rPr>
              <a:t>10 / 18</a:t>
            </a:r>
          </a:p>
        </p:txBody>
      </p:sp>
    </p:spTree>
    <p:extLst>
      <p:ext uri="{BB962C8B-B14F-4D97-AF65-F5344CB8AC3E}">
        <p14:creationId xmlns:p14="http://schemas.microsoft.com/office/powerpoint/2010/main" val="170025381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7d5d477ff5412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ECTION_LABEL">
            <a:extLst xmlns:a="http://schemas.openxmlformats.org/drawingml/2006/main">
              <a:ext uri="{FF2B5EF4-FFF2-40B4-BE49-F238E27FC236}">
                <a16:creationId xmlns:a16="http://schemas.microsoft.com/office/drawing/2014/main" id="{365E73F9-4849-4192-8170-51FBBC0A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FE4"/>
                </a:solidFill>
              </a:defRPr>
            </a:pPr>
            <a:r>
              <a:rPr sz="1050" b="1">
                <a:solidFill>
                  <a:srgbClr val="2F6FE4"/>
                </a:solidFill>
              </a:rPr>
              <a:t>反馈与掌握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42AB706-CF85-4B59-BA47-45ADCCBF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4850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65D"/>
                </a:solidFill>
              </a:defRPr>
            </a:pPr>
            <a:r>
              <a:rPr sz="2850" b="1">
                <a:solidFill>
                  <a:srgbClr val="17365D"/>
                </a:solidFill>
              </a:rPr>
              <a:t>答案页不仅给结论，还要展示判断过程</a:t>
            </a:r>
          </a:p>
        </p:txBody>
      </p:sp>
      <p:sp>
        <p:nvSpPr>
          <p:cNvPr id="4" name="TITLE_RULE">
            <a:extLst xmlns:a="http://schemas.openxmlformats.org/drawingml/2006/main">
              <a:ext uri="{FF2B5EF4-FFF2-40B4-BE49-F238E27FC236}">
                <a16:creationId xmlns:a16="http://schemas.microsoft.com/office/drawing/2014/main" id="{E6FD9F79-CDAF-465D-8FFE-B3799E9D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76375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_RULE_ACCENT">
            <a:extLst xmlns:a="http://schemas.openxmlformats.org/drawingml/2006/main">
              <a:ext uri="{FF2B5EF4-FFF2-40B4-BE49-F238E27FC236}">
                <a16:creationId xmlns:a16="http://schemas.microsoft.com/office/drawing/2014/main" id="{244C4CAC-1429-4C46-837B-D5CADD60F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476375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_NUMBER">
            <a:extLst xmlns:a="http://schemas.openxmlformats.org/drawingml/2006/main">
              <a:ext uri="{FF2B5EF4-FFF2-40B4-BE49-F238E27FC236}">
                <a16:creationId xmlns:a16="http://schemas.microsoft.com/office/drawing/2014/main" id="{1810DE09-C29F-455C-82A0-1B396538B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572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D7D91"/>
                </a:solidFill>
              </a:defRPr>
            </a:pPr>
            <a:r>
              <a:rPr sz="1050" b="1">
                <a:solidFill>
                  <a:srgbClr val="6D7D91"/>
                </a:solidFill>
              </a:rPr>
              <a:t>11</a:t>
            </a:r>
          </a:p>
        </p:txBody>
      </p:sp>
      <p:sp>
        <p:nvSpPr>
          <p:cNvPr id="7" name="QUESTION_PANEL_DEPTH">
            <a:extLst xmlns:a="http://schemas.openxmlformats.org/drawingml/2006/main">
              <a:ext uri="{FF2B5EF4-FFF2-40B4-BE49-F238E27FC236}">
                <a16:creationId xmlns:a16="http://schemas.microsoft.com/office/drawing/2014/main" id="{40B21A4F-4953-4996-BC11-4825EACAF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981200"/>
            <a:ext cx="4953000" cy="3638550"/>
          </a:xfrm>
          <a:prstGeom xmlns:a="http://schemas.openxmlformats.org/drawingml/2006/main" prst="roundRect">
            <a:avLst>
              <a:gd name="adj" fmla="val 3141"/>
            </a:avLst>
          </a:prstGeom>
          <a:solidFill xmlns:a="http://schemas.openxmlformats.org/drawingml/2006/main">
            <a:srgbClr val="BFD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QUESTION_PANEL">
            <a:extLst xmlns:a="http://schemas.openxmlformats.org/drawingml/2006/main">
              <a:ext uri="{FF2B5EF4-FFF2-40B4-BE49-F238E27FC236}">
                <a16:creationId xmlns:a16="http://schemas.microsoft.com/office/drawing/2014/main" id="{E9A569E8-A17A-4FDD-AF90-93450ECFA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4953000" cy="3638550"/>
          </a:xfrm>
          <a:prstGeom xmlns:a="http://schemas.openxmlformats.org/drawingml/2006/main" prst="roundRect">
            <a:avLst>
              <a:gd name="adj" fmla="val 3141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C9DB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QUESTION_PANEL_HIGHLIGHT">
            <a:extLst xmlns:a="http://schemas.openxmlformats.org/drawingml/2006/main">
              <a:ext uri="{FF2B5EF4-FFF2-40B4-BE49-F238E27FC236}">
                <a16:creationId xmlns:a16="http://schemas.microsoft.com/office/drawing/2014/main" id="{95F24057-C783-45D4-AF62-10B29730C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47625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QUESTION_PANEL_RAIL">
            <a:extLst xmlns:a="http://schemas.openxmlformats.org/drawingml/2006/main">
              <a:ext uri="{FF2B5EF4-FFF2-40B4-BE49-F238E27FC236}">
                <a16:creationId xmlns:a16="http://schemas.microsoft.com/office/drawing/2014/main" id="{440182E5-C44A-4041-A230-6D9FC8EB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66675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NSWER_PANEL_DEPTH">
            <a:extLst xmlns:a="http://schemas.openxmlformats.org/drawingml/2006/main">
              <a:ext uri="{FF2B5EF4-FFF2-40B4-BE49-F238E27FC236}">
                <a16:creationId xmlns:a16="http://schemas.microsoft.com/office/drawing/2014/main" id="{D9AC2F1D-1893-4985-BDAF-026A679BA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981200"/>
            <a:ext cx="5448300" cy="3638550"/>
          </a:xfrm>
          <a:prstGeom xmlns:a="http://schemas.openxmlformats.org/drawingml/2006/main" prst="roundRect">
            <a:avLst>
              <a:gd name="adj" fmla="val 3141"/>
            </a:avLst>
          </a:prstGeom>
          <a:solidFill xmlns:a="http://schemas.openxmlformats.org/drawingml/2006/main">
            <a:srgbClr val="B4DC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NSWER_PANEL">
            <a:extLst xmlns:a="http://schemas.openxmlformats.org/drawingml/2006/main">
              <a:ext uri="{FF2B5EF4-FFF2-40B4-BE49-F238E27FC236}">
                <a16:creationId xmlns:a16="http://schemas.microsoft.com/office/drawing/2014/main" id="{9268F672-0B0F-4EB2-9A58-F810D1846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24050"/>
            <a:ext cx="5448300" cy="3638550"/>
          </a:xfrm>
          <a:prstGeom xmlns:a="http://schemas.openxmlformats.org/drawingml/2006/main" prst="roundRect">
            <a:avLst>
              <a:gd name="adj" fmla="val 3141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9525">
            <a:solidFill>
              <a:srgbClr val="C7E9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ANSWER_PANEL_HIGHLIGHT">
            <a:extLst xmlns:a="http://schemas.openxmlformats.org/drawingml/2006/main">
              <a:ext uri="{FF2B5EF4-FFF2-40B4-BE49-F238E27FC236}">
                <a16:creationId xmlns:a16="http://schemas.microsoft.com/office/drawing/2014/main" id="{F575AC97-DD6D-47F5-A16F-B0E2412F9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52625"/>
            <a:ext cx="52578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NSWER_PANEL_RAIL">
            <a:extLst xmlns:a="http://schemas.openxmlformats.org/drawingml/2006/main">
              <a:ext uri="{FF2B5EF4-FFF2-40B4-BE49-F238E27FC236}">
                <a16:creationId xmlns:a16="http://schemas.microsoft.com/office/drawing/2014/main" id="{EC57148E-B984-4AB9-ADDD-66956077B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24050"/>
            <a:ext cx="66675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QUESTION_LABEL">
            <a:extLst xmlns:a="http://schemas.openxmlformats.org/drawingml/2006/main">
              <a:ext uri="{FF2B5EF4-FFF2-40B4-BE49-F238E27FC236}">
                <a16:creationId xmlns:a16="http://schemas.microsoft.com/office/drawing/2014/main" id="{A3CD594F-5304-4C3D-9503-AB08AAB42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6FE4"/>
                </a:solidFill>
              </a:defRPr>
            </a:pPr>
            <a:r>
              <a:rPr sz="1125" b="1">
                <a:solidFill>
                  <a:srgbClr val="2F6FE4"/>
                </a:solidFill>
              </a:rPr>
              <a:t>问题</a:t>
            </a:r>
          </a:p>
        </p:txBody>
      </p:sp>
      <p:sp>
        <p:nvSpPr>
          <p:cNvPr id="16" name="QUESTION">
            <a:extLst xmlns:a="http://schemas.openxmlformats.org/drawingml/2006/main">
              <a:ext uri="{FF2B5EF4-FFF2-40B4-BE49-F238E27FC236}">
                <a16:creationId xmlns:a16="http://schemas.microsoft.com/office/drawing/2014/main" id="{BDF420E4-F4AB-42F1-A363-1EA23B899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90800"/>
            <a:ext cx="4476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65D"/>
                </a:solidFill>
              </a:defRPr>
            </a:pPr>
            <a:r>
              <a:rPr sz="1875" b="1">
                <a:solidFill>
                  <a:srgbClr val="17365D"/>
                </a:solidFill>
              </a:rPr>
              <a:t>改变关键条件后，原结论是否仍然成立？</a:t>
            </a:r>
          </a:p>
        </p:txBody>
      </p:sp>
      <p:sp>
        <p:nvSpPr>
          <p:cNvPr id="17" name="DIVIDER">
            <a:extLst xmlns:a="http://schemas.openxmlformats.org/drawingml/2006/main">
              <a:ext uri="{FF2B5EF4-FFF2-40B4-BE49-F238E27FC236}">
                <a16:creationId xmlns:a16="http://schemas.microsoft.com/office/drawing/2014/main" id="{E9B51293-A306-48F1-8747-7DB8EF622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076450"/>
            <a:ext cx="19050" cy="3295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ANSWER_LABEL">
            <a:extLst xmlns:a="http://schemas.openxmlformats.org/drawingml/2006/main">
              <a:ext uri="{FF2B5EF4-FFF2-40B4-BE49-F238E27FC236}">
                <a16:creationId xmlns:a16="http://schemas.microsoft.com/office/drawing/2014/main" id="{76D62290-BEE9-4858-AD0C-23EE8352C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955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856B"/>
                </a:solidFill>
              </a:defRPr>
            </a:pPr>
            <a:r>
              <a:rPr sz="1125" b="1">
                <a:solidFill>
                  <a:srgbClr val="16856B"/>
                </a:solidFill>
              </a:rPr>
              <a:t>回答与判断依据</a:t>
            </a:r>
          </a:p>
        </p:txBody>
      </p:sp>
      <p:sp>
        <p:nvSpPr>
          <p:cNvPr id="19" name="ANSWER">
            <a:extLst xmlns:a="http://schemas.openxmlformats.org/drawingml/2006/main">
              <a:ext uri="{FF2B5EF4-FFF2-40B4-BE49-F238E27FC236}">
                <a16:creationId xmlns:a16="http://schemas.microsoft.com/office/drawing/2014/main" id="{4E55A97B-D4B4-4959-8AB5-28FEA1B89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90800"/>
            <a:ext cx="476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65D"/>
                </a:solidFill>
              </a:defRPr>
            </a:pPr>
            <a:r>
              <a:rPr sz="1875" b="1">
                <a:solidFill>
                  <a:srgbClr val="17365D"/>
                </a:solidFill>
              </a:rPr>
              <a:t>不一定。必须重新检查新条件是否仍满足定义中的必要要求。</a:t>
            </a:r>
          </a:p>
        </p:txBody>
      </p:sp>
      <p:sp>
        <p:nvSpPr>
          <p:cNvPr id="20" name="EVIDENCE">
            <a:extLst xmlns:a="http://schemas.openxmlformats.org/drawingml/2006/main">
              <a:ext uri="{FF2B5EF4-FFF2-40B4-BE49-F238E27FC236}">
                <a16:creationId xmlns:a16="http://schemas.microsoft.com/office/drawing/2014/main" id="{820BCC3B-BDCE-46D5-B823-4A8FCFF85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829050"/>
            <a:ext cx="41910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4465C"/>
                </a:solidFill>
              </a:defRPr>
            </a:pPr>
            <a:r>
              <a:rPr sz="1425" b="0">
                <a:solidFill>
                  <a:srgbClr val="34465C"/>
                </a:solidFill>
              </a:rPr>
              <a:t>判断路径</a:t>
            </a:r>
          </a:p>
          <a:p xmlns:a="http://schemas.openxmlformats.org/drawingml/2006/main">
            <a:pPr algn="l">
              <a:defRPr sz="1425" b="0">
                <a:solidFill>
                  <a:srgbClr val="34465C"/>
                </a:solidFill>
              </a:defRPr>
            </a:pPr>
            <a:r>
              <a:rPr sz="1425" b="0">
                <a:solidFill>
                  <a:srgbClr val="34465C"/>
                </a:solidFill>
              </a:rPr>
              <a:t>1. 找出被改变的条件</a:t>
            </a:r>
          </a:p>
          <a:p xmlns:a="http://schemas.openxmlformats.org/drawingml/2006/main">
            <a:pPr algn="l">
              <a:defRPr sz="1425" b="0">
                <a:solidFill>
                  <a:srgbClr val="34465C"/>
                </a:solidFill>
              </a:defRPr>
            </a:pPr>
            <a:r>
              <a:rPr sz="1425" b="0">
                <a:solidFill>
                  <a:srgbClr val="34465C"/>
                </a:solidFill>
              </a:rPr>
              <a:t>2. 对照定义逐项检查</a:t>
            </a:r>
          </a:p>
          <a:p xmlns:a="http://schemas.openxmlformats.org/drawingml/2006/main">
            <a:pPr algn="l">
              <a:defRPr sz="1425" b="0">
                <a:solidFill>
                  <a:srgbClr val="34465C"/>
                </a:solidFill>
              </a:defRPr>
            </a:pPr>
            <a:r>
              <a:rPr sz="1425" b="0">
                <a:solidFill>
                  <a:srgbClr val="34465C"/>
                </a:solidFill>
              </a:rPr>
              <a:t>3. 用反例验证边界</a:t>
            </a:r>
          </a:p>
        </p:txBody>
      </p:sp>
      <p:sp>
        <p:nvSpPr>
          <p:cNvPr id="21" name="FOOTER_LABEL">
            <a:extLst xmlns:a="http://schemas.openxmlformats.org/drawingml/2006/main">
              <a:ext uri="{FF2B5EF4-FFF2-40B4-BE49-F238E27FC236}">
                <a16:creationId xmlns:a16="http://schemas.microsoft.com/office/drawing/2014/main" id="{7C2B6883-7383-4F58-B3A5-38BBB4B51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D7D91"/>
                </a:solidFill>
              </a:defRPr>
            </a:pPr>
            <a:r>
              <a:rPr sz="825" b="0">
                <a:solidFill>
                  <a:srgbClr val="6D7D91"/>
                </a:solidFill>
              </a:rPr>
              <a:t>启智课堂 · 同源课程课件</a:t>
            </a:r>
          </a:p>
        </p:txBody>
      </p:sp>
      <p:sp>
        <p:nvSpPr>
          <p:cNvPr id="22" name="FOOTER_PAGE_PLATE">
            <a:extLst xmlns:a="http://schemas.openxmlformats.org/drawingml/2006/main">
              <a:ext uri="{FF2B5EF4-FFF2-40B4-BE49-F238E27FC236}">
                <a16:creationId xmlns:a16="http://schemas.microsoft.com/office/drawing/2014/main" id="{DBC486D9-BE55-4399-A7B6-E19500DDE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343650"/>
            <a:ext cx="22669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DE5EE"/>
            </a:solidFill>
            <a:prstDash val="solid"/>
          </a:ln>
        </p:spPr>
      </p:sp>
      <p:sp>
        <p:nvSpPr>
          <p:cNvPr id="23" name="FOOTER_PAGE">
            <a:extLst xmlns:a="http://schemas.openxmlformats.org/drawingml/2006/main">
              <a:ext uri="{FF2B5EF4-FFF2-40B4-BE49-F238E27FC236}">
                <a16:creationId xmlns:a16="http://schemas.microsoft.com/office/drawing/2014/main" id="{75A2BBC9-4291-4270-B35C-A70BA5863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198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D7D91"/>
                </a:solidFill>
              </a:defRPr>
            </a:pPr>
            <a:r>
              <a:rPr sz="750" b="0">
                <a:solidFill>
                  <a:srgbClr val="6D7D91"/>
                </a:solidFill>
              </a:rPr>
              <a:t>11 / 18</a:t>
            </a:r>
          </a:p>
        </p:txBody>
      </p:sp>
    </p:spTree>
    <p:extLst>
      <p:ext uri="{BB962C8B-B14F-4D97-AF65-F5344CB8AC3E}">
        <p14:creationId xmlns:p14="http://schemas.microsoft.com/office/powerpoint/2010/main" val="190909155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2101444f704ae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ECTION_LABEL">
            <a:extLst xmlns:a="http://schemas.openxmlformats.org/drawingml/2006/main">
              <a:ext uri="{FF2B5EF4-FFF2-40B4-BE49-F238E27FC236}">
                <a16:creationId xmlns:a16="http://schemas.microsoft.com/office/drawing/2014/main" id="{BC90C6BC-A089-4EAA-98FE-B5D081FF8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FE4"/>
                </a:solidFill>
              </a:defRPr>
            </a:pPr>
            <a:r>
              <a:rPr sz="1050" b="1">
                <a:solidFill>
                  <a:srgbClr val="2F6FE4"/>
                </a:solidFill>
              </a:rPr>
              <a:t>代码与公式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65CDEFE-F16C-455D-A351-8BFA248AB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4850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65D"/>
                </a:solidFill>
              </a:defRPr>
            </a:pPr>
            <a:r>
              <a:rPr sz="2850" b="1">
                <a:solidFill>
                  <a:srgbClr val="17365D"/>
                </a:solidFill>
              </a:rPr>
              <a:t>证据区域保持高对比，解释区域保持低负担</a:t>
            </a:r>
          </a:p>
        </p:txBody>
      </p:sp>
      <p:sp>
        <p:nvSpPr>
          <p:cNvPr id="4" name="TITLE_RULE">
            <a:extLst xmlns:a="http://schemas.openxmlformats.org/drawingml/2006/main">
              <a:ext uri="{FF2B5EF4-FFF2-40B4-BE49-F238E27FC236}">
                <a16:creationId xmlns:a16="http://schemas.microsoft.com/office/drawing/2014/main" id="{4F72251E-F594-4D47-90BE-3C91A35D8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76375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_RULE_ACCENT">
            <a:extLst xmlns:a="http://schemas.openxmlformats.org/drawingml/2006/main">
              <a:ext uri="{FF2B5EF4-FFF2-40B4-BE49-F238E27FC236}">
                <a16:creationId xmlns:a16="http://schemas.microsoft.com/office/drawing/2014/main" id="{F0624DF8-C135-4D6F-BFC9-0987C4BE8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476375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_NUMBER">
            <a:extLst xmlns:a="http://schemas.openxmlformats.org/drawingml/2006/main">
              <a:ext uri="{FF2B5EF4-FFF2-40B4-BE49-F238E27FC236}">
                <a16:creationId xmlns:a16="http://schemas.microsoft.com/office/drawing/2014/main" id="{712B2CC5-ACDE-49E8-AF29-ADDA3C022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572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D7D91"/>
                </a:solidFill>
              </a:defRPr>
            </a:pPr>
            <a:r>
              <a:rPr sz="1050" b="1">
                <a:solidFill>
                  <a:srgbClr val="6D7D91"/>
                </a:solidFill>
              </a:rPr>
              <a:t>12</a:t>
            </a:r>
          </a:p>
        </p:txBody>
      </p:sp>
      <p:sp>
        <p:nvSpPr>
          <p:cNvPr id="7" name="CODE_PANEL_DEPTH">
            <a:extLst xmlns:a="http://schemas.openxmlformats.org/drawingml/2006/main">
              <a:ext uri="{FF2B5EF4-FFF2-40B4-BE49-F238E27FC236}">
                <a16:creationId xmlns:a16="http://schemas.microsoft.com/office/drawing/2014/main" id="{220C0B03-BAA6-4B41-8945-A18E0D3C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095500"/>
            <a:ext cx="695325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918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DE_PANEL">
            <a:extLst xmlns:a="http://schemas.openxmlformats.org/drawingml/2006/main">
              <a:ext uri="{FF2B5EF4-FFF2-40B4-BE49-F238E27FC236}">
                <a16:creationId xmlns:a16="http://schemas.microsoft.com/office/drawing/2014/main" id="{65F26AE3-27CD-4715-92A6-37A0D0286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695325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4243B"/>
          </a:solidFill>
          <a:ln xmlns:a="http://schemas.openxmlformats.org/drawingml/2006/main" w="9525">
            <a:solidFill>
              <a:srgbClr val="203A5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CODE_PANEL_HIGHLIGHT">
            <a:extLst xmlns:a="http://schemas.openxmlformats.org/drawingml/2006/main">
              <a:ext uri="{FF2B5EF4-FFF2-40B4-BE49-F238E27FC236}">
                <a16:creationId xmlns:a16="http://schemas.microsoft.com/office/drawing/2014/main" id="{BFBBCFB1-63D8-4BA8-A2A6-456B9FC8C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66925"/>
            <a:ext cx="67627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ODE">
            <a:extLst xmlns:a="http://schemas.openxmlformats.org/drawingml/2006/main">
              <a:ext uri="{FF2B5EF4-FFF2-40B4-BE49-F238E27FC236}">
                <a16:creationId xmlns:a16="http://schemas.microsoft.com/office/drawing/2014/main" id="{164B184D-EB36-4377-A1D4-DC0ED6731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19350"/>
            <a:ext cx="61912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3F8FF"/>
                </a:solidFill>
              </a:defRPr>
            </a:pPr>
            <a:r>
              <a:rPr sz="1575" b="0">
                <a:solidFill>
                  <a:srgbClr val="F3F8FF"/>
                </a:solidFill>
              </a:rPr>
              <a:t>def understand(concept):</a:t>
            </a:r>
          </a:p>
          <a:p xmlns:a="http://schemas.openxmlformats.org/drawingml/2006/main">
            <a:pPr algn="l">
              <a:defRPr sz="1575" b="0">
                <a:solidFill>
                  <a:srgbClr val="F3F8FF"/>
                </a:solidFill>
              </a:defRPr>
            </a:pPr>
            <a:r>
              <a:rPr sz="1575" b="0">
                <a:solidFill>
                  <a:srgbClr val="F3F8FF"/>
                </a:solidFill>
              </a:rPr>
              <a:t>    check_definition()</a:t>
            </a:r>
          </a:p>
          <a:p xmlns:a="http://schemas.openxmlformats.org/drawingml/2006/main">
            <a:pPr algn="l">
              <a:defRPr sz="1575" b="0">
                <a:solidFill>
                  <a:srgbClr val="F3F8FF"/>
                </a:solidFill>
              </a:defRPr>
            </a:pPr>
            <a:r>
              <a:rPr sz="1575" b="0">
                <a:solidFill>
                  <a:srgbClr val="F3F8FF"/>
                </a:solidFill>
              </a:rPr>
              <a:t>    test_boundary()</a:t>
            </a:r>
          </a:p>
          <a:p xmlns:a="http://schemas.openxmlformats.org/drawingml/2006/main">
            <a:pPr algn="l">
              <a:defRPr sz="1575" b="0">
                <a:solidFill>
                  <a:srgbClr val="F3F8FF"/>
                </a:solidFill>
              </a:defRPr>
            </a:pPr>
            <a:r>
              <a:rPr sz="1575" b="0">
                <a:solidFill>
                  <a:srgbClr val="F3F8FF"/>
                </a:solidFill>
              </a:rPr>
              <a:t>    explain_reason()</a:t>
            </a:r>
          </a:p>
          <a:p xmlns:a="http://schemas.openxmlformats.org/drawingml/2006/main">
            <a:pPr algn="l">
              <a:defRPr sz="1575" b="0">
                <a:solidFill>
                  <a:srgbClr val="F3F8FF"/>
                </a:solidFill>
              </a:defRPr>
            </a:pPr>
            <a:r>
              <a:rPr sz="1575" b="0">
                <a:solidFill>
                  <a:srgbClr val="F3F8FF"/>
                </a:solidFill>
              </a:rPr>
              <a:t>    return transfer_to_new_case()</a:t>
            </a:r>
          </a:p>
        </p:txBody>
      </p:sp>
      <p:sp>
        <p:nvSpPr>
          <p:cNvPr id="11" name="EXPLANATION_PANEL_DEPTH">
            <a:extLst xmlns:a="http://schemas.openxmlformats.org/drawingml/2006/main">
              <a:ext uri="{FF2B5EF4-FFF2-40B4-BE49-F238E27FC236}">
                <a16:creationId xmlns:a16="http://schemas.microsoft.com/office/drawing/2014/main" id="{C5677784-873C-4A93-B515-1AF20A817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095500"/>
            <a:ext cx="3562350" cy="3714750"/>
          </a:xfrm>
          <a:prstGeom xmlns:a="http://schemas.openxmlformats.org/drawingml/2006/main" prst="roundRect">
            <a:avLst>
              <a:gd name="adj" fmla="val 3209"/>
            </a:avLst>
          </a:prstGeom>
          <a:solidFill xmlns:a="http://schemas.openxmlformats.org/drawingml/2006/main">
            <a:srgbClr val="D0DA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EXPLANATION_PANEL">
            <a:extLst xmlns:a="http://schemas.openxmlformats.org/drawingml/2006/main">
              <a:ext uri="{FF2B5EF4-FFF2-40B4-BE49-F238E27FC236}">
                <a16:creationId xmlns:a16="http://schemas.microsoft.com/office/drawing/2014/main" id="{81082537-F053-4A8A-920C-769572F6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38350"/>
            <a:ext cx="3562350" cy="3714750"/>
          </a:xfrm>
          <a:prstGeom xmlns:a="http://schemas.openxmlformats.org/drawingml/2006/main" prst="roundRect">
            <a:avLst>
              <a:gd name="adj" fmla="val 3209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DE5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EXPLANATION_PANEL_HIGHLIGHT">
            <a:extLst xmlns:a="http://schemas.openxmlformats.org/drawingml/2006/main">
              <a:ext uri="{FF2B5EF4-FFF2-40B4-BE49-F238E27FC236}">
                <a16:creationId xmlns:a16="http://schemas.microsoft.com/office/drawing/2014/main" id="{259A32E5-9A05-4CC3-B5A6-E021D9C39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66925"/>
            <a:ext cx="33718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EXPLANATION_PANEL_RAIL">
            <a:extLst xmlns:a="http://schemas.openxmlformats.org/drawingml/2006/main">
              <a:ext uri="{FF2B5EF4-FFF2-40B4-BE49-F238E27FC236}">
                <a16:creationId xmlns:a16="http://schemas.microsoft.com/office/drawing/2014/main" id="{5315CC88-1322-4346-9E15-554B9A39E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38350"/>
            <a:ext cx="6667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7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EXPLANATION_LABEL">
            <a:extLst xmlns:a="http://schemas.openxmlformats.org/drawingml/2006/main">
              <a:ext uri="{FF2B5EF4-FFF2-40B4-BE49-F238E27FC236}">
                <a16:creationId xmlns:a16="http://schemas.microsoft.com/office/drawing/2014/main" id="{61C8CA94-BB3B-4FAE-9C81-6FF5B36CE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098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856B"/>
                </a:solidFill>
              </a:defRPr>
            </a:pPr>
            <a:r>
              <a:rPr sz="1125" b="1">
                <a:solidFill>
                  <a:srgbClr val="16856B"/>
                </a:solidFill>
              </a:rPr>
              <a:t>阅读线索</a:t>
            </a:r>
          </a:p>
        </p:txBody>
      </p:sp>
      <p:sp>
        <p:nvSpPr>
          <p:cNvPr id="16" name="EXPLANATION">
            <a:extLst xmlns:a="http://schemas.openxmlformats.org/drawingml/2006/main">
              <a:ext uri="{FF2B5EF4-FFF2-40B4-BE49-F238E27FC236}">
                <a16:creationId xmlns:a16="http://schemas.microsoft.com/office/drawing/2014/main" id="{B259A7D0-23CB-4C60-B055-2F24D70B1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00350"/>
            <a:ext cx="304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65D"/>
                </a:solidFill>
              </a:defRPr>
            </a:pPr>
            <a:r>
              <a:rPr sz="1800" b="1">
                <a:solidFill>
                  <a:srgbClr val="17365D"/>
                </a:solidFill>
              </a:rPr>
              <a:t>先看判断顺序，再观察每一步承担的学习任务。</a:t>
            </a:r>
          </a:p>
        </p:txBody>
      </p:sp>
      <p:sp>
        <p:nvSpPr>
          <p:cNvPr id="17" name="EXPLANATION_NOTE">
            <a:extLst xmlns:a="http://schemas.openxmlformats.org/drawingml/2006/main">
              <a:ext uri="{FF2B5EF4-FFF2-40B4-BE49-F238E27FC236}">
                <a16:creationId xmlns:a16="http://schemas.microsoft.com/office/drawing/2014/main" id="{94D9A69B-3CC9-4342-A25E-246D842E2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67200"/>
            <a:ext cx="304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D7D91"/>
                </a:solidFill>
              </a:defRPr>
            </a:pPr>
            <a:r>
              <a:rPr sz="1350" b="0">
                <a:solidFill>
                  <a:srgbClr val="6D7D91"/>
                </a:solidFill>
              </a:rPr>
              <a:t>代码、公式或表格都应配套解释，避免把证据孤立摆放。</a:t>
            </a:r>
          </a:p>
        </p:txBody>
      </p:sp>
      <p:sp>
        <p:nvSpPr>
          <p:cNvPr id="18" name="FOOTER_LABEL">
            <a:extLst xmlns:a="http://schemas.openxmlformats.org/drawingml/2006/main">
              <a:ext uri="{FF2B5EF4-FFF2-40B4-BE49-F238E27FC236}">
                <a16:creationId xmlns:a16="http://schemas.microsoft.com/office/drawing/2014/main" id="{3D70C0FC-6E9D-40EB-802E-5EC57DBB2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D7D91"/>
                </a:solidFill>
              </a:defRPr>
            </a:pPr>
            <a:r>
              <a:rPr sz="825" b="0">
                <a:solidFill>
                  <a:srgbClr val="6D7D91"/>
                </a:solidFill>
              </a:rPr>
              <a:t>启智课堂 · 同源课程课件</a:t>
            </a:r>
          </a:p>
        </p:txBody>
      </p:sp>
      <p:sp>
        <p:nvSpPr>
          <p:cNvPr id="19" name="FOOTER_PAGE_PLATE">
            <a:extLst xmlns:a="http://schemas.openxmlformats.org/drawingml/2006/main">
              <a:ext uri="{FF2B5EF4-FFF2-40B4-BE49-F238E27FC236}">
                <a16:creationId xmlns:a16="http://schemas.microsoft.com/office/drawing/2014/main" id="{19C7986C-D548-4053-ADBF-D44F4DB50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343650"/>
            <a:ext cx="22669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DE5EE"/>
            </a:solidFill>
            <a:prstDash val="solid"/>
          </a:ln>
        </p:spPr>
      </p:sp>
      <p:sp>
        <p:nvSpPr>
          <p:cNvPr id="20" name="FOOTER_PAGE">
            <a:extLst xmlns:a="http://schemas.openxmlformats.org/drawingml/2006/main">
              <a:ext uri="{FF2B5EF4-FFF2-40B4-BE49-F238E27FC236}">
                <a16:creationId xmlns:a16="http://schemas.microsoft.com/office/drawing/2014/main" id="{B6F9BBA9-CCB6-4707-A907-F57CF3C2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198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D7D91"/>
                </a:solidFill>
              </a:defRPr>
            </a:pPr>
            <a:r>
              <a:rPr sz="750" b="0">
                <a:solidFill>
                  <a:srgbClr val="6D7D91"/>
                </a:solidFill>
              </a:rPr>
              <a:t>12 / 18</a:t>
            </a:r>
          </a:p>
        </p:txBody>
      </p:sp>
    </p:spTree>
    <p:extLst>
      <p:ext uri="{BB962C8B-B14F-4D97-AF65-F5344CB8AC3E}">
        <p14:creationId xmlns:p14="http://schemas.microsoft.com/office/powerpoint/2010/main" val="136285402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bd6f7cc1a94ec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ECTION_LABEL">
            <a:extLst xmlns:a="http://schemas.openxmlformats.org/drawingml/2006/main">
              <a:ext uri="{FF2B5EF4-FFF2-40B4-BE49-F238E27FC236}">
                <a16:creationId xmlns:a16="http://schemas.microsoft.com/office/drawing/2014/main" id="{D9964787-5142-4231-81F9-C7EE6DE01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FE4"/>
                </a:solidFill>
              </a:defRPr>
            </a:pPr>
            <a:r>
              <a:rPr sz="1050" b="1">
                <a:solidFill>
                  <a:srgbClr val="2F6FE4"/>
                </a:solidFill>
              </a:rPr>
              <a:t>并列示例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55AD464-3A6C-48E2-9B8F-793DF4BB0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4850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65D"/>
                </a:solidFill>
              </a:defRPr>
            </a:pPr>
            <a:r>
              <a:rPr sz="2850" b="1">
                <a:solidFill>
                  <a:srgbClr val="17365D"/>
                </a:solidFill>
              </a:rPr>
              <a:t>同一概念需要用不同情境检验，而不是重复同一种表达</a:t>
            </a:r>
          </a:p>
        </p:txBody>
      </p:sp>
      <p:sp>
        <p:nvSpPr>
          <p:cNvPr id="4" name="TITLE_RULE">
            <a:extLst xmlns:a="http://schemas.openxmlformats.org/drawingml/2006/main">
              <a:ext uri="{FF2B5EF4-FFF2-40B4-BE49-F238E27FC236}">
                <a16:creationId xmlns:a16="http://schemas.microsoft.com/office/drawing/2014/main" id="{7CA9906E-31F9-4350-B758-C3B9B01AC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76375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_RULE_ACCENT">
            <a:extLst xmlns:a="http://schemas.openxmlformats.org/drawingml/2006/main">
              <a:ext uri="{FF2B5EF4-FFF2-40B4-BE49-F238E27FC236}">
                <a16:creationId xmlns:a16="http://schemas.microsoft.com/office/drawing/2014/main" id="{D0D5F24E-703C-42C9-9B73-7189E50F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476375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_NUMBER">
            <a:extLst xmlns:a="http://schemas.openxmlformats.org/drawingml/2006/main">
              <a:ext uri="{FF2B5EF4-FFF2-40B4-BE49-F238E27FC236}">
                <a16:creationId xmlns:a16="http://schemas.microsoft.com/office/drawing/2014/main" id="{F2BE11DA-70D8-43DD-A77A-BBA39E58F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572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D7D91"/>
                </a:solidFill>
              </a:defRPr>
            </a:pPr>
            <a:r>
              <a:rPr sz="1050" b="1">
                <a:solidFill>
                  <a:srgbClr val="6D7D91"/>
                </a:solidFill>
              </a:rPr>
              <a:t>13</a:t>
            </a:r>
          </a:p>
        </p:txBody>
      </p:sp>
      <p:sp>
        <p:nvSpPr>
          <p:cNvPr id="7" name="EXAMPLE_PANEL_1_DEPTH">
            <a:extLst xmlns:a="http://schemas.openxmlformats.org/drawingml/2006/main">
              <a:ext uri="{FF2B5EF4-FFF2-40B4-BE49-F238E27FC236}">
                <a16:creationId xmlns:a16="http://schemas.microsoft.com/office/drawing/2014/main" id="{D6CD72BC-8AD8-4761-A5EB-6EE2230F7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152650"/>
            <a:ext cx="33528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C8D8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XAMPLE_PANEL_1">
            <a:extLst xmlns:a="http://schemas.openxmlformats.org/drawingml/2006/main">
              <a:ext uri="{FF2B5EF4-FFF2-40B4-BE49-F238E27FC236}">
                <a16:creationId xmlns:a16="http://schemas.microsoft.com/office/drawing/2014/main" id="{0566D834-7665-44BD-A8A0-14822853C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33528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EXAMPLE_PANEL_1_HIGHLIGHT">
            <a:extLst xmlns:a="http://schemas.openxmlformats.org/drawingml/2006/main">
              <a:ext uri="{FF2B5EF4-FFF2-40B4-BE49-F238E27FC236}">
                <a16:creationId xmlns:a16="http://schemas.microsoft.com/office/drawing/2014/main" id="{DA689D02-25ED-4F05-81C9-B3B95C358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24075"/>
            <a:ext cx="31623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EXAMPLE_PANEL_1_RAIL">
            <a:extLst xmlns:a="http://schemas.openxmlformats.org/drawingml/2006/main">
              <a:ext uri="{FF2B5EF4-FFF2-40B4-BE49-F238E27FC236}">
                <a16:creationId xmlns:a16="http://schemas.microsoft.com/office/drawing/2014/main" id="{DD015112-69BD-46B0-A3F0-DD827A29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6667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EXAMPLE_NUMBER_1">
            <a:extLst xmlns:a="http://schemas.openxmlformats.org/drawingml/2006/main">
              <a:ext uri="{FF2B5EF4-FFF2-40B4-BE49-F238E27FC236}">
                <a16:creationId xmlns:a16="http://schemas.microsoft.com/office/drawing/2014/main" id="{501D6261-62A5-4C4B-ACA8-BED7292F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193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FE4"/>
                </a:solidFill>
              </a:defRPr>
            </a:pPr>
            <a:r>
              <a:rPr sz="1050" b="1">
                <a:solidFill>
                  <a:srgbClr val="2F6FE4"/>
                </a:solidFill>
              </a:rPr>
              <a:t>01</a:t>
            </a:r>
          </a:p>
        </p:txBody>
      </p:sp>
      <p:sp>
        <p:nvSpPr>
          <p:cNvPr id="12" name="EXAMPLE_LABEL_1">
            <a:extLst xmlns:a="http://schemas.openxmlformats.org/drawingml/2006/main">
              <a:ext uri="{FF2B5EF4-FFF2-40B4-BE49-F238E27FC236}">
                <a16:creationId xmlns:a16="http://schemas.microsoft.com/office/drawing/2014/main" id="{C42ED70E-38BC-4D68-8946-C0EBFDDFA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956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65D"/>
                </a:solidFill>
              </a:defRPr>
            </a:pPr>
            <a:r>
              <a:rPr sz="1800" b="1">
                <a:solidFill>
                  <a:srgbClr val="17365D"/>
                </a:solidFill>
              </a:rPr>
              <a:t>正例</a:t>
            </a:r>
          </a:p>
        </p:txBody>
      </p:sp>
      <p:sp>
        <p:nvSpPr>
          <p:cNvPr id="13" name="EXAMPLE_BODY_1">
            <a:extLst xmlns:a="http://schemas.openxmlformats.org/drawingml/2006/main">
              <a:ext uri="{FF2B5EF4-FFF2-40B4-BE49-F238E27FC236}">
                <a16:creationId xmlns:a16="http://schemas.microsoft.com/office/drawing/2014/main" id="{7CA956E1-967E-428F-AC91-4FDFFE518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00450"/>
            <a:ext cx="26860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4465C"/>
                </a:solidFill>
              </a:defRPr>
            </a:pPr>
            <a:r>
              <a:rPr sz="1500" b="0">
                <a:solidFill>
                  <a:srgbClr val="34465C"/>
                </a:solidFill>
              </a:rPr>
              <a:t>条件完整时，结论能够被定义直接支持。</a:t>
            </a:r>
          </a:p>
        </p:txBody>
      </p:sp>
      <p:sp>
        <p:nvSpPr>
          <p:cNvPr id="14" name="EXAMPLE_PANEL_2_DEPTH">
            <a:extLst xmlns:a="http://schemas.openxmlformats.org/drawingml/2006/main">
              <a:ext uri="{FF2B5EF4-FFF2-40B4-BE49-F238E27FC236}">
                <a16:creationId xmlns:a16="http://schemas.microsoft.com/office/drawing/2014/main" id="{FFB1FC2D-5CBF-4F81-BE11-E036775AA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52650"/>
            <a:ext cx="33528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B6DD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EXAMPLE_PANEL_2">
            <a:extLst xmlns:a="http://schemas.openxmlformats.org/drawingml/2006/main">
              <a:ext uri="{FF2B5EF4-FFF2-40B4-BE49-F238E27FC236}">
                <a16:creationId xmlns:a16="http://schemas.microsoft.com/office/drawing/2014/main" id="{7F73292F-B8B3-4C30-8102-A4FABC59C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95500"/>
            <a:ext cx="33528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9525">
            <a:solidFill>
              <a:srgbClr val="C7E9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EXAMPLE_PANEL_2_HIGHLIGHT">
            <a:extLst xmlns:a="http://schemas.openxmlformats.org/drawingml/2006/main">
              <a:ext uri="{FF2B5EF4-FFF2-40B4-BE49-F238E27FC236}">
                <a16:creationId xmlns:a16="http://schemas.microsoft.com/office/drawing/2014/main" id="{5003F27B-53E9-4F3A-ADB6-D0F181096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24075"/>
            <a:ext cx="31623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EXAMPLE_PANEL_2_RAIL">
            <a:extLst xmlns:a="http://schemas.openxmlformats.org/drawingml/2006/main">
              <a:ext uri="{FF2B5EF4-FFF2-40B4-BE49-F238E27FC236}">
                <a16:creationId xmlns:a16="http://schemas.microsoft.com/office/drawing/2014/main" id="{239A36B6-9E74-4347-9DB3-34BAF862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95500"/>
            <a:ext cx="6667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EXAMPLE_NUMBER_2">
            <a:extLst xmlns:a="http://schemas.openxmlformats.org/drawingml/2006/main">
              <a:ext uri="{FF2B5EF4-FFF2-40B4-BE49-F238E27FC236}">
                <a16:creationId xmlns:a16="http://schemas.microsoft.com/office/drawing/2014/main" id="{2B8B657C-0441-4AD9-9454-499C90112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4193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856B"/>
                </a:solidFill>
              </a:defRPr>
            </a:pPr>
            <a:r>
              <a:rPr sz="1050" b="1">
                <a:solidFill>
                  <a:srgbClr val="16856B"/>
                </a:solidFill>
              </a:rPr>
              <a:t>02</a:t>
            </a:r>
          </a:p>
        </p:txBody>
      </p:sp>
      <p:sp>
        <p:nvSpPr>
          <p:cNvPr id="19" name="EXAMPLE_LABEL_2">
            <a:extLst xmlns:a="http://schemas.openxmlformats.org/drawingml/2006/main">
              <a:ext uri="{FF2B5EF4-FFF2-40B4-BE49-F238E27FC236}">
                <a16:creationId xmlns:a16="http://schemas.microsoft.com/office/drawing/2014/main" id="{22F57700-C786-48C9-9005-3E8003EEC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956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65D"/>
                </a:solidFill>
              </a:defRPr>
            </a:pPr>
            <a:r>
              <a:rPr sz="1800" b="1">
                <a:solidFill>
                  <a:srgbClr val="17365D"/>
                </a:solidFill>
              </a:rPr>
              <a:t>边界例</a:t>
            </a:r>
          </a:p>
        </p:txBody>
      </p:sp>
      <p:sp>
        <p:nvSpPr>
          <p:cNvPr id="20" name="EXAMPLE_BODY_2">
            <a:extLst xmlns:a="http://schemas.openxmlformats.org/drawingml/2006/main">
              <a:ext uri="{FF2B5EF4-FFF2-40B4-BE49-F238E27FC236}">
                <a16:creationId xmlns:a16="http://schemas.microsoft.com/office/drawing/2014/main" id="{2CBAA614-AE39-41AF-BB81-AEBC68919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600450"/>
            <a:ext cx="26860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4465C"/>
                </a:solidFill>
              </a:defRPr>
            </a:pPr>
            <a:r>
              <a:rPr sz="1500" b="0">
                <a:solidFill>
                  <a:srgbClr val="34465C"/>
                </a:solidFill>
              </a:rPr>
              <a:t>只改变一个关键条件，观察判断从哪里开始失效。</a:t>
            </a:r>
          </a:p>
        </p:txBody>
      </p:sp>
      <p:sp>
        <p:nvSpPr>
          <p:cNvPr id="21" name="EXAMPLE_PANEL_3_DEPTH">
            <a:extLst xmlns:a="http://schemas.openxmlformats.org/drawingml/2006/main">
              <a:ext uri="{FF2B5EF4-FFF2-40B4-BE49-F238E27FC236}">
                <a16:creationId xmlns:a16="http://schemas.microsoft.com/office/drawing/2014/main" id="{E4F73826-C079-4F4F-A971-74A13F6AE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152650"/>
            <a:ext cx="33528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BCF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EXAMPLE_PANEL_3">
            <a:extLst xmlns:a="http://schemas.openxmlformats.org/drawingml/2006/main">
              <a:ext uri="{FF2B5EF4-FFF2-40B4-BE49-F238E27FC236}">
                <a16:creationId xmlns:a16="http://schemas.microsoft.com/office/drawing/2014/main" id="{FADF2174-0561-4A78-BB50-38B8E63DD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95500"/>
            <a:ext cx="33528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7E9"/>
          </a:solidFill>
          <a:ln xmlns:a="http://schemas.openxmlformats.org/drawingml/2006/main" w="9525">
            <a:solidFill>
              <a:srgbClr val="F2DDB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EXAMPLE_PANEL_3_HIGHLIGHT">
            <a:extLst xmlns:a="http://schemas.openxmlformats.org/drawingml/2006/main">
              <a:ext uri="{FF2B5EF4-FFF2-40B4-BE49-F238E27FC236}">
                <a16:creationId xmlns:a16="http://schemas.microsoft.com/office/drawing/2014/main" id="{69F6A1EA-01BB-495C-927E-E2154F95C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24075"/>
            <a:ext cx="31623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EXAMPLE_PANEL_3_RAIL">
            <a:extLst xmlns:a="http://schemas.openxmlformats.org/drawingml/2006/main">
              <a:ext uri="{FF2B5EF4-FFF2-40B4-BE49-F238E27FC236}">
                <a16:creationId xmlns:a16="http://schemas.microsoft.com/office/drawing/2014/main" id="{A8C9B3E1-6667-408F-A134-F1C68B933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95500"/>
            <a:ext cx="6667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9D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EXAMPLE_NUMBER_3">
            <a:extLst xmlns:a="http://schemas.openxmlformats.org/drawingml/2006/main">
              <a:ext uri="{FF2B5EF4-FFF2-40B4-BE49-F238E27FC236}">
                <a16:creationId xmlns:a16="http://schemas.microsoft.com/office/drawing/2014/main" id="{84E0D2AE-7045-4F01-8EBE-08D701F4B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193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9D38"/>
                </a:solidFill>
              </a:defRPr>
            </a:pPr>
            <a:r>
              <a:rPr sz="1050" b="1">
                <a:solidFill>
                  <a:srgbClr val="F29D38"/>
                </a:solidFill>
              </a:rPr>
              <a:t>03</a:t>
            </a:r>
          </a:p>
        </p:txBody>
      </p:sp>
      <p:sp>
        <p:nvSpPr>
          <p:cNvPr id="26" name="EXAMPLE_LABEL_3">
            <a:extLst xmlns:a="http://schemas.openxmlformats.org/drawingml/2006/main">
              <a:ext uri="{FF2B5EF4-FFF2-40B4-BE49-F238E27FC236}">
                <a16:creationId xmlns:a16="http://schemas.microsoft.com/office/drawing/2014/main" id="{2608E69A-B959-4A4F-839C-D76015216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956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65D"/>
                </a:solidFill>
              </a:defRPr>
            </a:pPr>
            <a:r>
              <a:rPr sz="1800" b="1">
                <a:solidFill>
                  <a:srgbClr val="17365D"/>
                </a:solidFill>
              </a:rPr>
              <a:t>迁移例</a:t>
            </a:r>
          </a:p>
        </p:txBody>
      </p:sp>
      <p:sp>
        <p:nvSpPr>
          <p:cNvPr id="27" name="EXAMPLE_BODY_3">
            <a:extLst xmlns:a="http://schemas.openxmlformats.org/drawingml/2006/main">
              <a:ext uri="{FF2B5EF4-FFF2-40B4-BE49-F238E27FC236}">
                <a16:creationId xmlns:a16="http://schemas.microsoft.com/office/drawing/2014/main" id="{3047ABF3-A986-4E96-983C-023B0670E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00450"/>
            <a:ext cx="26860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4465C"/>
                </a:solidFill>
              </a:defRPr>
            </a:pPr>
            <a:r>
              <a:rPr sz="1500" b="0">
                <a:solidFill>
                  <a:srgbClr val="34465C"/>
                </a:solidFill>
              </a:rPr>
              <a:t>换到新的情境，用相同的判断路径独立作答。</a:t>
            </a:r>
          </a:p>
        </p:txBody>
      </p:sp>
      <p:sp>
        <p:nvSpPr>
          <p:cNvPr id="28" name="FOOTER_LABEL">
            <a:extLst xmlns:a="http://schemas.openxmlformats.org/drawingml/2006/main">
              <a:ext uri="{FF2B5EF4-FFF2-40B4-BE49-F238E27FC236}">
                <a16:creationId xmlns:a16="http://schemas.microsoft.com/office/drawing/2014/main" id="{17EE3EC5-33EB-46F2-943B-F4D47D7A8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D7D91"/>
                </a:solidFill>
              </a:defRPr>
            </a:pPr>
            <a:r>
              <a:rPr sz="825" b="0">
                <a:solidFill>
                  <a:srgbClr val="6D7D91"/>
                </a:solidFill>
              </a:rPr>
              <a:t>启智课堂 · 同源课程课件</a:t>
            </a:r>
          </a:p>
        </p:txBody>
      </p:sp>
      <p:sp>
        <p:nvSpPr>
          <p:cNvPr id="29" name="FOOTER_PAGE_PLATE">
            <a:extLst xmlns:a="http://schemas.openxmlformats.org/drawingml/2006/main">
              <a:ext uri="{FF2B5EF4-FFF2-40B4-BE49-F238E27FC236}">
                <a16:creationId xmlns:a16="http://schemas.microsoft.com/office/drawing/2014/main" id="{850C687D-D56C-46C1-B61C-20EB48ECC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343650"/>
            <a:ext cx="22669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DE5EE"/>
            </a:solidFill>
            <a:prstDash val="solid"/>
          </a:ln>
        </p:spPr>
      </p:sp>
      <p:sp>
        <p:nvSpPr>
          <p:cNvPr id="30" name="FOOTER_PAGE">
            <a:extLst xmlns:a="http://schemas.openxmlformats.org/drawingml/2006/main">
              <a:ext uri="{FF2B5EF4-FFF2-40B4-BE49-F238E27FC236}">
                <a16:creationId xmlns:a16="http://schemas.microsoft.com/office/drawing/2014/main" id="{04A34803-8F42-4215-B378-93078596F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198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D7D91"/>
                </a:solidFill>
              </a:defRPr>
            </a:pPr>
            <a:r>
              <a:rPr sz="750" b="0">
                <a:solidFill>
                  <a:srgbClr val="6D7D91"/>
                </a:solidFill>
              </a:rPr>
              <a:t>13 / 18</a:t>
            </a:r>
          </a:p>
        </p:txBody>
      </p:sp>
    </p:spTree>
    <p:extLst>
      <p:ext uri="{BB962C8B-B14F-4D97-AF65-F5344CB8AC3E}">
        <p14:creationId xmlns:p14="http://schemas.microsoft.com/office/powerpoint/2010/main" val="194233565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2502ceffd04d3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ECTION_LABEL">
            <a:extLst xmlns:a="http://schemas.openxmlformats.org/drawingml/2006/main">
              <a:ext uri="{FF2B5EF4-FFF2-40B4-BE49-F238E27FC236}">
                <a16:creationId xmlns:a16="http://schemas.microsoft.com/office/drawing/2014/main" id="{9EF693A2-1A79-40D4-8800-A7686F65A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FE4"/>
                </a:solidFill>
              </a:defRPr>
            </a:pPr>
            <a:r>
              <a:rPr sz="1050" b="1">
                <a:solidFill>
                  <a:srgbClr val="2F6FE4"/>
                </a:solidFill>
              </a:rPr>
              <a:t>表格证据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84C8820-E316-4B98-8EF6-46D2556FD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4850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65D"/>
                </a:solidFill>
              </a:defRPr>
            </a:pPr>
            <a:r>
              <a:rPr sz="2850" b="1">
                <a:solidFill>
                  <a:srgbClr val="17365D"/>
                </a:solidFill>
              </a:rPr>
              <a:t>表格先帮助比较，再由标题明确需要读出的结论</a:t>
            </a:r>
          </a:p>
        </p:txBody>
      </p:sp>
      <p:sp>
        <p:nvSpPr>
          <p:cNvPr id="4" name="TITLE_RULE">
            <a:extLst xmlns:a="http://schemas.openxmlformats.org/drawingml/2006/main">
              <a:ext uri="{FF2B5EF4-FFF2-40B4-BE49-F238E27FC236}">
                <a16:creationId xmlns:a16="http://schemas.microsoft.com/office/drawing/2014/main" id="{ABD860EB-0B24-4161-8845-5059F6FB6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76375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_RULE_ACCENT">
            <a:extLst xmlns:a="http://schemas.openxmlformats.org/drawingml/2006/main">
              <a:ext uri="{FF2B5EF4-FFF2-40B4-BE49-F238E27FC236}">
                <a16:creationId xmlns:a16="http://schemas.microsoft.com/office/drawing/2014/main" id="{EA410419-DDDF-4CF1-B179-243B15EB5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476375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_NUMBER">
            <a:extLst xmlns:a="http://schemas.openxmlformats.org/drawingml/2006/main">
              <a:ext uri="{FF2B5EF4-FFF2-40B4-BE49-F238E27FC236}">
                <a16:creationId xmlns:a16="http://schemas.microsoft.com/office/drawing/2014/main" id="{F942074B-A893-468E-A5C0-D0B570E9B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572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D7D91"/>
                </a:solidFill>
              </a:defRPr>
            </a:pPr>
            <a:r>
              <a:rPr sz="1050" b="1">
                <a:solidFill>
                  <a:srgbClr val="6D7D91"/>
                </a:solidFill>
              </a:rPr>
              <a:t>14</a:t>
            </a:r>
          </a:p>
        </p:txBody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800100" y="2133600"/>
          <a:ext xmlns:a="http://schemas.openxmlformats.org/drawingml/2006/main" cx="10591800" cy="3067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47950"/>
                <a:gridCol w="2647950"/>
                <a:gridCol w="2647950"/>
                <a:gridCol w="2647950"/>
              </a:tblGrid>
              <a:tr h="766763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对照维度</a:t>
                      </a:r>
                    </a:p>
                  </a:txBody>
                  <a:tcPr marL="91440" marR="91440" marT="45720" marB="45720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情境 A</a:t>
                      </a:r>
                    </a:p>
                  </a:txBody>
                  <a:tcPr marL="91440" marR="91440" marT="45720" marB="45720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情境 B</a:t>
                      </a:r>
                    </a:p>
                  </a:txBody>
                  <a:tcPr marL="91440" marR="91440" marT="45720" marB="45720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判断依据</a:t>
                      </a:r>
                    </a:p>
                  </a:txBody>
                  <a:tcPr marL="91440" marR="91440" marT="45720" marB="45720">
                    <a:solidFill>
                      <a:srgbClr val="17365D"/>
                    </a:solidFill>
                  </a:tcPr>
                </a:tc>
              </a:tr>
              <a:tr h="7667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4465C"/>
                          </a:solidFill>
                        </a:rPr>
                        <a:t>必要条件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34465C"/>
                          </a:solidFill>
                        </a:rPr>
                        <a:t>满足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34465C"/>
                          </a:solidFill>
                        </a:rPr>
                        <a:t>部分满足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34465C"/>
                          </a:solidFill>
                        </a:rPr>
                        <a:t>逐项对照定义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67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4465C"/>
                          </a:solidFill>
                        </a:rPr>
                        <a:t>边界变化</a:t>
                      </a:r>
                    </a:p>
                  </a:txBody>
                  <a:tcPr marL="91440" marR="91440" marT="45720" marB="45720"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34465C"/>
                          </a:solidFill>
                        </a:rPr>
                        <a:t>未变化</a:t>
                      </a:r>
                    </a:p>
                  </a:txBody>
                  <a:tcPr marL="91440" marR="91440" marT="45720" marB="45720"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34465C"/>
                          </a:solidFill>
                        </a:rPr>
                        <a:t>改变一项</a:t>
                      </a:r>
                    </a:p>
                  </a:txBody>
                  <a:tcPr marL="91440" marR="91440" marT="45720" marB="45720"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34465C"/>
                          </a:solidFill>
                        </a:rPr>
                        <a:t>使用反例检查</a:t>
                      </a:r>
                    </a:p>
                  </a:txBody>
                  <a:tcPr marL="91440" marR="91440" marT="45720" marB="45720">
                    <a:solidFill>
                      <a:srgbClr val="F4F8FE"/>
                    </a:solidFill>
                  </a:tcPr>
                </a:tc>
              </a:tr>
              <a:tr h="7667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4465C"/>
                          </a:solidFill>
                        </a:rPr>
                        <a:t>最终判断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34465C"/>
                          </a:solidFill>
                        </a:rPr>
                        <a:t>结论成立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34465C"/>
                          </a:solidFill>
                        </a:rPr>
                        <a:t>需要重判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34465C"/>
                          </a:solidFill>
                        </a:rPr>
                        <a:t>说明理由与证据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ABLE_TAKEAWAY_DEPTH">
            <a:extLst xmlns:a="http://schemas.openxmlformats.org/drawingml/2006/main">
              <a:ext uri="{FF2B5EF4-FFF2-40B4-BE49-F238E27FC236}">
                <a16:creationId xmlns:a16="http://schemas.microsoft.com/office/drawing/2014/main" id="{DC588FB9-5D61-4309-BCF3-F0D9568D6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5486400"/>
            <a:ext cx="105918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BFD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ABLE_TAKEAWAY">
            <a:extLst xmlns:a="http://schemas.openxmlformats.org/drawingml/2006/main">
              <a:ext uri="{FF2B5EF4-FFF2-40B4-BE49-F238E27FC236}">
                <a16:creationId xmlns:a16="http://schemas.microsoft.com/office/drawing/2014/main" id="{BC00EB6F-24F4-481A-8A2C-FF8E9C0FF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105918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C9DB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TABLE_TAKEAWAY_HIGHLIGHT">
            <a:extLst xmlns:a="http://schemas.openxmlformats.org/drawingml/2006/main">
              <a:ext uri="{FF2B5EF4-FFF2-40B4-BE49-F238E27FC236}">
                <a16:creationId xmlns:a16="http://schemas.microsoft.com/office/drawing/2014/main" id="{A5496A6D-66A2-4FC4-9595-D5077E038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57825"/>
            <a:ext cx="104013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AKEAWAY">
            <a:extLst xmlns:a="http://schemas.openxmlformats.org/drawingml/2006/main">
              <a:ext uri="{FF2B5EF4-FFF2-40B4-BE49-F238E27FC236}">
                <a16:creationId xmlns:a16="http://schemas.microsoft.com/office/drawing/2014/main" id="{C9AFAADA-59F7-4969-9A27-908C9AF69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1975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65D"/>
                </a:solidFill>
              </a:defRPr>
            </a:pPr>
            <a:r>
              <a:rPr sz="1425" b="1">
                <a:solidFill>
                  <a:srgbClr val="17365D"/>
                </a:solidFill>
              </a:rPr>
              <a:t>表格不是数据仓库：只保留支撑当前判断的维度。</a:t>
            </a:r>
          </a:p>
        </p:txBody>
      </p:sp>
      <p:sp>
        <p:nvSpPr>
          <p:cNvPr id="12" name="FOOTER_LABEL">
            <a:extLst xmlns:a="http://schemas.openxmlformats.org/drawingml/2006/main">
              <a:ext uri="{FF2B5EF4-FFF2-40B4-BE49-F238E27FC236}">
                <a16:creationId xmlns:a16="http://schemas.microsoft.com/office/drawing/2014/main" id="{AEEA5BC2-86D5-4489-B456-F00BC7146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D7D91"/>
                </a:solidFill>
              </a:defRPr>
            </a:pPr>
            <a:r>
              <a:rPr sz="825" b="0">
                <a:solidFill>
                  <a:srgbClr val="6D7D91"/>
                </a:solidFill>
              </a:rPr>
              <a:t>启智课堂 · 同源课程课件</a:t>
            </a:r>
          </a:p>
        </p:txBody>
      </p:sp>
      <p:sp>
        <p:nvSpPr>
          <p:cNvPr id="13" name="FOOTER_PAGE_PLATE">
            <a:extLst xmlns:a="http://schemas.openxmlformats.org/drawingml/2006/main">
              <a:ext uri="{FF2B5EF4-FFF2-40B4-BE49-F238E27FC236}">
                <a16:creationId xmlns:a16="http://schemas.microsoft.com/office/drawing/2014/main" id="{DF1DC8B6-0301-4718-9ED2-8886D69C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343650"/>
            <a:ext cx="22669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DE5EE"/>
            </a:solidFill>
            <a:prstDash val="solid"/>
          </a:ln>
        </p:spPr>
      </p:sp>
      <p:sp>
        <p:nvSpPr>
          <p:cNvPr id="14" name="FOOTER_PAGE">
            <a:extLst xmlns:a="http://schemas.openxmlformats.org/drawingml/2006/main">
              <a:ext uri="{FF2B5EF4-FFF2-40B4-BE49-F238E27FC236}">
                <a16:creationId xmlns:a16="http://schemas.microsoft.com/office/drawing/2014/main" id="{CEF00F00-9179-4EB1-B046-47C39A33C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198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D7D91"/>
                </a:solidFill>
              </a:defRPr>
            </a:pPr>
            <a:r>
              <a:rPr sz="750" b="0">
                <a:solidFill>
                  <a:srgbClr val="6D7D91"/>
                </a:solidFill>
              </a:rPr>
              <a:t>14 / 18</a:t>
            </a:r>
          </a:p>
        </p:txBody>
      </p:sp>
    </p:spTree>
    <p:extLst>
      <p:ext uri="{BB962C8B-B14F-4D97-AF65-F5344CB8AC3E}">
        <p14:creationId xmlns:p14="http://schemas.microsoft.com/office/powerpoint/2010/main" val="53866445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c00dad8dd54d8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ECTION_LABEL">
            <a:extLst xmlns:a="http://schemas.openxmlformats.org/drawingml/2006/main">
              <a:ext uri="{FF2B5EF4-FFF2-40B4-BE49-F238E27FC236}">
                <a16:creationId xmlns:a16="http://schemas.microsoft.com/office/drawing/2014/main" id="{4B7CC2D5-25BB-4507-9165-6FC8C6916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FE4"/>
                </a:solidFill>
              </a:defRPr>
            </a:pPr>
            <a:r>
              <a:rPr sz="1050" b="1">
                <a:solidFill>
                  <a:srgbClr val="2F6FE4"/>
                </a:solidFill>
              </a:rPr>
              <a:t>应用迁移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0B79391-E0CB-40E7-B220-106B6866E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4850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65D"/>
                </a:solidFill>
              </a:defRPr>
            </a:pPr>
            <a:r>
              <a:rPr sz="2850" b="1">
                <a:solidFill>
                  <a:srgbClr val="17365D"/>
                </a:solidFill>
              </a:rPr>
              <a:t>先识别新情境中的条件，再映射回已经学过的判断路径</a:t>
            </a:r>
          </a:p>
        </p:txBody>
      </p:sp>
      <p:sp>
        <p:nvSpPr>
          <p:cNvPr id="4" name="TITLE_RULE">
            <a:extLst xmlns:a="http://schemas.openxmlformats.org/drawingml/2006/main">
              <a:ext uri="{FF2B5EF4-FFF2-40B4-BE49-F238E27FC236}">
                <a16:creationId xmlns:a16="http://schemas.microsoft.com/office/drawing/2014/main" id="{B3DA526E-76C8-43C0-BD8E-AF1DAD435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76375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_RULE_ACCENT">
            <a:extLst xmlns:a="http://schemas.openxmlformats.org/drawingml/2006/main">
              <a:ext uri="{FF2B5EF4-FFF2-40B4-BE49-F238E27FC236}">
                <a16:creationId xmlns:a16="http://schemas.microsoft.com/office/drawing/2014/main" id="{B8E64C7F-6BBE-4C51-9A0E-69545579F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476375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_NUMBER">
            <a:extLst xmlns:a="http://schemas.openxmlformats.org/drawingml/2006/main">
              <a:ext uri="{FF2B5EF4-FFF2-40B4-BE49-F238E27FC236}">
                <a16:creationId xmlns:a16="http://schemas.microsoft.com/office/drawing/2014/main" id="{F14676A1-620C-4503-B17A-C8CB9EDA8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572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D7D91"/>
                </a:solidFill>
              </a:defRPr>
            </a:pPr>
            <a:r>
              <a:rPr sz="1050" b="1">
                <a:solidFill>
                  <a:srgbClr val="6D7D91"/>
                </a:solidFill>
              </a:rPr>
              <a:t>15</a:t>
            </a:r>
          </a:p>
        </p:txBody>
      </p:sp>
      <p:sp>
        <p:nvSpPr>
          <p:cNvPr id="7" name="SCENARIO_PANEL_DEPTH">
            <a:extLst xmlns:a="http://schemas.openxmlformats.org/drawingml/2006/main">
              <a:ext uri="{FF2B5EF4-FFF2-40B4-BE49-F238E27FC236}">
                <a16:creationId xmlns:a16="http://schemas.microsoft.com/office/drawing/2014/main" id="{D59CFC35-B37C-4AFA-BA3E-5A6284B9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095500"/>
            <a:ext cx="44577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B6DD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CENARIO_PANEL">
            <a:extLst xmlns:a="http://schemas.openxmlformats.org/drawingml/2006/main">
              <a:ext uri="{FF2B5EF4-FFF2-40B4-BE49-F238E27FC236}">
                <a16:creationId xmlns:a16="http://schemas.microsoft.com/office/drawing/2014/main" id="{161F2060-51FC-4C56-826A-CCA382929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44577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9525">
            <a:solidFill>
              <a:srgbClr val="C7E9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SCENARIO_PANEL_HIGHLIGHT">
            <a:extLst xmlns:a="http://schemas.openxmlformats.org/drawingml/2006/main">
              <a:ext uri="{FF2B5EF4-FFF2-40B4-BE49-F238E27FC236}">
                <a16:creationId xmlns:a16="http://schemas.microsoft.com/office/drawing/2014/main" id="{4979FB07-ECA6-48F6-880D-DA3D5BF39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66925"/>
            <a:ext cx="42672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CENARIO_PANEL_RAIL">
            <a:extLst xmlns:a="http://schemas.openxmlformats.org/drawingml/2006/main">
              <a:ext uri="{FF2B5EF4-FFF2-40B4-BE49-F238E27FC236}">
                <a16:creationId xmlns:a16="http://schemas.microsoft.com/office/drawing/2014/main" id="{C3FE84B4-A060-49D0-B978-F425FB8B9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6667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CENARIO_LABEL">
            <a:extLst xmlns:a="http://schemas.openxmlformats.org/drawingml/2006/main">
              <a:ext uri="{FF2B5EF4-FFF2-40B4-BE49-F238E27FC236}">
                <a16:creationId xmlns:a16="http://schemas.microsoft.com/office/drawing/2014/main" id="{440540D8-76E0-4950-AF0B-3A4A7BAF0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856B"/>
                </a:solidFill>
              </a:defRPr>
            </a:pPr>
            <a:r>
              <a:rPr sz="1125" b="1">
                <a:solidFill>
                  <a:srgbClr val="16856B"/>
                </a:solidFill>
              </a:rPr>
              <a:t>新情境</a:t>
            </a:r>
          </a:p>
        </p:txBody>
      </p:sp>
      <p:sp>
        <p:nvSpPr>
          <p:cNvPr id="12" name="SCENARIO">
            <a:extLst xmlns:a="http://schemas.openxmlformats.org/drawingml/2006/main">
              <a:ext uri="{FF2B5EF4-FFF2-40B4-BE49-F238E27FC236}">
                <a16:creationId xmlns:a16="http://schemas.microsoft.com/office/drawing/2014/main" id="{038F1AC8-75B7-4B2D-B3DE-786269F8C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67050"/>
            <a:ext cx="3619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65D"/>
                </a:solidFill>
              </a:defRPr>
            </a:pPr>
            <a:r>
              <a:rPr sz="2025" b="1">
                <a:solidFill>
                  <a:srgbClr val="17365D"/>
                </a:solidFill>
              </a:rPr>
              <a:t>题目换了对象与表述，但核心条件仍然可以逐项识别。</a:t>
            </a:r>
          </a:p>
        </p:txBody>
      </p:sp>
      <p:sp>
        <p:nvSpPr>
          <p:cNvPr id="13" name="MAPPING_PANEL_DEPTH">
            <a:extLst xmlns:a="http://schemas.openxmlformats.org/drawingml/2006/main">
              <a:ext uri="{FF2B5EF4-FFF2-40B4-BE49-F238E27FC236}">
                <a16:creationId xmlns:a16="http://schemas.microsoft.com/office/drawing/2014/main" id="{53947971-1F7E-4481-A118-B9A95059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095500"/>
            <a:ext cx="596265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BFD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APPING_PANEL">
            <a:extLst xmlns:a="http://schemas.openxmlformats.org/drawingml/2006/main">
              <a:ext uri="{FF2B5EF4-FFF2-40B4-BE49-F238E27FC236}">
                <a16:creationId xmlns:a16="http://schemas.microsoft.com/office/drawing/2014/main" id="{A16A0DEE-C232-4434-BC0D-45344BCB5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038350"/>
            <a:ext cx="596265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C9DB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MAPPING_PANEL_HIGHLIGHT">
            <a:extLst xmlns:a="http://schemas.openxmlformats.org/drawingml/2006/main">
              <a:ext uri="{FF2B5EF4-FFF2-40B4-BE49-F238E27FC236}">
                <a16:creationId xmlns:a16="http://schemas.microsoft.com/office/drawing/2014/main" id="{7740503C-305B-49D9-B274-E48D999ED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066925"/>
            <a:ext cx="57721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MAPPING_PANEL_RAIL">
            <a:extLst xmlns:a="http://schemas.openxmlformats.org/drawingml/2006/main">
              <a:ext uri="{FF2B5EF4-FFF2-40B4-BE49-F238E27FC236}">
                <a16:creationId xmlns:a16="http://schemas.microsoft.com/office/drawing/2014/main" id="{6249F88E-226D-47FF-9DFA-36E882F87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038350"/>
            <a:ext cx="6667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MAPPING_LABEL">
            <a:extLst xmlns:a="http://schemas.openxmlformats.org/drawingml/2006/main">
              <a:ext uri="{FF2B5EF4-FFF2-40B4-BE49-F238E27FC236}">
                <a16:creationId xmlns:a16="http://schemas.microsoft.com/office/drawing/2014/main" id="{001F6DC9-9392-48A5-BD04-5AA78E18D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3812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6FE4"/>
                </a:solidFill>
              </a:defRPr>
            </a:pPr>
            <a:r>
              <a:rPr sz="1125" b="1">
                <a:solidFill>
                  <a:srgbClr val="2F6FE4"/>
                </a:solidFill>
              </a:rPr>
              <a:t>迁移路径</a:t>
            </a:r>
          </a:p>
        </p:txBody>
      </p:sp>
      <p:sp>
        <p:nvSpPr>
          <p:cNvPr id="18" name="MAPPING">
            <a:extLst xmlns:a="http://schemas.openxmlformats.org/drawingml/2006/main">
              <a:ext uri="{FF2B5EF4-FFF2-40B4-BE49-F238E27FC236}">
                <a16:creationId xmlns:a16="http://schemas.microsoft.com/office/drawing/2014/main" id="{04F1ED94-6FE3-4717-8CE8-CC314B826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952750"/>
            <a:ext cx="4857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65D"/>
                </a:solidFill>
              </a:defRPr>
            </a:pPr>
            <a:r>
              <a:rPr sz="1725" b="1">
                <a:solidFill>
                  <a:srgbClr val="17365D"/>
                </a:solidFill>
              </a:rPr>
              <a:t>1. 找到对应概念</a:t>
            </a:r>
          </a:p>
          <a:p xmlns:a="http://schemas.openxmlformats.org/drawingml/2006/main">
            <a:pPr algn="l">
              <a:defRPr sz="1725" b="1">
                <a:solidFill>
                  <a:srgbClr val="17365D"/>
                </a:solidFill>
              </a:defRPr>
            </a:pPr>
            <a:r>
              <a:rPr sz="1725" b="1">
                <a:solidFill>
                  <a:srgbClr val="17365D"/>
                </a:solidFill>
              </a:rPr>
              <a:t>2. 检查必要条件</a:t>
            </a:r>
          </a:p>
          <a:p xmlns:a="http://schemas.openxmlformats.org/drawingml/2006/main">
            <a:pPr algn="l">
              <a:defRPr sz="1725" b="1">
                <a:solidFill>
                  <a:srgbClr val="17365D"/>
                </a:solidFill>
              </a:defRPr>
            </a:pPr>
            <a:r>
              <a:rPr sz="1725" b="1">
                <a:solidFill>
                  <a:srgbClr val="17365D"/>
                </a:solidFill>
              </a:rPr>
              <a:t>3. 选择判断方法</a:t>
            </a:r>
          </a:p>
          <a:p xmlns:a="http://schemas.openxmlformats.org/drawingml/2006/main">
            <a:pPr algn="l">
              <a:defRPr sz="1725" b="1">
                <a:solidFill>
                  <a:srgbClr val="17365D"/>
                </a:solidFill>
              </a:defRPr>
            </a:pPr>
            <a:r>
              <a:rPr sz="1725" b="1">
                <a:solidFill>
                  <a:srgbClr val="17365D"/>
                </a:solidFill>
              </a:rPr>
              <a:t>4. 用证据说明结论</a:t>
            </a:r>
          </a:p>
        </p:txBody>
      </p:sp>
      <p:sp>
        <p:nvSpPr>
          <p:cNvPr id="19" name="FOOTER_LABEL">
            <a:extLst xmlns:a="http://schemas.openxmlformats.org/drawingml/2006/main">
              <a:ext uri="{FF2B5EF4-FFF2-40B4-BE49-F238E27FC236}">
                <a16:creationId xmlns:a16="http://schemas.microsoft.com/office/drawing/2014/main" id="{A3FF6A3F-0CF9-4164-858D-C56178324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D7D91"/>
                </a:solidFill>
              </a:defRPr>
            </a:pPr>
            <a:r>
              <a:rPr sz="825" b="0">
                <a:solidFill>
                  <a:srgbClr val="6D7D91"/>
                </a:solidFill>
              </a:rPr>
              <a:t>启智课堂 · 同源课程课件</a:t>
            </a:r>
          </a:p>
        </p:txBody>
      </p:sp>
      <p:sp>
        <p:nvSpPr>
          <p:cNvPr id="20" name="FOOTER_PAGE_PLATE">
            <a:extLst xmlns:a="http://schemas.openxmlformats.org/drawingml/2006/main">
              <a:ext uri="{FF2B5EF4-FFF2-40B4-BE49-F238E27FC236}">
                <a16:creationId xmlns:a16="http://schemas.microsoft.com/office/drawing/2014/main" id="{08F32979-5B84-4C01-A260-F052F89F5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343650"/>
            <a:ext cx="22669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DE5EE"/>
            </a:solidFill>
            <a:prstDash val="solid"/>
          </a:ln>
        </p:spPr>
      </p:sp>
      <p:sp>
        <p:nvSpPr>
          <p:cNvPr id="21" name="FOOTER_PAGE">
            <a:extLst xmlns:a="http://schemas.openxmlformats.org/drawingml/2006/main">
              <a:ext uri="{FF2B5EF4-FFF2-40B4-BE49-F238E27FC236}">
                <a16:creationId xmlns:a16="http://schemas.microsoft.com/office/drawing/2014/main" id="{61534CED-6C41-44EB-8028-2A8098498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198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D7D91"/>
                </a:solidFill>
              </a:defRPr>
            </a:pPr>
            <a:r>
              <a:rPr sz="750" b="0">
                <a:solidFill>
                  <a:srgbClr val="6D7D91"/>
                </a:solidFill>
              </a:rPr>
              <a:t>15 / 18</a:t>
            </a:r>
          </a:p>
        </p:txBody>
      </p:sp>
    </p:spTree>
    <p:extLst>
      <p:ext uri="{BB962C8B-B14F-4D97-AF65-F5344CB8AC3E}">
        <p14:creationId xmlns:p14="http://schemas.microsoft.com/office/powerpoint/2010/main" val="167729929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4e388be41546a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ECTION_LABEL">
            <a:extLst xmlns:a="http://schemas.openxmlformats.org/drawingml/2006/main">
              <a:ext uri="{FF2B5EF4-FFF2-40B4-BE49-F238E27FC236}">
                <a16:creationId xmlns:a16="http://schemas.microsoft.com/office/drawing/2014/main" id="{F80800B9-DC9C-43C0-B7A6-0E4E1E6E9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FE4"/>
                </a:solidFill>
              </a:defRPr>
            </a:pPr>
            <a:r>
              <a:rPr sz="1050" b="1">
                <a:solidFill>
                  <a:srgbClr val="2F6FE4"/>
                </a:solidFill>
              </a:rPr>
              <a:t>来源与附录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4555D9B-B10D-47CB-8840-3E25BDDC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4850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65D"/>
                </a:solidFill>
              </a:defRPr>
            </a:pPr>
            <a:r>
              <a:rPr sz="2850" b="1">
                <a:solidFill>
                  <a:srgbClr val="17365D"/>
                </a:solidFill>
              </a:rPr>
              <a:t>把可追溯来源留在课件中，正文只呈现学习所需的信息</a:t>
            </a:r>
          </a:p>
        </p:txBody>
      </p:sp>
      <p:sp>
        <p:nvSpPr>
          <p:cNvPr id="4" name="TITLE_RULE">
            <a:extLst xmlns:a="http://schemas.openxmlformats.org/drawingml/2006/main">
              <a:ext uri="{FF2B5EF4-FFF2-40B4-BE49-F238E27FC236}">
                <a16:creationId xmlns:a16="http://schemas.microsoft.com/office/drawing/2014/main" id="{48A9FE29-CBDF-4A37-ABE2-18FF828A8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76375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_RULE_ACCENT">
            <a:extLst xmlns:a="http://schemas.openxmlformats.org/drawingml/2006/main">
              <a:ext uri="{FF2B5EF4-FFF2-40B4-BE49-F238E27FC236}">
                <a16:creationId xmlns:a16="http://schemas.microsoft.com/office/drawing/2014/main" id="{99409F71-4839-4FF1-8C1D-13252E40F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476375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_NUMBER">
            <a:extLst xmlns:a="http://schemas.openxmlformats.org/drawingml/2006/main">
              <a:ext uri="{FF2B5EF4-FFF2-40B4-BE49-F238E27FC236}">
                <a16:creationId xmlns:a16="http://schemas.microsoft.com/office/drawing/2014/main" id="{6FA3D15C-DDE4-4216-A1A7-227C96B2B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572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D7D91"/>
                </a:solidFill>
              </a:defRPr>
            </a:pPr>
            <a:r>
              <a:rPr sz="1050" b="1">
                <a:solidFill>
                  <a:srgbClr val="6D7D91"/>
                </a:solidFill>
              </a:rPr>
              <a:t>16</a:t>
            </a:r>
          </a:p>
        </p:txBody>
      </p:sp>
      <p:sp>
        <p:nvSpPr>
          <p:cNvPr id="7" name="SOURCE_LIST_PANEL_DEPTH">
            <a:extLst xmlns:a="http://schemas.openxmlformats.org/drawingml/2006/main">
              <a:ext uri="{FF2B5EF4-FFF2-40B4-BE49-F238E27FC236}">
                <a16:creationId xmlns:a16="http://schemas.microsoft.com/office/drawing/2014/main" id="{F7328F64-91D8-412B-A221-76965E138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095500"/>
            <a:ext cx="67056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D4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OURCE_LIST_PANEL">
            <a:extLst xmlns:a="http://schemas.openxmlformats.org/drawingml/2006/main">
              <a:ext uri="{FF2B5EF4-FFF2-40B4-BE49-F238E27FC236}">
                <a16:creationId xmlns:a16="http://schemas.microsoft.com/office/drawing/2014/main" id="{A6A7B915-88E8-4828-9120-3E19EF317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67056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SOURCE_LIST_PANEL_HIGHLIGHT">
            <a:extLst xmlns:a="http://schemas.openxmlformats.org/drawingml/2006/main">
              <a:ext uri="{FF2B5EF4-FFF2-40B4-BE49-F238E27FC236}">
                <a16:creationId xmlns:a16="http://schemas.microsoft.com/office/drawing/2014/main" id="{EA9079E6-8553-49F0-9864-4C5F8DE8D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66925"/>
            <a:ext cx="65151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OURCE_LIST_PANEL_RAIL">
            <a:extLst xmlns:a="http://schemas.openxmlformats.org/drawingml/2006/main">
              <a:ext uri="{FF2B5EF4-FFF2-40B4-BE49-F238E27FC236}">
                <a16:creationId xmlns:a16="http://schemas.microsoft.com/office/drawing/2014/main" id="{4E1C120D-3F92-4791-BFF4-B92649C21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6667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OURCE_LIST_LABEL">
            <a:extLst xmlns:a="http://schemas.openxmlformats.org/drawingml/2006/main">
              <a:ext uri="{FF2B5EF4-FFF2-40B4-BE49-F238E27FC236}">
                <a16:creationId xmlns:a16="http://schemas.microsoft.com/office/drawing/2014/main" id="{77D27CFF-68C7-45B7-BEDC-494F332B8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62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6FE4"/>
                </a:solidFill>
              </a:defRPr>
            </a:pPr>
            <a:r>
              <a:rPr sz="1125" b="1">
                <a:solidFill>
                  <a:srgbClr val="2F6FE4"/>
                </a:solidFill>
              </a:rPr>
              <a:t>建议记录</a:t>
            </a:r>
          </a:p>
        </p:txBody>
      </p:sp>
      <p:sp>
        <p:nvSpPr>
          <p:cNvPr id="12" name="SOURCE_LIST">
            <a:extLst xmlns:a="http://schemas.openxmlformats.org/drawingml/2006/main">
              <a:ext uri="{FF2B5EF4-FFF2-40B4-BE49-F238E27FC236}">
                <a16:creationId xmlns:a16="http://schemas.microsoft.com/office/drawing/2014/main" id="{2AB8C69E-4306-4421-8A2A-0AAEE3D8F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52750"/>
            <a:ext cx="5619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4465C"/>
                </a:solidFill>
              </a:defRPr>
            </a:pPr>
            <a:r>
              <a:rPr sz="1650" b="0">
                <a:solidFill>
                  <a:srgbClr val="34465C"/>
                </a:solidFill>
              </a:rPr>
              <a:t>• 教材或课程文档名称</a:t>
            </a:r>
          </a:p>
          <a:p xmlns:a="http://schemas.openxmlformats.org/drawingml/2006/main">
            <a:pPr algn="l">
              <a:defRPr sz="1650" b="0">
                <a:solidFill>
                  <a:srgbClr val="34465C"/>
                </a:solidFill>
              </a:defRPr>
            </a:pPr>
            <a:r>
              <a:rPr sz="1650" b="0">
                <a:solidFill>
                  <a:srgbClr val="34465C"/>
                </a:solidFill>
              </a:rPr>
              <a:t>• 章节、页码或段落位置</a:t>
            </a:r>
          </a:p>
          <a:p xmlns:a="http://schemas.openxmlformats.org/drawingml/2006/main">
            <a:pPr algn="l">
              <a:defRPr sz="1650" b="0">
                <a:solidFill>
                  <a:srgbClr val="34465C"/>
                </a:solidFill>
              </a:defRPr>
            </a:pPr>
            <a:r>
              <a:rPr sz="1650" b="0">
                <a:solidFill>
                  <a:srgbClr val="34465C"/>
                </a:solidFill>
              </a:rPr>
              <a:t>• 数据集、论文或网页链接</a:t>
            </a:r>
          </a:p>
          <a:p xmlns:a="http://schemas.openxmlformats.org/drawingml/2006/main">
            <a:pPr algn="l">
              <a:defRPr sz="1650" b="0">
                <a:solidFill>
                  <a:srgbClr val="34465C"/>
                </a:solidFill>
              </a:defRPr>
            </a:pPr>
            <a:r>
              <a:rPr sz="1650" b="0">
                <a:solidFill>
                  <a:srgbClr val="34465C"/>
                </a:solidFill>
              </a:rPr>
              <a:t>• 图片版权与授权信息</a:t>
            </a:r>
          </a:p>
        </p:txBody>
      </p:sp>
      <p:sp>
        <p:nvSpPr>
          <p:cNvPr id="13" name="SOURCE_NOTE_PANEL_DEPTH">
            <a:extLst xmlns:a="http://schemas.openxmlformats.org/drawingml/2006/main">
              <a:ext uri="{FF2B5EF4-FFF2-40B4-BE49-F238E27FC236}">
                <a16:creationId xmlns:a16="http://schemas.microsoft.com/office/drawing/2014/main" id="{22A823FD-8965-4115-A107-92A4EFC94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095500"/>
            <a:ext cx="371475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D0DA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OURCE_NOTE_PANEL">
            <a:extLst xmlns:a="http://schemas.openxmlformats.org/drawingml/2006/main">
              <a:ext uri="{FF2B5EF4-FFF2-40B4-BE49-F238E27FC236}">
                <a16:creationId xmlns:a16="http://schemas.microsoft.com/office/drawing/2014/main" id="{8AF9D5F4-8544-4272-80E0-5485C99C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038350"/>
            <a:ext cx="371475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DE5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SOURCE_NOTE_PANEL_HIGHLIGHT">
            <a:extLst xmlns:a="http://schemas.openxmlformats.org/drawingml/2006/main">
              <a:ext uri="{FF2B5EF4-FFF2-40B4-BE49-F238E27FC236}">
                <a16:creationId xmlns:a16="http://schemas.microsoft.com/office/drawing/2014/main" id="{532FFAE3-29A2-40B5-B8CD-6EA66CC8F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66925"/>
            <a:ext cx="35242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OURCE_NOTE_PANEL_RAIL">
            <a:extLst xmlns:a="http://schemas.openxmlformats.org/drawingml/2006/main">
              <a:ext uri="{FF2B5EF4-FFF2-40B4-BE49-F238E27FC236}">
                <a16:creationId xmlns:a16="http://schemas.microsoft.com/office/drawing/2014/main" id="{F4DB1688-DA94-4957-9230-B43F20829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038350"/>
            <a:ext cx="6667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7D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OURCE_NOTE_LABEL">
            <a:extLst xmlns:a="http://schemas.openxmlformats.org/drawingml/2006/main">
              <a:ext uri="{FF2B5EF4-FFF2-40B4-BE49-F238E27FC236}">
                <a16:creationId xmlns:a16="http://schemas.microsoft.com/office/drawing/2014/main" id="{54C86906-6909-4185-8C67-CC078BED1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622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7D91"/>
                </a:solidFill>
              </a:defRPr>
            </a:pPr>
            <a:r>
              <a:rPr sz="1125" b="1">
                <a:solidFill>
                  <a:srgbClr val="6D7D91"/>
                </a:solidFill>
              </a:rPr>
              <a:t>展示原则</a:t>
            </a:r>
          </a:p>
        </p:txBody>
      </p:sp>
      <p:sp>
        <p:nvSpPr>
          <p:cNvPr id="18" name="SOURCE_NOTE">
            <a:extLst xmlns:a="http://schemas.openxmlformats.org/drawingml/2006/main">
              <a:ext uri="{FF2B5EF4-FFF2-40B4-BE49-F238E27FC236}">
                <a16:creationId xmlns:a16="http://schemas.microsoft.com/office/drawing/2014/main" id="{DF6D5D12-9FE7-4EAE-A487-14EDFD588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4800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65D"/>
                </a:solidFill>
              </a:defRPr>
            </a:pPr>
            <a:r>
              <a:rPr sz="1725" b="1">
                <a:solidFill>
                  <a:srgbClr val="17365D"/>
                </a:solidFill>
              </a:rPr>
              <a:t>正文使用短来源标记；完整引用、补充解释和讲稿放入备注或附录。</a:t>
            </a:r>
          </a:p>
        </p:txBody>
      </p:sp>
      <p:sp>
        <p:nvSpPr>
          <p:cNvPr id="19" name="FOOTER_LABEL">
            <a:extLst xmlns:a="http://schemas.openxmlformats.org/drawingml/2006/main">
              <a:ext uri="{FF2B5EF4-FFF2-40B4-BE49-F238E27FC236}">
                <a16:creationId xmlns:a16="http://schemas.microsoft.com/office/drawing/2014/main" id="{891C34CB-1220-4A98-AB58-7C3E33002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D7D91"/>
                </a:solidFill>
              </a:defRPr>
            </a:pPr>
            <a:r>
              <a:rPr sz="825" b="0">
                <a:solidFill>
                  <a:srgbClr val="6D7D91"/>
                </a:solidFill>
              </a:rPr>
              <a:t>启智课堂 · 同源课程课件</a:t>
            </a:r>
          </a:p>
        </p:txBody>
      </p:sp>
      <p:sp>
        <p:nvSpPr>
          <p:cNvPr id="20" name="FOOTER_PAGE_PLATE">
            <a:extLst xmlns:a="http://schemas.openxmlformats.org/drawingml/2006/main">
              <a:ext uri="{FF2B5EF4-FFF2-40B4-BE49-F238E27FC236}">
                <a16:creationId xmlns:a16="http://schemas.microsoft.com/office/drawing/2014/main" id="{F2D6E6E1-6A47-41A9-A549-655C7CA93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343650"/>
            <a:ext cx="22669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DE5EE"/>
            </a:solidFill>
            <a:prstDash val="solid"/>
          </a:ln>
        </p:spPr>
      </p:sp>
      <p:sp>
        <p:nvSpPr>
          <p:cNvPr id="21" name="FOOTER_PAGE">
            <a:extLst xmlns:a="http://schemas.openxmlformats.org/drawingml/2006/main">
              <a:ext uri="{FF2B5EF4-FFF2-40B4-BE49-F238E27FC236}">
                <a16:creationId xmlns:a16="http://schemas.microsoft.com/office/drawing/2014/main" id="{B6CAB4E4-F24B-4ED3-AD84-B1324E14A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198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D7D91"/>
                </a:solidFill>
              </a:defRPr>
            </a:pPr>
            <a:r>
              <a:rPr sz="750" b="0">
                <a:solidFill>
                  <a:srgbClr val="6D7D91"/>
                </a:solidFill>
              </a:rPr>
              <a:t>16 / 18</a:t>
            </a:r>
          </a:p>
        </p:txBody>
      </p:sp>
    </p:spTree>
    <p:extLst>
      <p:ext uri="{BB962C8B-B14F-4D97-AF65-F5344CB8AC3E}">
        <p14:creationId xmlns:p14="http://schemas.microsoft.com/office/powerpoint/2010/main" val="29160336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ee17293a32457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ECTION_LABEL">
            <a:extLst xmlns:a="http://schemas.openxmlformats.org/drawingml/2006/main">
              <a:ext uri="{FF2B5EF4-FFF2-40B4-BE49-F238E27FC236}">
                <a16:creationId xmlns:a16="http://schemas.microsoft.com/office/drawing/2014/main" id="{97CE024F-B943-4585-AC04-581B312F0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FE4"/>
                </a:solidFill>
              </a:defRPr>
            </a:pPr>
            <a:r>
              <a:rPr sz="1050" b="1">
                <a:solidFill>
                  <a:srgbClr val="2F6FE4"/>
                </a:solidFill>
              </a:rPr>
              <a:t>章节回顾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BC35C35-6546-4411-91A9-9586C5919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4850"/>
            <a:ext cx="9858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65D"/>
                </a:solidFill>
              </a:defRPr>
            </a:pPr>
            <a:r>
              <a:rPr sz="2850" b="1">
                <a:solidFill>
                  <a:srgbClr val="17365D"/>
                </a:solidFill>
              </a:rPr>
              <a:t>用四个提取问题重新走一遍理解路径</a:t>
            </a:r>
          </a:p>
        </p:txBody>
      </p:sp>
      <p:sp>
        <p:nvSpPr>
          <p:cNvPr id="4" name="TITLE_RULE">
            <a:extLst xmlns:a="http://schemas.openxmlformats.org/drawingml/2006/main">
              <a:ext uri="{FF2B5EF4-FFF2-40B4-BE49-F238E27FC236}">
                <a16:creationId xmlns:a16="http://schemas.microsoft.com/office/drawing/2014/main" id="{BEF2CBF2-5551-4E0E-8F27-5DBA6C9E0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76375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_RULE_ACCENT">
            <a:extLst xmlns:a="http://schemas.openxmlformats.org/drawingml/2006/main">
              <a:ext uri="{FF2B5EF4-FFF2-40B4-BE49-F238E27FC236}">
                <a16:creationId xmlns:a16="http://schemas.microsoft.com/office/drawing/2014/main" id="{2682D96E-B1D6-4B83-8D7A-2215174C7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476375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_NUMBER">
            <a:extLst xmlns:a="http://schemas.openxmlformats.org/drawingml/2006/main">
              <a:ext uri="{FF2B5EF4-FFF2-40B4-BE49-F238E27FC236}">
                <a16:creationId xmlns:a16="http://schemas.microsoft.com/office/drawing/2014/main" id="{E30831EE-C6FA-4A88-818F-DE11DBB2E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572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D7D91"/>
                </a:solidFill>
              </a:defRPr>
            </a:pPr>
            <a:r>
              <a:rPr sz="1050" b="1">
                <a:solidFill>
                  <a:srgbClr val="6D7D91"/>
                </a:solidFill>
              </a:rPr>
              <a:t>17</a:t>
            </a:r>
          </a:p>
        </p:txBody>
      </p:sp>
      <p:sp>
        <p:nvSpPr>
          <p:cNvPr id="7" name="RECAP_DOT_1">
            <a:extLst xmlns:a="http://schemas.openxmlformats.org/drawingml/2006/main">
              <a:ext uri="{FF2B5EF4-FFF2-40B4-BE49-F238E27FC236}">
                <a16:creationId xmlns:a16="http://schemas.microsoft.com/office/drawing/2014/main" id="{98CFB64F-F3AA-4848-8AAE-2F2A66D1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CAP_NUMBER_1">
            <a:extLst xmlns:a="http://schemas.openxmlformats.org/drawingml/2006/main">
              <a:ext uri="{FF2B5EF4-FFF2-40B4-BE49-F238E27FC236}">
                <a16:creationId xmlns:a16="http://schemas.microsoft.com/office/drawing/2014/main" id="{CACFC4DE-61D7-41DC-B1EA-16B2884C8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3050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RECAP_TEXT_1">
            <a:extLst xmlns:a="http://schemas.openxmlformats.org/drawingml/2006/main">
              <a:ext uri="{FF2B5EF4-FFF2-40B4-BE49-F238E27FC236}">
                <a16:creationId xmlns:a16="http://schemas.microsoft.com/office/drawing/2014/main" id="{A929588C-5094-4D28-8C10-FCBE4D6AD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15265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65D"/>
                </a:solidFill>
              </a:defRPr>
            </a:pPr>
            <a:r>
              <a:rPr sz="1800" b="1">
                <a:solidFill>
                  <a:srgbClr val="17365D"/>
                </a:solidFill>
              </a:rPr>
              <a:t>我能否说出核心定义？</a:t>
            </a:r>
          </a:p>
        </p:txBody>
      </p:sp>
      <p:sp>
        <p:nvSpPr>
          <p:cNvPr id="10" name="RECAP_DOT_2">
            <a:extLst xmlns:a="http://schemas.openxmlformats.org/drawingml/2006/main">
              <a:ext uri="{FF2B5EF4-FFF2-40B4-BE49-F238E27FC236}">
                <a16:creationId xmlns:a16="http://schemas.microsoft.com/office/drawing/2014/main" id="{812F3C14-EAA2-40BA-9264-065E65F12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717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5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ECAP_NUMBER_2">
            <a:extLst xmlns:a="http://schemas.openxmlformats.org/drawingml/2006/main">
              <a:ext uri="{FF2B5EF4-FFF2-40B4-BE49-F238E27FC236}">
                <a16:creationId xmlns:a16="http://schemas.microsoft.com/office/drawing/2014/main" id="{FC1CC83F-6276-4C51-ABD6-6074A50D3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3050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RECAP_TEXT_2">
            <a:extLst xmlns:a="http://schemas.openxmlformats.org/drawingml/2006/main">
              <a:ext uri="{FF2B5EF4-FFF2-40B4-BE49-F238E27FC236}">
                <a16:creationId xmlns:a16="http://schemas.microsoft.com/office/drawing/2014/main" id="{0E39FB33-25ED-449C-B540-8DA7F67A7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15265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65D"/>
                </a:solidFill>
              </a:defRPr>
            </a:pPr>
            <a:r>
              <a:rPr sz="1800" b="1">
                <a:solidFill>
                  <a:srgbClr val="17365D"/>
                </a:solidFill>
              </a:rPr>
              <a:t>我能否解释必要条件？</a:t>
            </a:r>
          </a:p>
        </p:txBody>
      </p:sp>
      <p:sp>
        <p:nvSpPr>
          <p:cNvPr id="13" name="RECAP_DOT_3">
            <a:extLst xmlns:a="http://schemas.openxmlformats.org/drawingml/2006/main">
              <a:ext uri="{FF2B5EF4-FFF2-40B4-BE49-F238E27FC236}">
                <a16:creationId xmlns:a16="http://schemas.microsoft.com/office/drawing/2014/main" id="{EBD0F5BB-E080-464B-9746-9F72E9D73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04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9D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ECAP_NUMBER_3">
            <a:extLst xmlns:a="http://schemas.openxmlformats.org/drawingml/2006/main">
              <a:ext uri="{FF2B5EF4-FFF2-40B4-BE49-F238E27FC236}">
                <a16:creationId xmlns:a16="http://schemas.microsoft.com/office/drawing/2014/main" id="{1A7563DA-9F59-484D-B8AC-0DE003128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7338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RECAP_TEXT_3">
            <a:extLst xmlns:a="http://schemas.openxmlformats.org/drawingml/2006/main">
              <a:ext uri="{FF2B5EF4-FFF2-40B4-BE49-F238E27FC236}">
                <a16:creationId xmlns:a16="http://schemas.microsoft.com/office/drawing/2014/main" id="{3F4A6911-A9FE-4297-ADA8-2C4DAFB3E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58140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65D"/>
                </a:solidFill>
              </a:defRPr>
            </a:pPr>
            <a:r>
              <a:rPr sz="1800" b="1">
                <a:solidFill>
                  <a:srgbClr val="17365D"/>
                </a:solidFill>
              </a:rPr>
              <a:t>我能否识别一个反例？</a:t>
            </a:r>
          </a:p>
        </p:txBody>
      </p:sp>
      <p:sp>
        <p:nvSpPr>
          <p:cNvPr id="16" name="RECAP_DOT_4">
            <a:extLst xmlns:a="http://schemas.openxmlformats.org/drawingml/2006/main">
              <a:ext uri="{FF2B5EF4-FFF2-40B4-BE49-F238E27FC236}">
                <a16:creationId xmlns:a16="http://schemas.microsoft.com/office/drawing/2014/main" id="{BB286014-DCEE-4843-8D65-4206E12DF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004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ECAP_NUMBER_4">
            <a:extLst xmlns:a="http://schemas.openxmlformats.org/drawingml/2006/main">
              <a:ext uri="{FF2B5EF4-FFF2-40B4-BE49-F238E27FC236}">
                <a16:creationId xmlns:a16="http://schemas.microsoft.com/office/drawing/2014/main" id="{0A751B6D-FE2C-4A91-BA55-7990F9A65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7338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RECAP_TEXT_4">
            <a:extLst xmlns:a="http://schemas.openxmlformats.org/drawingml/2006/main">
              <a:ext uri="{FF2B5EF4-FFF2-40B4-BE49-F238E27FC236}">
                <a16:creationId xmlns:a16="http://schemas.microsoft.com/office/drawing/2014/main" id="{BAD639E2-1006-457A-8762-90240F84B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58140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65D"/>
                </a:solidFill>
              </a:defRPr>
            </a:pPr>
            <a:r>
              <a:rPr sz="1800" b="1">
                <a:solidFill>
                  <a:srgbClr val="17365D"/>
                </a:solidFill>
              </a:rPr>
              <a:t>我能否迁移到新情境？</a:t>
            </a:r>
          </a:p>
        </p:txBody>
      </p:sp>
      <p:sp>
        <p:nvSpPr>
          <p:cNvPr id="19" name="FOOTER_LABEL">
            <a:extLst xmlns:a="http://schemas.openxmlformats.org/drawingml/2006/main">
              <a:ext uri="{FF2B5EF4-FFF2-40B4-BE49-F238E27FC236}">
                <a16:creationId xmlns:a16="http://schemas.microsoft.com/office/drawing/2014/main" id="{E8219E0A-B6FD-4EC4-8BE5-7C1B67801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D7D91"/>
                </a:solidFill>
              </a:defRPr>
            </a:pPr>
            <a:r>
              <a:rPr sz="825" b="0">
                <a:solidFill>
                  <a:srgbClr val="6D7D91"/>
                </a:solidFill>
              </a:rPr>
              <a:t>启智课堂 · 同源课程课件</a:t>
            </a:r>
          </a:p>
        </p:txBody>
      </p:sp>
      <p:sp>
        <p:nvSpPr>
          <p:cNvPr id="20" name="FOOTER_PAGE_PLATE">
            <a:extLst xmlns:a="http://schemas.openxmlformats.org/drawingml/2006/main">
              <a:ext uri="{FF2B5EF4-FFF2-40B4-BE49-F238E27FC236}">
                <a16:creationId xmlns:a16="http://schemas.microsoft.com/office/drawing/2014/main" id="{21C96A09-33DC-4D40-A8D9-6408E728D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343650"/>
            <a:ext cx="22669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DE5EE"/>
            </a:solidFill>
            <a:prstDash val="solid"/>
          </a:ln>
        </p:spPr>
      </p:sp>
      <p:sp>
        <p:nvSpPr>
          <p:cNvPr id="21" name="FOOTER_PAGE">
            <a:extLst xmlns:a="http://schemas.openxmlformats.org/drawingml/2006/main">
              <a:ext uri="{FF2B5EF4-FFF2-40B4-BE49-F238E27FC236}">
                <a16:creationId xmlns:a16="http://schemas.microsoft.com/office/drawing/2014/main" id="{20C02A4B-8F6C-412E-AC46-4E1D08EAF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198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D7D91"/>
                </a:solidFill>
              </a:defRPr>
            </a:pPr>
            <a:r>
              <a:rPr sz="750" b="0">
                <a:solidFill>
                  <a:srgbClr val="6D7D91"/>
                </a:solidFill>
              </a:rPr>
              <a:t>17 / 18</a:t>
            </a:r>
          </a:p>
        </p:txBody>
      </p:sp>
    </p:spTree>
    <p:extLst>
      <p:ext uri="{BB962C8B-B14F-4D97-AF65-F5344CB8AC3E}">
        <p14:creationId xmlns:p14="http://schemas.microsoft.com/office/powerpoint/2010/main" val="207947772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00b295ea714f8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8CB7D3B6-1B86-4E0E-9A2B-9C1C00404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239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6FE4"/>
                </a:solidFill>
              </a:defRPr>
            </a:pPr>
            <a:r>
              <a:rPr sz="1200" b="1">
                <a:solidFill>
                  <a:srgbClr val="2F6FE4"/>
                </a:solidFill>
              </a:rPr>
              <a:t>课程收束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594FF51-4B76-4F76-B076-7D9E9C77A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0"/>
            <a:ext cx="7239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65D"/>
                </a:solidFill>
              </a:defRPr>
            </a:pPr>
            <a:r>
              <a:rPr sz="3300" b="1">
                <a:solidFill>
                  <a:srgbClr val="17365D"/>
                </a:solidFill>
              </a:rPr>
              <a:t>视觉不是装饰，而是帮助学生组织理解</a:t>
            </a:r>
          </a:p>
        </p:txBody>
      </p:sp>
      <p:sp>
        <p:nvSpPr>
          <p:cNvPr id="4" name="SYNTHESIS_RULE">
            <a:extLst xmlns:a="http://schemas.openxmlformats.org/drawingml/2006/main">
              <a:ext uri="{FF2B5EF4-FFF2-40B4-BE49-F238E27FC236}">
                <a16:creationId xmlns:a16="http://schemas.microsoft.com/office/drawing/2014/main" id="{4A7CBA63-C304-4A3D-B3E8-74D19C7B2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9560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YNTHESIS">
            <a:extLst xmlns:a="http://schemas.openxmlformats.org/drawingml/2006/main">
              <a:ext uri="{FF2B5EF4-FFF2-40B4-BE49-F238E27FC236}">
                <a16:creationId xmlns:a16="http://schemas.microsoft.com/office/drawing/2014/main" id="{7EBF488C-A685-499A-A16B-FC70062AE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00350"/>
            <a:ext cx="4572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65D"/>
                </a:solidFill>
              </a:defRPr>
            </a:pPr>
            <a:r>
              <a:rPr sz="2100" b="1">
                <a:solidFill>
                  <a:srgbClr val="17365D"/>
                </a:solidFill>
              </a:rPr>
              <a:t>问题引导方向</a:t>
            </a:r>
          </a:p>
          <a:p xmlns:a="http://schemas.openxmlformats.org/drawingml/2006/main">
            <a:pPr algn="l">
              <a:defRPr sz="2100" b="1">
                <a:solidFill>
                  <a:srgbClr val="17365D"/>
                </a:solidFill>
              </a:defRPr>
            </a:pPr>
            <a:r>
              <a:rPr sz="2100" b="1">
                <a:solidFill>
                  <a:srgbClr val="17365D"/>
                </a:solidFill>
              </a:rPr>
              <a:t>结构降低负担</a:t>
            </a:r>
          </a:p>
          <a:p xmlns:a="http://schemas.openxmlformats.org/drawingml/2006/main">
            <a:pPr algn="l">
              <a:defRPr sz="2100" b="1">
                <a:solidFill>
                  <a:srgbClr val="17365D"/>
                </a:solidFill>
              </a:defRPr>
            </a:pPr>
            <a:r>
              <a:rPr sz="2100" b="1">
                <a:solidFill>
                  <a:srgbClr val="17365D"/>
                </a:solidFill>
              </a:rPr>
              <a:t>练习完成迁移</a:t>
            </a:r>
          </a:p>
          <a:p xmlns:a="http://schemas.openxmlformats.org/drawingml/2006/main">
            <a:pPr algn="l">
              <a:defRPr sz="2100" b="1">
                <a:solidFill>
                  <a:srgbClr val="17365D"/>
                </a:solidFill>
              </a:defRPr>
            </a:pPr>
            <a:r>
              <a:rPr sz="2100" b="1">
                <a:solidFill>
                  <a:srgbClr val="17365D"/>
                </a:solidFill>
              </a:rPr>
              <a:t>回顾强化提取</a:t>
            </a:r>
          </a:p>
        </p:txBody>
      </p:sp>
      <p:sp>
        <p:nvSpPr>
          <p:cNvPr id="6" name="CLOSING">
            <a:extLst xmlns:a="http://schemas.openxmlformats.org/drawingml/2006/main">
              <a:ext uri="{FF2B5EF4-FFF2-40B4-BE49-F238E27FC236}">
                <a16:creationId xmlns:a16="http://schemas.microsoft.com/office/drawing/2014/main" id="{5944A5AC-F2ED-403B-B21D-58BCF3EF0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626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7D91"/>
                </a:solidFill>
              </a:defRPr>
            </a:pPr>
            <a:r>
              <a:rPr sz="1125" b="1">
                <a:solidFill>
                  <a:srgbClr val="6D7D91"/>
                </a:solidFill>
              </a:rPr>
              <a:t>启智课堂 V2</a:t>
            </a:r>
          </a:p>
        </p:txBody>
      </p:sp>
    </p:spTree>
    <p:extLst>
      <p:ext uri="{BB962C8B-B14F-4D97-AF65-F5344CB8AC3E}">
        <p14:creationId xmlns:p14="http://schemas.microsoft.com/office/powerpoint/2010/main" val="11901817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2026-08-10T04:21:55.7770000Z</dcterms:created>
  <dcterms:modified xsi:type="dcterms:W3CDTF">2026-08-10T04:21:55.7770000Z</dcterms:modified>
</coreProperties>
</file>