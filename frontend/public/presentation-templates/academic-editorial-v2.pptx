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0cb095bb1b4107" /><Relationship Type="http://schemas.openxmlformats.org/officeDocument/2006/relationships/extended-properties" Target="/docProps/app.xml" Id="Rec666f9b62114c2a" /><Relationship Type="http://schemas.openxmlformats.org/officeDocument/2006/relationships/officeDocument" Target="/ppt/presentation.xml" Id="Re786b0f65e834d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41e52b25e44117"/>
  </p:sldMasterIdLst>
  <p:notesMasterIdLst>
    <p:notesMasterId xmlns:r="http://schemas.openxmlformats.org/officeDocument/2006/relationships" r:id="R04f78a5a14844c3a"/>
  </p:notesMasterIdLst>
  <p:sldIdLst>
    <p:sldId xmlns:r="http://schemas.openxmlformats.org/officeDocument/2006/relationships" id="256" r:id="R3e9fe69af0a64ba2"/>
    <p:sldId xmlns:r="http://schemas.openxmlformats.org/officeDocument/2006/relationships" id="257" r:id="R1cb80e54966e45d7"/>
    <p:sldId xmlns:r="http://schemas.openxmlformats.org/officeDocument/2006/relationships" id="258" r:id="Ra2a3c892b8b94228"/>
    <p:sldId xmlns:r="http://schemas.openxmlformats.org/officeDocument/2006/relationships" id="259" r:id="Rad3353433cef4e51"/>
    <p:sldId xmlns:r="http://schemas.openxmlformats.org/officeDocument/2006/relationships" id="260" r:id="R874c43749bf34eff"/>
    <p:sldId xmlns:r="http://schemas.openxmlformats.org/officeDocument/2006/relationships" id="261" r:id="R505197bc55a74f32"/>
    <p:sldId xmlns:r="http://schemas.openxmlformats.org/officeDocument/2006/relationships" id="262" r:id="R6212ff9bcf75416f"/>
    <p:sldId xmlns:r="http://schemas.openxmlformats.org/officeDocument/2006/relationships" id="263" r:id="R7ad43913d2734db9"/>
    <p:sldId xmlns:r="http://schemas.openxmlformats.org/officeDocument/2006/relationships" id="264" r:id="R1bed12d8e1ac4216"/>
    <p:sldId xmlns:r="http://schemas.openxmlformats.org/officeDocument/2006/relationships" id="265" r:id="R910fbb5220064898"/>
    <p:sldId xmlns:r="http://schemas.openxmlformats.org/officeDocument/2006/relationships" id="266" r:id="R88a052d56a814013"/>
    <p:sldId xmlns:r="http://schemas.openxmlformats.org/officeDocument/2006/relationships" id="267" r:id="R8ec2e701fe544700"/>
    <p:sldId xmlns:r="http://schemas.openxmlformats.org/officeDocument/2006/relationships" id="268" r:id="Rad3eb31ac1954399"/>
    <p:sldId xmlns:r="http://schemas.openxmlformats.org/officeDocument/2006/relationships" id="269" r:id="R2604d77fa8c04ad9"/>
    <p:sldId xmlns:r="http://schemas.openxmlformats.org/officeDocument/2006/relationships" id="270" r:id="R20179e159c14449c"/>
    <p:sldId xmlns:r="http://schemas.openxmlformats.org/officeDocument/2006/relationships" id="271" r:id="R48bc9209c34449ff"/>
    <p:sldId xmlns:r="http://schemas.openxmlformats.org/officeDocument/2006/relationships" id="272" r:id="Rd43da50997d44e0b"/>
    <p:sldId xmlns:r="http://schemas.openxmlformats.org/officeDocument/2006/relationships" id="273" r:id="Ra9f88ec6c79941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833e75048e4046" /><Relationship Type="http://schemas.openxmlformats.org/officeDocument/2006/relationships/slideMaster" Target="/ppt/slideMasters/slideMaster1.xml" Id="R2041e52b25e44117" /><Relationship Type="http://schemas.openxmlformats.org/officeDocument/2006/relationships/notesMaster" Target="/ppt/notesMasters/notesMaster1.xml" Id="R04f78a5a14844c3a" /><Relationship Type="http://schemas.openxmlformats.org/officeDocument/2006/relationships/presProps" Target="/ppt/presProps.xml" Id="R3af2f6907b81415f" /><Relationship Type="http://schemas.openxmlformats.org/officeDocument/2006/relationships/tableStyles" Target="/ppt/tableStyles.xml" Id="R70ff66380f22401c" /><Relationship Type="http://schemas.openxmlformats.org/officeDocument/2006/relationships/slide" Target="/ppt/slides/slide1.xml" Id="R3e9fe69af0a64ba2" /><Relationship Type="http://schemas.openxmlformats.org/officeDocument/2006/relationships/slide" Target="/ppt/slides/slide2.xml" Id="R1cb80e54966e45d7" /><Relationship Type="http://schemas.openxmlformats.org/officeDocument/2006/relationships/slide" Target="/ppt/slides/slide3.xml" Id="Ra2a3c892b8b94228" /><Relationship Type="http://schemas.openxmlformats.org/officeDocument/2006/relationships/slide" Target="/ppt/slides/slide4.xml" Id="Rad3353433cef4e51" /><Relationship Type="http://schemas.openxmlformats.org/officeDocument/2006/relationships/slide" Target="/ppt/slides/slide5.xml" Id="R874c43749bf34eff" /><Relationship Type="http://schemas.openxmlformats.org/officeDocument/2006/relationships/slide" Target="/ppt/slides/slide6.xml" Id="R505197bc55a74f32" /><Relationship Type="http://schemas.openxmlformats.org/officeDocument/2006/relationships/slide" Target="/ppt/slides/slide7.xml" Id="R6212ff9bcf75416f" /><Relationship Type="http://schemas.openxmlformats.org/officeDocument/2006/relationships/slide" Target="/ppt/slides/slide8.xml" Id="R7ad43913d2734db9" /><Relationship Type="http://schemas.openxmlformats.org/officeDocument/2006/relationships/slide" Target="/ppt/slides/slide9.xml" Id="R1bed12d8e1ac4216" /><Relationship Type="http://schemas.openxmlformats.org/officeDocument/2006/relationships/slide" Target="/ppt/slides/slide10.xml" Id="R910fbb5220064898" /><Relationship Type="http://schemas.openxmlformats.org/officeDocument/2006/relationships/slide" Target="/ppt/slides/slide11.xml" Id="R88a052d56a814013" /><Relationship Type="http://schemas.openxmlformats.org/officeDocument/2006/relationships/slide" Target="/ppt/slides/slide12.xml" Id="R8ec2e701fe544700" /><Relationship Type="http://schemas.openxmlformats.org/officeDocument/2006/relationships/slide" Target="/ppt/slides/slide13.xml" Id="Rad3eb31ac1954399" /><Relationship Type="http://schemas.openxmlformats.org/officeDocument/2006/relationships/slide" Target="/ppt/slides/slide14.xml" Id="R2604d77fa8c04ad9" /><Relationship Type="http://schemas.openxmlformats.org/officeDocument/2006/relationships/slide" Target="/ppt/slides/slide15.xml" Id="R20179e159c14449c" /><Relationship Type="http://schemas.openxmlformats.org/officeDocument/2006/relationships/slide" Target="/ppt/slides/slide16.xml" Id="R48bc9209c34449ff" /><Relationship Type="http://schemas.openxmlformats.org/officeDocument/2006/relationships/slide" Target="/ppt/slides/slide17.xml" Id="Rd43da50997d44e0b" /><Relationship Type="http://schemas.openxmlformats.org/officeDocument/2006/relationships/slide" Target="/ppt/slides/slide18.xml" Id="Ra9f88ec6c79941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0800567d3646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7f9388210f448a" /><Relationship Type="http://schemas.openxmlformats.org/officeDocument/2006/relationships/notesMaster" Target="/ppt/notesMasters/notesMaster1.xml" Id="R2dc88955b4584a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70412e844c4d8d" /><Relationship Type="http://schemas.openxmlformats.org/officeDocument/2006/relationships/notesMaster" Target="/ppt/notesMasters/notesMaster1.xml" Id="R281b9ba7693649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6e43df7e06484f" /><Relationship Type="http://schemas.openxmlformats.org/officeDocument/2006/relationships/notesMaster" Target="/ppt/notesMasters/notesMaster1.xml" Id="R6349e5e086e448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fe3eefbd53400a" /><Relationship Type="http://schemas.openxmlformats.org/officeDocument/2006/relationships/notesMaster" Target="/ppt/notesMasters/notesMaster1.xml" Id="R2fd4e558af554d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b718ce07a74aca" /><Relationship Type="http://schemas.openxmlformats.org/officeDocument/2006/relationships/notesMaster" Target="/ppt/notesMasters/notesMaster1.xml" Id="R83efaec724534b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1aebab3c91466f" /><Relationship Type="http://schemas.openxmlformats.org/officeDocument/2006/relationships/notesMaster" Target="/ppt/notesMasters/notesMaster1.xml" Id="R6a20c2c840b845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c61a9180de4138" /><Relationship Type="http://schemas.openxmlformats.org/officeDocument/2006/relationships/notesMaster" Target="/ppt/notesMasters/notesMaster1.xml" Id="R7a1f5c48da2849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a8c6d82fee4444" /><Relationship Type="http://schemas.openxmlformats.org/officeDocument/2006/relationships/notesMaster" Target="/ppt/notesMasters/notesMaster1.xml" Id="R0289130d1c6249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04f0e2b09247ce" /><Relationship Type="http://schemas.openxmlformats.org/officeDocument/2006/relationships/notesMaster" Target="/ppt/notesMasters/notesMaster1.xml" Id="Rd7d6159d0de840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0c0ae9ad794431" /><Relationship Type="http://schemas.openxmlformats.org/officeDocument/2006/relationships/notesMaster" Target="/ppt/notesMasters/notesMaster1.xml" Id="R00f4d3898dab45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fb5b778c124921" /><Relationship Type="http://schemas.openxmlformats.org/officeDocument/2006/relationships/notesMaster" Target="/ppt/notesMasters/notesMaster1.xml" Id="R05bd0b5ac8e74b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822f679b2e46ad" /><Relationship Type="http://schemas.openxmlformats.org/officeDocument/2006/relationships/notesMaster" Target="/ppt/notesMasters/notesMaster1.xml" Id="R968edda7ae1445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16ebf3ef614b7f" /><Relationship Type="http://schemas.openxmlformats.org/officeDocument/2006/relationships/notesMaster" Target="/ppt/notesMasters/notesMaster1.xml" Id="R1e4098df5b124c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6207f4009a49d8" /><Relationship Type="http://schemas.openxmlformats.org/officeDocument/2006/relationships/notesMaster" Target="/ppt/notesMasters/notesMaster1.xml" Id="Rf87beb7e3c5c46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3b2eecb73d4d9e" /><Relationship Type="http://schemas.openxmlformats.org/officeDocument/2006/relationships/notesMaster" Target="/ppt/notesMasters/notesMaster1.xml" Id="R9c646bf5a66442d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9183fb21fa4b8b" /><Relationship Type="http://schemas.openxmlformats.org/officeDocument/2006/relationships/notesMaster" Target="/ppt/notesMasters/notesMaster1.xml" Id="Rc57a2d3082ce48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b7afe595614fda" /><Relationship Type="http://schemas.openxmlformats.org/officeDocument/2006/relationships/notesMaster" Target="/ppt/notesMasters/notesMaster1.xml" Id="R08c9a1a6bf354d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76627524f74585" /><Relationship Type="http://schemas.openxmlformats.org/officeDocument/2006/relationships/notesMaster" Target="/ppt/notesMasters/notesMaster1.xml" Id="R44c099246dfe4e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内容摘要：课程主题：从问题到证据。用统一视觉语言承载可编辑的教学内容</a:t>
            </a:r>
          </a:p>
          <a:p xmlns:a="http://schemas.openxmlformats.org/drawingml/2006/main">
            <a:r>
              <a:t>版式说明：学术编辑主题的cover语义页面；背景为无文字图片，文本框、强调线和全部教学文字保持可编辑。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内容摘要：课程路线。目标 · 概念 · 推演 · 练习 · 复盘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内容摘要：第一章｜建立问题框架。先明确边界，再选择方法</a:t>
            </a:r>
          </a:p>
          <a:p xmlns:a="http://schemas.openxmlformats.org/drawingml/2006/main">
            <a:r>
              <a:t>版式说明：学术编辑主题的chapter语义页面；背景为无文字图片，文本框、强调线和全部教学文字保持可编辑。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内容摘要：学习目标。完成本章后，你能够解释、应用并检验核心方法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内容摘要：先备知识。从三个已知条件出发，连接到本章的新问题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内容摘要：核心定义。定义不是一句话，而是一组条件、边界与反例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内容摘要：适用边界。何时成立？何时必须切换判断标准？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内容摘要：推演路径。把复杂任务拆成可检查的连续步骤</a:t>
            </a:r>
          </a:p>
          <a:p xmlns:a="http://schemas.openxmlformats.org/drawingml/2006/main">
            <a:r>
              <a:t>版式说明：学术编辑主题的reasoning语义页面；背景为无文字图片，文本框、强调线和全部教学文字保持可编辑。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内容摘要：例题拆解。先识别结构，再执行步骤，最后回到证据</a:t>
            </a:r>
          </a:p>
          <a:p xmlns:a="http://schemas.openxmlformats.org/drawingml/2006/main">
            <a:r>
              <a:t>版式说明：学术编辑主题的reasoning语义页面；背景为无文字图片，文本框、强调线和全部教学文字保持可编辑。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内容摘要：方法对比。同一问题可以有多条路径，但评价标准保持一致</a:t>
            </a:r>
          </a:p>
          <a:p xmlns:a="http://schemas.openxmlformats.org/drawingml/2006/main">
            <a:r>
              <a:t>版式说明：学术编辑主题的content语义页面；背景为无文字图片，文本框、强调线和全部教学文字保持可编辑。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内容摘要：代码与实现。证据页优先保证代码、公式和表格的可读性</a:t>
            </a:r>
          </a:p>
          <a:p xmlns:a="http://schemas.openxmlformats.org/drawingml/2006/main">
            <a:r>
              <a:t>版式说明：学术编辑主题的evidence语义页面；背景为无文字图片，文本框、强调线和全部教学文字保持可编辑。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内容摘要：证据核对表。把结论、证据与限制条件放到同一张表中</a:t>
            </a:r>
          </a:p>
          <a:p xmlns:a="http://schemas.openxmlformats.org/drawingml/2006/main">
            <a:r>
              <a:t>版式说明：学术编辑主题的evidence语义页面；背景为无文字图片，文本框、强调线和全部教学文字保持可编辑。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内容摘要：理解检查。先独立作答，再展开判断依据</a:t>
            </a:r>
          </a:p>
          <a:p xmlns:a="http://schemas.openxmlformats.org/drawingml/2006/main">
            <a:r>
              <a:t>版式说明：学术编辑主题的practice语义页面；背景为无文字图片，文本框、强调线和全部教学文字保持可编辑。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内容摘要：反馈与订正。反馈指出差距，也给出下一步行动</a:t>
            </a:r>
          </a:p>
          <a:p xmlns:a="http://schemas.openxmlformats.org/drawingml/2006/main">
            <a:r>
              <a:t>版式说明：学术编辑主题的practice语义页面；背景为无文字图片，文本框、强调线和全部教学文字保持可编辑。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内容摘要：易错辨析。错误答案通常来自边界混淆，而不是记忆不足</a:t>
            </a:r>
          </a:p>
          <a:p xmlns:a="http://schemas.openxmlformats.org/drawingml/2006/main">
            <a:r>
              <a:t>版式说明：学术编辑主题的practice语义页面；背景为无文字图片，文本框、强调线和全部教学文字保持可编辑。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内容摘要：迁移应用。把方法映射到新的任务情境</a:t>
            </a:r>
          </a:p>
          <a:p xmlns:a="http://schemas.openxmlformats.org/drawingml/2006/main">
            <a:r>
              <a:t>版式说明：学术编辑主题的reasoning语义页面；背景为无文字图片，文本框、强调线和全部教学文字保持可编辑。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内容摘要：本章回顾。让定义、方法、证据和边界重新汇聚</a:t>
            </a:r>
          </a:p>
          <a:p xmlns:a="http://schemas.openxmlformats.org/drawingml/2006/main">
            <a:r>
              <a:t>版式说明：学术编辑主题的recap语义页面；背景为无文字图片，文本框、强调线和全部教学文字保持可编辑。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内容摘要：课程收束。带着一个可执行的问题离开课堂</a:t>
            </a:r>
          </a:p>
          <a:p xmlns:a="http://schemas.openxmlformats.org/drawingml/2006/main">
            <a:r>
              <a:t>版式说明：学术编辑主题的recap语义页面；背景为无文字图片，文本框、强调线和全部教学文字保持可编辑。</a:t>
            </a:r>
          </a:p>
          <a:p xmlns:a="http://schemas.openxmlformats.org/drawingml/2006/main">
            <a:r>
              <a:t>素材来源：OpenAI image generation（本仓库专用生成素材，2026-08-10）；具体提示词与生成记录见 presentation-assets/ASSET_SOURCES.md。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c8d7393d9946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8e78d2bf674013" /><Relationship Type="http://schemas.openxmlformats.org/officeDocument/2006/relationships/slideLayout" Target="/ppt/slideLayouts/slideLayout1.xml" Id="R284b01efd33e40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4b01efd33e40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3f39ab43e4194" /><Relationship Type="http://schemas.openxmlformats.org/officeDocument/2006/relationships/image" Target="/ppt/media/image.jpeg" Id="R23a9086e2c2a49f7" /><Relationship Type="http://schemas.openxmlformats.org/officeDocument/2006/relationships/notesSlide" Target="/ppt/notesSlides/notesSlide1.xml" Id="R23b1721533074e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9cafa2259411e" /><Relationship Type="http://schemas.openxmlformats.org/officeDocument/2006/relationships/image" Target="/ppt/media/image2.jpeg" Id="R8c6d182f59e9441a" /><Relationship Type="http://schemas.openxmlformats.org/officeDocument/2006/relationships/notesSlide" Target="/ppt/notesSlides/notesSlide2.xml" Id="R5e77a914c3914f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9a5e63ec54e7d" /><Relationship Type="http://schemas.openxmlformats.org/officeDocument/2006/relationships/image" Target="/ppt/media/image3.jpeg" Id="R0f6b3b64bd894973" /><Relationship Type="http://schemas.openxmlformats.org/officeDocument/2006/relationships/notesSlide" Target="/ppt/notesSlides/notesSlide3.xml" Id="Rb130677507b841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4d18c90d24712" /><Relationship Type="http://schemas.openxmlformats.org/officeDocument/2006/relationships/image" Target="/ppt/media/image4.jpeg" Id="R09a3f528f3d5420d" /><Relationship Type="http://schemas.openxmlformats.org/officeDocument/2006/relationships/notesSlide" Target="/ppt/notesSlides/notesSlide4.xml" Id="R4470492c99d246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cb36059dd4d9a" /><Relationship Type="http://schemas.openxmlformats.org/officeDocument/2006/relationships/image" Target="/ppt/media/image5.jpeg" Id="R028fd60439d349a1" /><Relationship Type="http://schemas.openxmlformats.org/officeDocument/2006/relationships/notesSlide" Target="/ppt/notesSlides/notesSlide5.xml" Id="R9e5c599cb15344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1ae8d988141ff" /><Relationship Type="http://schemas.openxmlformats.org/officeDocument/2006/relationships/image" Target="/ppt/media/image6.jpeg" Id="R1ca296adf1e14540" /><Relationship Type="http://schemas.openxmlformats.org/officeDocument/2006/relationships/notesSlide" Target="/ppt/notesSlides/notesSlide6.xml" Id="R75f1540b7d554a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b376014294b75" /><Relationship Type="http://schemas.openxmlformats.org/officeDocument/2006/relationships/image" Target="/ppt/media/image7.jpeg" Id="R22fe9a8e5e9c4a83" /><Relationship Type="http://schemas.openxmlformats.org/officeDocument/2006/relationships/notesSlide" Target="/ppt/notesSlides/notesSlide7.xml" Id="R1fded8199bee48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a4ee162184fd8" /><Relationship Type="http://schemas.openxmlformats.org/officeDocument/2006/relationships/image" Target="/ppt/media/image8.jpeg" Id="Rb1306eaec77f44db" /><Relationship Type="http://schemas.openxmlformats.org/officeDocument/2006/relationships/notesSlide" Target="/ppt/notesSlides/notesSlide8.xml" Id="R3cb388726f984b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de0c1e5d4462e" /><Relationship Type="http://schemas.openxmlformats.org/officeDocument/2006/relationships/image" Target="/ppt/media/image9.jpeg" Id="Rac96a83cabfb4dbf" /><Relationship Type="http://schemas.openxmlformats.org/officeDocument/2006/relationships/notesSlide" Target="/ppt/notesSlides/notesSlide9.xml" Id="Rec000d6f292946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91d111bb64e1f" /><Relationship Type="http://schemas.openxmlformats.org/officeDocument/2006/relationships/image" Target="/ppt/media/image10.jpeg" Id="Red03e3e49a9f4c89" /><Relationship Type="http://schemas.openxmlformats.org/officeDocument/2006/relationships/notesSlide" Target="/ppt/notesSlides/notesSlide10.xml" Id="R5ee0e4901b364b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12ff0bf5c4d65" /><Relationship Type="http://schemas.openxmlformats.org/officeDocument/2006/relationships/image" Target="/ppt/media/image11.jpeg" Id="Rbf875e42a7934b7a" /><Relationship Type="http://schemas.openxmlformats.org/officeDocument/2006/relationships/notesSlide" Target="/ppt/notesSlides/notesSlide11.xml" Id="Rbbbca2224fdf4e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ebaea9bcb4ebc" /><Relationship Type="http://schemas.openxmlformats.org/officeDocument/2006/relationships/image" Target="/ppt/media/image12.jpeg" Id="R8a9aa918637d404c" /><Relationship Type="http://schemas.openxmlformats.org/officeDocument/2006/relationships/notesSlide" Target="/ppt/notesSlides/notesSlide12.xml" Id="R8e30fedf69e64d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5ddb68ba144fe" /><Relationship Type="http://schemas.openxmlformats.org/officeDocument/2006/relationships/image" Target="/ppt/media/image13.jpeg" Id="Rac9d7fb1d58745aa" /><Relationship Type="http://schemas.openxmlformats.org/officeDocument/2006/relationships/notesSlide" Target="/ppt/notesSlides/notesSlide13.xml" Id="Rfda5e69b26f2451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0856199254424" /><Relationship Type="http://schemas.openxmlformats.org/officeDocument/2006/relationships/image" Target="/ppt/media/image14.jpeg" Id="Rb411f4f02f684f80" /><Relationship Type="http://schemas.openxmlformats.org/officeDocument/2006/relationships/notesSlide" Target="/ppt/notesSlides/notesSlide14.xml" Id="Re43c3f0ee61745c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ec47a4f344123" /><Relationship Type="http://schemas.openxmlformats.org/officeDocument/2006/relationships/image" Target="/ppt/media/image15.jpeg" Id="R942a5cd193704ab3" /><Relationship Type="http://schemas.openxmlformats.org/officeDocument/2006/relationships/notesSlide" Target="/ppt/notesSlides/notesSlide15.xml" Id="R55f2ada22456492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74078cde74ad3" /><Relationship Type="http://schemas.openxmlformats.org/officeDocument/2006/relationships/image" Target="/ppt/media/image16.jpeg" Id="R98f827bcba66480d" /><Relationship Type="http://schemas.openxmlformats.org/officeDocument/2006/relationships/notesSlide" Target="/ppt/notesSlides/notesSlide16.xml" Id="Rfaab272b087d4b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0cbc195f246b0" /><Relationship Type="http://schemas.openxmlformats.org/officeDocument/2006/relationships/image" Target="/ppt/media/image17.jpeg" Id="Rb94b86745d554c03" /><Relationship Type="http://schemas.openxmlformats.org/officeDocument/2006/relationships/notesSlide" Target="/ppt/notesSlides/notesSlide17.xml" Id="Rf9e4ad210115471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79dde88894aee" /><Relationship Type="http://schemas.openxmlformats.org/officeDocument/2006/relationships/image" Target="/ppt/media/image18.jpeg" Id="R76c3eb7b9dac4516" /><Relationship Type="http://schemas.openxmlformats.org/officeDocument/2006/relationships/notesSlide" Target="/ppt/notesSlides/notesSlide18.xml" Id="R833c00360bd54c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9086e2c2a49f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C1DAC-EBAF-4A99-A29B-E2F58AE1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4097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3CC70-E09A-4EE2-AE9E-C28CE0B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6572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51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51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课程主题：从问题到证据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08795-9394-46C4-A475-653EBB09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7665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用统一视觉语言承载可编辑的教学内容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3E123-E578-4AE4-989A-65992C13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654F-C002-4847-A808-CE6600D5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 / 18</a:t>
            </a:r>
          </a:p>
        </p:txBody>
      </p:sp>
    </p:spTree>
    <p:extLst>
      <p:ext uri="{BB962C8B-B14F-4D97-AF65-F5344CB8AC3E}">
        <p14:creationId xmlns:p14="http://schemas.microsoft.com/office/powerpoint/2010/main" val="1072843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d182f59e9441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C2B30-AA9D-49FF-AC69-7A101826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37782-BF4E-4D70-A5F3-F1F8EB9D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课程路线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11BA6-7530-4E5B-AC5C-A3138869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B16BA-6DB6-4C55-8CBA-6F1E16F7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36EE7-9B85-4F7E-9021-388AEACB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目标 · 概念 · 推演 · 练习 · 复盘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6452F-CFA4-4E32-B1EA-061CD73A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66975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A8581-88BD-47EC-88FD-3D72001A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0E0561-1862-470E-BCDA-DA408EC8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C2C9B-10ED-4889-831F-E8CBCADC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BDCD36-BFDF-4D9C-A955-B5A06E89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阶段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3C3C5-0C1A-468A-B1FD-6FA27D3A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0850"/>
            <a:ext cx="1371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目标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91603-23BE-4B46-8003-B0EC0C2D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66975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DD8CF-F294-4440-ADED-C0FA2ED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81250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EA20D-1DC0-4BC7-B35E-4970CB13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ACD2D-2962-4ECB-A808-50E3DC93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52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2EC55-B3FF-4872-B0DF-2BC4EA60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908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阶段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9E2F75-F229-42A2-A717-8C171815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90850"/>
            <a:ext cx="1371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概念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2E440-8C69-40ED-BFCD-C750D310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66975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946B2-A332-4766-A00F-1E9AF5C3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890C08-599E-446E-9AEA-E8B23DD8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81A956-08D9-4537-AE3F-19EF55EE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2EBAEA-E0A6-4D07-9B36-508613DD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908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阶段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BEC62-7228-4106-94BB-F8F8E294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371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推演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3DAAB9-7771-4D5D-AF86-A0E1A0F3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66975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77BC06-28EB-4B88-B0EE-B65B9C6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E2F6D-FBFA-454D-A6DC-320EB399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B1C40-20BB-408B-8330-23FCE9B6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02FD6C-8736-4AF7-B718-4FA1FD80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908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阶段 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270371-A18B-45CA-9F22-009574A5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371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练习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64469C-8354-4C26-823A-3B3D08D0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66975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C073B3-2ADD-40B5-BA37-529A4086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81250"/>
            <a:ext cx="1866900" cy="23812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693625-E5D9-4EEC-912E-5DC44BD7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E5D48B-58D0-4A2F-9887-3E341F03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52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C4B865-DA01-4BA0-A5B1-1F51D5C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908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阶段 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97741F-DBBD-4146-84EC-D343AC1F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90850"/>
            <a:ext cx="13716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复盘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829B34-8792-40CC-915D-E8B10FF6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291918-DFC5-41CE-880A-54822480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2 / 18</a:t>
            </a:r>
          </a:p>
        </p:txBody>
      </p:sp>
    </p:spTree>
    <p:extLst>
      <p:ext uri="{BB962C8B-B14F-4D97-AF65-F5344CB8AC3E}">
        <p14:creationId xmlns:p14="http://schemas.microsoft.com/office/powerpoint/2010/main" val="8602779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b3b64bd8949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995D4-92AB-4CD0-B61E-4560EB0D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3355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CHAPTER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24F94-AFBF-4108-81E5-20C4FE33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47900"/>
            <a:ext cx="781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435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第一章｜建立问题框架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C4A81-23F2-41EC-A1A1-72045826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6235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先明确边界，再选择方法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57CAB-1F46-4FB2-A70C-006FAB7B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F1547-3F24-4237-9997-FF13791C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3 / 18</a:t>
            </a:r>
          </a:p>
        </p:txBody>
      </p:sp>
    </p:spTree>
    <p:extLst>
      <p:ext uri="{BB962C8B-B14F-4D97-AF65-F5344CB8AC3E}">
        <p14:creationId xmlns:p14="http://schemas.microsoft.com/office/powerpoint/2010/main" val="18326747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3f528f3d5420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578E-3ADF-4280-AD27-DD278DAF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A8592-E01F-4881-9818-9E9816AC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学习目标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A8A1B-E1E9-4626-B0A2-A52E71F9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2DD0A-E88B-42FA-A3C9-84996EA5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DB901-2603-48D4-AED9-639CAAD5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完成本章后，你能够解释、应用并检验核心方法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B85C0-AAFA-4B99-B590-250A80EB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D7ECC-812F-47FC-9443-DBE550AB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75488-8D17-45D5-B71E-33FDDF87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6B5F4-A6DB-4868-B516-BDEF6430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0956B-0FA6-48AB-AD83-65CA63C6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解释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9E05BD-7A3A-4DE2-9D3B-15F1AEBE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用自己的语言说明核心概念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A6F28-5670-4B1F-87E5-57D3CDDA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A91B4D-151F-47D4-8457-810889D6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F4D73-8EB9-4E4F-87B7-36B5D8A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54DBD-6556-468D-8E69-6DE3CD6A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1FBFF-038A-4391-AA79-A3FB949F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应用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E9FE9C-51A5-46A2-8025-5D321818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在新情境中选择合适的方法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B624F-BAA4-4CCC-88BA-F811D15E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F4FD4-BCDF-434F-9199-22A288C8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770288-9DFD-477F-BFE2-6B668C0C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2A463-A889-4EE0-9C80-788EAB42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D59E51-C194-41A5-89CD-4EB0B02B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检验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DA75C-1504-40D0-94B1-F1F30E59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用证据核对结果与边界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0DF450-19FB-4450-952F-CCF23979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33940F-BBB9-47A6-A205-2DCE707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4 / 18</a:t>
            </a:r>
          </a:p>
        </p:txBody>
      </p:sp>
    </p:spTree>
    <p:extLst>
      <p:ext uri="{BB962C8B-B14F-4D97-AF65-F5344CB8AC3E}">
        <p14:creationId xmlns:p14="http://schemas.microsoft.com/office/powerpoint/2010/main" val="203061818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8fd60439d349a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DFEF3-BFDF-4438-A56A-E984A52E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5EF9E-2519-4726-8850-E2D75769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先备知识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EA284-5F58-458F-A96D-8A25DD89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6901C-C1A1-4D48-B952-29C17C50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B5ED8-A4E4-4AA4-8550-6D507205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从三个已知条件出发，连接到本章的新问题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F3F2A-F095-428F-BB16-06EDCE2F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39094-804A-48F3-9AE4-86AD9035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14482-DA1B-4088-B037-C8C78AD1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8EAFB-8F03-4750-BF55-BED567F5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42B15-FB03-4B3D-BAE6-8FBBCCF0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已知条件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4BC16-9FE2-4717-BC76-DBAEECD7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识别任务中的稳定信息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4AFD6A-8FE1-488B-9640-70819678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391DD-0652-4451-9FD5-6C1130B9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6F950A-F259-4ABD-AEDF-BF94D29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B36B5B-7AE6-45C1-8968-49FB23D5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8B3C8-22A7-45E1-B9E6-D4B6A4F6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已有方法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64E73-D59B-4BE4-80E9-0B259C31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回忆可以复用的判断工具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013044-18FC-4A5C-96C5-2A90F795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28875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728823-4856-4DC6-870F-991BA15B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3314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2CA9A6-A812-487E-BAFC-8AA66FFE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5745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C969F2-1108-4807-B4B2-4CC5CEEF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7A007E-6A1E-4F32-8A2F-4EECF22B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527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新问题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19111-2A69-4706-B6D4-6D27B0B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8194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找出这次学习真正新增的挑战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089667-C380-456C-9162-5E391ECD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057732-2405-4A8D-AC10-627533C8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5 / 18</a:t>
            </a:r>
          </a:p>
        </p:txBody>
      </p:sp>
    </p:spTree>
    <p:extLst>
      <p:ext uri="{BB962C8B-B14F-4D97-AF65-F5344CB8AC3E}">
        <p14:creationId xmlns:p14="http://schemas.microsoft.com/office/powerpoint/2010/main" val="16932280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296adf1e1454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1D230-C474-498A-98E3-388AA5C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E30DE-B552-4BCF-A1D3-D7A27FD8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核心定义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25FCF-62FA-46E1-BFCB-F2522F67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F8297-0161-496A-BA99-82D77998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769AE-F4CB-4DB4-9D63-D0FEFC79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定义不是一句话，而是一组条件、边界与反例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7F833-F663-48C4-98C0-FB25D87A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67627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338CB-07BA-4B8D-875C-F3F2430A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67627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E8446-69E1-4705-808E-DE4AD4AC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71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C3661-5213-4135-A960-B79C64A7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定义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70D35-F595-4004-B6BB-0593FDB0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62674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一个可使用的定义，需要同时说明对象、条件、关系与判断标准。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5AAEE-DAE4-4131-A73A-301DD361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95525"/>
            <a:ext cx="34671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B2680-A64F-47E9-AEB2-5FB4ECC2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09800"/>
            <a:ext cx="34671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5D90F-6191-480C-AE46-C500FD03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2410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0534E-D50E-44DB-B58D-76FE41BB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193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必要条件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59038E-33E1-40EC-9EAF-5F690B47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19400"/>
            <a:ext cx="2971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缺少任一条件时，不直接套用结论。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B6BF3-243D-4C57-8347-7638F325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24325"/>
            <a:ext cx="34671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019C58-01EB-4669-842A-2BBB9305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38600"/>
            <a:ext cx="34671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80143-E55F-4BDB-9A16-1E835B11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5290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4C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E7D406-08BC-43C8-B935-594ABFCE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48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反例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40E381-2B6D-4B3B-B3F1-4CB6D00F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48200"/>
            <a:ext cx="2971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用最小反例暴露定义边界。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41DBF3-3EC4-4682-8F90-A283FB38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A531D-7616-41C6-A3E7-320151F3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6 / 18</a:t>
            </a:r>
          </a:p>
        </p:txBody>
      </p:sp>
    </p:spTree>
    <p:extLst>
      <p:ext uri="{BB962C8B-B14F-4D97-AF65-F5344CB8AC3E}">
        <p14:creationId xmlns:p14="http://schemas.microsoft.com/office/powerpoint/2010/main" val="1971167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e9a8e5e9c4a8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6BAC7E-DC61-4857-8EFF-C6A1371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5BC00-0A72-489D-AF4E-89AC9E13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适用边界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351B3-B4CA-4AC4-BC58-E70526C9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83A9A-43F8-4804-ABC4-206AC9FF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BDBAC-4556-43D6-AE77-F6C91492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何时成立？何时必须切换判断标准？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0D5C3-EA6E-4DDD-8CEE-1ECD96DB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5095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97B38-0AAC-4FCC-A397-1977DD0F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5095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CF93AD-123E-488A-935F-E4465BDB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71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40AF4-3581-4F0A-9DC7-6675D3AC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适用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FC886-5019-4678-B888-DE1ECF77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76550"/>
            <a:ext cx="4600575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条件完整、证据可核验、任务目标与方法一致。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A1224-698E-4B45-AD7D-3049CDA3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52675"/>
            <a:ext cx="5095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BA127-745F-4655-86F3-8E65C222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266950"/>
            <a:ext cx="5095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460AA-7949-4A5D-9315-5BFCE296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81250"/>
            <a:ext cx="571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4C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EE8B0-D767-4102-AFEC-F7E2BB80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765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不适用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CE7D4-9721-4AED-999E-C0B2AE5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76550"/>
            <a:ext cx="4600575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条件缺失、证据不足或评价标准已经改变。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82407-0E8C-4FA4-BF54-2667303D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6DDB8-7296-418A-8DD3-4D2B90F3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7 / 18</a:t>
            </a:r>
          </a:p>
        </p:txBody>
      </p:sp>
    </p:spTree>
    <p:extLst>
      <p:ext uri="{BB962C8B-B14F-4D97-AF65-F5344CB8AC3E}">
        <p14:creationId xmlns:p14="http://schemas.microsoft.com/office/powerpoint/2010/main" val="4792926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06eaec77f44d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40D85-E656-400C-8D1E-A291D443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731D8-92A9-43BB-9A18-F3D8D6FD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推演路径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E4B9B-7ECA-4383-BDD6-061A9797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774BE-D7D3-488D-9D63-9166599F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2AEBC-D939-4294-BA4A-2A1C2C44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把复杂任务拆成可检查的连续步骤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94A3A-252B-4320-84BD-0F7D5917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47925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EF219-0EB8-42EB-9A4D-71C7CC1C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00DED-261A-4177-87C5-7362FDBA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571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FFC9D-F4AE-4096-BB15-00AB9632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6A8752-21F9-4321-B167-3DD2A23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识别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0E1D5-8396-4213-8622-1B9D24B6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19240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标记任务对象与限制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CB275-1147-4BA6-B80A-A4A89950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90825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8567B-0963-4916-9A2E-351C5590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2EECCB-190D-4336-B049-EF26BBB3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19400"/>
            <a:ext cx="571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9E3FBA-6BE3-43BA-9BD2-D07C1372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844AD4-E73B-49D5-9879-1971739E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146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选择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657B36-1DAB-4B58-BD8B-CB87D577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14700"/>
            <a:ext cx="19240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匹配可解释的方法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6642E-9136-4C21-A8A6-B87A782C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47925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17857F-6300-45FB-8DF8-A69356AC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62200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C490B9-A627-41C4-AFDF-EF84CB2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571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6B720-5110-46EF-BC31-BCCF5869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336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E6BA7A-AE7E-4C9E-8E8B-B7507045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717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执行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3F75F1-961C-4370-8F0F-BD2C70B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71800"/>
            <a:ext cx="19240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逐步记录中间结果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78E9E0-4D28-42B6-A65E-1B1FF19D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90825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770B9A-08FA-47CC-A5A2-87327B7C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05100"/>
            <a:ext cx="2419350" cy="25717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906736-6819-4FE3-A189-108AA7B8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19400"/>
            <a:ext cx="571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6BABAE-799F-471D-9FCC-CE6E06A3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765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F4F702-3920-419C-8541-6531F62D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146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检验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7FCFFC-BDE1-4C4F-805E-5677170A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14700"/>
            <a:ext cx="19240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回到证据与边界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1C248B-E923-41B7-8321-483E72DD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EE2DD0-84D5-4E44-AE5E-C752BFC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8 / 18</a:t>
            </a:r>
          </a:p>
        </p:txBody>
      </p:sp>
    </p:spTree>
    <p:extLst>
      <p:ext uri="{BB962C8B-B14F-4D97-AF65-F5344CB8AC3E}">
        <p14:creationId xmlns:p14="http://schemas.microsoft.com/office/powerpoint/2010/main" val="17581539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6a83cabfb4d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31BC3-DE20-47BF-B9A4-ABB2E75A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6AFAE-CEF1-4FAA-9678-3B6C4795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例题拆解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E91AA-0C5A-4DCD-9988-BADF9B8E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A1381-9CFA-4E90-8E33-9BD28B6B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2033A-0F40-4D8B-A31D-7C1C1D27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先识别结构，再执行步骤，最后回到证据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F4E2C-738B-47D7-82A2-E343CF61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57425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C1C02-D1E2-48B2-8165-53019FDF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1821F-2A61-4C5C-BF2D-649E3173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3647F-6685-4076-88CE-9D40FED1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题目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FFED1-D005-466E-9DF0-2BC2F7D2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6479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给定条件后，先判断真正需要求解的对象。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422A8-9D5F-4753-9A26-21C154F7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257425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6E634-79C5-4283-8F70-4486F766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71700"/>
            <a:ext cx="3143250" cy="3429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E871B-95D9-4641-A8BD-EE5742D0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28600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F4662-8BFF-4F50-9386-F3AB68F5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81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D899F-326A-4E8F-A600-F496CBDC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81300"/>
            <a:ext cx="26479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把条件转换为可以逐步核验的结构。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54806-B574-4C2F-A7F2-3AEC6F7B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57425"/>
            <a:ext cx="3619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3AE86-76A3-4261-82D7-A65C1C5E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71700"/>
            <a:ext cx="3619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299A1-98F2-44A9-9126-18E1D860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8600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99DF6-6BD4-4D25-86BC-61BEC856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12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验证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F724C-8674-4263-B86C-D261CBA5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1300"/>
            <a:ext cx="31242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检查结果是否满足原条件，并说明适用边界。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D7E955-F6DF-4598-9970-616586EB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3996F9-D2B3-43B3-B962-FBAACCB2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9 / 18</a:t>
            </a:r>
          </a:p>
        </p:txBody>
      </p:sp>
    </p:spTree>
    <p:extLst>
      <p:ext uri="{BB962C8B-B14F-4D97-AF65-F5344CB8AC3E}">
        <p14:creationId xmlns:p14="http://schemas.microsoft.com/office/powerpoint/2010/main" val="13541179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03e3e49a9f4c8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E1448-CF2C-42B5-9903-95D13B0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27AE1-2459-48B6-AEF9-74DB2CA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方法对比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1CA3F-5BB1-4104-ADA8-885FFCDD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38B45-C945-4FE2-87C1-CB880A9D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EDCDE-A5B3-4742-A7C6-E74BB0B5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同一问题可以有多条路径，但评价标准保持一致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9B639-56F2-42C4-A8CA-235C7B78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50958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AD593-B77D-4E0C-B22D-2EF20B89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50958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69DCCC-8A73-4A14-9548-58D7A56E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2038A9-83B9-43A2-84AD-01407402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路径 A｜直接判断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1D108-BD97-49EB-BDE6-6ACDEFD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4600575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步骤更少，适合条件清晰、证据完整的任务。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23FE3-8791-453A-A4CB-24A1F33C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95525"/>
            <a:ext cx="50958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A3804-E446-46E1-9AD2-5DFA4FAB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209800"/>
            <a:ext cx="5095875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74717-CF0B-45FF-8CCF-1A90EE2D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2410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05F7A-508E-4300-A478-3237A146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1935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路径 B｜逐层验证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E9E6B-6396-4238-A166-81F7338F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19400"/>
            <a:ext cx="4600575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检查更细，适合边界模糊或需要追溯依据的任务。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7F456-CAE8-4CBB-9A92-72C9A980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1AEC3-F6F2-42C0-9FBF-714873FD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8438587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75e42a7934b7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0EEC0-C616-490F-9456-34659242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BB616-D172-4C78-952F-2D35F6C1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代码与实现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C3336-6DAD-479F-B69B-8F1BA69C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461B9-0619-4936-93C8-78A99B66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C45D3-9C05-4887-9CB3-626C6E4F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证据页优先保证代码、公式和表格的可读性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179F9-A8BD-4DDC-9553-44C7BBD5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81225"/>
            <a:ext cx="105727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A4FAA-0A2A-44DC-8E76-3FE0F693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105727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252E35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80F9A-DBC7-4F35-96D5-1A4AED06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571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42F94-0BB7-4B5C-BDB4-8920F129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1007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可编辑代码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07F85-7627-49DA-95EE-E1F4F729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5100"/>
            <a:ext cx="100774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function verify(input) {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  const evidence = collect(input);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  return evidence.every(item =&gt; item.valid);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5933FE-D0F2-418A-BABA-87563CFE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26393-CC8C-4BF8-9D72-57E1E970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8667083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aa918637d40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23BC9-01E9-4E24-847A-2AB359A4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D8E94-877B-4495-8E65-16DAF56B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证据核对表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6B1DD-9254-4927-A216-202566D4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FC463-BDF6-4DA0-B9F8-B17D0575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551C9-CB42-4079-BB62-EB6D50B7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把结论、证据与限制条件放到同一张表中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0BF6E-74B5-4F95-A3F1-B813321F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DE41F-C651-4A0D-8F67-681840B5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6B94D-8F58-4D11-A5F7-E214504B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EDDD6-A6B1-4080-AA74-6D16610F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结论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2A758-7F74-4428-A735-AFDA4762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8194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当前判断可成立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91CBE-E18B-4336-AE66-909E91D5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76475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090332-76A1-40CE-8D88-6BCF255F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252E35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9917F-BC1C-47C2-86E7-7B64E05A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704F3-FF53-45E4-A34B-393D52DD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证据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1E5C23-33CC-438B-9445-861C6BB9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00350"/>
            <a:ext cx="28194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F4F6F7"/>
                </a:solidFill>
                <a:latin typeface="Noto Sans SC"/>
                <a:ea typeface="Noto Sans SC"/>
                <a:cs typeface="Noto Sans SC"/>
              </a:rPr>
              <a:t>数据、过程与来源相互支持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4B3AAE-0C17-49D7-8F7D-A79F0C13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76475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C87E1C-9042-42AB-8902-14D19430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90750"/>
            <a:ext cx="3314700" cy="33337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909E3-6CD8-4F8C-824E-8BDB4CF9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050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562DCE-0623-4AB4-8189-AF0CBD5E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003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限制条件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6D08FD-3BF5-4433-80B8-CE652E4D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00350"/>
            <a:ext cx="28194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仅适用于已声明的条件范围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8A840D-9503-47BD-8F24-512B7BF6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6C2E4-F957-49E8-B401-9F20AC33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3347284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d7fb1d58745a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F70AD-A4A4-4685-97A9-6A83C2C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117F7-F3E5-4B52-A724-1C9B7BED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理解检查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C09EE-7909-4759-9100-4FC2D470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11B86-3E12-40E7-892B-1B05A03B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3BBC6-0FB3-4680-A8E9-18503159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先独立作答，再展开判断依据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29898-DD0D-4778-8182-1BBD8268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0572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D00CA-7D58-42BF-8E06-3055384A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10572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78FD2-434F-4317-986C-BCDFBEDF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374B8-56AA-4833-89E5-DD90F44B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1007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问题 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DE38BF-2E92-4232-949D-4003A490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100774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请判断给定方案是否满足定义，并写出两条可核验的判断依据。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AF3B1-2E1A-47BF-8A2A-F524FD45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6703CC-F438-47D2-AC67-D833BCFC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7565074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1f4f02f684f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A882A-2B93-4E2E-BC20-B82F52FD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6E03C-DF3B-485B-89E5-9DBABBC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反馈与订正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0AE60-9A9A-44FE-BE9A-CC238340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1CEF7-EFEF-4F68-B99B-E5B9A4E5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28AE7-1749-453E-8CFC-10E12450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反馈指出差距，也给出下一步行动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0B83A-AF59-4DDC-850D-91FA7286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9B659-50B5-4EC7-AD24-401A7ECA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9F8B5-69E8-43BD-92E3-DCA4D021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93587-CD7D-4C3A-A616-5F5EB87B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你的回答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216DA-5C2C-446F-842F-0B439B91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600575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先保留学习者的原始判断与理由。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CF5A9-9B59-431E-99C1-B16EE897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38375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CE758A-6AE2-4991-B4A5-8A3691FB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5265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D069D8-BB11-4D89-82F7-27D31EF2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2669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77AB5-3AA6-4194-93F7-74AD28E9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622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反馈依据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F6713-A8C0-4605-B94E-D4DB644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4600575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指出已掌握部分、证据缺口和下一步行动。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2B485B-6D3E-44B6-83B8-0034599E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D8BA4-F9F1-45E0-A2D9-FB381282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82905398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a5cd193704ab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FD370-1E73-48AB-8C32-C0EC1994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A3283-565C-482E-9180-4525C1B5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易错辨析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A1C71-4D4A-4372-A297-FB44061B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A81FF-02A8-416A-8542-F18895B5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F8878-54A1-46CA-8B97-725CE2D9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错误答案通常来自边界混淆，而不是记忆不足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4CDCD-C581-4439-B4D6-38E36C0E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ACE3D-83B3-41D1-81A6-0FD3F813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344A7-F83C-4C6B-B6F4-860F58E7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4C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77B6F-257C-469A-977A-A30DC296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常见误区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E7EE8-E897-4543-BDEF-DB54CFA7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600575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只记住结论，却忽略结论成立的条件。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AA02B-06AC-4280-B26E-C673A66F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38375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AF631-8A8E-480F-8005-8A0174A2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5265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FE35-34A7-4AC0-BCB1-D5554312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2669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391AF3-4DFA-4FB0-B2D1-4ADE775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62200"/>
            <a:ext cx="4600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修正策略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E4422-3A7D-4B6A-B336-5BF72AC7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4600575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把条件、证据和边界重新连接起来。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695D50-2CF4-400A-B2F5-F6224432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2EB353-7809-439B-915C-86E90BCD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4785944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f827bcba66480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F71F8-5532-4C47-BF60-EE65BF82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FC059-CF2D-49FF-9429-AC469C32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迁移应用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14AEE-7175-4704-BF41-47E0DD5E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E5BC8-A347-436E-8EE8-A512FBE1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1AFCF-CFF8-48A3-8294-49F04266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把方法映射到新的任务情境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6DB75-244F-4C64-9F72-D04B3061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14575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F6B4A-2CBE-42B2-AEE1-09209713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2885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F038B-6A6E-41C1-A8E3-4E8AFE74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724FB-AFA6-4E3A-B213-0E0FAF21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38400"/>
            <a:ext cx="445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原任务结构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4DCB1-D123-40B7-9488-1B84B9A2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38450"/>
            <a:ext cx="44577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对象 → 条件 → 方法 → 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DDBC1-B2E7-43F7-8551-086C265F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14575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80699-4285-4F04-8285-D2E12A1D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2885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254F-711D-4B47-AEA5-993E8B96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431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44C6C6-E977-4946-940C-EA3B6A95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445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新情境映射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0D837C-4E09-4E5D-B817-4B9D61CB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38450"/>
            <a:ext cx="44577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保留结构，替换对象与限制条件。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81FF2F-EF4D-4A64-AAA5-0C49F115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7C7B-69BF-4FC2-9C9B-1095763E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39562945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b86745d554c0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527CE-1C08-4D35-BBF7-67F9957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63695-052D-43EC-9EBE-B8D37771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本章回顾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7FBBF-E463-4323-A9CD-D4915019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87E59-B456-4BF5-B457-D14F1D1C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A1171-A889-4831-86FE-037C31F7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让定义、方法、证据和边界重新汇聚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1F79D-2F2F-4001-8FAA-25D8738A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43175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E616D-38C1-410E-89C0-3640EC37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E0110-3672-4AF9-B0C1-F7D0BEC4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5AD39-9F27-47B7-983B-E56214CD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289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2E2D6-3D78-4BDA-BDBF-979712D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定义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CE6F9-527C-4750-A503-9B7BB244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67050"/>
            <a:ext cx="19240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说清对象和条件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CF83C-7BCF-4E98-85B7-97263507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43175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2CAC1-8261-4BAE-9900-6EF9AFC0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57450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5B69B-4089-4049-98BD-43267BA8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717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84279E-957D-40E9-AEE5-1155DFA1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4D1EB7-465F-4C23-8C8F-935B433B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670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34D44-2CBB-4770-928B-5539A0FD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19240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拆成可检查步骤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3F0CEE-2846-4CDF-A728-172C79BD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43175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6872C3-B3FB-411B-97A8-F804013D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57450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8D34B8-1F4B-4F0D-9729-48A0BFFC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EAAEB4-8723-4C62-816E-9C59AA76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289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7F07CC-CDEF-4BF0-8121-8DA81A06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670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8DE7B1-4BD0-46F5-89BE-E56A5BEF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67050"/>
            <a:ext cx="19240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核验来源与过程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CDB5B-E652-4656-AA2D-EA6B4E5B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43175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23A316-9317-4154-B3A8-FFF1DEF4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57450"/>
            <a:ext cx="2419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E83004-3164-45CE-AE8B-CE7B4454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6D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EC02BC-0F6B-4D30-9EC5-C9604B8A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6289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4F6D64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4F6D64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E03F8A-EB3C-4F5B-A859-AB78E4CD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670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边界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3C92D5-ACA9-40AB-A323-C9CCBAD0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67050"/>
            <a:ext cx="19240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说明何时不适用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00FFAB-6FB6-447F-84F2-9C5A33DA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83E621-CD3C-47AD-8574-DC642163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56494621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3eb7b9dac451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26FA0-FC8E-41E1-BA38-128553FE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15E7D"/>
                </a:solidFill>
                <a:latin typeface="Noto Sans SC"/>
                <a:ea typeface="Noto Sans SC"/>
                <a:cs typeface="Noto Sans SC"/>
              </a:rPr>
              <a:t>学术编辑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35D2D-90EB-4FA3-9970-92E90F8D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39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defRPr>
            </a:pPr>
            <a:r>
              <a:rPr sz="3600" b="1">
                <a:solidFill>
                  <a:srgbClr val="273340"/>
                </a:solidFill>
                <a:latin typeface="Noto Serif SC"/>
                <a:ea typeface="Noto Serif SC"/>
                <a:cs typeface="Noto Serif SC"/>
              </a:rPr>
              <a:t>课程收束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BF4D4-4722-4D3E-876A-1E9520CF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81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8D6BA-A176-46B7-B0D0-6CF83253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20BCF-8026-4341-AED3-5EDBA9BA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带着一个可执行的问题离开课堂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B192E9-E61D-4F64-90FE-B2EEF753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66975"/>
            <a:ext cx="876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CFD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50EFA-6CC9-4CF0-8356-C4D394EB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81250"/>
            <a:ext cx="876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2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38D12-1A4A-465D-9166-7C6CDFE8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95550"/>
            <a:ext cx="57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E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6AE91-03A1-4061-AF23-97283F34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590800"/>
            <a:ext cx="826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73340"/>
                </a:solidFill>
                <a:latin typeface="Noto Sans SC"/>
                <a:ea typeface="Noto Sans SC"/>
                <a:cs typeface="Noto Sans SC"/>
              </a:rPr>
              <a:t>离堂问题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21A1A-65A4-4677-BCBD-5CC23A70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90850"/>
            <a:ext cx="82677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45515D"/>
                </a:solidFill>
                <a:latin typeface="Noto Sans SC"/>
                <a:ea typeface="Noto Sans SC"/>
                <a:cs typeface="Noto Sans SC"/>
              </a:rPr>
              <a:t>你准备把今天的方法用于哪个真实任务？下一步要收集什么证据？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CD730B-C870-46AA-AB82-24311ABD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V5 TEMPLATE 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D2FD8-4A89-44C3-AE1F-5EB5F95D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727A82"/>
                </a:solidFill>
                <a:latin typeface="Noto Sans SC"/>
                <a:ea typeface="Noto Sans SC"/>
                <a:cs typeface="Noto Sans SC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4810781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2026-08-10T07:19:35.1600000Z</dcterms:created>
  <dcterms:modified xsi:type="dcterms:W3CDTF">2026-08-10T07:19:35.1600000Z</dcterms:modified>
</coreProperties>
</file>