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8270904e394afe" /><Relationship Type="http://schemas.openxmlformats.org/officeDocument/2006/relationships/extended-properties" Target="/docProps/app.xml" Id="Rb2098945a2ce4436" /><Relationship Type="http://schemas.openxmlformats.org/officeDocument/2006/relationships/officeDocument" Target="/ppt/presentation.xml" Id="R5bb9c9b8e0e6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cc253db3f14450"/>
  </p:sldMasterIdLst>
  <p:notesMasterIdLst>
    <p:notesMasterId xmlns:r="http://schemas.openxmlformats.org/officeDocument/2006/relationships" r:id="R2d8e4b1d42b044e2"/>
  </p:notesMasterIdLst>
  <p:sldIdLst>
    <p:sldId xmlns:r="http://schemas.openxmlformats.org/officeDocument/2006/relationships" id="256" r:id="R6ec864e9d0094359"/>
    <p:sldId xmlns:r="http://schemas.openxmlformats.org/officeDocument/2006/relationships" id="257" r:id="R2e3f1dec8e854aa1"/>
    <p:sldId xmlns:r="http://schemas.openxmlformats.org/officeDocument/2006/relationships" id="258" r:id="R3c50257ffb35498b"/>
    <p:sldId xmlns:r="http://schemas.openxmlformats.org/officeDocument/2006/relationships" id="259" r:id="R3b5340a6848746f1"/>
    <p:sldId xmlns:r="http://schemas.openxmlformats.org/officeDocument/2006/relationships" id="260" r:id="R942caa828b174406"/>
    <p:sldId xmlns:r="http://schemas.openxmlformats.org/officeDocument/2006/relationships" id="261" r:id="Rc1d58e115b1b49d9"/>
    <p:sldId xmlns:r="http://schemas.openxmlformats.org/officeDocument/2006/relationships" id="262" r:id="Rf51604f365674905"/>
    <p:sldId xmlns:r="http://schemas.openxmlformats.org/officeDocument/2006/relationships" id="263" r:id="R721618682d524de6"/>
    <p:sldId xmlns:r="http://schemas.openxmlformats.org/officeDocument/2006/relationships" id="264" r:id="Rab4359a675f84fa8"/>
    <p:sldId xmlns:r="http://schemas.openxmlformats.org/officeDocument/2006/relationships" id="265" r:id="R08967039f7d649cf"/>
    <p:sldId xmlns:r="http://schemas.openxmlformats.org/officeDocument/2006/relationships" id="266" r:id="Ra891232c9b9b4c9e"/>
    <p:sldId xmlns:r="http://schemas.openxmlformats.org/officeDocument/2006/relationships" id="267" r:id="Rb1ac7c36c1654ce3"/>
    <p:sldId xmlns:r="http://schemas.openxmlformats.org/officeDocument/2006/relationships" id="268" r:id="Re7fc76454baf4575"/>
    <p:sldId xmlns:r="http://schemas.openxmlformats.org/officeDocument/2006/relationships" id="269" r:id="R62bdea1686a049b6"/>
    <p:sldId xmlns:r="http://schemas.openxmlformats.org/officeDocument/2006/relationships" id="270" r:id="Refd5d303744e415c"/>
    <p:sldId xmlns:r="http://schemas.openxmlformats.org/officeDocument/2006/relationships" id="271" r:id="R58e68f3ac1a246c0"/>
    <p:sldId xmlns:r="http://schemas.openxmlformats.org/officeDocument/2006/relationships" id="272" r:id="Ra655843ce79b4769"/>
    <p:sldId xmlns:r="http://schemas.openxmlformats.org/officeDocument/2006/relationships" id="273" r:id="Rd704f676c360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6c70a09604375" /><Relationship Type="http://schemas.openxmlformats.org/officeDocument/2006/relationships/slideMaster" Target="/ppt/slideMasters/slideMaster1.xml" Id="R69cc253db3f14450" /><Relationship Type="http://schemas.openxmlformats.org/officeDocument/2006/relationships/notesMaster" Target="/ppt/notesMasters/notesMaster1.xml" Id="R2d8e4b1d42b044e2" /><Relationship Type="http://schemas.openxmlformats.org/officeDocument/2006/relationships/presProps" Target="/ppt/presProps.xml" Id="Re91f8fb447fd4642" /><Relationship Type="http://schemas.openxmlformats.org/officeDocument/2006/relationships/tableStyles" Target="/ppt/tableStyles.xml" Id="Rc7a4d1f9ca904cbf" /><Relationship Type="http://schemas.openxmlformats.org/officeDocument/2006/relationships/slide" Target="/ppt/slides/slide1.xml" Id="R6ec864e9d0094359" /><Relationship Type="http://schemas.openxmlformats.org/officeDocument/2006/relationships/slide" Target="/ppt/slides/slide2.xml" Id="R2e3f1dec8e854aa1" /><Relationship Type="http://schemas.openxmlformats.org/officeDocument/2006/relationships/slide" Target="/ppt/slides/slide3.xml" Id="R3c50257ffb35498b" /><Relationship Type="http://schemas.openxmlformats.org/officeDocument/2006/relationships/slide" Target="/ppt/slides/slide4.xml" Id="R3b5340a6848746f1" /><Relationship Type="http://schemas.openxmlformats.org/officeDocument/2006/relationships/slide" Target="/ppt/slides/slide5.xml" Id="R942caa828b174406" /><Relationship Type="http://schemas.openxmlformats.org/officeDocument/2006/relationships/slide" Target="/ppt/slides/slide6.xml" Id="Rc1d58e115b1b49d9" /><Relationship Type="http://schemas.openxmlformats.org/officeDocument/2006/relationships/slide" Target="/ppt/slides/slide7.xml" Id="Rf51604f365674905" /><Relationship Type="http://schemas.openxmlformats.org/officeDocument/2006/relationships/slide" Target="/ppt/slides/slide8.xml" Id="R721618682d524de6" /><Relationship Type="http://schemas.openxmlformats.org/officeDocument/2006/relationships/slide" Target="/ppt/slides/slide9.xml" Id="Rab4359a675f84fa8" /><Relationship Type="http://schemas.openxmlformats.org/officeDocument/2006/relationships/slide" Target="/ppt/slides/slide10.xml" Id="R08967039f7d649cf" /><Relationship Type="http://schemas.openxmlformats.org/officeDocument/2006/relationships/slide" Target="/ppt/slides/slide11.xml" Id="Ra891232c9b9b4c9e" /><Relationship Type="http://schemas.openxmlformats.org/officeDocument/2006/relationships/slide" Target="/ppt/slides/slide12.xml" Id="Rb1ac7c36c1654ce3" /><Relationship Type="http://schemas.openxmlformats.org/officeDocument/2006/relationships/slide" Target="/ppt/slides/slide13.xml" Id="Re7fc76454baf4575" /><Relationship Type="http://schemas.openxmlformats.org/officeDocument/2006/relationships/slide" Target="/ppt/slides/slide14.xml" Id="R62bdea1686a049b6" /><Relationship Type="http://schemas.openxmlformats.org/officeDocument/2006/relationships/slide" Target="/ppt/slides/slide15.xml" Id="Refd5d303744e415c" /><Relationship Type="http://schemas.openxmlformats.org/officeDocument/2006/relationships/slide" Target="/ppt/slides/slide16.xml" Id="R58e68f3ac1a246c0" /><Relationship Type="http://schemas.openxmlformats.org/officeDocument/2006/relationships/slide" Target="/ppt/slides/slide17.xml" Id="Ra655843ce79b4769" /><Relationship Type="http://schemas.openxmlformats.org/officeDocument/2006/relationships/slide" Target="/ppt/slides/slide18.xml" Id="Rd704f676c360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de0e2a6964d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8044a2aeb24d70" /><Relationship Type="http://schemas.openxmlformats.org/officeDocument/2006/relationships/notesMaster" Target="/ppt/notesMasters/notesMaster1.xml" Id="Rf389a2e8c296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053e8614474dbf" /><Relationship Type="http://schemas.openxmlformats.org/officeDocument/2006/relationships/notesMaster" Target="/ppt/notesMasters/notesMaster1.xml" Id="Ra5276e9a69ff49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bd50ef9d44178" /><Relationship Type="http://schemas.openxmlformats.org/officeDocument/2006/relationships/notesMaster" Target="/ppt/notesMasters/notesMaster1.xml" Id="R31df18d2627f4f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48684948e64652" /><Relationship Type="http://schemas.openxmlformats.org/officeDocument/2006/relationships/notesMaster" Target="/ppt/notesMasters/notesMaster1.xml" Id="R0209a5aa2d4f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46213ddddd4163" /><Relationship Type="http://schemas.openxmlformats.org/officeDocument/2006/relationships/notesMaster" Target="/ppt/notesMasters/notesMaster1.xml" Id="Re14288ea0a97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d92cf3ad704b80" /><Relationship Type="http://schemas.openxmlformats.org/officeDocument/2006/relationships/notesMaster" Target="/ppt/notesMasters/notesMaster1.xml" Id="Rc43835dcc5c741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2e9e1a1f774651" /><Relationship Type="http://schemas.openxmlformats.org/officeDocument/2006/relationships/notesMaster" Target="/ppt/notesMasters/notesMaster1.xml" Id="Rae8c6946f52245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8947649ab64b35" /><Relationship Type="http://schemas.openxmlformats.org/officeDocument/2006/relationships/notesMaster" Target="/ppt/notesMasters/notesMaster1.xml" Id="R818ae89faae745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3f6f3111fa47de" /><Relationship Type="http://schemas.openxmlformats.org/officeDocument/2006/relationships/notesMaster" Target="/ppt/notesMasters/notesMaster1.xml" Id="R7a8768853e8d4a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1f4e7d82a149aa" /><Relationship Type="http://schemas.openxmlformats.org/officeDocument/2006/relationships/notesMaster" Target="/ppt/notesMasters/notesMaster1.xml" Id="R1503dae110fd48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6299201a33454c" /><Relationship Type="http://schemas.openxmlformats.org/officeDocument/2006/relationships/notesMaster" Target="/ppt/notesMasters/notesMaster1.xml" Id="R0599728947f447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d76ff91f7c4505" /><Relationship Type="http://schemas.openxmlformats.org/officeDocument/2006/relationships/notesMaster" Target="/ppt/notesMasters/notesMaster1.xml" Id="Rd9ded33160bf4d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6fb890487644b4" /><Relationship Type="http://schemas.openxmlformats.org/officeDocument/2006/relationships/notesMaster" Target="/ppt/notesMasters/notesMaster1.xml" Id="Rcdeb6db552d24a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deb86a95e24a73" /><Relationship Type="http://schemas.openxmlformats.org/officeDocument/2006/relationships/notesMaster" Target="/ppt/notesMasters/notesMaster1.xml" Id="Rbede6310b0534b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4e05046d1046ba" /><Relationship Type="http://schemas.openxmlformats.org/officeDocument/2006/relationships/notesMaster" Target="/ppt/notesMasters/notesMaster1.xml" Id="R1f9e9d3cd28c4a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74eb8b2efc4836" /><Relationship Type="http://schemas.openxmlformats.org/officeDocument/2006/relationships/notesMaster" Target="/ppt/notesMasters/notesMaster1.xml" Id="R60b9c95b54f546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82515bdbb84d2f" /><Relationship Type="http://schemas.openxmlformats.org/officeDocument/2006/relationships/notesMaster" Target="/ppt/notesMasters/notesMaster1.xml" Id="R73e294d36a9e48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041fb92fe543cc" /><Relationship Type="http://schemas.openxmlformats.org/officeDocument/2006/relationships/notesMaster" Target="/ppt/notesMasters/notesMaster1.xml" Id="R2efa478bc13940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内容摘要：课程主题：从问题到证据。用统一视觉语言承载可编辑的教学内容</a:t>
            </a:r>
          </a:p>
          <a:p xmlns:a="http://schemas.openxmlformats.org/drawingml/2006/main">
            <a:r>
              <a:t>版式说明：深色科技主题的cover语义页面；背景为无文字图片，文本框、强调线和全部教学文字保持可编辑。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内容摘要：课程路线。目标 · 概念 · 推演 · 练习 · 复盘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内容摘要：第一章｜建立问题框架。先明确边界，再选择方法</a:t>
            </a:r>
          </a:p>
          <a:p xmlns:a="http://schemas.openxmlformats.org/drawingml/2006/main">
            <a:r>
              <a:t>版式说明：深色科技主题的chapter语义页面；背景为无文字图片，文本框、强调线和全部教学文字保持可编辑。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内容摘要：学习目标。完成本章后，你能够解释、应用并检验核心方法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内容摘要：先备知识。从三个已知条件出发，连接到本章的新问题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内容摘要：核心定义。定义不是一句话，而是一组条件、边界与反例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内容摘要：适用边界。何时成立？何时必须切换判断标准？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内容摘要：推演路径。把复杂任务拆成可检查的连续步骤</a:t>
            </a:r>
          </a:p>
          <a:p xmlns:a="http://schemas.openxmlformats.org/drawingml/2006/main">
            <a:r>
              <a:t>版式说明：深色科技主题的reasoning语义页面；背景为无文字图片，文本框、强调线和全部教学文字保持可编辑。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内容摘要：例题拆解。先识别结构，再执行步骤，最后回到证据</a:t>
            </a:r>
          </a:p>
          <a:p xmlns:a="http://schemas.openxmlformats.org/drawingml/2006/main">
            <a:r>
              <a:t>版式说明：深色科技主题的reasoning语义页面；背景为无文字图片，文本框、强调线和全部教学文字保持可编辑。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内容摘要：方法对比。同一问题可以有多条路径，但评价标准保持一致</a:t>
            </a:r>
          </a:p>
          <a:p xmlns:a="http://schemas.openxmlformats.org/drawingml/2006/main">
            <a:r>
              <a:t>版式说明：深色科技主题的content语义页面；背景为无文字图片，文本框、强调线和全部教学文字保持可编辑。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内容摘要：代码与实现。证据页优先保证代码、公式和表格的可读性</a:t>
            </a:r>
          </a:p>
          <a:p xmlns:a="http://schemas.openxmlformats.org/drawingml/2006/main">
            <a:r>
              <a:t>版式说明：深色科技主题的evidence语义页面；背景为无文字图片，文本框、强调线和全部教学文字保持可编辑。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内容摘要：证据核对表。把结论、证据与限制条件放到同一张表中</a:t>
            </a:r>
          </a:p>
          <a:p xmlns:a="http://schemas.openxmlformats.org/drawingml/2006/main">
            <a:r>
              <a:t>版式说明：深色科技主题的evidence语义页面；背景为无文字图片，文本框、强调线和全部教学文字保持可编辑。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内容摘要：理解检查。先独立作答，再展开判断依据</a:t>
            </a:r>
          </a:p>
          <a:p xmlns:a="http://schemas.openxmlformats.org/drawingml/2006/main">
            <a:r>
              <a:t>版式说明：深色科技主题的practice语义页面；背景为无文字图片，文本框、强调线和全部教学文字保持可编辑。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内容摘要：反馈与订正。反馈指出差距，也给出下一步行动</a:t>
            </a:r>
          </a:p>
          <a:p xmlns:a="http://schemas.openxmlformats.org/drawingml/2006/main">
            <a:r>
              <a:t>版式说明：深色科技主题的practice语义页面；背景为无文字图片，文本框、强调线和全部教学文字保持可编辑。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内容摘要：易错辨析。错误答案通常来自边界混淆，而不是记忆不足</a:t>
            </a:r>
          </a:p>
          <a:p xmlns:a="http://schemas.openxmlformats.org/drawingml/2006/main">
            <a:r>
              <a:t>版式说明：深色科技主题的practice语义页面；背景为无文字图片，文本框、强调线和全部教学文字保持可编辑。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内容摘要：迁移应用。把方法映射到新的任务情境</a:t>
            </a:r>
          </a:p>
          <a:p xmlns:a="http://schemas.openxmlformats.org/drawingml/2006/main">
            <a:r>
              <a:t>版式说明：深色科技主题的reasoning语义页面；背景为无文字图片，文本框、强调线和全部教学文字保持可编辑。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内容摘要：本章回顾。让定义、方法、证据和边界重新汇聚</a:t>
            </a:r>
          </a:p>
          <a:p xmlns:a="http://schemas.openxmlformats.org/drawingml/2006/main">
            <a:r>
              <a:t>版式说明：深色科技主题的recap语义页面；背景为无文字图片，文本框、强调线和全部教学文字保持可编辑。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内容摘要：课程收束。带着一个可执行的问题离开课堂</a:t>
            </a:r>
          </a:p>
          <a:p xmlns:a="http://schemas.openxmlformats.org/drawingml/2006/main">
            <a:r>
              <a:t>版式说明：深色科技主题的recap语义页面；背景为无文字图片，文本框、强调线和全部教学文字保持可编辑。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81cb237a14e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4c028667f44209" /><Relationship Type="http://schemas.openxmlformats.org/officeDocument/2006/relationships/slideLayout" Target="/ppt/slideLayouts/slideLayout1.xml" Id="Re2865218c9f44d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865218c9f44d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df755440c4e15" /><Relationship Type="http://schemas.openxmlformats.org/officeDocument/2006/relationships/image" Target="/ppt/media/image.jpeg" Id="R14ec8573e76b4c8a" /><Relationship Type="http://schemas.openxmlformats.org/officeDocument/2006/relationships/notesSlide" Target="/ppt/notesSlides/notesSlide1.xml" Id="R8fa42e9ecc93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4082aea114d94" /><Relationship Type="http://schemas.openxmlformats.org/officeDocument/2006/relationships/image" Target="/ppt/media/image2.jpeg" Id="Rf50cb1c996d843ec" /><Relationship Type="http://schemas.openxmlformats.org/officeDocument/2006/relationships/notesSlide" Target="/ppt/notesSlides/notesSlide2.xml" Id="R66a1427ed984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19c6d7b9c4370" /><Relationship Type="http://schemas.openxmlformats.org/officeDocument/2006/relationships/image" Target="/ppt/media/image3.jpeg" Id="R96753e3fed8e4247" /><Relationship Type="http://schemas.openxmlformats.org/officeDocument/2006/relationships/notesSlide" Target="/ppt/notesSlides/notesSlide3.xml" Id="R017777f075c749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256683b254137" /><Relationship Type="http://schemas.openxmlformats.org/officeDocument/2006/relationships/image" Target="/ppt/media/image4.jpeg" Id="Rdedbcfcd7c1d4ce7" /><Relationship Type="http://schemas.openxmlformats.org/officeDocument/2006/relationships/notesSlide" Target="/ppt/notesSlides/notesSlide4.xml" Id="R716af27d5f344e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cf78e076f4ee3" /><Relationship Type="http://schemas.openxmlformats.org/officeDocument/2006/relationships/image" Target="/ppt/media/image5.jpeg" Id="Raf4f9c054d274927" /><Relationship Type="http://schemas.openxmlformats.org/officeDocument/2006/relationships/notesSlide" Target="/ppt/notesSlides/notesSlide5.xml" Id="R93204c1f4a3842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4a28515d84655" /><Relationship Type="http://schemas.openxmlformats.org/officeDocument/2006/relationships/image" Target="/ppt/media/image6.jpeg" Id="R89ce769b04804731" /><Relationship Type="http://schemas.openxmlformats.org/officeDocument/2006/relationships/notesSlide" Target="/ppt/notesSlides/notesSlide6.xml" Id="R20ea33563df340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c2e5ec4764399" /><Relationship Type="http://schemas.openxmlformats.org/officeDocument/2006/relationships/image" Target="/ppt/media/image7.jpeg" Id="R88434b13a7814400" /><Relationship Type="http://schemas.openxmlformats.org/officeDocument/2006/relationships/notesSlide" Target="/ppt/notesSlides/notesSlide7.xml" Id="R08f99320ab394c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33eb53c7c4aac" /><Relationship Type="http://schemas.openxmlformats.org/officeDocument/2006/relationships/image" Target="/ppt/media/image8.jpeg" Id="R83881609231e4078" /><Relationship Type="http://schemas.openxmlformats.org/officeDocument/2006/relationships/notesSlide" Target="/ppt/notesSlides/notesSlide8.xml" Id="Rf101d6f3661444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c7b2bd754472" /><Relationship Type="http://schemas.openxmlformats.org/officeDocument/2006/relationships/image" Target="/ppt/media/image9.jpeg" Id="R50331900b25747e1" /><Relationship Type="http://schemas.openxmlformats.org/officeDocument/2006/relationships/notesSlide" Target="/ppt/notesSlides/notesSlide9.xml" Id="Reebbf45241114c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0c246cb9a40e9" /><Relationship Type="http://schemas.openxmlformats.org/officeDocument/2006/relationships/image" Target="/ppt/media/image10.jpeg" Id="R548b2134cb024bd2" /><Relationship Type="http://schemas.openxmlformats.org/officeDocument/2006/relationships/notesSlide" Target="/ppt/notesSlides/notesSlide10.xml" Id="Rb5d8cba259f040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94be744f6412e" /><Relationship Type="http://schemas.openxmlformats.org/officeDocument/2006/relationships/image" Target="/ppt/media/image11.jpeg" Id="R86cc691847a54cd5" /><Relationship Type="http://schemas.openxmlformats.org/officeDocument/2006/relationships/notesSlide" Target="/ppt/notesSlides/notesSlide11.xml" Id="R586edd1b1a754c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e0a62e10c471c" /><Relationship Type="http://schemas.openxmlformats.org/officeDocument/2006/relationships/image" Target="/ppt/media/image12.jpeg" Id="R2ad97f0c60334e1e" /><Relationship Type="http://schemas.openxmlformats.org/officeDocument/2006/relationships/notesSlide" Target="/ppt/notesSlides/notesSlide12.xml" Id="R2bf148fda5bc46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85f3b097b44b1" /><Relationship Type="http://schemas.openxmlformats.org/officeDocument/2006/relationships/image" Target="/ppt/media/image13.jpeg" Id="R48cb2edeb805463c" /><Relationship Type="http://schemas.openxmlformats.org/officeDocument/2006/relationships/notesSlide" Target="/ppt/notesSlides/notesSlide13.xml" Id="R4d41ee27100c4e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e27ae8f34ffe" /><Relationship Type="http://schemas.openxmlformats.org/officeDocument/2006/relationships/image" Target="/ppt/media/image14.jpeg" Id="R87db9a634b2e46c2" /><Relationship Type="http://schemas.openxmlformats.org/officeDocument/2006/relationships/notesSlide" Target="/ppt/notesSlides/notesSlide14.xml" Id="Rfd870d0f69844a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eea1604584f54" /><Relationship Type="http://schemas.openxmlformats.org/officeDocument/2006/relationships/image" Target="/ppt/media/image15.jpeg" Id="R984ff5364ab0452c" /><Relationship Type="http://schemas.openxmlformats.org/officeDocument/2006/relationships/notesSlide" Target="/ppt/notesSlides/notesSlide15.xml" Id="Rc3e1ad94fe964d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d9cfc5e8b4b0f" /><Relationship Type="http://schemas.openxmlformats.org/officeDocument/2006/relationships/image" Target="/ppt/media/image16.jpeg" Id="R82defa0720dc4ed7" /><Relationship Type="http://schemas.openxmlformats.org/officeDocument/2006/relationships/notesSlide" Target="/ppt/notesSlides/notesSlide16.xml" Id="R9057eaa0d2a740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96b9dcfb442ca" /><Relationship Type="http://schemas.openxmlformats.org/officeDocument/2006/relationships/image" Target="/ppt/media/image17.jpeg" Id="R983601a21bce4079" /><Relationship Type="http://schemas.openxmlformats.org/officeDocument/2006/relationships/notesSlide" Target="/ppt/notesSlides/notesSlide17.xml" Id="R2eb3ff1ef05243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727910e7b4215" /><Relationship Type="http://schemas.openxmlformats.org/officeDocument/2006/relationships/image" Target="/ppt/media/image18.jpeg" Id="R2f15c69986a94df1" /><Relationship Type="http://schemas.openxmlformats.org/officeDocument/2006/relationships/notesSlide" Target="/ppt/notesSlides/notesSlide18.xml" Id="R6f177dd5df6546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c8573e76b4c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608CC-2F58-4083-8DA3-A95FC88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A8E44-17E1-47FF-B6DC-0859AAF9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课程主题：从问题到证据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52B53-4146-4304-8C5F-E17FE2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用统一视觉语言承载可编辑的教学内容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54C7B-535F-4042-AA23-918C9069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5B16C-8950-48DC-9985-C048A497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786013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cb1c996d843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67261-FD3A-4DE7-A41F-5D90CD5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BE0E9-20F0-4255-92EC-648B1B9F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课程路线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95E35-53F6-4F1D-B9E4-E0F5739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C29E8-1F9F-46BB-8193-8F20C742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1F4AA-B5C6-4B68-903B-5F9A529C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目标 · 概念 · 推演 · 练习 · 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384E1-0387-4D0D-BF9F-A9849B93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4D2B4-B38F-4087-AC4E-0BD63E89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C3397-7DB1-4D4E-825D-F285A383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A3DE7-347A-4698-9E3A-ED2B148A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C6913-AD06-4547-A750-6FFF9DF3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1B726-33CB-4A6F-B590-2D1EF51C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28699-5A12-4B79-B0BC-F827C3C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191A8-293C-4915-9A2F-EEC61F3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C369E-7D05-4C83-9EFF-63F2DD59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CEAF2-DF78-4821-8832-741109C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F17B-2520-4BAF-A06E-DFABD08B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F3ECF-E819-406C-A275-CCF47CC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概念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F3033-EE7F-410B-B3C4-617E136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4FC48-DBB6-4B58-86D8-9189837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D9326-2EA9-4571-BF7D-97B7E681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912BD-C60E-4D47-867F-9DB4E681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94594-1AF7-426C-B5A3-7DC9CF4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25A46-B3D7-4708-AB8D-309D72EC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推演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CC996-DC2E-4D3D-9EE3-0CDEC86B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79166-5F42-48C3-A0EF-D8ABAE73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DEDB9B-5C3A-4E34-B957-5497E2B2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A36A2-27AA-41AE-AAC8-D9298205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5BE2D8-A605-4C25-9391-E0571D25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15000-C85F-4C27-9C97-E790DC8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29468D-B954-4816-8CD1-8B0AB11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BC408-D9B1-4012-9B56-9D622223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07F4E7-4C50-4267-A65E-10D16322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249A0D-B4F1-4CD9-AEFD-AECE45E7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2F9F8-C19F-4C5E-919B-1C5A27D2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阶段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7A2DD4-849A-4A8B-AC07-C4FD5518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1C9E5B-82E4-4404-9C78-A769ECB4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E47404-1F3A-42F8-852C-2715630B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7980577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53e3fed8e42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B541D-8B22-4F1E-AB4D-6C2A76B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CHAPTER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2CA29-B05E-44F7-B9A4-E893587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第一章｜建立问题框架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8B7B5-1C89-4461-953A-EFC48F46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先明确边界，再选择方法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62AD0-60CA-416D-9540-25344EB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53DE3-E2C1-44CD-8419-02D47793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058425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bcfcd7c1d4c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0FB0A-DB0B-498F-83E9-90648206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6B0B9-893A-4BCC-90F7-D4624B79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1A1F4-F1EA-48B0-806E-6810711F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F1F2-9574-41CB-A956-F0E75987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617E4-87F3-436A-812A-1FFB006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完成本章后，你能够解释、应用并检验核心方法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09574-E158-486D-AF46-351DBE77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D41C7-7A42-4CB8-A3D8-AD0B2240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64D3F-5A81-43D5-9907-D89BF022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2D482-6283-4F95-BB1D-A0F21D23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16F9D-99FF-4CB4-B9D5-CC0240F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373DC-0D6D-4B33-BDE2-74863BDF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用自己的语言说明核心概念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800E4-B436-4071-9190-A60F4CAA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4861C-1BD3-45A6-92AF-09F95954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CF865-8B08-4E8E-8F29-457208E2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A7795-C3E7-4467-AAFF-0E5923E9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AA60A-BF9A-40F4-8997-A1ABCCE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A0B13-94C3-462B-91B7-BD1E75AD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在新情境中选择合适的方法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61D17-99E5-4F51-9761-DD458548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EBF4A-C482-4578-966A-94255FC4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5E724-7C1E-4118-9BBA-EB9104DE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73CEE-AC51-4B39-90DA-EEFE5C01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38482-CB24-40AD-B190-2DCA3C76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1BFE3-FE60-4458-8422-35F1F0C4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用证据核对结果与边界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EFCD6-94E8-4444-BE02-D11D77F3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9AEB0-A00C-41F8-8B9C-4E75E1DA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4442707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f9c054d2749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0A3A7-730A-4D43-9E76-3397BD82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2DE-6F58-4F49-A135-EE248A64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先备知识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6592D-C808-41AD-8BBB-881A9F6F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39A00-ED27-4BC4-AD4E-720F77C0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4F813-19EA-40DB-B9F0-FB041632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从三个已知条件出发，连接到本章的新问题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94994-F5FD-4863-816F-57FE5CCD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D51E5-4945-433D-AF1F-EE06C4F4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F9C6E-D863-4422-BA12-2D106806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FF824-CC19-4F7D-A010-D3ED793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346F1-2F70-4BC2-8BB6-73E1B3F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已知条件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15936-CA67-41FA-90F2-4158EEF4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识别任务中的稳定信息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A5C8F-BA88-4651-827D-F82E6CBA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3F846-FEAB-4466-8A63-FE93D605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77C95-03A3-4CE4-81E7-6E9D580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16D42-BA27-479B-AD24-FD1A7A7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6008A-1718-449F-9C04-15C5618C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已有方法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9BC7F-461D-4DCD-9D0B-5DE931AD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回忆可以复用的判断工具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59A3-C42A-4745-AE41-59C3A31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64F91-6CEA-4212-AC88-949EF5F0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63606-F820-4C87-9FC1-8E01C0D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D4203-1B94-4311-A789-9FADEE6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376D2-0B52-440C-B1AA-65FDC66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新问题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DB307-AB6F-4089-9A2F-6E30A54C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找出这次学习真正新增的挑战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3BAB0-074D-4330-BA9E-E12CF02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91790-F619-4524-B413-68BEA2FB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780251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e769b048047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5F0ED-9FD0-4A75-9FC6-787FA8F6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DE900-CEA1-4AF3-B802-8344A480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核心定义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BF24B-477C-498F-928A-A9A19146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30BCA-7A1F-4A6E-B624-2EDC5719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3C971-272C-4CEB-9A44-184AE785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定义不是一句话，而是一组条件、边界与反例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7F077-D723-43F4-9E9E-7BDE7E85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2F5BF-ED3C-48B1-A892-388E570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EA1D5-E510-4916-8723-1422019D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DE9EC-D29F-476E-A379-4CE8E6B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BC57A-EF6D-4485-A8FD-55FC4124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62674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一个可使用的定义，需要同时说明对象、条件、关系与判断标准。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B62EC-CF47-4E4F-AB2C-A12FF9C1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71EE1-53BC-4B43-8254-FC26CC05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669DD-D7D0-4935-A5F0-4D557598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63114-EE13-4652-A8E9-2317E4B1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必要条件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0D5FC-5694-47B4-B808-C2B2D136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缺少任一条件时，不直接套用结论。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94EB4-88C8-4269-9203-EAB2F602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51CFC-80E7-4E7A-B30C-B72DCD69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23626-8EDC-4B67-8208-5BC3CEEB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BBECC-7EE7-4D1E-ADF8-2CA1F09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F9A62-09B6-4BFA-ABA4-40AE6C7A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用最小反例暴露定义边界。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829A2-0DC0-45C6-A1A5-D35F29F3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C025B-5308-4AF2-AB0B-8A622E5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4596116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34b13a78144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BD159-0233-49EE-96BC-4B157E64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9BDAF-A98C-4638-8678-1DC89E7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适用边界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D52AA-84C4-4C30-8058-5DA0EA7A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7AB55-56C0-4B7C-AC4B-680F73DE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53C66-A6F4-4204-B272-A4B445A6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何时成立？何时必须切换判断标准？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DE785-271B-439F-8706-97256256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DF805-7FF1-423B-97EF-E1B9EF1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4277-83C3-4C9F-A6EA-4541F40B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E6D13-C502-4F39-8318-E88256D5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876CB-D8CD-4AE3-8D12-14EBEC3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条件完整、证据可核验、任务目标与方法一致。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20E40-859E-47B0-9161-BF111A1A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9848A-1D6E-4D33-B2DB-A4DB620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DC760-916B-4C14-9D78-BA70CAE6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280C5-8669-4FBF-A516-BFFAFF3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不适用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5E917-8831-4537-ACB5-FAA536D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条件缺失、证据不足或评价标准已经改变。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0E9DE-AA2E-4BF5-B0D6-057BA322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571D8-6B44-44FD-97D7-69C72FA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2365778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81609231e40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7B92B-8EA2-4D22-8F42-48BBF413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A8EB7-6048-4780-8DDB-58D7AEB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推演路径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530A6-F24B-48FA-8C77-0393A574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2AC43-EFFB-40B6-ADDD-64A8707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8B5EA-07F2-4162-9345-38EBCDC5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把复杂任务拆成可检查的连续步骤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1F60D-EE9A-431F-AE76-9C2C9D3C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2BE15-FBC3-425C-ACA6-6FCA1B4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4718B-5430-42D2-A036-35914E3C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D4D00-61CE-4B64-8DC0-9E100554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B553F-3D27-4455-B8F0-2C85C08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B3BC9-9657-465C-B33B-2AD2F013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标记任务对象与限制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0609A-0D31-4EE2-8EAC-1B570D19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A9B4D-D63A-4117-B099-5CAF22F8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CED72-58B5-4F30-BFAA-6C6FD715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CE836-1472-424B-89F2-12F00EC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C5FE4-5C49-4B0C-8CD4-734034E2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EC7E4-9CFF-4F21-84FF-5953C308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匹配可解释的方法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4CF55-5F15-496C-AA84-96B82577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A78A3-2595-44EC-8AA8-E552E8F0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0989D-92CE-4949-B54E-901847A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F3ECB-824E-4CDC-9F8B-EDA6789A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90B6F-7CCE-493D-A3AC-01649CF5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94B99-20EA-4793-8FF8-618E3146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逐步记录中间结果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95CC5-D6E8-4719-BADE-70051A60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813C1-0C63-4C95-82E1-6811EC03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3190E-EBCA-43BB-876B-181D085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D9E9E-E7BD-4B21-B811-46B53425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66A1A-AFAD-41D7-9FDA-15BCFF2D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21D191-4D04-41DA-A702-A698706D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回到证据与边界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982C7C-1DF9-404A-AFAC-B41158ED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4BF07-800D-4EFF-B9F5-7D03CE41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2510665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31900b25747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E9DEB-FE65-4060-91F9-CF4105C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7003F-E574-42D1-A5E6-AB3BDE98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例题拆解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2A48C-F343-478B-B1DC-3B3CA0F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C5CB4-AF32-422F-A05C-39FC81BE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3D03B-E172-46A0-A56E-772C45E7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先识别结构，再执行步骤，最后回到证据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C9581-F22A-40AC-859B-6E17C24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CFEC1-FF47-4A1D-A58E-F099475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2944B-7CA5-49E4-B630-7C62DA7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51FE3-487E-4210-89A9-0AD1CB2A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题目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D83D9-2DC4-4A78-AF53-7B80BA72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给定条件后，先判断真正需要求解的对象。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27F7E-C737-4ED3-9572-C023304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FA003-C780-4737-AA47-C05E3262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A2715-29F0-4B75-8ECD-098C4122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4DD20-A277-4A13-B1CD-F7D954DA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FFA70-35B7-45C2-91C4-589D18E0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把条件转换为可以逐步核验的结构。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46E7F-6D6A-4243-9FB0-CBABF816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57425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ABA3A-1A25-4513-9AD4-8417956D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C310A-357E-4A17-A432-BC09DFD7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B8B23-45D4-40B6-9610-F0445CD2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EBC33-DADE-4C12-9DD0-04F2961D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24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检查结果是否满足原条件，并说明适用边界。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87A67-D21A-4755-BD08-9C554E78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E1930-93ED-43F3-9A3C-82F21C20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4630104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b2134cb024b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BD098-6A7C-4B81-B846-3710CCF9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1C5F7-9C04-49A4-9D92-7C0AFE3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方法对比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C8E6A-F5CD-43AB-A0DC-F5F2837A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B5ACD-F805-4824-BE5D-330632F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D57A8-17AF-4E11-97DF-B541AF4D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同一问题可以有多条路径，但评价标准保持一致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66E71-AE9F-4F11-9344-A4EA8B8D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EE18A-5475-49FC-93A2-6EEEEF92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5137B-D945-431D-9D2C-377EE3E9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27044-20A5-4371-9F16-E5C733A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路径 A｜直接判断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663F5-914C-4CF7-A456-347609AA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步骤更少，适合条件清晰、证据完整的任务。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EF464-7C44-4168-8113-5D31B55C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2C2BC-E647-4554-966B-0F773A07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C1711-F013-4BF3-9A84-B9E7B5F6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767D5-3B65-4730-821C-1EC134A9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路径 B｜逐层验证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2650B-321E-4505-9F42-3DD050E4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检查更细，适合边界模糊或需要追溯依据的任务。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70335-217B-418F-BB4A-E7311616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AB805-F6CE-4E87-A84C-62F02325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4550172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c691847a54c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BD931-24BA-4CE9-B125-DCB356D5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4931D-8315-4DF3-AF13-63AB790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代码与实现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1BD8C-187B-4FB1-9803-F81B1347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149D5-7303-4FC2-80BD-9AB0F171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DD9C4-2CED-4E99-9B97-4EC4C0AE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证据页优先保证代码、公式和表格的可读性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2B420-5040-4B48-B2DB-8E3A2DBB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FBDFA-652F-4E2F-AD3B-89CA430B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0D16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6CF13-2341-4F82-B344-7882D73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1DC01-9F52-4397-A323-2DD279E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可编辑代码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AC1F0-58DF-4151-B8D6-A07BD05C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774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function verify(input)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  const evidence = collect(input);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  return evidence.every(item =&gt; item.valid);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D5050-54B9-4427-9167-6EC1BBD6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F6752-C755-45E4-A5F6-8D5DB04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7219155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97f0c60334e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8A530-7CA9-49CA-B6E4-87A135C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91C4A-8BD6-4D20-9086-1A58ABF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证据核对表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76F8B-34BE-4357-B0DE-2B49F646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D8A6F-F1AD-48EA-AC43-50A19F0F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3D0AB-624F-4A52-AC0A-4EC5F054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把结论、证据与限制条件放到同一张表中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C679E-F6D4-49A8-940D-F4D727DE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288F0-577E-4DA6-BC9C-FBD77358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9D5A6-8C9E-4DA0-ABCB-7112F2A9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8B0FD-056D-4413-B7B7-F103AB95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4738B-5A36-40C4-A983-378C288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当前判断可成立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744C1-8BE6-4D21-B5D8-0F8768F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5B232-1E32-4796-897E-CA5D9DB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70D16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94C45-C659-424D-8102-90BB1B6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2AD9D-B8AA-4173-93DC-B069BB31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56B94-DD41-45CD-B981-045BF08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数据、过程与来源相互支持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36DEB-04BA-471E-9E01-331802AC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DD9AB-B79F-481F-8A69-7A3B7AB3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334F4-B8A4-4D9E-A76B-57C6BACD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79CF4-C991-4BA2-A0C4-7545472E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限制条件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54520-2B83-44C8-9337-CBE7FA9D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仅适用于已声明的条件范围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EEC91-0D0A-4985-A46C-C3A749F6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D49D7-49DB-464A-ABFE-C0509DE4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3773828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b2edeb80546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41080-3E92-492E-AD4E-049C14D0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1E5E4-F65C-4123-AAFC-9A3BFB87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理解检查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09352-569F-4766-8C11-BA41F26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E55CC-0B2C-4CD2-A0EE-EECB0A1E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0B491-0A87-4CE2-95ED-3CECD3B5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先独立作答，再展开判断依据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9E1B1-8ADD-4F13-ACB8-4D4D4CD0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E383A-1792-4A70-807D-6D603268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B04F9-1CC4-4396-9E8C-AFA9AC27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C7E38-B8C4-49BD-8D32-3AF961BF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问题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724E0-8AA0-404F-927E-48B081F3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774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请判断给定方案是否满足定义，并写出两条可核验的判断依据。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9DF93-0C68-4991-A580-08B58B87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62365-AA75-4BFB-AC7B-8A9B6459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58490335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b9a634b2e46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7096C-26E0-4D09-8DB7-F2927E13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BCFA3-3D69-4283-AAD5-789C7A7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反馈与订正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B3EBC-53E4-4AD7-B2A5-37FB6FC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91699-B346-4528-8CD0-52E547A9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7B24A-F4BB-4125-B03D-29DC81A1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反馈指出差距，也给出下一步行动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08627-CD7E-458B-B580-EB1CF51A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22877-B900-437B-A14A-2B5D647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835AE-462D-4E47-A0B8-5F322150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65DCB-788F-46B1-A499-1D7F512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你的回答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6228A-3C56-459A-8332-E8CB229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先保留学习者的原始判断与理由。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647F1-5C08-4FE8-939E-6924409C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38D32-7CC0-4DFA-B363-5BDA845C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05CB3-7142-44DE-B790-6840F109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D622D-D7E3-4085-B73C-BBE2FAD8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反馈依据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E1B18-50A7-4702-B3ED-F99DF46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指出已掌握部分、证据缺口和下一步行动。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3C908-8445-4568-B949-F3CCD04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8DEE6-61D6-4324-8A64-1C4CABC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20909642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ff5364ab045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63AFC-3544-4D4C-9D35-8FB8D896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19F94-74C3-44BE-BFD3-D6C0BC4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易错辨析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3E292-5C15-4C19-A2E6-7C9BE218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6BEEB-E059-4ADF-A5AE-E13B23DE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0C872-7C8C-4604-A98D-95866E9C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错误答案通常来自边界混淆，而不是记忆不足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0E5A8-BD51-40C3-8915-65A66BAD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B479F-59E3-4AD2-8F70-DFC2D791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3FE61-414B-46E5-B5B9-BFA2A164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F296A-E97A-41BC-8624-9EED348C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常见误区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DBD80-02F8-4667-A4C0-1C6E2044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只记住结论，却忽略结论成立的条件。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C39F5-8846-4385-9F76-5E5F4CEE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25C74-1BF4-4FA3-A51C-A11AF8C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5974A-CB5B-4E72-BCD9-AE808218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362F7-77FE-4285-925C-28E0419D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修正策略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35FB7-573A-49AC-8C87-30C41AEC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把条件、证据和边界重新连接起来。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29848-C62B-4A14-9873-33120753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BC990-B080-41C8-A399-4975E2D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437695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efa0720dc4e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85657-D58A-49E1-AE08-03DDEFF6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CBDAD-9166-42FF-B657-8CC0494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迁移应用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76C80-C723-4904-8BD6-47AF098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C61A1-3DCD-4D1D-839B-C3DBADA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7699B-0FB5-4590-B779-A94F35F6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把方法映射到新的任务情境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FB91F-7687-455A-A3AC-7460AB29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5356D-E714-459F-B317-45157CA9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05E9F-0FC2-427A-99A2-41BECD27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866C6-3F11-486A-89A6-5EC5F0A6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原任务结构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75007-FEA1-45C2-86BC-5FE39B92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对象 → 条件 → 方法 →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5ECD1-D37B-4046-A9BF-4EED717F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28661-0384-46A7-90D9-1FBD9787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C9AC5-971A-4BDC-827F-DBFD159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9780B-C11F-47CF-901B-7597DE4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新情境映射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13042-D6D6-4524-8A87-77F4CD7A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保留结构，替换对象与限制条件。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781C7-ACC9-4057-885C-3D18FD9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9C3DA-0E83-445B-AB0F-ED68299A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1370067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601a21bce40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7D527-62C6-4C07-832F-B345342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EB387-8774-4D8F-B6D2-B0B11226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本章回顾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220EF-CE78-4612-8A14-FEFF9BD0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86A13-673A-4A31-984F-A8F9BA4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61CE5-6089-4047-96AD-0F9158D7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让定义、方法、证据和边界重新汇聚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9EEB1-F7D0-420F-A5C8-E6411074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D30F1-8C9A-453D-9CF3-23D39CCA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202B-7986-4E59-A0E5-158D616B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4E34C-B3E5-4F1D-959A-617E10F1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41796-532A-415B-8CB8-0DCF7BA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5231F-9D56-4597-AF96-EEDF48E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说清对象和条件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E9AEE-04DE-4D29-8ADA-0B49CE5F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D29DC-A6C1-42B8-A43F-ED1AB962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D01D9-A619-4F8E-82B9-4BE0D429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8DE95-BA24-445A-8F8A-7EC8BC60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DC0BC-340A-4F5D-943F-3AF4A085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3EEDB-DEED-41E2-8592-F9CE4281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拆成可检查步骤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B75E5-34F5-4D17-8364-AC4B265B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6A218-140C-495D-8379-A89195B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665CB-333E-4B09-83F8-5E48A01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46D26-E1F2-42F2-9859-AF872B3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81840-2AAA-4C76-A7B0-3D3D7FE2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ED1B6-7C70-4D98-B31A-BFA314F6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核验来源与过程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91719-F09A-46FA-A545-C5541EE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395EE-CA23-4E95-A04A-DE184F4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8DEBF-B654-442E-B2D1-088DEB1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D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11C13D-A59A-4291-B7C4-08715D7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0D6B1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0D6B1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53D37-54E2-4299-BEB3-5CCA9407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A0E70-C390-4254-9CB9-77FC44BA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说明何时不适用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93E1F-28B7-4E0C-91C4-57A46F70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6D618-EA95-456D-94F5-93674460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8430184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5c69986a94d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21F13-FD42-4DA7-9CFD-956C0BBF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DB5FF"/>
                </a:solidFill>
                <a:latin typeface="Noto Sans SC"/>
                <a:ea typeface="Noto Sans SC"/>
                <a:cs typeface="Noto Sans SC"/>
              </a:rPr>
              <a:t>深色科技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CE1D4-9B32-42F2-BAB9-5E4D53F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课程收束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6D5BB-CD51-4E36-9BE6-00520AC5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54350-C357-419A-9B03-36A58093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8F941-25DE-4B7E-A1D3-59CD16E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带着一个可执行的问题离开课堂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01E94-2A9B-48C7-912F-C3B260C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66975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1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572AD-0D9A-47A9-8583-6F963D3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09152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76D7F-632A-4C8D-9072-837B7BCA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E83E5-0566-47C7-B3C0-5B8E2AE4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3F8FF"/>
                </a:solidFill>
                <a:latin typeface="Noto Sans SC"/>
                <a:ea typeface="Noto Sans SC"/>
                <a:cs typeface="Noto Sans SC"/>
              </a:rPr>
              <a:t>离堂问题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5C363-9C09-4E44-800F-8EDC877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8267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7E3F2"/>
                </a:solidFill>
                <a:latin typeface="Noto Sans SC"/>
                <a:ea typeface="Noto Sans SC"/>
                <a:cs typeface="Noto Sans SC"/>
              </a:rPr>
              <a:t>你准备把今天的方法用于哪个真实任务？下一步要收集什么证据？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F07AB-189D-4B21-A17E-F63BB2B6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FC551-A43F-4495-B003-3C86F042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1A6BE"/>
                </a:solidFill>
                <a:latin typeface="Noto Sans SC"/>
                <a:ea typeface="Noto Sans SC"/>
                <a:cs typeface="Noto Sans SC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888632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2026-08-10T07:19:44.9690000Z</dcterms:created>
  <dcterms:modified xsi:type="dcterms:W3CDTF">2026-08-10T07:19:44.9690000Z</dcterms:modified>
</coreProperties>
</file>